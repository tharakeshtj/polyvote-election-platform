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66" r:id="rId26"/>
    <p:sldId id="257" r:id="rId7"/>
    <p:sldId id="258" r:id="rId8"/>
    <p:sldId id="259" r:id="rId9"/>
    <p:sldId id="260" r:id="rId10"/>
    <p:sldId id="261" r:id="rId11"/>
    <p:sldId id="262" r:id="rId12"/>
    <p:sldId id="263" r:id="rId13"/>
    <p:sldId id="267" r:id="rId27"/>
    <p:sldId id="268" r:id="rId28"/>
    <p:sldId id="269" r:id="rId29"/>
    <p:sldId id="270" r:id="rId30"/>
    <p:sldId id="271" r:id="rId31"/>
    <p:sldId id="272" r:id="rId32"/>
    <p:sldId id="273" r:id="rId33"/>
    <p:sldId id="274" r:id="rId34"/>
    <p:sldId id="275" r:id="rId35"/>
    <p:sldId id="276" r:id="rId36"/>
    <p:sldId id="264" r:id="rId14"/>
    <p:sldId id="265" r:id="rId15"/>
  </p:sldIdLst>
  <p:sldSz cy="5143500" cx="9144000"/>
  <p:notesSz cx="5143500" cy="9144000"/>
  <p:embeddedFontLst>
    <p:embeddedFont>
      <p:font typeface="Inter SemiBold"/>
      <p:regular r:id="rId16"/>
      <p:bold r:id="rId17"/>
      <p:italic r:id="rId18"/>
      <p:boldItalic r:id="rId19"/>
    </p:embeddedFont>
    <p:embeddedFont>
      <p:font typeface="Inter"/>
      <p:bold r:id="rId20"/>
      <p:boldItalic r:id="rId21"/>
    </p:embeddedFont>
    <p:embeddedFont>
      <p:font typeface="Inter Medium"/>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56F632-080D-41BD-B1F7-19A39A7C3095}">
  <a:tblStyle styleId="{CF56F632-080D-41BD-B1F7-19A39A7C309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InterSemiBold-regular.fntdata"/><Relationship Id="rId17" Type="http://schemas.openxmlformats.org/officeDocument/2006/relationships/font" Target="fonts/InterSemiBold-bold.fntdata"/><Relationship Id="rId18" Type="http://schemas.openxmlformats.org/officeDocument/2006/relationships/font" Target="fonts/InterSemiBold-italic.fntdata"/><Relationship Id="rId19" Type="http://schemas.openxmlformats.org/officeDocument/2006/relationships/font" Target="fonts/InterSemiBold-boldItalic.fntdata"/><Relationship Id="rId20" Type="http://schemas.openxmlformats.org/officeDocument/2006/relationships/font" Target="fonts/Inter-bold.fntdata"/><Relationship Id="rId21" Type="http://schemas.openxmlformats.org/officeDocument/2006/relationships/font" Target="fonts/Inter-boldItalic.fntdata"/><Relationship Id="rId22" Type="http://schemas.openxmlformats.org/officeDocument/2006/relationships/font" Target="fonts/InterMedium-regular.fntdata"/><Relationship Id="rId23" Type="http://schemas.openxmlformats.org/officeDocument/2006/relationships/font" Target="fonts/InterMedium-bold.fntdata"/><Relationship Id="rId24" Type="http://schemas.openxmlformats.org/officeDocument/2006/relationships/font" Target="fonts/InterMedium-italic.fntdata"/><Relationship Id="rId25" Type="http://schemas.openxmlformats.org/officeDocument/2006/relationships/font" Target="fonts/InterMedium-boldItalic.fntdata"/><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Chaitanya Reddy</c:v>
                </c:pt>
              </c:strCache>
            </c:strRef>
          </c:tx>
          <c:spPr>
            <a:solidFill>
              <a:srgbClr val="1A7F37"/>
            </a:solidFill>
          </c:spPr>
          <c:dLbls>
            <c:numFmt formatCode="0" sourceLinked="0"/>
            <c:txPr>
              <a:bodyPr/>
              <a:lstStyle/>
              <a:p>
                <a:pPr>
                  <a:defRPr sz="1000">
                    <a:solidFill>
                      <a:srgbClr val="FFFFFF"/>
                    </a:solidFill>
                    <a:latin typeface="Inter"/>
                  </a:defRPr>
                </a:pPr>
              </a:p>
            </c:txPr>
            <c:dLblPos val="ctr"/>
            <c:showLegendKey val="0"/>
            <c:showVal val="1"/>
            <c:showCatName val="0"/>
            <c:showSerName val="0"/>
            <c:showPercent val="0"/>
            <c:showBubbleSize val="0"/>
            <c:showLeaderLines val="1"/>
          </c:dLbls>
          <c:cat>
            <c:strRef>
              <c:f>Sheet1!$A$2:$A$5</c:f>
              <c:strCache>
                <c:ptCount val="4"/>
                <c:pt idx="0">
                  <c:v>Round 1</c:v>
                </c:pt>
                <c:pt idx="1">
                  <c:v>Round 2</c:v>
                </c:pt>
                <c:pt idx="2">
                  <c:v>Round 3</c:v>
                </c:pt>
                <c:pt idx="3">
                  <c:v>Round 4</c:v>
                </c:pt>
              </c:strCache>
            </c:strRef>
          </c:cat>
          <c:val>
            <c:numRef>
              <c:f>Sheet1!$B$2:$B$5</c:f>
              <c:numCache>
                <c:formatCode>General</c:formatCode>
                <c:ptCount val="4"/>
                <c:pt idx="0">
                  <c:v>9</c:v>
                </c:pt>
                <c:pt idx="1">
                  <c:v>11</c:v>
                </c:pt>
                <c:pt idx="2">
                  <c:v>15</c:v>
                </c:pt>
                <c:pt idx="3">
                  <c:v>23</c:v>
                </c:pt>
              </c:numCache>
            </c:numRef>
          </c:val>
        </c:ser>
        <c:ser>
          <c:idx val="1"/>
          <c:order val="1"/>
          <c:tx>
            <c:strRef>
              <c:f>Sheet1!$C$1</c:f>
              <c:strCache>
                <c:ptCount val="1"/>
                <c:pt idx="0">
                  <c:v>Diya Sharma</c:v>
                </c:pt>
              </c:strCache>
            </c:strRef>
          </c:tx>
          <c:spPr>
            <a:solidFill>
              <a:srgbClr val="1B2A55"/>
            </a:solidFill>
          </c:spPr>
          <c:dLbls>
            <c:numFmt formatCode="0" sourceLinked="0"/>
            <c:txPr>
              <a:bodyPr/>
              <a:lstStyle/>
              <a:p>
                <a:pPr>
                  <a:defRPr sz="1000">
                    <a:solidFill>
                      <a:srgbClr val="FFFFFF"/>
                    </a:solidFill>
                    <a:latin typeface="Inter"/>
                  </a:defRPr>
                </a:pPr>
              </a:p>
            </c:txPr>
            <c:dLblPos val="ctr"/>
            <c:showLegendKey val="0"/>
            <c:showVal val="1"/>
            <c:showCatName val="0"/>
            <c:showSerName val="0"/>
            <c:showPercent val="0"/>
            <c:showBubbleSize val="0"/>
            <c:showLeaderLines val="1"/>
          </c:dLbls>
          <c:cat>
            <c:strRef>
              <c:f>Sheet1!$A$2:$A$5</c:f>
              <c:strCache>
                <c:ptCount val="4"/>
                <c:pt idx="0">
                  <c:v>Round 1</c:v>
                </c:pt>
                <c:pt idx="1">
                  <c:v>Round 2</c:v>
                </c:pt>
                <c:pt idx="2">
                  <c:v>Round 3</c:v>
                </c:pt>
                <c:pt idx="3">
                  <c:v>Round 4</c:v>
                </c:pt>
              </c:strCache>
            </c:strRef>
          </c:cat>
          <c:val>
            <c:numRef>
              <c:f>Sheet1!$C$2:$C$5</c:f>
              <c:numCache>
                <c:formatCode>General</c:formatCode>
                <c:ptCount val="4"/>
                <c:pt idx="0">
                  <c:v>10</c:v>
                </c:pt>
                <c:pt idx="1">
                  <c:v>13</c:v>
                </c:pt>
                <c:pt idx="2">
                  <c:v>16</c:v>
                </c:pt>
                <c:pt idx="3">
                  <c:v>22</c:v>
                </c:pt>
              </c:numCache>
            </c:numRef>
          </c:val>
        </c:ser>
        <c:ser>
          <c:idx val="2"/>
          <c:order val="2"/>
          <c:tx>
            <c:strRef>
              <c:f>Sheet1!$D$1</c:f>
              <c:strCache>
                <c:ptCount val="1"/>
                <c:pt idx="0">
                  <c:v>Arun Kumar</c:v>
                </c:pt>
              </c:strCache>
            </c:strRef>
          </c:tx>
          <c:spPr>
            <a:solidFill>
              <a:srgbClr val="8DA0D0"/>
            </a:solidFill>
          </c:spPr>
          <c:dLbls>
            <c:numFmt formatCode="0" sourceLinked="0"/>
            <c:txPr>
              <a:bodyPr/>
              <a:lstStyle/>
              <a:p>
                <a:pPr>
                  <a:defRPr sz="1000">
                    <a:solidFill>
                      <a:srgbClr val="1B2A55"/>
                    </a:solidFill>
                    <a:latin typeface="Inter"/>
                  </a:defRPr>
                </a:pPr>
              </a:p>
            </c:txPr>
            <c:dLblPos val="ctr"/>
            <c:showLegendKey val="0"/>
            <c:showVal val="1"/>
            <c:showCatName val="0"/>
            <c:showSerName val="0"/>
            <c:showPercent val="0"/>
            <c:showBubbleSize val="0"/>
            <c:showLeaderLines val="1"/>
          </c:dLbls>
          <c:cat>
            <c:strRef>
              <c:f>Sheet1!$A$2:$A$5</c:f>
              <c:strCache>
                <c:ptCount val="4"/>
                <c:pt idx="0">
                  <c:v>Round 1</c:v>
                </c:pt>
                <c:pt idx="1">
                  <c:v>Round 2</c:v>
                </c:pt>
                <c:pt idx="2">
                  <c:v>Round 3</c:v>
                </c:pt>
                <c:pt idx="3">
                  <c:v>Round 4</c:v>
                </c:pt>
              </c:strCache>
            </c:strRef>
          </c:cat>
          <c:val>
            <c:numRef>
              <c:f>Sheet1!$D$2:$D$5</c:f>
              <c:numCache>
                <c:formatCode>General</c:formatCode>
                <c:ptCount val="4"/>
                <c:pt idx="0">
                  <c:v>10</c:v>
                </c:pt>
                <c:pt idx="1">
                  <c:v>12</c:v>
                </c:pt>
                <c:pt idx="2">
                  <c:v>14</c:v>
                </c:pt>
              </c:numCache>
            </c:numRef>
          </c:val>
        </c:ser>
        <c:ser>
          <c:idx val="3"/>
          <c:order val="3"/>
          <c:tx>
            <c:strRef>
              <c:f>Sheet1!$E$1</c:f>
              <c:strCache>
                <c:ptCount val="1"/>
                <c:pt idx="0">
                  <c:v>Eshaan Iyer</c:v>
                </c:pt>
              </c:strCache>
            </c:strRef>
          </c:tx>
          <c:spPr>
            <a:solidFill>
              <a:srgbClr val="C8CEE3"/>
            </a:solidFill>
          </c:spPr>
          <c:dLbls>
            <c:numFmt formatCode="0" sourceLinked="0"/>
            <c:txPr>
              <a:bodyPr/>
              <a:lstStyle/>
              <a:p>
                <a:pPr>
                  <a:defRPr sz="1000">
                    <a:solidFill>
                      <a:srgbClr val="1B2A55"/>
                    </a:solidFill>
                    <a:latin typeface="Inter"/>
                  </a:defRPr>
                </a:pPr>
              </a:p>
            </c:txPr>
            <c:dLblPos val="ctr"/>
            <c:showLegendKey val="0"/>
            <c:showVal val="1"/>
            <c:showCatName val="0"/>
            <c:showSerName val="0"/>
            <c:showPercent val="0"/>
            <c:showBubbleSize val="0"/>
            <c:showLeaderLines val="1"/>
          </c:dLbls>
          <c:cat>
            <c:strRef>
              <c:f>Sheet1!$A$2:$A$5</c:f>
              <c:strCache>
                <c:ptCount val="4"/>
                <c:pt idx="0">
                  <c:v>Round 1</c:v>
                </c:pt>
                <c:pt idx="1">
                  <c:v>Round 2</c:v>
                </c:pt>
                <c:pt idx="2">
                  <c:v>Round 3</c:v>
                </c:pt>
                <c:pt idx="3">
                  <c:v>Round 4</c:v>
                </c:pt>
              </c:strCache>
            </c:strRef>
          </c:cat>
          <c:val>
            <c:numRef>
              <c:f>Sheet1!$E$2:$E$5</c:f>
              <c:numCache>
                <c:formatCode>General</c:formatCode>
                <c:ptCount val="4"/>
                <c:pt idx="0">
                  <c:v>8</c:v>
                </c:pt>
                <c:pt idx="1">
                  <c:v>9</c:v>
                </c:pt>
              </c:numCache>
            </c:numRef>
          </c:val>
        </c:ser>
        <c:ser>
          <c:idx val="4"/>
          <c:order val="4"/>
          <c:tx>
            <c:strRef>
              <c:f>Sheet1!$F$1</c:f>
              <c:strCache>
                <c:ptCount val="1"/>
                <c:pt idx="0">
                  <c:v>Bhavya Singh</c:v>
                </c:pt>
              </c:strCache>
            </c:strRef>
          </c:tx>
          <c:spPr>
            <a:solidFill>
              <a:srgbClr val="E4E6F0"/>
            </a:solidFill>
          </c:spPr>
          <c:dLbls>
            <c:numFmt formatCode="0" sourceLinked="0"/>
            <c:txPr>
              <a:bodyPr/>
              <a:lstStyle/>
              <a:p>
                <a:pPr>
                  <a:defRPr sz="1000">
                    <a:solidFill>
                      <a:srgbClr val="1B2A55"/>
                    </a:solidFill>
                    <a:latin typeface="Inter"/>
                  </a:defRPr>
                </a:pPr>
              </a:p>
            </c:txPr>
            <c:dLblPos val="ctr"/>
            <c:showLegendKey val="0"/>
            <c:showVal val="1"/>
            <c:showCatName val="0"/>
            <c:showSerName val="0"/>
            <c:showPercent val="0"/>
            <c:showBubbleSize val="0"/>
            <c:showLeaderLines val="1"/>
          </c:dLbls>
          <c:cat>
            <c:strRef>
              <c:f>Sheet1!$A$2:$A$5</c:f>
              <c:strCache>
                <c:ptCount val="4"/>
                <c:pt idx="0">
                  <c:v>Round 1</c:v>
                </c:pt>
                <c:pt idx="1">
                  <c:v>Round 2</c:v>
                </c:pt>
                <c:pt idx="2">
                  <c:v>Round 3</c:v>
                </c:pt>
                <c:pt idx="3">
                  <c:v>Round 4</c:v>
                </c:pt>
              </c:strCache>
            </c:strRef>
          </c:cat>
          <c:val>
            <c:numRef>
              <c:f>Sheet1!$F$2:$F$5</c:f>
              <c:numCache>
                <c:formatCode>General</c:formatCode>
                <c:ptCount val="4"/>
                <c:pt idx="0">
                  <c:v>8</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D9D9E4"/>
            </a:solidFill>
          </a:ln>
        </c:spPr>
        <c:txPr>
          <a:bodyPr/>
          <a:lstStyle/>
          <a:p>
            <a:pPr>
              <a:defRPr sz="1050">
                <a:solidFill>
                  <a:srgbClr val="353B4A"/>
                </a:solidFill>
                <a:latin typeface="Inter"/>
              </a:defRPr>
            </a:pPr>
          </a:p>
        </c:txPr>
        <c:crossAx val="-2113994440"/>
        <c:crosses val="autoZero"/>
        <c:auto val="1"/>
        <c:lblAlgn val="ctr"/>
        <c:lblOffset val="100"/>
        <c:noMultiLvlLbl val="0"/>
      </c:catAx>
      <c:valAx>
        <c:axId val="-2113994440"/>
        <c:scaling>
          <c:max val="45.0"/>
          <c:min val="0.0"/>
        </c:scaling>
        <c:delete val="0"/>
        <c:axPos val="l"/>
        <c:majorGridlines>
          <c:spPr>
            <a:ln>
              <a:solidFill>
                <a:srgbClr val="D9D9E4"/>
              </a:solidFill>
            </a:ln>
          </c:spPr>
        </c:majorGridlines>
        <c:majorTickMark val="out"/>
        <c:minorTickMark val="none"/>
        <c:tickLblPos val="nextTo"/>
        <c:spPr>
          <a:ln>
            <a:noFill/>
          </a:ln>
        </c:spPr>
        <c:txPr>
          <a:bodyPr/>
          <a:lstStyle/>
          <a:p>
            <a:pPr>
              <a:defRPr sz="1000">
                <a:solidFill>
                  <a:srgbClr val="666A78"/>
                </a:solidFill>
                <a:latin typeface="Inter"/>
              </a:defRPr>
            </a:pPr>
          </a:p>
        </c:txPr>
        <c:crossAx val="-2068027336"/>
        <c:crosses val="autoZero"/>
        <c:majorUnit val="15.0"/>
      </c:valAx>
    </c:plotArea>
    <c:legend>
      <c:legendPos val="b"/>
      <c:overlay val="0"/>
      <c:txPr>
        <a:bodyPr/>
        <a:lstStyle/>
        <a:p>
          <a:pPr>
            <a:defRPr sz="1000">
              <a:solidFill>
                <a:srgbClr val="353B4A"/>
              </a:solidFill>
              <a:latin typeface="Inter"/>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Implemented</c:v>
                </c:pt>
              </c:strCache>
            </c:strRef>
          </c:tx>
          <c:spPr>
            <a:solidFill>
              <a:srgbClr val="1B2A55"/>
            </a:solidFill>
          </c:spPr>
          <c:dPt>
            <c:idx val="3"/>
            <c:spPr>
              <a:solidFill>
                <a:srgbClr val="1A7F37"/>
              </a:solidFill>
            </c:spPr>
          </c:dPt>
          <c:dLbls>
            <c:numFmt formatCode="0&quot;%&quot;" sourceLinked="0"/>
            <c:txPr>
              <a:bodyPr/>
              <a:lstStyle/>
              <a:p>
                <a:pPr>
                  <a:defRPr sz="1200" b="1">
                    <a:solidFill>
                      <a:srgbClr val="1B2A55"/>
                    </a:solidFill>
                    <a:latin typeface="Inter"/>
                  </a:defRPr>
                </a:pPr>
              </a:p>
            </c:txPr>
            <c:dLblPos val="outEnd"/>
            <c:showLegendKey val="0"/>
            <c:showVal val="1"/>
            <c:showCatName val="0"/>
            <c:showSerName val="0"/>
            <c:showPercent val="0"/>
            <c:showBubbleSize val="0"/>
            <c:showLeaderLines val="1"/>
          </c:dLbls>
          <c:cat>
            <c:strRef>
              <c:f>Sheet1!$A$2:$A$5</c:f>
              <c:strCache>
                <c:ptCount val="4"/>
                <c:pt idx="0">
                  <c:v>Core features (7)</c:v>
                </c:pt>
                <c:pt idx="1">
                  <c:v>Modules (4)</c:v>
                </c:pt>
                <c:pt idx="2">
                  <c:v>Deliverables (3)</c:v>
                </c:pt>
                <c:pt idx="3">
                  <c:v>Overall (14)</c:v>
                </c:pt>
              </c:strCache>
            </c:strRef>
          </c:cat>
          <c:val>
            <c:numRef>
              <c:f>Sheet1!$B$2:$B$5</c:f>
              <c:numCache>
                <c:formatCode>General</c:formatCode>
                <c:ptCount val="4"/>
                <c:pt idx="0">
                  <c:v>64</c:v>
                </c:pt>
                <c:pt idx="1">
                  <c:v>91</c:v>
                </c:pt>
                <c:pt idx="2">
                  <c:v>80</c:v>
                </c:pt>
                <c:pt idx="3">
                  <c:v>75</c:v>
                </c:pt>
              </c:numCache>
            </c:numRef>
          </c:val>
        </c:ser>
        <c:gapWidth val="55"/>
        <c:axId val="-2068027336"/>
        <c:axId val="-2113994440"/>
      </c:barChart>
      <c:catAx>
        <c:axId val="-2068027336"/>
        <c:scaling>
          <c:orientation val="minMax"/>
        </c:scaling>
        <c:delete val="0"/>
        <c:axPos val="b"/>
        <c:majorTickMark val="out"/>
        <c:minorTickMark val="none"/>
        <c:tickLblPos val="nextTo"/>
        <c:spPr>
          <a:ln>
            <a:solidFill>
              <a:srgbClr val="D9D9E4"/>
            </a:solidFill>
          </a:ln>
        </c:spPr>
        <c:txPr>
          <a:bodyPr/>
          <a:lstStyle/>
          <a:p>
            <a:pPr>
              <a:defRPr sz="1050">
                <a:solidFill>
                  <a:srgbClr val="353B4A"/>
                </a:solidFill>
                <a:latin typeface="Inter"/>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D9D9E4"/>
              </a:solidFill>
            </a:ln>
          </c:spPr>
        </c:majorGridlines>
        <c:numFmt formatCode="0&quot;%&quot;" sourceLinked="0"/>
        <c:majorTickMark val="out"/>
        <c:minorTickMark val="none"/>
        <c:tickLblPos val="nextTo"/>
        <c:spPr>
          <a:ln>
            <a:noFill/>
          </a:ln>
        </c:spPr>
        <c:txPr>
          <a:bodyPr/>
          <a:lstStyle/>
          <a:p>
            <a:pPr>
              <a:defRPr sz="1000">
                <a:solidFill>
                  <a:srgbClr val="666A78"/>
                </a:solidFill>
                <a:latin typeface="Inter"/>
              </a:defRPr>
            </a:pPr>
          </a:p>
        </c:txPr>
        <c:crossAx val="-2068027336"/>
        <c:crosses val="autoZero"/>
        <c:majorUnit val="25.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morning, sir, and everyone. This is Review 2 of PolyVote, our ranked-choice election platform with a tamper-evident audit trail. Last week we presented the design. Today we show what we have actually built, with live outputs. In one line: about seventy-five percent of the scope we promised in Review 1 is implemented and running.</a:t>
            </a: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Quick reminder of why we built this. Plurality voting can crown a winner without majority support, single-election systems are hard to reuse, and an administrator with UPDATE access can silently change results. Our answer is ranked-choice voting, one shared multi-tenant schema, voter identity separated from ballot content, and a hash chain over the audit records. The outcome is a reusable service. One update on this slide: it runs today as a web service, and hosting it in the cloud is planned for the final review.</a:t>
            </a: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These are the six techniques from Review 1, unchanged in principle. What differs is how far each has got. Techniques one, two and three, multi-tenancy, instant-runoff and hash chaining, are fully working. Four, polyglot persistence, runs today as a relational store plus an append-only JSON ledger in the MongoDB document model, with Oracle and MongoDB hosting still to come. Five, integrity, is enforced by constraints and a trigger now, with PL/SQL packages arriving with Oracle. Six, deployment, works as a single web service, and cloud hosting is the remaining step.</a:t>
            </a: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the literature table from Review 1, unchanged. Aulbach for multi-tenant schemas, Haber and Stornetta for hash chains, Sadalage and Fowler for polyglot persistence, Chaum for receipts that keep the ballot secret, Crosby and Wallach for tamper-evident logs, and Blom for auditing ranked-choice elections. We treat these as the foundation, and the next slide shows how our implementation closes the gaps they leave.</a:t>
            </a: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These are the four gaps from the literature. The one we want you to hold on to is gap two, passive audit logs. A hash chain alone proves nothing unless something actively verifies it. That is why we built the integrity sweep, which recomputes every ballot from the database and compares it with its sealed receipt. You will see it catch tampering live in a few slides.</a:t>
            </a: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four modules are the same as planned, with the technology as it stands today. Module one is the relational core, SQLite today with Oracle planned. Module two is the Python tally engine. Module three is the ledger of hash-chained JSON receipts, with MongoDB planned. Module four is the application, now React plus FastAPI, with Streamlit retained. The core entities are now six tables, including ADMIN_USERS, and POSITION is deferred. The privacy boundary is unchanged: only an anonymous token connects a voter to a ballot.</a:t>
            </a:r>
          </a:p>
        </p:txBody>
      </p:sp>
      <p:sp>
        <p:nvSpPr>
          <p:cNvPr id="133" name="Google Shape;1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the updated data flow diagram, redrawn to match what we built. At the top is the React app with the voter booth, receipt check and admin console, plus DB Studio, which simulates a rogue database administrator. Everything passes through one FastAPI layer.</a:t>
            </a:r>
          </a:p>
          <a:p>
            <a:r>
              <a:t>Below that are two stores. Flows one to six create organizations, elections, candidates and voters, and store anonymous ranks in the relational schema. Flow seven appends the SHA-256 receipt to the separate ledger.</a:t>
            </a:r>
          </a:p>
          <a:p>
            <a:r>
              <a:t>At the bottom is the Python engine. Eight feeds ranks to the instant-runoff tally. Nine recomputes ballot hashes, and ten cross-checks them against the ledger. The red dashed arrow, twelve, is the tampering path that DB Studio simulates and the sweep is built to expose.</a:t>
            </a: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76c2e4d2857ee8e7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76c2e4d2857ee8e7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r>
              <a:t>This is the updated ER diagram. The five Review 1 tables are unchanged: ORGANIZATION hosts ELECTIONS, which have CANDIDATES and VOTER_PARTICIPATION, and BALLOT_RANKS ties candidates to anonymous ballot tokens. What is new is, first, ADMIN_USERS, a standalone table for officer logins with no link to ballots. Second, the constraints are now visible: the CHECK on has_voted, the one-to-three CHECK on preference_rank, and the UNIQUE rule on registration number per election. Third, the grey dashed box is the ledger block, a JSON document linked to a ballot by its token, not by a foreign key. Note there is no voter identifier anywhere in BALLOT_RANKS.</a:t>
            </a:r>
          </a:p>
        </p:txBody>
      </p:sp>
      <p:sp>
        <p:nvSpPr>
          <p:cNvPr id="155" name="Google Shape;155;h76c2e4d2857ee8e7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Looking ahead. Review 1 presented the design. Review 2, today, is the working implementation at about seventy-five percent with live outputs and a tamper demonstration. For the final review we will move to Oracle with PL/SQL procedures and DCL roles, move the ledger to MongoDB Atlas, deploy to the cloud, add the POSITION entity, and compare PolyVote with existing e-voting systems. We also plan to add detection of ballots injected without a receipt.</a:t>
            </a: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Thank you. The code and documents are on GitHub, and the application runs with one command. We are happy to take questions on the schema, the privacy model, the ledger, or the tamper test, and we can run any of them live.</a:t>
            </a: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me start with a short recap and what has changed. In Review 1 we submitted the design: the three weaknesses we target, six database techniques, a literature review, the relational schema and ER diagram, and an architecture planned on Oracle, MongoDB and Streamlit.</a:t>
            </a:r>
          </a:p>
          <a:p>
            <a:r>
              <a:t>Since then we built a working system: a React voter booth and admin console, a FastAPI service, a SQLite schema with a trigger and views, an instant-runoff engine, hash-chained receipts, and a live tamper test.</a:t>
            </a:r>
          </a:p>
          <a:p>
            <a:r>
              <a:t>Three things changed from the plan. SQLite stands in for Oracle, a JSON document ledger stands in for MongoDB, and React plus FastAPI now sits beside Streamlit, which we kept. We also added one table, ADMIN_USERS, for officer logins.</a:t>
            </a:r>
          </a:p>
          <a:p>
            <a:r>
              <a:t>Overall about seventy-five percent of the Review 1 scope is done. What remains is the final-review work: Oracle with PL/SQL, MongoDB Atlas, cloud deployment and the POSITION entity. The next slides revisit the design quickly, show the updated diagrams, then walk through the running system.</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implementation, starting at the database. The point of this slide is that the database refuses invalid votes by itself, regardless of the application.</a:t>
            </a:r>
          </a:p>
          <a:p>
            <a:r>
              <a:t>We tried to break four rules directly in SQL. A second vote by the same voter hits our trigger and is aborted with a trigger violation. A rank of four fails the CHECK constraint. Ranking the same candidate twice fails the composite primary key. A candidate that does not exist fails the foreign key. These are the database's own messages, not ours, and each statement was rolled back afterwards.</a:t>
            </a:r>
          </a:p>
          <a:p>
            <a:r>
              <a:t>Below, two views, turnout and first preferences, feed the dashboards. In the demo election, forty-five of sixty voters have voted, seventy-five percent turnout.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voter side, three steps. First, the voter picks an open election; only elections in the Voting phase can be entered. Second, the voter ranks three candidates in order of preference, with a review step before casting. Third, the voter gets a receipt token.</a:t>
            </a:r>
          </a:p>
          <a:p>
            <a:r>
              <a:t>The guards matter. A wrong password is rejected, a voter who already voted is refused, and a ballot cannot be changed once cast. The receipt proves the ballot is sealed, not how you voted.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heart of the privacy design. When a voter casts a ballot, one database transaction does two things. On the identity side, it sets has_voted to one in VOTER_PARTICIPATION. On the ballot side, it stores a random ballot token with the three ranked candidates in BALLOT_RANKS. There is no voter identifier stored with the ballot, so the two records cannot be joined.</a:t>
            </a:r>
          </a:p>
          <a:p>
            <a:r>
              <a:t>After the commit, the system appends a receipt to the ledger: a SHA-256 hash of the ranks chained to the previous block. The token goes back to the voter.</a:t>
            </a:r>
          </a:p>
          <a:p>
            <a:r>
              <a:t>The three boxes underneath summarise why it is safe: the writes are atomic, a server-side lock serializes simultaneous ballots, and voters can verify later without revealing their choices.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tallying engine, instant-runoff voting, run on the demo election with forty-five ballots. Each bar is a round. In round one, nobody has a majority, and Bhavya Singh and Eshaan Iyer tie for last with eight each, so one is eliminated and those ballots move to their next choice. After round two Eshaan goes, after round three Arun goes, and in round four Chaitanya Reddy has twenty-three of forty-five continuing ballots, fifty-one percent, against twenty-two for Diya Sharma.</a:t>
            </a:r>
          </a:p>
          <a:p>
            <a:r>
              <a:t>The engine also handles exhausted ballots and empty elections, and the interface flags a last-place tie, as in round one, because the tie-break rule is something we plan to formalise.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audit ledger. Each ballot gets one block with its token, a vote hash, which is SHA-256 of the ranked choices, the previous block's hash, and the block's own hash. Look at the green values: block two's prev_hash is exactly block one's curr_hash, and block three links to block two. Change any block and every link after it breaks.</a:t>
            </a:r>
          </a:p>
          <a:p>
            <a:r>
              <a:t>We verify at two levels. The chain check recomputes every hash and link, and all forty-five blocks are intact. The integrity sweep recomputes each ballot from the database and compares it with its receipt.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administrator side. The election list shows each organization's election, its phase and turnout. Inside an election the officer works through a guarded lifecycle. In Nominations, they add candidates and build the roster by hand or in bulk. In Voting, candidates are locked and voters cast ballots. In Closed, no more votes are accepted, and the officer runs the sweep and the count. Each transition asks for confirmation and a closed election cannot be reopened.</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live tamper test, the main thing the ledger exists for. In DB Studio, which simulates a rogue DBA, we re-assigned one ballot's first choice and deleted two ballot rows, including a voter's own ballot. Then we ran the integrity sweep. It reported tampering detected: three ballots no longer match their receipts, one modified and two deleted, each identified by token. The counts also stop agreeing: forty-three ballots against forty-five receipts and forty-five voters marked as voted.</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summarise the evidence, here are seven checks with expected and observed results. A second vote is refused and a wrong password rejected. The hash chain is intact across all forty-five receipts. After tampering, all three altered ballots are flagged, the voter's receipt check warns that the ballot is recorded but missing from the count, and the count mismatch is visible. And the tally gives a winner with a real majority. Every observed result came from the running system.</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our honest progress against Review 1. We scored each of the fourteen promised items as done, partly done or not started. Core features come to sixty-four percent, because database commands beyond DML, stored procedures and cloud deployment are still open. The four modules come to ninety-one percent, the three deliverables to eighty percent, and overall seventy-five percent. On the right, what is done and what remains for the final review.</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table explains every place the build differs from the plan. Oracle became SQLite for zero-setup development, with the schema kept portable. MongoDB became hash-chained JSON documents using the same document model. Streamlit gained a React and FastAPI front end for separate voter and admin experiences. We added ADMIN_USERS and deferred POSITION. And lifecycle became guarded transitions because SQLite has no stored procedures. The targets themselves, Oracle with PL/SQL, MongoDB Atlas and cloud, are unchanged, and the code is structured so they are migrations, not rewrites.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FFFFFF"/>
        </a:solidFill>
      </p:bgPr>
    </p:bg>
    <p:spTree>
      <p:nvGrpSpPr>
        <p:cNvPr id="10" name="Shape 10"/>
        <p:cNvGrpSpPr/>
        <p:nvPr/>
      </p:nvGrpSpPr>
      <p:grpSpPr>
        <a:xfrm>
          <a:off x="0" y="0"/>
          <a:ext cx="0" cy="0"/>
          <a:chOff x="0" y="0"/>
          <a:chExt cx="0" cy="0"/>
        </a:xfrm>
      </p:grpSpPr>
      <p:pic>
        <p:nvPicPr>
          <p:cNvPr descr="preencoded.png" id="11" name="Google Shape;11;p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4"/>
          <p:cNvSpPr txBox="1"/>
          <p:nvPr>
            <p:ph type="title"/>
          </p:nvPr>
        </p:nvSpPr>
        <p:spPr>
          <a:xfrm>
            <a:off x="411480" y="240030"/>
            <a:ext cx="8318700" cy="6171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2"/>
              </a:buClr>
              <a:buSzPts val="2400"/>
              <a:buFont typeface="Cambria"/>
              <a:buNone/>
              <a:defRPr b="1" i="0" sz="2400" u="none" cap="none" strike="noStrike">
                <a:solidFill>
                  <a:schemeClr val="dk2"/>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5" name="Google Shape;15;p4"/>
          <p:cNvSpPr/>
          <p:nvPr/>
        </p:nvSpPr>
        <p:spPr>
          <a:xfrm>
            <a:off x="411480" y="480060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800"/>
              <a:buFont typeface="Calibri"/>
              <a:buNone/>
            </a:pPr>
            <a:r>
              <a:rPr b="0" i="0" lang="en-US" sz="800" u="none" cap="none" strike="noStrike">
                <a:solidFill>
                  <a:schemeClr val="accent5"/>
                </a:solidFill>
                <a:latin typeface="Calibri"/>
                <a:ea typeface="Calibri"/>
                <a:cs typeface="Calibri"/>
                <a:sym typeface="Calibri"/>
              </a:rPr>
              <a:t>BACSE291 – Innovative Design Project  |  First Review  |  Fall Semester 2026</a:t>
            </a:r>
            <a:endParaRPr b="0" i="0" sz="800" u="none" cap="none" strike="noStrike">
              <a:solidFill>
                <a:schemeClr val="dk1"/>
              </a:solidFill>
              <a:latin typeface="Calibri"/>
              <a:ea typeface="Calibri"/>
              <a:cs typeface="Calibri"/>
              <a:sym typeface="Calibri"/>
            </a:endParaRPr>
          </a:p>
        </p:txBody>
      </p:sp>
      <p:sp>
        <p:nvSpPr>
          <p:cNvPr id="16" name="Google Shape;16;p4"/>
          <p:cNvSpPr txBox="1"/>
          <p:nvPr>
            <p:ph idx="12" type="sldNum"/>
          </p:nvPr>
        </p:nvSpPr>
        <p:spPr>
          <a:xfrm>
            <a:off x="8181594" y="4800600"/>
            <a:ext cx="548400" cy="2058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5"/>
                </a:solidFill>
                <a:latin typeface="Calibri"/>
                <a:ea typeface="Calibri"/>
                <a:cs typeface="Calibri"/>
                <a:sym typeface="Calibri"/>
              </a:defRPr>
            </a:lvl1pPr>
            <a:lvl2pPr indent="0" lvl="1" marL="0" marR="0" algn="r">
              <a:spcBef>
                <a:spcPts val="0"/>
              </a:spcBef>
              <a:buNone/>
              <a:defRPr b="0" i="0" sz="800" u="none" cap="none" strike="noStrike">
                <a:solidFill>
                  <a:schemeClr val="accent5"/>
                </a:solidFill>
                <a:latin typeface="Calibri"/>
                <a:ea typeface="Calibri"/>
                <a:cs typeface="Calibri"/>
                <a:sym typeface="Calibri"/>
              </a:defRPr>
            </a:lvl2pPr>
            <a:lvl3pPr indent="0" lvl="2" marL="0" marR="0" algn="r">
              <a:spcBef>
                <a:spcPts val="0"/>
              </a:spcBef>
              <a:buNone/>
              <a:defRPr b="0" i="0" sz="800" u="none" cap="none" strike="noStrike">
                <a:solidFill>
                  <a:schemeClr val="accent5"/>
                </a:solidFill>
                <a:latin typeface="Calibri"/>
                <a:ea typeface="Calibri"/>
                <a:cs typeface="Calibri"/>
                <a:sym typeface="Calibri"/>
              </a:defRPr>
            </a:lvl3pPr>
            <a:lvl4pPr indent="0" lvl="3" marL="0" marR="0" algn="r">
              <a:spcBef>
                <a:spcPts val="0"/>
              </a:spcBef>
              <a:buNone/>
              <a:defRPr b="0" i="0" sz="800" u="none" cap="none" strike="noStrike">
                <a:solidFill>
                  <a:schemeClr val="accent5"/>
                </a:solidFill>
                <a:latin typeface="Calibri"/>
                <a:ea typeface="Calibri"/>
                <a:cs typeface="Calibri"/>
                <a:sym typeface="Calibri"/>
              </a:defRPr>
            </a:lvl4pPr>
            <a:lvl5pPr indent="0" lvl="4" marL="0" marR="0" algn="r">
              <a:spcBef>
                <a:spcPts val="0"/>
              </a:spcBef>
              <a:buNone/>
              <a:defRPr b="0" i="0" sz="800" u="none" cap="none" strike="noStrike">
                <a:solidFill>
                  <a:schemeClr val="accent5"/>
                </a:solidFill>
                <a:latin typeface="Calibri"/>
                <a:ea typeface="Calibri"/>
                <a:cs typeface="Calibri"/>
                <a:sym typeface="Calibri"/>
              </a:defRPr>
            </a:lvl5pPr>
            <a:lvl6pPr indent="0" lvl="5" marL="0" marR="0" algn="r">
              <a:spcBef>
                <a:spcPts val="0"/>
              </a:spcBef>
              <a:buNone/>
              <a:defRPr b="0" i="0" sz="800" u="none" cap="none" strike="noStrike">
                <a:solidFill>
                  <a:schemeClr val="accent5"/>
                </a:solidFill>
                <a:latin typeface="Calibri"/>
                <a:ea typeface="Calibri"/>
                <a:cs typeface="Calibri"/>
                <a:sym typeface="Calibri"/>
              </a:defRPr>
            </a:lvl6pPr>
            <a:lvl7pPr indent="0" lvl="6" marL="0" marR="0" algn="r">
              <a:spcBef>
                <a:spcPts val="0"/>
              </a:spcBef>
              <a:buNone/>
              <a:defRPr b="0" i="0" sz="800" u="none" cap="none" strike="noStrike">
                <a:solidFill>
                  <a:schemeClr val="accent5"/>
                </a:solidFill>
                <a:latin typeface="Calibri"/>
                <a:ea typeface="Calibri"/>
                <a:cs typeface="Calibri"/>
                <a:sym typeface="Calibri"/>
              </a:defRPr>
            </a:lvl7pPr>
            <a:lvl8pPr indent="0" lvl="7" marL="0" marR="0" algn="r">
              <a:spcBef>
                <a:spcPts val="0"/>
              </a:spcBef>
              <a:buNone/>
              <a:defRPr b="0" i="0" sz="800" u="none" cap="none" strike="noStrike">
                <a:solidFill>
                  <a:schemeClr val="accent5"/>
                </a:solidFill>
                <a:latin typeface="Calibri"/>
                <a:ea typeface="Calibri"/>
                <a:cs typeface="Calibri"/>
                <a:sym typeface="Calibri"/>
              </a:defRPr>
            </a:lvl8pPr>
            <a:lvl9pPr indent="0" lvl="8" marL="0" marR="0" algn="r">
              <a:spcBef>
                <a:spcPts val="0"/>
              </a:spcBef>
              <a:buNone/>
              <a:defRPr b="0" i="0" sz="8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5"/>
          <p:cNvSpPr/>
          <p:nvPr/>
        </p:nvSpPr>
        <p:spPr>
          <a:xfrm>
            <a:off x="342900" y="304800"/>
            <a:ext cx="2281238"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5"/>
          <p:cNvSpPr/>
          <p:nvPr/>
        </p:nvSpPr>
        <p:spPr>
          <a:xfrm>
            <a:off x="440010" y="353318"/>
            <a:ext cx="2544217"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BACSE202 · Fall Semester 2026</a:t>
            </a:r>
            <a:endParaRPr b="0" i="0" sz="1000" u="none" cap="none" strike="noStrike">
              <a:solidFill>
                <a:schemeClr val="dk1"/>
              </a:solidFill>
              <a:latin typeface="Calibri"/>
              <a:ea typeface="Calibri"/>
              <a:cs typeface="Calibri"/>
              <a:sym typeface="Calibri"/>
            </a:endParaRPr>
          </a:p>
        </p:txBody>
      </p:sp>
      <p:sp>
        <p:nvSpPr>
          <p:cNvPr id="24" name="Google Shape;24;p5"/>
          <p:cNvSpPr/>
          <p:nvPr/>
        </p:nvSpPr>
        <p:spPr>
          <a:xfrm>
            <a:off x="342900" y="700996"/>
            <a:ext cx="5181600" cy="39811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850"/>
              <a:buFont typeface="Inter"/>
              <a:buNone/>
            </a:pPr>
            <a:r>
              <a:rPr b="1" i="0" lang="en-US" sz="2850" u="none" cap="none" strike="noStrike">
                <a:solidFill>
                  <a:srgbClr val="1B2A55"/>
                </a:solidFill>
                <a:latin typeface="Inter"/>
                <a:ea typeface="Inter"/>
                <a:cs typeface="Inter"/>
                <a:sym typeface="Inter"/>
              </a:rPr>
              <a:t>PolyVote</a:t>
            </a:r>
            <a:endParaRPr b="0" i="0" sz="2850" u="none" cap="none" strike="noStrike">
              <a:solidFill>
                <a:schemeClr val="dk1"/>
              </a:solidFill>
              <a:latin typeface="Calibri"/>
              <a:ea typeface="Calibri"/>
              <a:cs typeface="Calibri"/>
              <a:sym typeface="Calibri"/>
            </a:endParaRPr>
          </a:p>
        </p:txBody>
      </p:sp>
      <p:sp>
        <p:nvSpPr>
          <p:cNvPr id="25" name="Google Shape;25;p5"/>
          <p:cNvSpPr/>
          <p:nvPr/>
        </p:nvSpPr>
        <p:spPr>
          <a:xfrm>
            <a:off x="342900" y="1250677"/>
            <a:ext cx="5181600" cy="441871"/>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200"/>
              <a:buFont typeface="Inter"/>
              <a:buNone/>
            </a:pPr>
            <a:r>
              <a:rPr b="1" i="0" lang="en-US" sz="1200" u="none" cap="none" strike="noStrike">
                <a:solidFill>
                  <a:srgbClr val="1B2A55"/>
                </a:solidFill>
                <a:latin typeface="Inter"/>
                <a:ea typeface="Inter"/>
                <a:cs typeface="Inter"/>
                <a:sym typeface="Inter"/>
              </a:rPr>
              <a:t>A Multi-Tenant, Ranked-Choice Election Platform with a Tamper-Evident Audit Trail</a:t>
            </a:r>
            <a:endParaRPr b="0" i="0" sz="1200" u="none" cap="none" strike="noStrike">
              <a:solidFill>
                <a:schemeClr val="dk1"/>
              </a:solidFill>
              <a:latin typeface="Calibri"/>
              <a:ea typeface="Calibri"/>
              <a:cs typeface="Calibri"/>
              <a:sym typeface="Calibri"/>
            </a:endParaRPr>
          </a:p>
        </p:txBody>
      </p:sp>
      <p:sp>
        <p:nvSpPr>
          <p:cNvPr id="26" name="Google Shape;26;p5"/>
          <p:cNvSpPr/>
          <p:nvPr/>
        </p:nvSpPr>
        <p:spPr>
          <a:xfrm>
            <a:off x="342900" y="1837804"/>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Review 2 · Implementation &amp; Outputs · Guide: Dr. Katari Balakrishna</a:t>
            </a:r>
            <a:endParaRPr b="0" i="0" sz="950" u="none" cap="none" strike="noStrike">
              <a:solidFill>
                <a:schemeClr val="dk1"/>
              </a:solidFill>
              <a:latin typeface="Calibri"/>
              <a:ea typeface="Calibri"/>
              <a:cs typeface="Calibri"/>
              <a:sym typeface="Calibri"/>
            </a:endParaRPr>
          </a:p>
        </p:txBody>
      </p:sp>
      <p:graphicFrame>
        <p:nvGraphicFramePr>
          <p:cNvPr id="27" name="Google Shape;27;p5"/>
          <p:cNvGraphicFramePr/>
          <p:nvPr/>
        </p:nvGraphicFramePr>
        <p:xfrm>
          <a:off x="342900" y="3147864"/>
          <a:ext cx="3000000" cy="3000000"/>
        </p:xfrm>
        <a:graphic>
          <a:graphicData uri="http://schemas.openxmlformats.org/drawingml/2006/table">
            <a:tbl>
              <a:tblPr>
                <a:noFill/>
                <a:tableStyleId>{CF56F632-080D-41BD-B1F7-19A39A7C3095}</a:tableStyleId>
              </a:tblPr>
              <a:tblGrid>
                <a:gridCol w="628350"/>
                <a:gridCol w="2586875"/>
                <a:gridCol w="1966350"/>
              </a:tblGrid>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S.No</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Name</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Register No</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1</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Tharakesharasu Thennarasu</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25BCE2699</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Pawan Durga Karthik</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25BCE27</a:t>
                      </a:r>
                      <a:r>
                        <a:rPr lang="en-US" sz="1300">
                          <a:solidFill>
                            <a:srgbClr val="1B2A55"/>
                          </a:solidFill>
                          <a:latin typeface="Inter"/>
                          <a:ea typeface="Inter"/>
                          <a:cs typeface="Inter"/>
                          <a:sym typeface="Inter"/>
                        </a:rPr>
                        <a:t>12</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64250">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3</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Shivam Malge</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25BCE0386</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bl>
          </a:graphicData>
        </a:graphic>
      </p:graphicFrame>
      <p:sp>
        <p:nvSpPr>
          <p:cNvPr id="28" name="Google Shape;28;p5"/>
          <p:cNvSpPr/>
          <p:nvPr/>
        </p:nvSpPr>
        <p:spPr>
          <a:xfrm>
            <a:off x="342900" y="4785866"/>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2 | Fall Semester 2026 · Slide 1</a:t>
            </a:r>
            <a:endParaRPr b="0" i="0" sz="950" u="none" cap="none" strike="noStrike">
              <a:solidFill>
                <a:schemeClr val="dk1"/>
              </a:solidFill>
              <a:latin typeface="Calibri"/>
              <a:ea typeface="Calibri"/>
              <a:cs typeface="Calibri"/>
              <a:sym typeface="Calibri"/>
            </a:endParaRPr>
          </a:p>
        </p:txBody>
      </p:sp>
      <p:sp>
        <p:nvSpPr>
          <p:cNvPr id="29" name="Google Shape;29;p5"/>
          <p:cNvSpPr/>
          <p:nvPr/>
        </p:nvSpPr>
        <p:spPr>
          <a:xfrm>
            <a:off x="5791200" y="0"/>
            <a:ext cx="3352800" cy="5143500"/>
          </a:xfrm>
          <a:prstGeom prst="rect">
            <a:avLst/>
          </a:prstGeom>
          <a:solidFill>
            <a:srgbClr val="F1F0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5"/>
          <p:cNvPicPr preferRelativeResize="0"/>
          <p:nvPr/>
        </p:nvPicPr>
        <p:blipFill rotWithShape="1">
          <a:blip r:embed="rId3">
            <a:alphaModFix/>
          </a:blip>
          <a:srcRect b="0" l="0" r="0" t="0"/>
          <a:stretch/>
        </p:blipFill>
        <p:spPr>
          <a:xfrm>
            <a:off x="6019800" y="828526"/>
            <a:ext cx="2895600" cy="35054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6"/>
          <p:cNvSpPr/>
          <p:nvPr/>
        </p:nvSpPr>
        <p:spPr>
          <a:xfrm>
            <a:off x="457200" y="457200"/>
            <a:ext cx="8686800" cy="1485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950"/>
              <a:buFont typeface="Inter"/>
              <a:buNone/>
            </a:pPr>
            <a:r>
              <a:rPr b="1" i="0" lang="en-US" sz="950" u="none" cap="none" strike="noStrike">
                <a:solidFill>
                  <a:srgbClr val="1B2A55"/>
                </a:solidFill>
                <a:latin typeface="Inter"/>
                <a:ea typeface="Inter"/>
                <a:cs typeface="Inter"/>
                <a:sym typeface="Inter"/>
              </a:rPr>
              <a:t>SYSTEM RATIONALE</a:t>
            </a:r>
            <a:endParaRPr b="0" i="0" sz="950" u="none" cap="none" strike="noStrike">
              <a:solidFill>
                <a:schemeClr val="dk1"/>
              </a:solidFill>
              <a:latin typeface="Calibri"/>
              <a:ea typeface="Calibri"/>
              <a:cs typeface="Calibri"/>
              <a:sym typeface="Calibri"/>
            </a:endParaRPr>
          </a:p>
        </p:txBody>
      </p:sp>
      <p:sp>
        <p:nvSpPr>
          <p:cNvPr id="37" name="Google Shape;37;p6"/>
          <p:cNvSpPr/>
          <p:nvPr/>
        </p:nvSpPr>
        <p:spPr>
          <a:xfrm>
            <a:off x="457200" y="675382"/>
            <a:ext cx="8229600" cy="31432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250"/>
              <a:buFont typeface="Inter"/>
              <a:buNone/>
            </a:pPr>
            <a:r>
              <a:rPr b="1" i="0" lang="en-US" sz="2250" u="none" cap="none" strike="noStrike">
                <a:solidFill>
                  <a:srgbClr val="1B2A55"/>
                </a:solidFill>
                <a:latin typeface="Inter"/>
                <a:ea typeface="Inter"/>
                <a:cs typeface="Inter"/>
                <a:sym typeface="Inter"/>
              </a:rPr>
              <a:t>PolyVote tackles three weaknesses in digital elections</a:t>
            </a:r>
            <a:endParaRPr b="0" i="0" sz="2250" u="none" cap="none" strike="noStrike">
              <a:solidFill>
                <a:schemeClr val="dk1"/>
              </a:solidFill>
              <a:latin typeface="Calibri"/>
              <a:ea typeface="Calibri"/>
              <a:cs typeface="Calibri"/>
              <a:sym typeface="Calibri"/>
            </a:endParaRPr>
          </a:p>
        </p:txBody>
      </p:sp>
      <p:sp>
        <p:nvSpPr>
          <p:cNvPr id="38" name="Google Shape;38;p6"/>
          <p:cNvSpPr/>
          <p:nvPr/>
        </p:nvSpPr>
        <p:spPr>
          <a:xfrm>
            <a:off x="457200" y="1079599"/>
            <a:ext cx="2590800" cy="3294311"/>
          </a:xfrm>
          <a:prstGeom prst="roundRect">
            <a:avLst>
              <a:gd fmla="val 5294"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a:off x="638175" y="1203424"/>
            <a:ext cx="839242"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p:nvPr/>
        </p:nvSpPr>
        <p:spPr>
          <a:xfrm>
            <a:off x="735285" y="1251942"/>
            <a:ext cx="1102221"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PROBLEM</a:t>
            </a:r>
            <a:endParaRPr b="0" i="0" sz="1000" u="none" cap="none" strike="noStrike">
              <a:solidFill>
                <a:schemeClr val="dk1"/>
              </a:solidFill>
              <a:latin typeface="Calibri"/>
              <a:ea typeface="Calibri"/>
              <a:cs typeface="Calibri"/>
              <a:sym typeface="Calibri"/>
            </a:endParaRPr>
          </a:p>
        </p:txBody>
      </p:sp>
      <p:sp>
        <p:nvSpPr>
          <p:cNvPr id="41" name="Google Shape;41;p6"/>
          <p:cNvSpPr/>
          <p:nvPr/>
        </p:nvSpPr>
        <p:spPr>
          <a:xfrm>
            <a:off x="638175" y="1551161"/>
            <a:ext cx="222885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500"/>
              <a:buFont typeface="Inter"/>
              <a:buNone/>
            </a:pPr>
            <a:r>
              <a:rPr b="1" i="0" lang="en-US" sz="1500" u="none" cap="none" strike="noStrike">
                <a:solidFill>
                  <a:srgbClr val="1B2A55"/>
                </a:solidFill>
                <a:latin typeface="Inter"/>
                <a:ea typeface="Inter"/>
                <a:cs typeface="Inter"/>
                <a:sym typeface="Inter"/>
              </a:rPr>
              <a:t>Plurality &amp; Insider Risk</a:t>
            </a:r>
            <a:endParaRPr b="0" i="0" sz="1500" u="none" cap="none" strike="noStrike">
              <a:solidFill>
                <a:schemeClr val="dk1"/>
              </a:solidFill>
              <a:latin typeface="Calibri"/>
              <a:ea typeface="Calibri"/>
              <a:cs typeface="Calibri"/>
              <a:sym typeface="Calibri"/>
            </a:endParaRPr>
          </a:p>
        </p:txBody>
      </p:sp>
      <p:sp>
        <p:nvSpPr>
          <p:cNvPr id="42" name="Google Shape;42;p6"/>
          <p:cNvSpPr/>
          <p:nvPr/>
        </p:nvSpPr>
        <p:spPr>
          <a:xfrm>
            <a:off x="638175" y="1896450"/>
            <a:ext cx="2131200" cy="2100600"/>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300"/>
              <a:buFont typeface="Inter"/>
              <a:buNone/>
            </a:pPr>
            <a:r>
              <a:rPr b="0" i="0" lang="en-US" sz="1200" u="none" cap="none" strike="noStrike">
                <a:solidFill>
                  <a:srgbClr val="1B2A55"/>
                </a:solidFill>
                <a:latin typeface="Inter"/>
                <a:ea typeface="Inter"/>
                <a:cs typeface="Inter"/>
                <a:sym typeface="Inter"/>
              </a:rPr>
              <a:t>Plurality records one choice and can split support across three or more candidates, producing a winner without majority backing. Single-election systems are hard to reuse across organizations, and an administrator with </a:t>
            </a:r>
            <a:r>
              <a:rPr b="0" i="0" lang="en-US" sz="1200" u="none" cap="none" strike="noStrike">
                <a:solidFill>
                  <a:srgbClr val="1B2A55"/>
                </a:solidFill>
                <a:highlight>
                  <a:srgbClr val="F1F0F6"/>
                </a:highlight>
                <a:latin typeface="Consolas"/>
                <a:ea typeface="Consolas"/>
                <a:cs typeface="Consolas"/>
                <a:sym typeface="Consolas"/>
              </a:rPr>
              <a:t>UPDATE</a:t>
            </a:r>
            <a:r>
              <a:rPr b="0" i="0" lang="en-US" sz="1200" u="none" cap="none" strike="noStrike">
                <a:solidFill>
                  <a:srgbClr val="1B2A55"/>
                </a:solidFill>
                <a:latin typeface="Inter"/>
                <a:ea typeface="Inter"/>
                <a:cs typeface="Inter"/>
                <a:sym typeface="Inter"/>
              </a:rPr>
              <a:t> access can silently alter results. </a:t>
            </a:r>
            <a:endParaRPr b="0" i="0" sz="1200" u="none" cap="none" strike="noStrike">
              <a:solidFill>
                <a:schemeClr val="dk1"/>
              </a:solidFill>
              <a:latin typeface="Calibri"/>
              <a:ea typeface="Calibri"/>
              <a:cs typeface="Calibri"/>
              <a:sym typeface="Calibri"/>
            </a:endParaRPr>
          </a:p>
        </p:txBody>
      </p:sp>
      <p:sp>
        <p:nvSpPr>
          <p:cNvPr id="43" name="Google Shape;43;p6"/>
          <p:cNvSpPr/>
          <p:nvPr/>
        </p:nvSpPr>
        <p:spPr>
          <a:xfrm>
            <a:off x="3276600" y="1079599"/>
            <a:ext cx="2590800" cy="3294311"/>
          </a:xfrm>
          <a:prstGeom prst="roundRect">
            <a:avLst>
              <a:gd fmla="val 5294"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3457575" y="1203424"/>
            <a:ext cx="888727"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3554685" y="1251942"/>
            <a:ext cx="1151706"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SOLUTION</a:t>
            </a:r>
            <a:endParaRPr b="0" i="0" sz="1000" u="none" cap="none" strike="noStrike">
              <a:solidFill>
                <a:schemeClr val="dk1"/>
              </a:solidFill>
              <a:latin typeface="Calibri"/>
              <a:ea typeface="Calibri"/>
              <a:cs typeface="Calibri"/>
              <a:sym typeface="Calibri"/>
            </a:endParaRPr>
          </a:p>
        </p:txBody>
      </p:sp>
      <p:sp>
        <p:nvSpPr>
          <p:cNvPr id="46" name="Google Shape;46;p6"/>
          <p:cNvSpPr/>
          <p:nvPr/>
        </p:nvSpPr>
        <p:spPr>
          <a:xfrm>
            <a:off x="3457575" y="1551161"/>
            <a:ext cx="222885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500"/>
              <a:buFont typeface="Inter"/>
              <a:buNone/>
            </a:pPr>
            <a:r>
              <a:rPr b="1" i="0" lang="en-US" sz="1500" u="none" cap="none" strike="noStrike">
                <a:solidFill>
                  <a:srgbClr val="1B2A55"/>
                </a:solidFill>
                <a:latin typeface="Inter"/>
                <a:ea typeface="Inter"/>
                <a:cs typeface="Inter"/>
                <a:sym typeface="Inter"/>
              </a:rPr>
              <a:t>Ranked Choice &amp; Hash Chain</a:t>
            </a:r>
            <a:endParaRPr b="0" i="0" sz="1500" u="none" cap="none" strike="noStrike">
              <a:solidFill>
                <a:schemeClr val="dk1"/>
              </a:solidFill>
              <a:latin typeface="Calibri"/>
              <a:ea typeface="Calibri"/>
              <a:cs typeface="Calibri"/>
              <a:sym typeface="Calibri"/>
            </a:endParaRPr>
          </a:p>
        </p:txBody>
      </p:sp>
      <p:sp>
        <p:nvSpPr>
          <p:cNvPr id="47" name="Google Shape;47;p6"/>
          <p:cNvSpPr/>
          <p:nvPr/>
        </p:nvSpPr>
        <p:spPr>
          <a:xfrm>
            <a:off x="3457575" y="2125042"/>
            <a:ext cx="2228850" cy="1878211"/>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300"/>
              <a:buFont typeface="Inter"/>
              <a:buNone/>
            </a:pPr>
            <a:r>
              <a:rPr b="0" i="0" lang="en-US" sz="1300" u="none" cap="none" strike="noStrike">
                <a:solidFill>
                  <a:srgbClr val="1B2A55"/>
                </a:solidFill>
                <a:latin typeface="Inter"/>
                <a:ea typeface="Inter"/>
                <a:cs typeface="Inter"/>
                <a:sym typeface="Inter"/>
              </a:rPr>
              <a:t>Let voters rank candidates, then use Instant-Runoff Voting (IRV). Host organizations in one tenant-scoped schema; separate voter identity from ballot content; link audit records in a hash chain. </a:t>
            </a:r>
            <a:endParaRPr b="0" i="0" sz="1300" u="none" cap="none" strike="noStrike">
              <a:solidFill>
                <a:schemeClr val="dk1"/>
              </a:solidFill>
              <a:latin typeface="Calibri"/>
              <a:ea typeface="Calibri"/>
              <a:cs typeface="Calibri"/>
              <a:sym typeface="Calibri"/>
            </a:endParaRPr>
          </a:p>
        </p:txBody>
      </p:sp>
      <p:sp>
        <p:nvSpPr>
          <p:cNvPr id="48" name="Google Shape;48;p6"/>
          <p:cNvSpPr/>
          <p:nvPr/>
        </p:nvSpPr>
        <p:spPr>
          <a:xfrm>
            <a:off x="6096000" y="1079599"/>
            <a:ext cx="2590800" cy="3294311"/>
          </a:xfrm>
          <a:prstGeom prst="roundRect">
            <a:avLst>
              <a:gd fmla="val 5294"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a:off x="6276975" y="1203424"/>
            <a:ext cx="884039"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a:off x="6374085" y="1251942"/>
            <a:ext cx="1147018"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OUTCOME</a:t>
            </a:r>
            <a:endParaRPr b="0" i="0" sz="1000" u="none" cap="none" strike="noStrike">
              <a:solidFill>
                <a:schemeClr val="dk1"/>
              </a:solidFill>
              <a:latin typeface="Calibri"/>
              <a:ea typeface="Calibri"/>
              <a:cs typeface="Calibri"/>
              <a:sym typeface="Calibri"/>
            </a:endParaRPr>
          </a:p>
        </p:txBody>
      </p:sp>
      <p:sp>
        <p:nvSpPr>
          <p:cNvPr id="51" name="Google Shape;51;p6"/>
          <p:cNvSpPr/>
          <p:nvPr/>
        </p:nvSpPr>
        <p:spPr>
          <a:xfrm>
            <a:off x="6276975" y="1551161"/>
            <a:ext cx="222885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500"/>
              <a:buFont typeface="Inter"/>
              <a:buNone/>
            </a:pPr>
            <a:r>
              <a:rPr b="1" i="0" lang="en-US" sz="1500" u="none" cap="none" strike="noStrike">
                <a:solidFill>
                  <a:srgbClr val="1B2A55"/>
                </a:solidFill>
                <a:latin typeface="Inter"/>
                <a:ea typeface="Inter"/>
                <a:cs typeface="Inter"/>
                <a:sym typeface="Inter"/>
              </a:rPr>
              <a:t>Reusable Web Service</a:t>
            </a:r>
            <a:endParaRPr b="0" i="0" sz="1500" u="none" cap="none" strike="noStrike">
              <a:solidFill>
                <a:schemeClr val="dk1"/>
              </a:solidFill>
              <a:latin typeface="Calibri"/>
              <a:ea typeface="Calibri"/>
              <a:cs typeface="Calibri"/>
              <a:sym typeface="Calibri"/>
            </a:endParaRPr>
          </a:p>
        </p:txBody>
      </p:sp>
      <p:sp>
        <p:nvSpPr>
          <p:cNvPr id="52" name="Google Shape;52;p6"/>
          <p:cNvSpPr/>
          <p:nvPr/>
        </p:nvSpPr>
        <p:spPr>
          <a:xfrm>
            <a:off x="6276975" y="1896442"/>
            <a:ext cx="2228850" cy="1408658"/>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300"/>
              <a:buFont typeface="Inter"/>
              <a:buNone/>
            </a:pPr>
            <a:r>
              <a:rPr b="0" i="0" lang="en-US" sz="1300" u="none" cap="none" strike="noStrike">
                <a:solidFill>
                  <a:srgbClr val="1B2A55"/>
                </a:solidFill>
                <a:latin typeface="Inter"/>
                <a:ea typeface="Inter"/>
                <a:cs typeface="Inter"/>
                <a:sym typeface="Inter"/>
              </a:rPr>
              <a:t>A reusable, multi-organization web service (cloud hosting is planned for the final review), designed for a continuing-ballot majority winner, detectable record changes, and a secret ballot.</a:t>
            </a:r>
            <a:endParaRPr b="0" i="0" sz="1300" u="none" cap="none" strike="noStrike">
              <a:solidFill>
                <a:schemeClr val="dk1"/>
              </a:solidFill>
              <a:latin typeface="Calibri"/>
              <a:ea typeface="Calibri"/>
              <a:cs typeface="Calibri"/>
              <a:sym typeface="Calibri"/>
            </a:endParaRPr>
          </a:p>
        </p:txBody>
      </p:sp>
      <p:sp>
        <p:nvSpPr>
          <p:cNvPr id="53" name="Google Shape;53;p6"/>
          <p:cNvSpPr/>
          <p:nvPr/>
        </p:nvSpPr>
        <p:spPr>
          <a:xfrm>
            <a:off x="457200" y="4519166"/>
            <a:ext cx="86868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2 | Fall Semester 2026 · Slide 3</a:t>
            </a:r>
            <a:endParaRPr b="0" i="0" sz="950" u="none" cap="none" strike="noStrike">
              <a:solidFill>
                <a:schemeClr val="dk1"/>
              </a:solidFill>
              <a:latin typeface="Calibri"/>
              <a:ea typeface="Calibri"/>
              <a:cs typeface="Calibri"/>
              <a:sym typeface="Calibri"/>
            </a:endParaRPr>
          </a:p>
        </p:txBody>
      </p:sp>
      <p:sp>
        <p:nvSpPr>
          <p:cNvPr id="54" name="Google Shape;54;p6"/>
          <p:cNvSpPr/>
          <p:nvPr/>
        </p:nvSpPr>
        <p:spPr>
          <a:xfrm>
            <a:off x="8061875" y="4839725"/>
            <a:ext cx="1015800" cy="24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7"/>
          <p:cNvSpPr/>
          <p:nvPr/>
        </p:nvSpPr>
        <p:spPr>
          <a:xfrm>
            <a:off x="457200" y="457200"/>
            <a:ext cx="8686800" cy="1412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950"/>
              <a:buFont typeface="Inter"/>
              <a:buNone/>
            </a:pPr>
            <a:r>
              <a:rPr b="1" i="0" lang="en-US" sz="950" u="none" cap="none" strike="noStrike">
                <a:solidFill>
                  <a:srgbClr val="1B2A55"/>
                </a:solidFill>
                <a:latin typeface="Inter"/>
                <a:ea typeface="Inter"/>
                <a:cs typeface="Inter"/>
                <a:sym typeface="Inter"/>
              </a:rPr>
              <a:t>CORE ARCHITECTURE</a:t>
            </a:r>
            <a:endParaRPr b="0" i="0" sz="950" u="none" cap="none" strike="noStrike">
              <a:solidFill>
                <a:schemeClr val="dk1"/>
              </a:solidFill>
              <a:latin typeface="Calibri"/>
              <a:ea typeface="Calibri"/>
              <a:cs typeface="Calibri"/>
              <a:sym typeface="Calibri"/>
            </a:endParaRPr>
          </a:p>
        </p:txBody>
      </p:sp>
      <p:sp>
        <p:nvSpPr>
          <p:cNvPr id="61" name="Google Shape;61;p7"/>
          <p:cNvSpPr/>
          <p:nvPr/>
        </p:nvSpPr>
        <p:spPr>
          <a:xfrm>
            <a:off x="457200" y="663582"/>
            <a:ext cx="8229600" cy="298772"/>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150"/>
              <a:buFont typeface="Inter"/>
              <a:buNone/>
            </a:pPr>
            <a:r>
              <a:rPr b="1" i="0" lang="en-US" sz="2150" u="none" cap="none" strike="noStrike">
                <a:solidFill>
                  <a:srgbClr val="1B2A55"/>
                </a:solidFill>
                <a:latin typeface="Inter"/>
                <a:ea typeface="Inter"/>
                <a:cs typeface="Inter"/>
                <a:sym typeface="Inter"/>
              </a:rPr>
              <a:t>Six database techniques make the platform work</a:t>
            </a:r>
            <a:endParaRPr b="0" i="0" sz="2150" u="none" cap="none" strike="noStrike">
              <a:solidFill>
                <a:schemeClr val="dk1"/>
              </a:solidFill>
              <a:latin typeface="Calibri"/>
              <a:ea typeface="Calibri"/>
              <a:cs typeface="Calibri"/>
              <a:sym typeface="Calibri"/>
            </a:endParaRPr>
          </a:p>
        </p:txBody>
      </p:sp>
      <p:sp>
        <p:nvSpPr>
          <p:cNvPr id="62" name="Google Shape;62;p7"/>
          <p:cNvSpPr/>
          <p:nvPr/>
        </p:nvSpPr>
        <p:spPr>
          <a:xfrm>
            <a:off x="457200" y="1086445"/>
            <a:ext cx="2686050" cy="1829619"/>
          </a:xfrm>
          <a:prstGeom prst="roundRect">
            <a:avLst>
              <a:gd fmla="val 7497"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a:off x="619125" y="1229320"/>
            <a:ext cx="269304" cy="269304"/>
          </a:xfrm>
          <a:prstGeom prst="ellipse">
            <a:avLst/>
          </a:prstGeom>
          <a:solidFill>
            <a:srgbClr val="1B2A55"/>
          </a:solidFill>
          <a:ln cap="flat" cmpd="sng" w="2380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a:off x="704924" y="1248594"/>
            <a:ext cx="554831" cy="230832"/>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FFFFFF"/>
              </a:buClr>
              <a:buSzPts val="1800"/>
              <a:buFont typeface="Inter SemiBold"/>
              <a:buNone/>
            </a:pPr>
            <a:r>
              <a:rPr b="0" i="0" lang="en-US" sz="1800" u="none" cap="none" strike="noStrike">
                <a:solidFill>
                  <a:srgbClr val="FFFFFF"/>
                </a:solidFill>
                <a:latin typeface="Inter SemiBold"/>
                <a:ea typeface="Inter SemiBold"/>
                <a:cs typeface="Inter SemiBold"/>
                <a:sym typeface="Inter SemiBold"/>
              </a:rPr>
              <a:t>1</a:t>
            </a:r>
            <a:endParaRPr b="0" i="0" sz="1800" u="none" cap="none" strike="noStrike">
              <a:solidFill>
                <a:schemeClr val="dk1"/>
              </a:solidFill>
              <a:latin typeface="Calibri"/>
              <a:ea typeface="Calibri"/>
              <a:cs typeface="Calibri"/>
              <a:sym typeface="Calibri"/>
            </a:endParaRPr>
          </a:p>
        </p:txBody>
      </p:sp>
      <p:sp>
        <p:nvSpPr>
          <p:cNvPr id="65" name="Google Shape;65;p7"/>
          <p:cNvSpPr/>
          <p:nvPr/>
        </p:nvSpPr>
        <p:spPr>
          <a:xfrm>
            <a:off x="964629" y="1272406"/>
            <a:ext cx="2016696" cy="217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Inter"/>
              <a:buNone/>
            </a:pPr>
            <a:r>
              <a:rPr b="1" i="0" lang="en-US" sz="1450" u="none" cap="none" strike="noStrike">
                <a:solidFill>
                  <a:srgbClr val="000000"/>
                </a:solidFill>
                <a:latin typeface="Inter"/>
                <a:ea typeface="Inter"/>
                <a:cs typeface="Inter"/>
                <a:sym typeface="Inter"/>
              </a:rPr>
              <a:t>Multi-Tenant Schema</a:t>
            </a:r>
            <a:endParaRPr b="0" i="0" sz="1450" u="none" cap="none" strike="noStrike">
              <a:solidFill>
                <a:schemeClr val="dk1"/>
              </a:solidFill>
              <a:latin typeface="Calibri"/>
              <a:ea typeface="Calibri"/>
              <a:cs typeface="Calibri"/>
              <a:sym typeface="Calibri"/>
            </a:endParaRPr>
          </a:p>
        </p:txBody>
      </p:sp>
      <p:sp>
        <p:nvSpPr>
          <p:cNvPr id="66" name="Google Shape;66;p7"/>
          <p:cNvSpPr/>
          <p:nvPr/>
        </p:nvSpPr>
        <p:spPr>
          <a:xfrm>
            <a:off x="964629" y="1594991"/>
            <a:ext cx="2016696" cy="767953"/>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00000"/>
              </a:buClr>
              <a:buSzPts val="1050"/>
              <a:buFont typeface="Inter"/>
              <a:buNone/>
            </a:pPr>
            <a:r>
              <a:rPr b="0" i="0" lang="en-US" sz="1050" u="none" cap="none" strike="noStrike">
                <a:solidFill>
                  <a:srgbClr val="000000"/>
                </a:solidFill>
                <a:latin typeface="Inter"/>
                <a:ea typeface="Inter"/>
                <a:cs typeface="Inter"/>
                <a:sym typeface="Inter"/>
              </a:rPr>
              <a:t>One shared relational schema isolates tenant institutions through foreign-key predicates and row-level policies.</a:t>
            </a:r>
            <a:endParaRPr b="0" i="0" sz="1050" u="none" cap="none" strike="noStrike">
              <a:solidFill>
                <a:schemeClr val="dk1"/>
              </a:solidFill>
              <a:latin typeface="Calibri"/>
              <a:ea typeface="Calibri"/>
              <a:cs typeface="Calibri"/>
              <a:sym typeface="Calibri"/>
            </a:endParaRPr>
          </a:p>
        </p:txBody>
      </p:sp>
      <p:sp>
        <p:nvSpPr>
          <p:cNvPr id="67" name="Google Shape;67;p7"/>
          <p:cNvSpPr/>
          <p:nvPr/>
        </p:nvSpPr>
        <p:spPr>
          <a:xfrm>
            <a:off x="3257550" y="1086445"/>
            <a:ext cx="2628900" cy="1829619"/>
          </a:xfrm>
          <a:prstGeom prst="roundRect">
            <a:avLst>
              <a:gd fmla="val 7497"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3419475" y="1229320"/>
            <a:ext cx="269304" cy="269304"/>
          </a:xfrm>
          <a:prstGeom prst="ellipse">
            <a:avLst/>
          </a:prstGeom>
          <a:solidFill>
            <a:srgbClr val="1B2A55"/>
          </a:solidFill>
          <a:ln cap="flat" cmpd="sng" w="2380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3482206" y="1248594"/>
            <a:ext cx="601042" cy="230832"/>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FFFFFF"/>
              </a:buClr>
              <a:buSzPts val="1800"/>
              <a:buFont typeface="Inter SemiBold"/>
              <a:buNone/>
            </a:pPr>
            <a:r>
              <a:rPr b="0" i="0" lang="en-US" sz="1800" u="none" cap="none" strike="noStrike">
                <a:solidFill>
                  <a:srgbClr val="FFFFFF"/>
                </a:solidFill>
                <a:latin typeface="Inter SemiBold"/>
                <a:ea typeface="Inter SemiBold"/>
                <a:cs typeface="Inter SemiBold"/>
                <a:sym typeface="Inter SemiBold"/>
              </a:rPr>
              <a:t>2</a:t>
            </a:r>
            <a:endParaRPr b="0" i="0" sz="1800" u="none" cap="none" strike="noStrike">
              <a:solidFill>
                <a:schemeClr val="dk1"/>
              </a:solidFill>
              <a:latin typeface="Calibri"/>
              <a:ea typeface="Calibri"/>
              <a:cs typeface="Calibri"/>
              <a:sym typeface="Calibri"/>
            </a:endParaRPr>
          </a:p>
        </p:txBody>
      </p:sp>
      <p:sp>
        <p:nvSpPr>
          <p:cNvPr id="70" name="Google Shape;70;p7"/>
          <p:cNvSpPr/>
          <p:nvPr/>
        </p:nvSpPr>
        <p:spPr>
          <a:xfrm>
            <a:off x="3764979" y="1272406"/>
            <a:ext cx="1959546" cy="217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Inter"/>
              <a:buNone/>
            </a:pPr>
            <a:r>
              <a:rPr b="1" i="0" lang="en-US" sz="1450" u="none" cap="none" strike="noStrike">
                <a:solidFill>
                  <a:srgbClr val="000000"/>
                </a:solidFill>
                <a:latin typeface="Inter"/>
                <a:ea typeface="Inter"/>
                <a:cs typeface="Inter"/>
                <a:sym typeface="Inter"/>
              </a:rPr>
              <a:t>Instant-Runoff Tally</a:t>
            </a:r>
            <a:endParaRPr b="0" i="0" sz="1450" u="none" cap="none" strike="noStrike">
              <a:solidFill>
                <a:schemeClr val="dk1"/>
              </a:solidFill>
              <a:latin typeface="Calibri"/>
              <a:ea typeface="Calibri"/>
              <a:cs typeface="Calibri"/>
              <a:sym typeface="Calibri"/>
            </a:endParaRPr>
          </a:p>
        </p:txBody>
      </p:sp>
      <p:sp>
        <p:nvSpPr>
          <p:cNvPr id="71" name="Google Shape;71;p7"/>
          <p:cNvSpPr/>
          <p:nvPr/>
        </p:nvSpPr>
        <p:spPr>
          <a:xfrm>
            <a:off x="3764979" y="1594991"/>
            <a:ext cx="1959546" cy="767953"/>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00000"/>
              </a:buClr>
              <a:buSzPts val="1050"/>
              <a:buFont typeface="Inter"/>
              <a:buNone/>
            </a:pPr>
            <a:r>
              <a:rPr b="0" i="0" lang="en-US" sz="1050" u="none" cap="none" strike="noStrike">
                <a:solidFill>
                  <a:srgbClr val="000000"/>
                </a:solidFill>
                <a:latin typeface="Inter"/>
                <a:ea typeface="Inter"/>
                <a:cs typeface="Inter"/>
                <a:sym typeface="Inter"/>
              </a:rPr>
              <a:t>Tallies first choices, eliminates lowest candidates iteratively, and redistributes votes until reaching a true majority.</a:t>
            </a:r>
            <a:endParaRPr b="0" i="0" sz="1050" u="none" cap="none" strike="noStrike">
              <a:solidFill>
                <a:schemeClr val="dk1"/>
              </a:solidFill>
              <a:latin typeface="Calibri"/>
              <a:ea typeface="Calibri"/>
              <a:cs typeface="Calibri"/>
              <a:sym typeface="Calibri"/>
            </a:endParaRPr>
          </a:p>
        </p:txBody>
      </p:sp>
      <p:sp>
        <p:nvSpPr>
          <p:cNvPr id="72" name="Google Shape;72;p7"/>
          <p:cNvSpPr/>
          <p:nvPr/>
        </p:nvSpPr>
        <p:spPr>
          <a:xfrm>
            <a:off x="6000750" y="1086445"/>
            <a:ext cx="2686050" cy="1829619"/>
          </a:xfrm>
          <a:prstGeom prst="roundRect">
            <a:avLst>
              <a:gd fmla="val 7497"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6162675" y="1229320"/>
            <a:ext cx="271463" cy="271463"/>
          </a:xfrm>
          <a:prstGeom prst="ellipse">
            <a:avLst/>
          </a:prstGeom>
          <a:solidFill>
            <a:srgbClr val="1B2A55"/>
          </a:solidFill>
          <a:ln cap="flat" cmpd="sng" w="2380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6224960" y="1249635"/>
            <a:ext cx="604093" cy="230832"/>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FFFFFF"/>
              </a:buClr>
              <a:buSzPts val="1800"/>
              <a:buFont typeface="Inter SemiBold"/>
              <a:buNone/>
            </a:pPr>
            <a:r>
              <a:rPr b="0" i="0" lang="en-US" sz="1800" u="none" cap="none" strike="noStrike">
                <a:solidFill>
                  <a:srgbClr val="FFFFFF"/>
                </a:solidFill>
                <a:latin typeface="Inter SemiBold"/>
                <a:ea typeface="Inter SemiBold"/>
                <a:cs typeface="Inter SemiBold"/>
                <a:sym typeface="Inter SemiBold"/>
              </a:rPr>
              <a:t>3</a:t>
            </a:r>
            <a:endParaRPr b="0" i="0" sz="1800" u="none" cap="none" strike="noStrike">
              <a:solidFill>
                <a:schemeClr val="dk1"/>
              </a:solidFill>
              <a:latin typeface="Calibri"/>
              <a:ea typeface="Calibri"/>
              <a:cs typeface="Calibri"/>
              <a:sym typeface="Calibri"/>
            </a:endParaRPr>
          </a:p>
        </p:txBody>
      </p:sp>
      <p:sp>
        <p:nvSpPr>
          <p:cNvPr id="75" name="Google Shape;75;p7"/>
          <p:cNvSpPr/>
          <p:nvPr/>
        </p:nvSpPr>
        <p:spPr>
          <a:xfrm>
            <a:off x="6510338" y="1273448"/>
            <a:ext cx="2014538" cy="43442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Inter"/>
              <a:buNone/>
            </a:pPr>
            <a:r>
              <a:rPr b="1" i="0" lang="en-US" sz="1450" u="none" cap="none" strike="noStrike">
                <a:solidFill>
                  <a:srgbClr val="000000"/>
                </a:solidFill>
                <a:latin typeface="Inter"/>
                <a:ea typeface="Inter"/>
                <a:cs typeface="Inter"/>
                <a:sym typeface="Inter"/>
              </a:rPr>
              <a:t>SHA-256 Hash Chaining</a:t>
            </a:r>
            <a:endParaRPr b="0" i="0" sz="1450" u="none" cap="none" strike="noStrike">
              <a:solidFill>
                <a:schemeClr val="dk1"/>
              </a:solidFill>
              <a:latin typeface="Calibri"/>
              <a:ea typeface="Calibri"/>
              <a:cs typeface="Calibri"/>
              <a:sym typeface="Calibri"/>
            </a:endParaRPr>
          </a:p>
        </p:txBody>
      </p:sp>
      <p:sp>
        <p:nvSpPr>
          <p:cNvPr id="76" name="Google Shape;76;p7"/>
          <p:cNvSpPr/>
          <p:nvPr/>
        </p:nvSpPr>
        <p:spPr>
          <a:xfrm>
            <a:off x="6510338" y="1813247"/>
            <a:ext cx="2014538" cy="959941"/>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00000"/>
              </a:buClr>
              <a:buSzPts val="1050"/>
              <a:buFont typeface="Inter"/>
              <a:buNone/>
            </a:pPr>
            <a:r>
              <a:rPr b="0" i="0" lang="en-US" sz="1050" u="none" cap="none" strike="noStrike">
                <a:solidFill>
                  <a:srgbClr val="000000"/>
                </a:solidFill>
                <a:latin typeface="Inter"/>
                <a:ea typeface="Inter"/>
                <a:cs typeface="Inter"/>
                <a:sym typeface="Inter"/>
              </a:rPr>
              <a:t>Every vote event cryptographically references its prior block digest, rendering unauthorized retro-edits instantly invalid.</a:t>
            </a:r>
            <a:endParaRPr b="0" i="0" sz="1050" u="none" cap="none" strike="noStrike">
              <a:solidFill>
                <a:schemeClr val="dk1"/>
              </a:solidFill>
              <a:latin typeface="Calibri"/>
              <a:ea typeface="Calibri"/>
              <a:cs typeface="Calibri"/>
              <a:sym typeface="Calibri"/>
            </a:endParaRPr>
          </a:p>
        </p:txBody>
      </p:sp>
      <p:sp>
        <p:nvSpPr>
          <p:cNvPr id="77" name="Google Shape;77;p7"/>
          <p:cNvSpPr/>
          <p:nvPr/>
        </p:nvSpPr>
        <p:spPr>
          <a:xfrm>
            <a:off x="457200" y="3030364"/>
            <a:ext cx="2686050" cy="1829619"/>
          </a:xfrm>
          <a:prstGeom prst="roundRect">
            <a:avLst>
              <a:gd fmla="val 7497"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619125" y="3173239"/>
            <a:ext cx="278309" cy="278309"/>
          </a:xfrm>
          <a:prstGeom prst="ellipse">
            <a:avLst/>
          </a:prstGeom>
          <a:solidFill>
            <a:srgbClr val="1B2A55"/>
          </a:solidFill>
          <a:ln cap="flat" cmpd="sng" w="2380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681410" y="3196977"/>
            <a:ext cx="610939" cy="230832"/>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FFFFFF"/>
              </a:buClr>
              <a:buSzPts val="1800"/>
              <a:buFont typeface="Inter SemiBold"/>
              <a:buNone/>
            </a:pPr>
            <a:r>
              <a:rPr b="0" i="0" lang="en-US" sz="1800" u="none" cap="none" strike="noStrike">
                <a:solidFill>
                  <a:srgbClr val="FFFFFF"/>
                </a:solidFill>
                <a:latin typeface="Inter SemiBold"/>
                <a:ea typeface="Inter SemiBold"/>
                <a:cs typeface="Inter SemiBold"/>
                <a:sym typeface="Inter SemiBold"/>
              </a:rPr>
              <a:t>4</a:t>
            </a:r>
            <a:endParaRPr b="0" i="0" sz="1800" u="none" cap="none" strike="noStrike">
              <a:solidFill>
                <a:schemeClr val="dk1"/>
              </a:solidFill>
              <a:latin typeface="Calibri"/>
              <a:ea typeface="Calibri"/>
              <a:cs typeface="Calibri"/>
              <a:sym typeface="Calibri"/>
            </a:endParaRPr>
          </a:p>
        </p:txBody>
      </p:sp>
      <p:sp>
        <p:nvSpPr>
          <p:cNvPr id="80" name="Google Shape;80;p7"/>
          <p:cNvSpPr/>
          <p:nvPr/>
        </p:nvSpPr>
        <p:spPr>
          <a:xfrm>
            <a:off x="973634" y="3220789"/>
            <a:ext cx="2007691" cy="217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Inter"/>
              <a:buNone/>
            </a:pPr>
            <a:r>
              <a:rPr b="1" i="0" lang="en-US" sz="1450" u="none" cap="none" strike="noStrike">
                <a:solidFill>
                  <a:srgbClr val="000000"/>
                </a:solidFill>
                <a:latin typeface="Inter"/>
                <a:ea typeface="Inter"/>
                <a:cs typeface="Inter"/>
                <a:sym typeface="Inter"/>
              </a:rPr>
              <a:t>Polyglot Persistence</a:t>
            </a:r>
            <a:endParaRPr b="0" i="0" sz="1450" u="none" cap="none" strike="noStrike">
              <a:solidFill>
                <a:schemeClr val="dk1"/>
              </a:solidFill>
              <a:latin typeface="Calibri"/>
              <a:ea typeface="Calibri"/>
              <a:cs typeface="Calibri"/>
              <a:sym typeface="Calibri"/>
            </a:endParaRPr>
          </a:p>
        </p:txBody>
      </p:sp>
      <p:sp>
        <p:nvSpPr>
          <p:cNvPr id="81" name="Google Shape;81;p7"/>
          <p:cNvSpPr/>
          <p:nvPr/>
        </p:nvSpPr>
        <p:spPr>
          <a:xfrm>
            <a:off x="973634" y="3543374"/>
            <a:ext cx="2007691" cy="959941"/>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00000"/>
              </a:buClr>
              <a:buSzPts val="1050"/>
              <a:buFont typeface="Inter"/>
              <a:buNone/>
            </a:pPr>
            <a:r>
              <a:rPr b="0" i="0" lang="en-US" sz="1050" u="none" cap="none" strike="noStrike">
                <a:solidFill>
                  <a:srgbClr val="000000"/>
                </a:solidFill>
                <a:latin typeface="Inter"/>
                <a:ea typeface="Inter"/>
                <a:cs typeface="Inter"/>
                <a:sym typeface="Inter"/>
              </a:rPr>
              <a:t>A relational store keeps structured entities; an append-only JSON event ledger (MongoDB document model) supports audit. Oracle and MongoDB hosting follow.</a:t>
            </a:r>
            <a:endParaRPr b="0" i="0" sz="1050" u="none" cap="none" strike="noStrike">
              <a:solidFill>
                <a:schemeClr val="dk1"/>
              </a:solidFill>
              <a:latin typeface="Calibri"/>
              <a:ea typeface="Calibri"/>
              <a:cs typeface="Calibri"/>
              <a:sym typeface="Calibri"/>
            </a:endParaRPr>
          </a:p>
        </p:txBody>
      </p:sp>
      <p:sp>
        <p:nvSpPr>
          <p:cNvPr id="82" name="Google Shape;82;p7"/>
          <p:cNvSpPr/>
          <p:nvPr/>
        </p:nvSpPr>
        <p:spPr>
          <a:xfrm>
            <a:off x="3257550" y="3030364"/>
            <a:ext cx="2628900" cy="1829619"/>
          </a:xfrm>
          <a:prstGeom prst="roundRect">
            <a:avLst>
              <a:gd fmla="val 7497"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3419475" y="3173239"/>
            <a:ext cx="269304" cy="269304"/>
          </a:xfrm>
          <a:prstGeom prst="ellipse">
            <a:avLst/>
          </a:prstGeom>
          <a:solidFill>
            <a:srgbClr val="1B2A55"/>
          </a:solidFill>
          <a:ln cap="flat" cmpd="sng" w="2380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3483397" y="3192512"/>
            <a:ext cx="598587" cy="230832"/>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FFFFFF"/>
              </a:buClr>
              <a:buSzPts val="1800"/>
              <a:buFont typeface="Inter SemiBold"/>
              <a:buNone/>
            </a:pPr>
            <a:r>
              <a:rPr b="0" i="0" lang="en-US" sz="1800" u="none" cap="none" strike="noStrike">
                <a:solidFill>
                  <a:srgbClr val="FFFFFF"/>
                </a:solidFill>
                <a:latin typeface="Inter SemiBold"/>
                <a:ea typeface="Inter SemiBold"/>
                <a:cs typeface="Inter SemiBold"/>
                <a:sym typeface="Inter SemiBold"/>
              </a:rPr>
              <a:t>5</a:t>
            </a:r>
            <a:endParaRPr b="0" i="0" sz="1800" u="none" cap="none" strike="noStrike">
              <a:solidFill>
                <a:schemeClr val="dk1"/>
              </a:solidFill>
              <a:latin typeface="Calibri"/>
              <a:ea typeface="Calibri"/>
              <a:cs typeface="Calibri"/>
              <a:sym typeface="Calibri"/>
            </a:endParaRPr>
          </a:p>
        </p:txBody>
      </p:sp>
      <p:sp>
        <p:nvSpPr>
          <p:cNvPr id="85" name="Google Shape;85;p7"/>
          <p:cNvSpPr/>
          <p:nvPr/>
        </p:nvSpPr>
        <p:spPr>
          <a:xfrm>
            <a:off x="3764979" y="3216325"/>
            <a:ext cx="1959546" cy="217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Inter"/>
              <a:buNone/>
            </a:pPr>
            <a:r>
              <a:rPr b="1" i="0" lang="en-US" sz="1450" u="none" cap="none" strike="noStrike">
                <a:solidFill>
                  <a:srgbClr val="000000"/>
                </a:solidFill>
                <a:latin typeface="Inter"/>
                <a:ea typeface="Inter"/>
                <a:cs typeface="Inter"/>
                <a:sym typeface="Inter"/>
              </a:rPr>
              <a:t>Integrity</a:t>
            </a:r>
            <a:endParaRPr b="0" i="0" sz="1450" u="none" cap="none" strike="noStrike">
              <a:solidFill>
                <a:schemeClr val="dk1"/>
              </a:solidFill>
              <a:latin typeface="Calibri"/>
              <a:ea typeface="Calibri"/>
              <a:cs typeface="Calibri"/>
              <a:sym typeface="Calibri"/>
            </a:endParaRPr>
          </a:p>
        </p:txBody>
      </p:sp>
      <p:sp>
        <p:nvSpPr>
          <p:cNvPr id="86" name="Google Shape;86;p7"/>
          <p:cNvSpPr/>
          <p:nvPr/>
        </p:nvSpPr>
        <p:spPr>
          <a:xfrm>
            <a:off x="3764979" y="3538910"/>
            <a:ext cx="1959546" cy="959941"/>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00000"/>
              </a:buClr>
              <a:buSzPts val="1050"/>
              <a:buFont typeface="Inter"/>
              <a:buNone/>
            </a:pPr>
            <a:r>
              <a:rPr b="0" i="0" lang="en-US" sz="1050" u="none" cap="none" strike="noStrike">
                <a:solidFill>
                  <a:srgbClr val="000000"/>
                </a:solidFill>
                <a:latin typeface="Inter"/>
                <a:ea typeface="Inter"/>
                <a:cs typeface="Inter"/>
                <a:sym typeface="Inter"/>
              </a:rPr>
              <a:t>UNIQUE and CHECK constraints plus a trigger block duplicate participation independently of application logic; PL/SQL packages follow with Oracle.</a:t>
            </a:r>
            <a:endParaRPr b="0" i="0" sz="1050" u="none" cap="none" strike="noStrike">
              <a:solidFill>
                <a:schemeClr val="dk1"/>
              </a:solidFill>
              <a:latin typeface="Calibri"/>
              <a:ea typeface="Calibri"/>
              <a:cs typeface="Calibri"/>
              <a:sym typeface="Calibri"/>
            </a:endParaRPr>
          </a:p>
        </p:txBody>
      </p:sp>
      <p:sp>
        <p:nvSpPr>
          <p:cNvPr id="87" name="Google Shape;87;p7"/>
          <p:cNvSpPr/>
          <p:nvPr/>
        </p:nvSpPr>
        <p:spPr>
          <a:xfrm>
            <a:off x="6000750" y="3030364"/>
            <a:ext cx="2686050" cy="1829619"/>
          </a:xfrm>
          <a:prstGeom prst="roundRect">
            <a:avLst>
              <a:gd fmla="val 7497"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6162675" y="3173239"/>
            <a:ext cx="272281" cy="272281"/>
          </a:xfrm>
          <a:prstGeom prst="ellipse">
            <a:avLst/>
          </a:prstGeom>
          <a:solidFill>
            <a:srgbClr val="1B2A55"/>
          </a:solidFill>
          <a:ln cap="flat" cmpd="sng" w="2380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6224960" y="3194000"/>
            <a:ext cx="604912" cy="230832"/>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FFFFFF"/>
              </a:buClr>
              <a:buSzPts val="1800"/>
              <a:buFont typeface="Inter SemiBold"/>
              <a:buNone/>
            </a:pPr>
            <a:r>
              <a:rPr b="0" i="0" lang="en-US" sz="1800" u="none" cap="none" strike="noStrike">
                <a:solidFill>
                  <a:srgbClr val="FFFFFF"/>
                </a:solidFill>
                <a:latin typeface="Inter SemiBold"/>
                <a:ea typeface="Inter SemiBold"/>
                <a:cs typeface="Inter SemiBold"/>
                <a:sym typeface="Inter SemiBold"/>
              </a:rPr>
              <a:t>6</a:t>
            </a:r>
            <a:endParaRPr b="0" i="0" sz="1800" u="none" cap="none" strike="noStrike">
              <a:solidFill>
                <a:schemeClr val="dk1"/>
              </a:solidFill>
              <a:latin typeface="Calibri"/>
              <a:ea typeface="Calibri"/>
              <a:cs typeface="Calibri"/>
              <a:sym typeface="Calibri"/>
            </a:endParaRPr>
          </a:p>
        </p:txBody>
      </p:sp>
      <p:sp>
        <p:nvSpPr>
          <p:cNvPr id="90" name="Google Shape;90;p7"/>
          <p:cNvSpPr/>
          <p:nvPr/>
        </p:nvSpPr>
        <p:spPr>
          <a:xfrm>
            <a:off x="6511156" y="3217813"/>
            <a:ext cx="2013719" cy="217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Inter"/>
              <a:buNone/>
            </a:pPr>
            <a:r>
              <a:rPr b="1" i="0" lang="en-US" sz="1450" u="none" cap="none" strike="noStrike">
                <a:solidFill>
                  <a:srgbClr val="000000"/>
                </a:solidFill>
                <a:latin typeface="Inter"/>
                <a:ea typeface="Inter"/>
                <a:cs typeface="Inter"/>
                <a:sym typeface="Inter"/>
              </a:rPr>
              <a:t>Cloud Deployment</a:t>
            </a:r>
            <a:endParaRPr b="0" i="0" sz="1450" u="none" cap="none" strike="noStrike">
              <a:solidFill>
                <a:schemeClr val="dk1"/>
              </a:solidFill>
              <a:latin typeface="Calibri"/>
              <a:ea typeface="Calibri"/>
              <a:cs typeface="Calibri"/>
              <a:sym typeface="Calibri"/>
            </a:endParaRPr>
          </a:p>
        </p:txBody>
      </p:sp>
      <p:sp>
        <p:nvSpPr>
          <p:cNvPr id="91" name="Google Shape;91;p7"/>
          <p:cNvSpPr/>
          <p:nvPr/>
        </p:nvSpPr>
        <p:spPr>
          <a:xfrm>
            <a:off x="6511156" y="3540398"/>
            <a:ext cx="2013719" cy="959941"/>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00000"/>
              </a:buClr>
              <a:buSzPts val="1050"/>
              <a:buFont typeface="Inter"/>
              <a:buNone/>
            </a:pPr>
            <a:r>
              <a:rPr b="0" i="0" lang="en-US" sz="1050" u="none" cap="none" strike="noStrike">
                <a:solidFill>
                  <a:srgbClr val="000000"/>
                </a:solidFill>
                <a:latin typeface="Inter"/>
                <a:ea typeface="Inter"/>
                <a:cs typeface="Inter"/>
                <a:sym typeface="Inter"/>
              </a:rPr>
              <a:t>Runs today as one web service (API and UI). Hosting it on a cloud platform is the remaining deployment step.</a:t>
            </a:r>
            <a:endParaRPr b="0" i="0" sz="1050" u="none" cap="none" strike="noStrike">
              <a:solidFill>
                <a:schemeClr val="dk1"/>
              </a:solidFill>
              <a:latin typeface="Calibri"/>
              <a:ea typeface="Calibri"/>
              <a:cs typeface="Calibri"/>
              <a:sym typeface="Calibri"/>
            </a:endParaRPr>
          </a:p>
        </p:txBody>
      </p:sp>
      <p:sp>
        <p:nvSpPr>
          <p:cNvPr id="92" name="Google Shape;92;p7"/>
          <p:cNvSpPr/>
          <p:nvPr/>
        </p:nvSpPr>
        <p:spPr>
          <a:xfrm>
            <a:off x="457200" y="4991174"/>
            <a:ext cx="8686800" cy="15887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2 | Fall Semester 2026 · Slide 4</a:t>
            </a:r>
            <a:endParaRPr b="0" i="0" sz="950" u="none" cap="none" strike="noStrike">
              <a:solidFill>
                <a:schemeClr val="dk1"/>
              </a:solidFill>
              <a:latin typeface="Calibri"/>
              <a:ea typeface="Calibri"/>
              <a:cs typeface="Calibri"/>
              <a:sym typeface="Calibri"/>
            </a:endParaRPr>
          </a:p>
        </p:txBody>
      </p:sp>
      <p:sp>
        <p:nvSpPr>
          <p:cNvPr id="93" name="Google Shape;93;p7"/>
          <p:cNvSpPr/>
          <p:nvPr/>
        </p:nvSpPr>
        <p:spPr>
          <a:xfrm>
            <a:off x="8061875" y="4860400"/>
            <a:ext cx="1043700" cy="23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8"/>
          <p:cNvSpPr/>
          <p:nvPr/>
        </p:nvSpPr>
        <p:spPr>
          <a:xfrm>
            <a:off x="457200" y="457200"/>
            <a:ext cx="8686800" cy="1068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700"/>
              <a:buFont typeface="Inter"/>
              <a:buNone/>
            </a:pPr>
            <a:r>
              <a:rPr b="1" i="0" lang="en-US" sz="700" u="none" cap="none" strike="noStrike">
                <a:solidFill>
                  <a:srgbClr val="1B2A55"/>
                </a:solidFill>
                <a:latin typeface="Inter"/>
                <a:ea typeface="Inter"/>
                <a:cs typeface="Inter"/>
                <a:sym typeface="Inter"/>
              </a:rPr>
              <a:t>THEORETICAL FOUNDATION</a:t>
            </a:r>
            <a:endParaRPr b="0" i="0" sz="700" u="none" cap="none" strike="noStrike">
              <a:solidFill>
                <a:schemeClr val="dk1"/>
              </a:solidFill>
              <a:latin typeface="Calibri"/>
              <a:ea typeface="Calibri"/>
              <a:cs typeface="Calibri"/>
              <a:sym typeface="Calibri"/>
            </a:endParaRPr>
          </a:p>
        </p:txBody>
      </p:sp>
      <p:sp>
        <p:nvSpPr>
          <p:cNvPr id="100" name="Google Shape;100;p8"/>
          <p:cNvSpPr/>
          <p:nvPr/>
        </p:nvSpPr>
        <p:spPr>
          <a:xfrm>
            <a:off x="457200" y="602068"/>
            <a:ext cx="8229600" cy="226144"/>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1600"/>
              <a:buFont typeface="Inter"/>
              <a:buNone/>
            </a:pPr>
            <a:r>
              <a:rPr b="1" i="0" lang="en-US" sz="1600" u="none" cap="none" strike="noStrike">
                <a:solidFill>
                  <a:srgbClr val="1B2A55"/>
                </a:solidFill>
                <a:latin typeface="Inter"/>
                <a:ea typeface="Inter"/>
                <a:cs typeface="Inter"/>
                <a:sym typeface="Inter"/>
              </a:rPr>
              <a:t>Six studies frame PolyVote’s design choices</a:t>
            </a:r>
            <a:endParaRPr b="0" i="0" sz="1600" u="none" cap="none" strike="noStrike">
              <a:solidFill>
                <a:schemeClr val="dk1"/>
              </a:solidFill>
              <a:latin typeface="Calibri"/>
              <a:ea typeface="Calibri"/>
              <a:cs typeface="Calibri"/>
              <a:sym typeface="Calibri"/>
            </a:endParaRPr>
          </a:p>
        </p:txBody>
      </p:sp>
      <p:graphicFrame>
        <p:nvGraphicFramePr>
          <p:cNvPr id="101" name="Google Shape;101;p8"/>
          <p:cNvGraphicFramePr/>
          <p:nvPr/>
        </p:nvGraphicFramePr>
        <p:xfrm>
          <a:off x="457188" y="866224"/>
          <a:ext cx="3000000" cy="3000000"/>
        </p:xfrm>
        <a:graphic>
          <a:graphicData uri="http://schemas.openxmlformats.org/drawingml/2006/table">
            <a:tbl>
              <a:tblPr>
                <a:noFill/>
                <a:tableStyleId>{CF56F632-080D-41BD-B1F7-19A39A7C3095}</a:tableStyleId>
              </a:tblPr>
              <a:tblGrid>
                <a:gridCol w="493750"/>
                <a:gridCol w="1481300"/>
                <a:gridCol w="1234400"/>
                <a:gridCol w="1399025"/>
                <a:gridCol w="1152125"/>
                <a:gridCol w="1316675"/>
                <a:gridCol w="1152350"/>
              </a:tblGrid>
              <a:tr h="241100">
                <a:tc>
                  <a:txBody>
                    <a:bodyPr/>
                    <a:lstStyle/>
                    <a:p>
                      <a:pPr indent="0" lvl="0" marL="0" marR="0" rtl="0" algn="l">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Ref</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Author / Year</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Theme</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Technique</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Tools / Data</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Key Finding</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Limitation</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529150">
                <a:tc>
                  <a:txBody>
                    <a:bodyPr/>
                    <a:lstStyle/>
                    <a:p>
                      <a:pPr indent="0" lvl="0" marL="0" marR="0" rtl="0" algn="l">
                        <a:spcBef>
                          <a:spcPts val="0"/>
                        </a:spcBef>
                        <a:spcAft>
                          <a:spcPts val="0"/>
                        </a:spcAft>
                        <a:buClr>
                          <a:srgbClr val="1B2A55"/>
                        </a:buClr>
                        <a:buSzPts val="900"/>
                        <a:buFont typeface="Inter"/>
                        <a:buNone/>
                      </a:pPr>
                      <a:r>
                        <a:rPr b="1" lang="en-US" sz="900" u="none" cap="none" strike="noStrike">
                          <a:solidFill>
                            <a:srgbClr val="1B2A55"/>
                          </a:solidFill>
                          <a:latin typeface="Inter"/>
                          <a:ea typeface="Inter"/>
                          <a:cs typeface="Inter"/>
                          <a:sym typeface="Inter"/>
                        </a:rPr>
                        <a:t>[1]</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Aulbach et al. (2008)</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Multi-tenant Data</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Schema Mapping</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Relational DBs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Shared schema minimizes SaaS operational costs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DB privileges cannot block insider table edits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r>
              <a:tr h="529150">
                <a:tc>
                  <a:txBody>
                    <a:bodyPr/>
                    <a:lstStyle/>
                    <a:p>
                      <a:pPr indent="0" lvl="0" marL="0" marR="0" rtl="0" algn="l">
                        <a:spcBef>
                          <a:spcPts val="0"/>
                        </a:spcBef>
                        <a:spcAft>
                          <a:spcPts val="0"/>
                        </a:spcAft>
                        <a:buClr>
                          <a:srgbClr val="1B2A55"/>
                        </a:buClr>
                        <a:buSzPts val="900"/>
                        <a:buFont typeface="Inter"/>
                        <a:buNone/>
                      </a:pPr>
                      <a:r>
                        <a:rPr b="1" lang="en-US" sz="900" u="none" cap="none" strike="noStrike">
                          <a:solidFill>
                            <a:srgbClr val="1B2A55"/>
                          </a:solidFill>
                          <a:latin typeface="Inter"/>
                          <a:ea typeface="Inter"/>
                          <a:cs typeface="Inter"/>
                          <a:sym typeface="Inter"/>
                        </a:rPr>
                        <a:t>[2]</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Haber &amp; Stornetta (1991)</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Audit Trails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Hash Chaining</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Timestamps, SHA</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Chained block digests establish tamper evidence</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Requires external verification monitor</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673150">
                <a:tc>
                  <a:txBody>
                    <a:bodyPr/>
                    <a:lstStyle/>
                    <a:p>
                      <a:pPr indent="0" lvl="0" marL="0" marR="0" rtl="0" algn="l">
                        <a:spcBef>
                          <a:spcPts val="0"/>
                        </a:spcBef>
                        <a:spcAft>
                          <a:spcPts val="0"/>
                        </a:spcAft>
                        <a:buClr>
                          <a:srgbClr val="1B2A55"/>
                        </a:buClr>
                        <a:buSzPts val="900"/>
                        <a:buFont typeface="Inter"/>
                        <a:buNone/>
                      </a:pPr>
                      <a:r>
                        <a:rPr b="1" lang="en-US" sz="900" u="none" cap="none" strike="noStrike">
                          <a:solidFill>
                            <a:srgbClr val="1B2A55"/>
                          </a:solidFill>
                          <a:latin typeface="Inter"/>
                          <a:ea typeface="Inter"/>
                          <a:cs typeface="Inter"/>
                          <a:sym typeface="Inter"/>
                        </a:rPr>
                        <a:t>[3]</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Sadalage &amp; Fowler (2012)</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Polyglot Data</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Hybrid SQL/NoSQL</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Dual DB Engines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Specialized engines optimize discrete access patterns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Cross-database distributed consistency overhead</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r>
              <a:tr h="673150">
                <a:tc>
                  <a:txBody>
                    <a:bodyPr/>
                    <a:lstStyle/>
                    <a:p>
                      <a:pPr indent="0" lvl="0" marL="0" marR="0" rtl="0" algn="l">
                        <a:spcBef>
                          <a:spcPts val="0"/>
                        </a:spcBef>
                        <a:spcAft>
                          <a:spcPts val="0"/>
                        </a:spcAft>
                        <a:buClr>
                          <a:srgbClr val="1B2A55"/>
                        </a:buClr>
                        <a:buSzPts val="900"/>
                        <a:buFont typeface="Inter"/>
                        <a:buNone/>
                      </a:pPr>
                      <a:r>
                        <a:rPr b="1" lang="en-US" sz="900" u="none" cap="none" strike="noStrike">
                          <a:solidFill>
                            <a:srgbClr val="1B2A55"/>
                          </a:solidFill>
                          <a:latin typeface="Inter"/>
                          <a:ea typeface="Inter"/>
                          <a:cs typeface="Inter"/>
                          <a:sym typeface="Inter"/>
                        </a:rPr>
                        <a:t>[4]</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Chaum (2004)</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Voter Privacy</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Pseudonym Receipts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Crypto Receipts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Decouples eligibility registry from cast ballots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Relies on physical printer hardware verification</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673150">
                <a:tc>
                  <a:txBody>
                    <a:bodyPr/>
                    <a:lstStyle/>
                    <a:p>
                      <a:pPr indent="0" lvl="0" marL="0" marR="0" rtl="0" algn="l">
                        <a:spcBef>
                          <a:spcPts val="0"/>
                        </a:spcBef>
                        <a:spcAft>
                          <a:spcPts val="0"/>
                        </a:spcAft>
                        <a:buClr>
                          <a:srgbClr val="1B2A55"/>
                        </a:buClr>
                        <a:buSzPts val="900"/>
                        <a:buFont typeface="Inter"/>
                        <a:buNone/>
                      </a:pPr>
                      <a:r>
                        <a:rPr b="1" lang="en-US" sz="900" u="none" cap="none" strike="noStrike">
                          <a:solidFill>
                            <a:srgbClr val="1B2A55"/>
                          </a:solidFill>
                          <a:latin typeface="Inter"/>
                          <a:ea typeface="Inter"/>
                          <a:cs typeface="Inter"/>
                          <a:sym typeface="Inter"/>
                        </a:rPr>
                        <a:t>[5]</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Crosby &amp; Wallach (2009)</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Authenticated Logs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Merkle History Trees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Tree-based Hashes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Enables lightweight, verifiable history membership</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Tree generation adds computational latency</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solidFill>
                      <a:srgbClr val="000000">
                        <a:alpha val="3922"/>
                      </a:srgbClr>
                    </a:solidFill>
                  </a:tcPr>
                </a:tc>
              </a:tr>
              <a:tr h="668450">
                <a:tc>
                  <a:txBody>
                    <a:bodyPr/>
                    <a:lstStyle/>
                    <a:p>
                      <a:pPr indent="0" lvl="0" marL="0" marR="0" rtl="0" algn="l">
                        <a:spcBef>
                          <a:spcPts val="0"/>
                        </a:spcBef>
                        <a:spcAft>
                          <a:spcPts val="0"/>
                        </a:spcAft>
                        <a:buClr>
                          <a:srgbClr val="1B2A55"/>
                        </a:buClr>
                        <a:buSzPts val="900"/>
                        <a:buFont typeface="Inter"/>
                        <a:buNone/>
                      </a:pPr>
                      <a:r>
                        <a:rPr b="1" lang="en-US" sz="900" u="none" cap="none" strike="noStrike">
                          <a:solidFill>
                            <a:srgbClr val="1B2A55"/>
                          </a:solidFill>
                          <a:latin typeface="Inter"/>
                          <a:ea typeface="Inter"/>
                          <a:cs typeface="Inter"/>
                          <a:sym typeface="Inter"/>
                        </a:rPr>
                        <a:t>[6]</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Blom et al. (2019)</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IRV Auditing</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Risk-Limiting Audit</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Cast Vote Records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Mathematical audit proofs across elimination rounds</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900"/>
                        <a:buFont typeface="Inter"/>
                        <a:buNone/>
                      </a:pPr>
                      <a:r>
                        <a:rPr lang="en-US" sz="900" u="none" cap="none" strike="noStrike">
                          <a:solidFill>
                            <a:srgbClr val="1B2A55"/>
                          </a:solidFill>
                          <a:latin typeface="Inter"/>
                          <a:ea typeface="Inter"/>
                          <a:cs typeface="Inter"/>
                          <a:sym typeface="Inter"/>
                        </a:rPr>
                        <a:t>Assumes physical paper ballots for recount</a:t>
                      </a:r>
                      <a:endParaRPr sz="900" u="none" cap="none" strike="noStrike">
                        <a:latin typeface="Inter"/>
                        <a:ea typeface="Inter"/>
                        <a:cs typeface="Inter"/>
                        <a:sym typeface="Inter"/>
                      </a:endParaRPr>
                    </a:p>
                  </a:txBody>
                  <a:tcPr marT="46600" marB="46600" marR="87400" marL="87400" anchor="ctr">
                    <a:lnL cap="flat" cmpd="sng" w="12700">
                      <a:solidFill>
                        <a:srgbClr val="D9D9E4"/>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bl>
          </a:graphicData>
        </a:graphic>
      </p:graphicFrame>
      <p:sp>
        <p:nvSpPr>
          <p:cNvPr id="102" name="Google Shape;102;p8"/>
          <p:cNvSpPr/>
          <p:nvPr/>
        </p:nvSpPr>
        <p:spPr>
          <a:xfrm>
            <a:off x="457200" y="5052566"/>
            <a:ext cx="8686800" cy="120179"/>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666A78"/>
              </a:buClr>
              <a:buSzPts val="700"/>
              <a:buFont typeface="Inter Medium"/>
              <a:buNone/>
            </a:pPr>
            <a:r>
              <a:rPr b="0" i="0" lang="en-US" sz="700" u="none" cap="none" strike="noStrike">
                <a:solidFill>
                  <a:srgbClr val="666A78"/>
                </a:solidFill>
                <a:latin typeface="Inter Medium"/>
                <a:ea typeface="Inter Medium"/>
                <a:cs typeface="Inter Medium"/>
                <a:sym typeface="Inter Medium"/>
              </a:rPr>
              <a:t>BACSE202 – Database Systems | Review 2 | Fall Semester 2026 · Slide 5</a:t>
            </a:r>
            <a:endParaRPr b="0" i="0" sz="700" u="none" cap="none" strike="noStrike">
              <a:solidFill>
                <a:schemeClr val="dk1"/>
              </a:solidFill>
              <a:latin typeface="Calibri"/>
              <a:ea typeface="Calibri"/>
              <a:cs typeface="Calibri"/>
              <a:sym typeface="Calibri"/>
            </a:endParaRPr>
          </a:p>
        </p:txBody>
      </p:sp>
      <p:sp>
        <p:nvSpPr>
          <p:cNvPr id="103" name="Google Shape;103;p8"/>
          <p:cNvSpPr/>
          <p:nvPr/>
        </p:nvSpPr>
        <p:spPr>
          <a:xfrm>
            <a:off x="8051300" y="4872600"/>
            <a:ext cx="1037400" cy="22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9"/>
          <p:cNvSpPr/>
          <p:nvPr/>
        </p:nvSpPr>
        <p:spPr>
          <a:xfrm>
            <a:off x="457200" y="457200"/>
            <a:ext cx="8686800" cy="1250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800"/>
              <a:buFont typeface="Inter"/>
              <a:buNone/>
            </a:pPr>
            <a:r>
              <a:rPr b="1" i="0" lang="en-US" sz="800" u="none" cap="none" strike="noStrike">
                <a:solidFill>
                  <a:srgbClr val="1B2A55"/>
                </a:solidFill>
                <a:latin typeface="Inter"/>
                <a:ea typeface="Inter"/>
                <a:cs typeface="Inter"/>
                <a:sym typeface="Inter"/>
              </a:rPr>
              <a:t>RESEARCH GAPS &amp; TAMPER MODEL</a:t>
            </a:r>
            <a:endParaRPr b="0" i="0" sz="800" u="none" cap="none" strike="noStrike">
              <a:solidFill>
                <a:schemeClr val="dk1"/>
              </a:solidFill>
              <a:latin typeface="Calibri"/>
              <a:ea typeface="Calibri"/>
              <a:cs typeface="Calibri"/>
              <a:sym typeface="Calibri"/>
            </a:endParaRPr>
          </a:p>
        </p:txBody>
      </p:sp>
      <p:sp>
        <p:nvSpPr>
          <p:cNvPr id="110" name="Google Shape;110;p9"/>
          <p:cNvSpPr/>
          <p:nvPr/>
        </p:nvSpPr>
        <p:spPr>
          <a:xfrm>
            <a:off x="457200" y="633067"/>
            <a:ext cx="8229600" cy="264393"/>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1900"/>
              <a:buFont typeface="Inter"/>
              <a:buNone/>
            </a:pPr>
            <a:r>
              <a:rPr b="1" i="0" lang="en-US" sz="1900" u="none" cap="none" strike="noStrike">
                <a:solidFill>
                  <a:srgbClr val="1B2A55"/>
                </a:solidFill>
                <a:latin typeface="Inter"/>
                <a:ea typeface="Inter"/>
                <a:cs typeface="Inter"/>
                <a:sym typeface="Inter"/>
              </a:rPr>
              <a:t>Four gaps remain between auditability and usable digital voting</a:t>
            </a:r>
            <a:endParaRPr b="0" i="0" sz="1900" u="none" cap="none" strike="noStrike">
              <a:solidFill>
                <a:schemeClr val="dk1"/>
              </a:solidFill>
              <a:latin typeface="Calibri"/>
              <a:ea typeface="Calibri"/>
              <a:cs typeface="Calibri"/>
              <a:sym typeface="Calibri"/>
            </a:endParaRPr>
          </a:p>
        </p:txBody>
      </p:sp>
      <p:sp>
        <p:nvSpPr>
          <p:cNvPr id="111" name="Google Shape;111;p9"/>
          <p:cNvSpPr/>
          <p:nvPr/>
        </p:nvSpPr>
        <p:spPr>
          <a:xfrm>
            <a:off x="457200" y="994767"/>
            <a:ext cx="3733800" cy="965374"/>
          </a:xfrm>
          <a:prstGeom prst="roundRect">
            <a:avLst>
              <a:gd fmla="val 14208"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600075" y="1099542"/>
            <a:ext cx="3448050" cy="192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Inter"/>
              <a:buNone/>
            </a:pPr>
            <a:r>
              <a:rPr b="1" i="0" lang="en-US" sz="1250" u="none" cap="none" strike="noStrike">
                <a:solidFill>
                  <a:srgbClr val="000000"/>
                </a:solidFill>
                <a:latin typeface="Inter"/>
                <a:ea typeface="Inter"/>
                <a:cs typeface="Inter"/>
                <a:sym typeface="Inter"/>
              </a:rPr>
              <a:t>G1 · Multi-Tenant Isolation [1]</a:t>
            </a:r>
            <a:endParaRPr b="0" i="0" sz="1250" u="none" cap="none" strike="noStrike">
              <a:solidFill>
                <a:schemeClr val="dk1"/>
              </a:solidFill>
              <a:latin typeface="Calibri"/>
              <a:ea typeface="Calibri"/>
              <a:cs typeface="Calibri"/>
              <a:sym typeface="Calibri"/>
            </a:endParaRPr>
          </a:p>
        </p:txBody>
      </p:sp>
      <p:sp>
        <p:nvSpPr>
          <p:cNvPr id="113" name="Google Shape;113;p9"/>
          <p:cNvSpPr/>
          <p:nvPr/>
        </p:nvSpPr>
        <p:spPr>
          <a:xfrm>
            <a:off x="600075" y="1374279"/>
            <a:ext cx="3448050" cy="48108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000000"/>
              </a:buClr>
              <a:buSzPts val="950"/>
              <a:buFont typeface="Inter"/>
              <a:buNone/>
            </a:pPr>
            <a:r>
              <a:rPr b="0" i="0" lang="en-US" sz="950" u="none" cap="none" strike="noStrike">
                <a:solidFill>
                  <a:srgbClr val="000000"/>
                </a:solidFill>
                <a:latin typeface="Inter"/>
                <a:ea typeface="Inter"/>
                <a:cs typeface="Inter"/>
                <a:sym typeface="Inter"/>
              </a:rPr>
              <a:t>Shared schemas rely on DBMS privileges; rogue root DBAs can modify election rows undetected without cryptographic ledgers.</a:t>
            </a:r>
            <a:endParaRPr b="0" i="0" sz="950" u="none" cap="none" strike="noStrike">
              <a:solidFill>
                <a:schemeClr val="dk1"/>
              </a:solidFill>
              <a:latin typeface="Calibri"/>
              <a:ea typeface="Calibri"/>
              <a:cs typeface="Calibri"/>
              <a:sym typeface="Calibri"/>
            </a:endParaRPr>
          </a:p>
        </p:txBody>
      </p:sp>
      <p:sp>
        <p:nvSpPr>
          <p:cNvPr id="114" name="Google Shape;114;p9"/>
          <p:cNvSpPr/>
          <p:nvPr/>
        </p:nvSpPr>
        <p:spPr>
          <a:xfrm>
            <a:off x="457200" y="2074441"/>
            <a:ext cx="3733800" cy="965374"/>
          </a:xfrm>
          <a:prstGeom prst="roundRect">
            <a:avLst>
              <a:gd fmla="val 14208"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600075" y="2179216"/>
            <a:ext cx="3448050" cy="192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Inter"/>
              <a:buNone/>
            </a:pPr>
            <a:r>
              <a:rPr b="1" i="0" lang="en-US" sz="1250" u="none" cap="none" strike="noStrike">
                <a:solidFill>
                  <a:srgbClr val="000000"/>
                </a:solidFill>
                <a:latin typeface="Inter"/>
                <a:ea typeface="Inter"/>
                <a:cs typeface="Inter"/>
                <a:sym typeface="Inter"/>
              </a:rPr>
              <a:t>G2 · Passive Audit Logs [2, 5]</a:t>
            </a:r>
            <a:endParaRPr b="0" i="0" sz="1250" u="none" cap="none" strike="noStrike">
              <a:solidFill>
                <a:schemeClr val="dk1"/>
              </a:solidFill>
              <a:latin typeface="Calibri"/>
              <a:ea typeface="Calibri"/>
              <a:cs typeface="Calibri"/>
              <a:sym typeface="Calibri"/>
            </a:endParaRPr>
          </a:p>
        </p:txBody>
      </p:sp>
      <p:sp>
        <p:nvSpPr>
          <p:cNvPr id="116" name="Google Shape;116;p9"/>
          <p:cNvSpPr/>
          <p:nvPr/>
        </p:nvSpPr>
        <p:spPr>
          <a:xfrm>
            <a:off x="600075" y="2453953"/>
            <a:ext cx="3448050" cy="481087"/>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000000"/>
              </a:buClr>
              <a:buSzPts val="950"/>
              <a:buFont typeface="Inter"/>
              <a:buNone/>
            </a:pPr>
            <a:r>
              <a:rPr b="0" i="0" lang="en-US" sz="950" u="none" cap="none" strike="noStrike">
                <a:solidFill>
                  <a:srgbClr val="000000"/>
                </a:solidFill>
                <a:latin typeface="Inter"/>
                <a:ea typeface="Inter"/>
                <a:cs typeface="Inter"/>
                <a:sym typeface="Inter"/>
              </a:rPr>
              <a:t>Hash chains record history, but tamper evidence fails unless active automated verification routines routinely validate digests.</a:t>
            </a:r>
            <a:endParaRPr b="0" i="0" sz="950" u="none" cap="none" strike="noStrike">
              <a:solidFill>
                <a:schemeClr val="dk1"/>
              </a:solidFill>
              <a:latin typeface="Calibri"/>
              <a:ea typeface="Calibri"/>
              <a:cs typeface="Calibri"/>
              <a:sym typeface="Calibri"/>
            </a:endParaRPr>
          </a:p>
        </p:txBody>
      </p:sp>
      <p:sp>
        <p:nvSpPr>
          <p:cNvPr id="117" name="Google Shape;117;p9"/>
          <p:cNvSpPr/>
          <p:nvPr/>
        </p:nvSpPr>
        <p:spPr>
          <a:xfrm>
            <a:off x="457200" y="3154114"/>
            <a:ext cx="3733800" cy="805011"/>
          </a:xfrm>
          <a:prstGeom prst="roundRect">
            <a:avLst>
              <a:gd fmla="val 17038"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600075" y="3258889"/>
            <a:ext cx="3448050" cy="192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Inter"/>
              <a:buNone/>
            </a:pPr>
            <a:r>
              <a:rPr b="1" i="0" lang="en-US" sz="1250" u="none" cap="none" strike="noStrike">
                <a:solidFill>
                  <a:srgbClr val="000000"/>
                </a:solidFill>
                <a:latin typeface="Inter"/>
                <a:ea typeface="Inter"/>
                <a:cs typeface="Inter"/>
                <a:sym typeface="Inter"/>
              </a:rPr>
              <a:t>G3 · Paper-Dependent Privacy [4]</a:t>
            </a:r>
            <a:endParaRPr b="0" i="0" sz="1250" u="none" cap="none" strike="noStrike">
              <a:solidFill>
                <a:schemeClr val="dk1"/>
              </a:solidFill>
              <a:latin typeface="Calibri"/>
              <a:ea typeface="Calibri"/>
              <a:cs typeface="Calibri"/>
              <a:sym typeface="Calibri"/>
            </a:endParaRPr>
          </a:p>
        </p:txBody>
      </p:sp>
      <p:sp>
        <p:nvSpPr>
          <p:cNvPr id="119" name="Google Shape;119;p9"/>
          <p:cNvSpPr/>
          <p:nvPr/>
        </p:nvSpPr>
        <p:spPr>
          <a:xfrm>
            <a:off x="600075" y="3533626"/>
            <a:ext cx="3448050" cy="320725"/>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000000"/>
              </a:buClr>
              <a:buSzPts val="950"/>
              <a:buFont typeface="Inter"/>
              <a:buNone/>
            </a:pPr>
            <a:r>
              <a:rPr b="0" i="0" lang="en-US" sz="950" u="none" cap="none" strike="noStrike">
                <a:solidFill>
                  <a:srgbClr val="000000"/>
                </a:solidFill>
                <a:latin typeface="Inter"/>
                <a:ea typeface="Inter"/>
                <a:cs typeface="Inter"/>
                <a:sym typeface="Inter"/>
              </a:rPr>
              <a:t>Cryptographic receipts traditionally demand specialized in-person printers, proving unusable for fully digital web voting.</a:t>
            </a:r>
            <a:endParaRPr b="0" i="0" sz="950" u="none" cap="none" strike="noStrike">
              <a:solidFill>
                <a:schemeClr val="dk1"/>
              </a:solidFill>
              <a:latin typeface="Calibri"/>
              <a:ea typeface="Calibri"/>
              <a:cs typeface="Calibri"/>
              <a:sym typeface="Calibri"/>
            </a:endParaRPr>
          </a:p>
        </p:txBody>
      </p:sp>
      <p:sp>
        <p:nvSpPr>
          <p:cNvPr id="120" name="Google Shape;120;p9"/>
          <p:cNvSpPr/>
          <p:nvPr/>
        </p:nvSpPr>
        <p:spPr>
          <a:xfrm>
            <a:off x="457200" y="4073426"/>
            <a:ext cx="3733800" cy="805011"/>
          </a:xfrm>
          <a:prstGeom prst="roundRect">
            <a:avLst>
              <a:gd fmla="val 17038"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600075" y="4178201"/>
            <a:ext cx="3448050" cy="192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Inter"/>
              <a:buNone/>
            </a:pPr>
            <a:r>
              <a:rPr b="1" i="0" lang="en-US" sz="1250" u="none" cap="none" strike="noStrike">
                <a:solidFill>
                  <a:srgbClr val="000000"/>
                </a:solidFill>
                <a:latin typeface="Inter"/>
                <a:ea typeface="Inter"/>
                <a:cs typeface="Inter"/>
                <a:sym typeface="Inter"/>
              </a:rPr>
              <a:t>G4 · Paper-Reliant IRV Auditing [6]</a:t>
            </a:r>
            <a:endParaRPr b="0" i="0" sz="1250" u="none" cap="none" strike="noStrike">
              <a:solidFill>
                <a:schemeClr val="dk1"/>
              </a:solidFill>
              <a:latin typeface="Calibri"/>
              <a:ea typeface="Calibri"/>
              <a:cs typeface="Calibri"/>
              <a:sym typeface="Calibri"/>
            </a:endParaRPr>
          </a:p>
        </p:txBody>
      </p:sp>
      <p:sp>
        <p:nvSpPr>
          <p:cNvPr id="122" name="Google Shape;122;p9"/>
          <p:cNvSpPr/>
          <p:nvPr/>
        </p:nvSpPr>
        <p:spPr>
          <a:xfrm>
            <a:off x="600075" y="4452938"/>
            <a:ext cx="3448050" cy="320725"/>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000000"/>
              </a:buClr>
              <a:buSzPts val="950"/>
              <a:buFont typeface="Inter"/>
              <a:buNone/>
            </a:pPr>
            <a:r>
              <a:rPr b="0" i="0" lang="en-US" sz="950" u="none" cap="none" strike="noStrike">
                <a:solidFill>
                  <a:srgbClr val="000000"/>
                </a:solidFill>
                <a:latin typeface="Inter"/>
                <a:ea typeface="Inter"/>
                <a:cs typeface="Inter"/>
                <a:sym typeface="Inter"/>
              </a:rPr>
              <a:t>Risk-limiting audits assume physical ballot boxes for manual recount; purely digital IRV workflows lack native auditability.</a:t>
            </a:r>
            <a:endParaRPr b="0" i="0" sz="950" u="none" cap="none" strike="noStrike">
              <a:solidFill>
                <a:schemeClr val="dk1"/>
              </a:solidFill>
              <a:latin typeface="Calibri"/>
              <a:ea typeface="Calibri"/>
              <a:cs typeface="Calibri"/>
              <a:sym typeface="Calibri"/>
            </a:endParaRPr>
          </a:p>
        </p:txBody>
      </p:sp>
      <p:sp>
        <p:nvSpPr>
          <p:cNvPr id="123" name="Google Shape;123;p9"/>
          <p:cNvSpPr/>
          <p:nvPr/>
        </p:nvSpPr>
        <p:spPr>
          <a:xfrm>
            <a:off x="4419526" y="994767"/>
            <a:ext cx="4267274" cy="3883670"/>
          </a:xfrm>
          <a:prstGeom prst="roundRect">
            <a:avLst>
              <a:gd fmla="val 3532"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4600501" y="1175742"/>
            <a:ext cx="3905324" cy="192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250"/>
              <a:buFont typeface="Inter"/>
              <a:buNone/>
            </a:pPr>
            <a:r>
              <a:rPr b="1" i="0" lang="en-US" sz="1250" u="none" cap="none" strike="noStrike">
                <a:solidFill>
                  <a:srgbClr val="1B2A55"/>
                </a:solidFill>
                <a:latin typeface="Inter"/>
                <a:ea typeface="Inter"/>
                <a:cs typeface="Inter"/>
                <a:sym typeface="Inter"/>
              </a:rPr>
              <a:t>PolyVote Hash Chain &amp; Tamper Verification</a:t>
            </a:r>
            <a:endParaRPr b="0" i="0" sz="1250" u="none" cap="none" strike="noStrike">
              <a:solidFill>
                <a:schemeClr val="dk1"/>
              </a:solidFill>
              <a:latin typeface="Calibri"/>
              <a:ea typeface="Calibri"/>
              <a:cs typeface="Calibri"/>
              <a:sym typeface="Calibri"/>
            </a:endParaRPr>
          </a:p>
        </p:txBody>
      </p:sp>
      <p:sp>
        <p:nvSpPr>
          <p:cNvPr id="125" name="Google Shape;125;p9"/>
          <p:cNvSpPr/>
          <p:nvPr/>
        </p:nvSpPr>
        <p:spPr>
          <a:xfrm>
            <a:off x="4600501" y="1450479"/>
            <a:ext cx="3905324" cy="320725"/>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1B2A55"/>
              </a:buClr>
              <a:buSzPts val="950"/>
              <a:buFont typeface="Inter"/>
              <a:buNone/>
            </a:pPr>
            <a:r>
              <a:rPr b="0" i="0" lang="en-US" sz="950" u="none" cap="none" strike="noStrike">
                <a:solidFill>
                  <a:srgbClr val="1B2A55"/>
                </a:solidFill>
                <a:latin typeface="Inter"/>
                <a:ea typeface="Inter"/>
                <a:cs typeface="Inter"/>
                <a:sym typeface="Inter"/>
              </a:rPr>
              <a:t>Each cast ballot generates an append-only JSON record linking its payload to the prior record hash.</a:t>
            </a:r>
            <a:endParaRPr b="0" i="0" sz="950" u="none" cap="none" strike="noStrike">
              <a:solidFill>
                <a:schemeClr val="dk1"/>
              </a:solidFill>
              <a:latin typeface="Calibri"/>
              <a:ea typeface="Calibri"/>
              <a:cs typeface="Calibri"/>
              <a:sym typeface="Calibri"/>
            </a:endParaRPr>
          </a:p>
        </p:txBody>
      </p:sp>
      <p:pic>
        <p:nvPicPr>
          <p:cNvPr descr="preencoded.png" id="126" name="Google Shape;126;p9"/>
          <p:cNvPicPr preferRelativeResize="0"/>
          <p:nvPr/>
        </p:nvPicPr>
        <p:blipFill rotWithShape="1">
          <a:blip r:embed="rId3">
            <a:alphaModFix/>
          </a:blip>
          <a:srcRect b="0" l="0" r="0" t="0"/>
          <a:stretch/>
        </p:blipFill>
        <p:spPr>
          <a:xfrm>
            <a:off x="4600501" y="1866454"/>
            <a:ext cx="3905324" cy="1638895"/>
          </a:xfrm>
          <a:prstGeom prst="rect">
            <a:avLst/>
          </a:prstGeom>
          <a:noFill/>
          <a:ln>
            <a:noFill/>
          </a:ln>
        </p:spPr>
      </p:pic>
      <p:sp>
        <p:nvSpPr>
          <p:cNvPr id="127" name="Google Shape;127;p9"/>
          <p:cNvSpPr/>
          <p:nvPr/>
        </p:nvSpPr>
        <p:spPr>
          <a:xfrm>
            <a:off x="4600501" y="4416177"/>
            <a:ext cx="3905324" cy="28128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666A78"/>
              </a:buClr>
              <a:buSzPts val="800"/>
              <a:buFont typeface="Inter Medium"/>
              <a:buNone/>
            </a:pPr>
            <a:r>
              <a:rPr b="0" i="0" lang="en-US" sz="800" u="none" cap="none" strike="noStrike">
                <a:solidFill>
                  <a:srgbClr val="666A78"/>
                </a:solidFill>
                <a:latin typeface="Inter Medium"/>
                <a:ea typeface="Inter Medium"/>
                <a:cs typeface="Inter Medium"/>
                <a:sym typeface="Inter Medium"/>
              </a:rPr>
              <a:t>PolyVote Design Challenge: unifies multi-tenant reuse, automated integrity checks, and tokenized voter privacy.</a:t>
            </a:r>
            <a:endParaRPr b="0" i="0" sz="800" u="none" cap="none" strike="noStrike">
              <a:solidFill>
                <a:schemeClr val="dk1"/>
              </a:solidFill>
              <a:latin typeface="Calibri"/>
              <a:ea typeface="Calibri"/>
              <a:cs typeface="Calibri"/>
              <a:sym typeface="Calibri"/>
            </a:endParaRPr>
          </a:p>
        </p:txBody>
      </p:sp>
      <p:sp>
        <p:nvSpPr>
          <p:cNvPr id="128" name="Google Shape;128;p9"/>
          <p:cNvSpPr/>
          <p:nvPr/>
        </p:nvSpPr>
        <p:spPr>
          <a:xfrm>
            <a:off x="457200" y="4981129"/>
            <a:ext cx="8686800" cy="14064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666A78"/>
              </a:buClr>
              <a:buSzPts val="800"/>
              <a:buFont typeface="Inter Medium"/>
              <a:buNone/>
            </a:pPr>
            <a:r>
              <a:rPr b="0" i="0" lang="en-US" sz="800" u="none" cap="none" strike="noStrike">
                <a:solidFill>
                  <a:srgbClr val="666A78"/>
                </a:solidFill>
                <a:latin typeface="Inter Medium"/>
                <a:ea typeface="Inter Medium"/>
                <a:cs typeface="Inter Medium"/>
                <a:sym typeface="Inter Medium"/>
              </a:rPr>
              <a:t>BACSE202 – Database Systems | Review 2 | Fall Semester 2026 · Slide 6</a:t>
            </a:r>
            <a:endParaRPr b="0" i="0" sz="800" u="none" cap="none" strike="noStrike">
              <a:solidFill>
                <a:schemeClr val="dk1"/>
              </a:solidFill>
              <a:latin typeface="Calibri"/>
              <a:ea typeface="Calibri"/>
              <a:cs typeface="Calibri"/>
              <a:sym typeface="Calibri"/>
            </a:endParaRPr>
          </a:p>
        </p:txBody>
      </p:sp>
      <p:sp>
        <p:nvSpPr>
          <p:cNvPr id="129" name="Google Shape;129;p9"/>
          <p:cNvSpPr/>
          <p:nvPr/>
        </p:nvSpPr>
        <p:spPr>
          <a:xfrm>
            <a:off x="8052575" y="4878500"/>
            <a:ext cx="1091400" cy="192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p:nvPr/>
        </p:nvSpPr>
        <p:spPr>
          <a:xfrm>
            <a:off x="457200" y="462558"/>
            <a:ext cx="8229600" cy="31432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250"/>
              <a:buFont typeface="Inter"/>
              <a:buNone/>
            </a:pPr>
            <a:r>
              <a:rPr b="1" i="0" lang="en-US" sz="2250" u="none" cap="none" strike="noStrike">
                <a:solidFill>
                  <a:srgbClr val="1B2A55"/>
                </a:solidFill>
                <a:latin typeface="Inter"/>
                <a:ea typeface="Inter"/>
                <a:cs typeface="Inter"/>
                <a:sym typeface="Inter"/>
              </a:rPr>
              <a:t>Four modules separate identity, tallying, and audit</a:t>
            </a:r>
            <a:endParaRPr b="0" i="0" sz="2250" u="none" cap="none" strike="noStrike">
              <a:solidFill>
                <a:schemeClr val="dk1"/>
              </a:solidFill>
              <a:latin typeface="Calibri"/>
              <a:ea typeface="Calibri"/>
              <a:cs typeface="Calibri"/>
              <a:sym typeface="Calibri"/>
            </a:endParaRPr>
          </a:p>
        </p:txBody>
      </p:sp>
      <p:graphicFrame>
        <p:nvGraphicFramePr>
          <p:cNvPr id="136" name="Google Shape;136;p10"/>
          <p:cNvGraphicFramePr/>
          <p:nvPr/>
        </p:nvGraphicFramePr>
        <p:xfrm>
          <a:off x="457200" y="933450"/>
          <a:ext cx="3000000" cy="3000000"/>
        </p:xfrm>
        <a:graphic>
          <a:graphicData uri="http://schemas.openxmlformats.org/drawingml/2006/table">
            <a:tbl>
              <a:tblPr>
                <a:noFill/>
                <a:tableStyleId>{CF56F632-080D-41BD-B1F7-19A39A7C3095}</a:tableStyleId>
              </a:tblPr>
              <a:tblGrid>
                <a:gridCol w="8229600"/>
              </a:tblGrid>
              <a:tr h="608550">
                <a:tc>
                  <a:txBody>
                    <a:bodyPr/>
                    <a:lstStyle/>
                    <a:p>
                      <a:pPr indent="0" lvl="0" marL="0" marR="0" rtl="0" algn="l">
                        <a:spcBef>
                          <a:spcPts val="0"/>
                        </a:spcBef>
                        <a:spcAft>
                          <a:spcPts val="0"/>
                        </a:spcAft>
                        <a:buClr>
                          <a:srgbClr val="1B2A55"/>
                        </a:buClr>
                        <a:buSzPts val="1300"/>
                        <a:buFont typeface="Inter"/>
                        <a:buNone/>
                      </a:pPr>
                      <a:r>
                        <a:rPr b="1" lang="en-US" sz="1300" u="none" cap="none" strike="noStrike">
                          <a:solidFill>
                            <a:srgbClr val="1B2A55"/>
                          </a:solidFill>
                          <a:latin typeface="Inter"/>
                          <a:ea typeface="Inter"/>
                          <a:cs typeface="Inter"/>
                          <a:sym typeface="Inter"/>
                        </a:rPr>
                        <a:t>Relational core (SQLite now, Oracle planned): Stores organizations, elections, candidates, voters and admin accounts; constraints, a trigger and views enforce integrity.</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D9D9E4"/>
                      </a:solidFill>
                      <a:prstDash val="solid"/>
                      <a:round/>
                      <a:headEnd len="sm" w="sm" type="none"/>
                      <a:tailEnd len="sm" w="sm" type="none"/>
                    </a:lnB>
                  </a:tcPr>
                </a:tc>
              </a:tr>
              <a:tr h="608550">
                <a:tc>
                  <a:txBody>
                    <a:bodyPr/>
                    <a:lstStyle/>
                    <a:p>
                      <a:pPr indent="0" lvl="0" marL="0" marR="0" rtl="0" algn="l">
                        <a:spcBef>
                          <a:spcPts val="0"/>
                        </a:spcBef>
                        <a:spcAft>
                          <a:spcPts val="0"/>
                        </a:spcAft>
                        <a:buClr>
                          <a:srgbClr val="1B2A55"/>
                        </a:buClr>
                        <a:buSzPts val="1300"/>
                        <a:buFont typeface="Inter"/>
                        <a:buNone/>
                      </a:pPr>
                      <a:r>
                        <a:rPr b="1" lang="en-US" sz="1300" u="none" cap="none" strike="noStrike">
                          <a:solidFill>
                            <a:srgbClr val="1B2A55"/>
                          </a:solidFill>
                          <a:latin typeface="Inter"/>
                          <a:ea typeface="Inter"/>
                          <a:cs typeface="Inter"/>
                          <a:sym typeface="Inter"/>
                        </a:rPr>
                        <a:t>Python · tally engine: Counts rankings, eliminates the lowest candidate, redistributes ballots, and handles empty elections and exhausted ballots; last-place ties are flagged.</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608550">
                <a:tc>
                  <a:txBody>
                    <a:bodyPr/>
                    <a:lstStyle/>
                    <a:p>
                      <a:pPr indent="0" lvl="0" marL="0" marR="0" rtl="0" algn="l">
                        <a:spcBef>
                          <a:spcPts val="0"/>
                        </a:spcBef>
                        <a:spcAft>
                          <a:spcPts val="0"/>
                        </a:spcAft>
                        <a:buClr>
                          <a:srgbClr val="1B2A55"/>
                        </a:buClr>
                        <a:buSzPts val="1300"/>
                        <a:buFont typeface="Inter"/>
                        <a:buNone/>
                      </a:pPr>
                      <a:r>
                        <a:rPr b="1" lang="en-US" sz="1300" u="none" cap="none" strike="noStrike">
                          <a:solidFill>
                            <a:srgbClr val="1B2A55"/>
                          </a:solidFill>
                          <a:latin typeface="Inter"/>
                          <a:ea typeface="Inter"/>
                          <a:cs typeface="Inter"/>
                          <a:sym typeface="Inter"/>
                        </a:rPr>
                        <a:t>JSON audit ledger (MongoDB planned): Stores one hash-chained receipt per ballot, each linked to its predecessor and re-checked by the integrity sweep.</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599025">
                <a:tc>
                  <a:txBody>
                    <a:bodyPr/>
                    <a:lstStyle/>
                    <a:p>
                      <a:pPr indent="0" lvl="0" marL="0" marR="0" rtl="0" algn="l">
                        <a:spcBef>
                          <a:spcPts val="0"/>
                        </a:spcBef>
                        <a:spcAft>
                          <a:spcPts val="0"/>
                        </a:spcAft>
                        <a:buClr>
                          <a:srgbClr val="1B2A55"/>
                        </a:buClr>
                        <a:buSzPts val="1300"/>
                        <a:buFont typeface="Inter"/>
                        <a:buNone/>
                      </a:pPr>
                      <a:r>
                        <a:rPr b="1" lang="en-US" sz="1300" u="none" cap="none" strike="noStrike">
                          <a:solidFill>
                            <a:srgbClr val="1B2A55"/>
                          </a:solidFill>
                          <a:latin typeface="Inter"/>
                          <a:ea typeface="Inter"/>
                          <a:cs typeface="Inter"/>
                          <a:sym typeface="Inter"/>
                        </a:rPr>
                        <a:t>React + FastAPI · application: Voter booth, receipt check and admin console over a REST API; coordinates the anonymous dual write. Streamlit is retained.</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FFFFFF"/>
                      </a:solidFill>
                      <a:prstDash val="solid"/>
                      <a:round/>
                      <a:headEnd len="sm" w="sm" type="none"/>
                      <a:tailEnd len="sm" w="sm" type="none"/>
                    </a:lnB>
                  </a:tcPr>
                </a:tc>
              </a:tr>
            </a:tbl>
          </a:graphicData>
        </a:graphic>
      </p:graphicFrame>
      <p:sp>
        <p:nvSpPr>
          <p:cNvPr id="137" name="Google Shape;137;p10"/>
          <p:cNvSpPr/>
          <p:nvPr/>
        </p:nvSpPr>
        <p:spPr>
          <a:xfrm>
            <a:off x="457200" y="3503414"/>
            <a:ext cx="8229600" cy="872356"/>
          </a:xfrm>
          <a:prstGeom prst="roundRect">
            <a:avLst>
              <a:gd fmla="val 15723"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a:off x="638175" y="3608189"/>
            <a:ext cx="7867650" cy="662806"/>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200"/>
              <a:buFont typeface="Inter"/>
              <a:buNone/>
            </a:pPr>
            <a:r>
              <a:rPr b="1" i="0" lang="en-US" sz="1200" u="none" cap="none" strike="noStrike">
                <a:solidFill>
                  <a:srgbClr val="1B2A55"/>
                </a:solidFill>
                <a:latin typeface="Inter"/>
                <a:ea typeface="Inter"/>
                <a:cs typeface="Inter"/>
                <a:sym typeface="Inter"/>
              </a:rPr>
              <a:t>Core entities:</a:t>
            </a:r>
            <a:r>
              <a:rPr b="0" i="0" lang="en-US" sz="1200" u="none" cap="none" strike="noStrike">
                <a:solidFill>
                  <a:srgbClr val="1B2A55"/>
                </a:solidFill>
                <a:latin typeface="Inter"/>
                <a:ea typeface="Inter"/>
                <a:cs typeface="Inter"/>
                <a:sym typeface="Inter"/>
              </a:rPr>
              <a:t> ORGANIZATION · ELECTION · CANDIDATE · VOTER_PARTICIPATION · BALLOT_RANKS · ADMIN_USERS (POSITION is deferred). </a:t>
            </a:r>
            <a:r>
              <a:rPr b="1" i="0" lang="en-US" sz="1200" u="none" cap="none" strike="noStrike">
                <a:solidFill>
                  <a:srgbClr val="1B2A55"/>
                </a:solidFill>
                <a:latin typeface="Inter"/>
                <a:ea typeface="Inter"/>
                <a:cs typeface="Inter"/>
                <a:sym typeface="Inter"/>
              </a:rPr>
              <a:t>Privacy boundary:</a:t>
            </a:r>
            <a:r>
              <a:rPr b="0" i="0" lang="en-US" sz="1200" u="none" cap="none" strike="noStrike">
                <a:solidFill>
                  <a:srgbClr val="1B2A55"/>
                </a:solidFill>
                <a:latin typeface="Inter"/>
                <a:ea typeface="Inter"/>
                <a:cs typeface="Inter"/>
                <a:sym typeface="Inter"/>
              </a:rPr>
              <a:t> VOTER_PARTICIPATION and BALLOT_RANKS remain separate; only an anonymous token connects voter participation to ballot content.</a:t>
            </a:r>
            <a:endParaRPr b="0" i="0" sz="1200" u="none" cap="none" strike="noStrike">
              <a:solidFill>
                <a:schemeClr val="dk1"/>
              </a:solidFill>
              <a:latin typeface="Calibri"/>
              <a:ea typeface="Calibri"/>
              <a:cs typeface="Calibri"/>
              <a:sym typeface="Calibri"/>
            </a:endParaRPr>
          </a:p>
        </p:txBody>
      </p:sp>
      <p:sp>
        <p:nvSpPr>
          <p:cNvPr id="139" name="Google Shape;139;p10"/>
          <p:cNvSpPr/>
          <p:nvPr/>
        </p:nvSpPr>
        <p:spPr>
          <a:xfrm>
            <a:off x="457200" y="4521026"/>
            <a:ext cx="86868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2 | Fall Semester 2026 · Slide 7</a:t>
            </a:r>
            <a:endParaRPr b="0" i="0" sz="950" u="none" cap="none" strike="noStrike">
              <a:solidFill>
                <a:schemeClr val="dk1"/>
              </a:solidFill>
              <a:latin typeface="Calibri"/>
              <a:ea typeface="Calibri"/>
              <a:cs typeface="Calibri"/>
              <a:sym typeface="Calibri"/>
            </a:endParaRPr>
          </a:p>
        </p:txBody>
      </p:sp>
      <p:sp>
        <p:nvSpPr>
          <p:cNvPr id="140" name="Google Shape;140;p10"/>
          <p:cNvSpPr/>
          <p:nvPr/>
        </p:nvSpPr>
        <p:spPr>
          <a:xfrm>
            <a:off x="8034150" y="4864025"/>
            <a:ext cx="1054500" cy="23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SYSTEM ARCHITECTURE</a:t>
            </a:r>
          </a:p>
        </p:txBody>
      </p:sp>
      <p:sp>
        <p:nvSpPr>
          <p:cNvPr id="148"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Data flows through three layers, with the ledger kept apart</a:t>
            </a:r>
          </a:p>
        </p:txBody>
      </p:sp>
      <p:sp>
        <p:nvSpPr>
          <p:cNvPr id="149"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8</a:t>
            </a:r>
          </a:p>
        </p:txBody>
      </p:sp>
      <p:sp>
        <p:nvSpPr>
          <p:cNvPr id="150" name="Rounded Rectangle 149"/>
          <p:cNvSpPr/>
          <p:nvPr/>
        </p:nvSpPr>
        <p:spPr>
          <a:xfrm>
            <a:off x="457200" y="1097280"/>
            <a:ext cx="8229600" cy="749808"/>
          </a:xfrm>
          <a:prstGeom prst="roundRect">
            <a:avLst>
              <a:gd name="adj" fmla="val 8000"/>
            </a:avLst>
          </a:prstGeom>
          <a:solidFill>
            <a:srgbClr val="F1F0F6"/>
          </a:solidFill>
          <a:ln w="15875">
            <a:solidFill>
              <a:srgbClr val="D9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94360" y="1152144"/>
            <a:ext cx="5029200" cy="146304"/>
          </a:xfrm>
          <a:prstGeom prst="rect">
            <a:avLst/>
          </a:prstGeom>
          <a:noFill/>
        </p:spPr>
        <p:txBody>
          <a:bodyPr wrap="square" anchor="t" lIns="0" rIns="0" tIns="0" bIns="0">
            <a:spAutoFit/>
          </a:bodyPr>
          <a:lstStyle/>
          <a:p>
            <a:pPr algn="l">
              <a:spcAft>
                <a:spcPts val="0"/>
              </a:spcAft>
            </a:pPr>
            <a:r>
              <a:rPr sz="900" b="1" i="0">
                <a:solidFill>
                  <a:srgbClr val="1B2A55"/>
                </a:solidFill>
                <a:latin typeface="Inter"/>
              </a:rPr>
              <a:t>Presentation layer · React + TypeScript single-page app</a:t>
            </a:r>
          </a:p>
        </p:txBody>
      </p:sp>
      <p:sp>
        <p:nvSpPr>
          <p:cNvPr id="152" name="Rounded Rectangle 151"/>
          <p:cNvSpPr/>
          <p:nvPr/>
        </p:nvSpPr>
        <p:spPr>
          <a:xfrm>
            <a:off x="594360" y="1371600"/>
            <a:ext cx="1737360" cy="347472"/>
          </a:xfrm>
          <a:prstGeom prst="roundRect">
            <a:avLst>
              <a:gd name="adj" fmla="val 12000"/>
            </a:avLst>
          </a:prstGeom>
          <a:solidFill>
            <a:srgbClr val="FFFFFF"/>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Voter booth</a:t>
            </a:r>
          </a:p>
        </p:txBody>
      </p:sp>
      <p:sp>
        <p:nvSpPr>
          <p:cNvPr id="153" name="Rounded Rectangle 152"/>
          <p:cNvSpPr/>
          <p:nvPr/>
        </p:nvSpPr>
        <p:spPr>
          <a:xfrm>
            <a:off x="2468880" y="1371600"/>
            <a:ext cx="1737360" cy="347472"/>
          </a:xfrm>
          <a:prstGeom prst="roundRect">
            <a:avLst>
              <a:gd name="adj" fmla="val 12000"/>
            </a:avLst>
          </a:prstGeom>
          <a:solidFill>
            <a:srgbClr val="FFFFFF"/>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Receipt check</a:t>
            </a:r>
          </a:p>
        </p:txBody>
      </p:sp>
      <p:sp>
        <p:nvSpPr>
          <p:cNvPr id="154" name="Rounded Rectangle 153"/>
          <p:cNvSpPr/>
          <p:nvPr/>
        </p:nvSpPr>
        <p:spPr>
          <a:xfrm>
            <a:off x="4343400" y="1371600"/>
            <a:ext cx="1737360" cy="347472"/>
          </a:xfrm>
          <a:prstGeom prst="roundRect">
            <a:avLst>
              <a:gd name="adj" fmla="val 12000"/>
            </a:avLst>
          </a:prstGeom>
          <a:solidFill>
            <a:srgbClr val="FFFFFF"/>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Admin console</a:t>
            </a:r>
          </a:p>
        </p:txBody>
      </p:sp>
      <p:sp>
        <p:nvSpPr>
          <p:cNvPr id="155" name="Rounded Rectangle 154"/>
          <p:cNvSpPr/>
          <p:nvPr/>
        </p:nvSpPr>
        <p:spPr>
          <a:xfrm>
            <a:off x="6720840" y="1371600"/>
            <a:ext cx="1828800" cy="347472"/>
          </a:xfrm>
          <a:prstGeom prst="roundRect">
            <a:avLst>
              <a:gd name="adj" fmla="val 12000"/>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DB Studio (simulated DBA)</a:t>
            </a:r>
          </a:p>
        </p:txBody>
      </p:sp>
      <p:sp>
        <p:nvSpPr>
          <p:cNvPr id="156" name="Rounded Rectangle 155"/>
          <p:cNvSpPr/>
          <p:nvPr/>
        </p:nvSpPr>
        <p:spPr>
          <a:xfrm>
            <a:off x="457200" y="2212848"/>
            <a:ext cx="8229600" cy="457200"/>
          </a:xfrm>
          <a:prstGeom prst="roundRect">
            <a:avLst>
              <a:gd name="adj" fmla="val 10000"/>
            </a:avLst>
          </a:prstGeom>
          <a:solidFill>
            <a:srgbClr val="FFFFFF"/>
          </a:solidFill>
          <a:ln w="1905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1B2A55"/>
                </a:solidFill>
                <a:latin typeface="Inter"/>
              </a:rPr>
              <a:t>Application layer · FastAPI REST API</a:t>
            </a:r>
            <a:r>
              <a:rPr sz="900" b="0" i="0">
                <a:solidFill>
                  <a:srgbClr val="1B2A55"/>
                </a:solidFill>
                <a:latin typeface="Inter"/>
              </a:rPr>
              <a:t>   auth &amp; sessions · election lifecycle &amp; roster · ballot cast (dual write under WRITE_LOCK) · sweep, tally, ledger &amp; receipt endpoints</a:t>
            </a:r>
          </a:p>
        </p:txBody>
      </p:sp>
      <p:cxnSp>
        <p:nvCxnSpPr>
          <p:cNvPr id="157" name="Connector 156"/>
          <p:cNvCxnSpPr/>
          <p:nvPr/>
        </p:nvCxnSpPr>
        <p:spPr>
          <a:xfrm>
            <a:off x="1463040" y="1737360"/>
            <a:ext cx="0" cy="475488"/>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3337560" y="1737360"/>
            <a:ext cx="0" cy="475488"/>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212080" y="1737360"/>
            <a:ext cx="0" cy="475488"/>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7635240" y="1737360"/>
            <a:ext cx="0" cy="475488"/>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61" name="Rounded Rectangle 160"/>
          <p:cNvSpPr/>
          <p:nvPr/>
        </p:nvSpPr>
        <p:spPr>
          <a:xfrm>
            <a:off x="594360" y="1920240"/>
            <a:ext cx="91440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0" i="0">
                <a:solidFill>
                  <a:srgbClr val="353B4A"/>
                </a:solidFill>
                <a:latin typeface="Inter"/>
              </a:rPr>
              <a:t>JSON / HTTP</a:t>
            </a:r>
          </a:p>
        </p:txBody>
      </p:sp>
      <p:sp>
        <p:nvSpPr>
          <p:cNvPr id="162" name="Rounded Rectangle 161"/>
          <p:cNvSpPr/>
          <p:nvPr/>
        </p:nvSpPr>
        <p:spPr>
          <a:xfrm>
            <a:off x="457200" y="3063240"/>
            <a:ext cx="6172200" cy="914400"/>
          </a:xfrm>
          <a:prstGeom prst="roundRect">
            <a:avLst>
              <a:gd name="adj" fmla="val 6000"/>
            </a:avLst>
          </a:prstGeom>
          <a:solidFill>
            <a:srgbClr val="ECF4FB"/>
          </a:solidFill>
          <a:ln w="15875">
            <a:solidFill>
              <a:srgbClr val="8FB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66928" y="3108960"/>
            <a:ext cx="5852160" cy="146304"/>
          </a:xfrm>
          <a:prstGeom prst="rect">
            <a:avLst/>
          </a:prstGeom>
          <a:noFill/>
        </p:spPr>
        <p:txBody>
          <a:bodyPr wrap="square" anchor="t" lIns="0" rIns="0" tIns="0" bIns="0">
            <a:spAutoFit/>
          </a:bodyPr>
          <a:lstStyle/>
          <a:p>
            <a:pPr algn="l">
              <a:spcAft>
                <a:spcPts val="0"/>
              </a:spcAft>
            </a:pPr>
            <a:r>
              <a:rPr sz="900" b="1" i="0">
                <a:solidFill>
                  <a:srgbClr val="1B2A55"/>
                </a:solidFill>
                <a:latin typeface="Inter"/>
              </a:rPr>
              <a:t>Relational schema · SQLite · foreign keys ON · trigger · views</a:t>
            </a:r>
          </a:p>
        </p:txBody>
      </p:sp>
      <p:sp>
        <p:nvSpPr>
          <p:cNvPr id="164" name="Rounded Rectangle 163"/>
          <p:cNvSpPr/>
          <p:nvPr/>
        </p:nvSpPr>
        <p:spPr>
          <a:xfrm>
            <a:off x="566928" y="3346704"/>
            <a:ext cx="914400"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700" b="0" i="0">
                <a:solidFill>
                  <a:srgbClr val="1B2A55"/>
                </a:solidFill>
                <a:latin typeface="Inter"/>
              </a:rPr>
              <a:t>ORGAN-
IZATION</a:t>
            </a:r>
          </a:p>
        </p:txBody>
      </p:sp>
      <p:sp>
        <p:nvSpPr>
          <p:cNvPr id="165" name="Rounded Rectangle 164"/>
          <p:cNvSpPr/>
          <p:nvPr/>
        </p:nvSpPr>
        <p:spPr>
          <a:xfrm>
            <a:off x="1554480" y="3346704"/>
            <a:ext cx="914400"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700" b="0" i="0">
                <a:solidFill>
                  <a:srgbClr val="1B2A55"/>
                </a:solidFill>
                <a:latin typeface="Inter"/>
              </a:rPr>
              <a:t>ELECTION</a:t>
            </a:r>
          </a:p>
        </p:txBody>
      </p:sp>
      <p:sp>
        <p:nvSpPr>
          <p:cNvPr id="166" name="Rounded Rectangle 165"/>
          <p:cNvSpPr/>
          <p:nvPr/>
        </p:nvSpPr>
        <p:spPr>
          <a:xfrm>
            <a:off x="2542032" y="3346704"/>
            <a:ext cx="914400"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700" b="0" i="0">
                <a:solidFill>
                  <a:srgbClr val="1B2A55"/>
                </a:solidFill>
                <a:latin typeface="Inter"/>
              </a:rPr>
              <a:t>CANDIDATE</a:t>
            </a:r>
          </a:p>
        </p:txBody>
      </p:sp>
      <p:sp>
        <p:nvSpPr>
          <p:cNvPr id="167" name="Rounded Rectangle 166"/>
          <p:cNvSpPr/>
          <p:nvPr/>
        </p:nvSpPr>
        <p:spPr>
          <a:xfrm>
            <a:off x="3529584" y="3346704"/>
            <a:ext cx="914400"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700" b="0" i="0">
                <a:solidFill>
                  <a:srgbClr val="1B2A55"/>
                </a:solidFill>
                <a:latin typeface="Inter"/>
              </a:rPr>
              <a:t>VOTER_
PARTICIPATION</a:t>
            </a:r>
          </a:p>
        </p:txBody>
      </p:sp>
      <p:sp>
        <p:nvSpPr>
          <p:cNvPr id="168" name="Rounded Rectangle 167"/>
          <p:cNvSpPr/>
          <p:nvPr/>
        </p:nvSpPr>
        <p:spPr>
          <a:xfrm>
            <a:off x="4517136" y="3346704"/>
            <a:ext cx="914400"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700" b="1" i="0">
                <a:solidFill>
                  <a:srgbClr val="1B2A55"/>
                </a:solidFill>
                <a:latin typeface="Inter"/>
              </a:rPr>
              <a:t>BALLOT_
RANKS</a:t>
            </a:r>
          </a:p>
        </p:txBody>
      </p:sp>
      <p:sp>
        <p:nvSpPr>
          <p:cNvPr id="169" name="Rounded Rectangle 168"/>
          <p:cNvSpPr/>
          <p:nvPr/>
        </p:nvSpPr>
        <p:spPr>
          <a:xfrm>
            <a:off x="5504688" y="3346704"/>
            <a:ext cx="914400"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700" b="0" i="0">
                <a:solidFill>
                  <a:srgbClr val="1B2A55"/>
                </a:solidFill>
                <a:latin typeface="Inter"/>
              </a:rPr>
              <a:t>ADMIN_
USERS</a:t>
            </a:r>
          </a:p>
        </p:txBody>
      </p:sp>
      <p:sp>
        <p:nvSpPr>
          <p:cNvPr id="170" name="Rounded Rectangle 169"/>
          <p:cNvSpPr/>
          <p:nvPr/>
        </p:nvSpPr>
        <p:spPr>
          <a:xfrm>
            <a:off x="6812280" y="3063240"/>
            <a:ext cx="1874519" cy="914400"/>
          </a:xfrm>
          <a:prstGeom prst="roundRect">
            <a:avLst>
              <a:gd name="adj" fmla="val 6000"/>
            </a:avLst>
          </a:prstGeom>
          <a:solidFill>
            <a:srgbClr val="FFF4E6"/>
          </a:solidFill>
          <a:ln w="15875">
            <a:solidFill>
              <a:srgbClr val="F0B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6903720" y="3108960"/>
            <a:ext cx="1737360" cy="146304"/>
          </a:xfrm>
          <a:prstGeom prst="rect">
            <a:avLst/>
          </a:prstGeom>
          <a:noFill/>
        </p:spPr>
        <p:txBody>
          <a:bodyPr wrap="square" anchor="t" lIns="0" rIns="0" tIns="0" bIns="0">
            <a:spAutoFit/>
          </a:bodyPr>
          <a:lstStyle/>
          <a:p>
            <a:pPr algn="l">
              <a:spcAft>
                <a:spcPts val="0"/>
              </a:spcAft>
            </a:pPr>
            <a:r>
              <a:rPr sz="900" b="1" i="0">
                <a:solidFill>
                  <a:srgbClr val="1B2A55"/>
                </a:solidFill>
                <a:latin typeface="Inter"/>
              </a:rPr>
              <a:t>Tamper-evident ledger</a:t>
            </a:r>
          </a:p>
        </p:txBody>
      </p:sp>
      <p:sp>
        <p:nvSpPr>
          <p:cNvPr id="172" name="Rounded Rectangle 171"/>
          <p:cNvSpPr/>
          <p:nvPr/>
        </p:nvSpPr>
        <p:spPr>
          <a:xfrm>
            <a:off x="6922008" y="3346704"/>
            <a:ext cx="1655064" cy="512064"/>
          </a:xfrm>
          <a:prstGeom prst="roundRect">
            <a:avLst>
              <a:gd name="adj" fmla="val 4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0" i="0">
                <a:solidFill>
                  <a:srgbClr val="1B2A55"/>
                </a:solidFill>
                <a:latin typeface="Inter"/>
              </a:rPr>
              <a:t>Hash-chained JSON receipts</a:t>
            </a:r>
          </a:p>
        </p:txBody>
      </p:sp>
      <p:cxnSp>
        <p:nvCxnSpPr>
          <p:cNvPr id="173" name="Connector 172"/>
          <p:cNvCxnSpPr/>
          <p:nvPr/>
        </p:nvCxnSpPr>
        <p:spPr>
          <a:xfrm>
            <a:off x="2377440" y="2670048"/>
            <a:ext cx="0" cy="393192"/>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74" name="Rounded Rectangle 173"/>
          <p:cNvSpPr/>
          <p:nvPr/>
        </p:nvSpPr>
        <p:spPr>
          <a:xfrm>
            <a:off x="1417320" y="2770632"/>
            <a:ext cx="192024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0" i="0">
                <a:solidFill>
                  <a:srgbClr val="353B4A"/>
                </a:solidFill>
                <a:latin typeface="Inter"/>
              </a:rPr>
              <a:t>1–6 · read / write rows</a:t>
            </a:r>
          </a:p>
        </p:txBody>
      </p:sp>
      <p:cxnSp>
        <p:nvCxnSpPr>
          <p:cNvPr id="175" name="Connector 174"/>
          <p:cNvCxnSpPr/>
          <p:nvPr/>
        </p:nvCxnSpPr>
        <p:spPr>
          <a:xfrm>
            <a:off x="4937760" y="2670048"/>
            <a:ext cx="0" cy="393192"/>
          </a:xfrm>
          <a:prstGeom prst="line">
            <a:avLst/>
          </a:prstGeom>
          <a:ln w="19050">
            <a:solidFill>
              <a:srgbClr val="C0392B"/>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6" name="Rounded Rectangle 175"/>
          <p:cNvSpPr/>
          <p:nvPr/>
        </p:nvSpPr>
        <p:spPr>
          <a:xfrm>
            <a:off x="3520440" y="2770632"/>
            <a:ext cx="2377440" cy="182880"/>
          </a:xfrm>
          <a:prstGeom prst="roundRect">
            <a:avLst>
              <a:gd name="adj" fmla="val 2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0" i="0">
                <a:solidFill>
                  <a:srgbClr val="C0392B"/>
                </a:solidFill>
                <a:latin typeface="Inter"/>
              </a:rPr>
              <a:t>12 · direct UPDATE / DELETE</a:t>
            </a:r>
          </a:p>
        </p:txBody>
      </p:sp>
      <p:cxnSp>
        <p:nvCxnSpPr>
          <p:cNvPr id="177" name="Connector 176"/>
          <p:cNvCxnSpPr/>
          <p:nvPr/>
        </p:nvCxnSpPr>
        <p:spPr>
          <a:xfrm>
            <a:off x="7772400" y="2670048"/>
            <a:ext cx="0" cy="393192"/>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78" name="Rounded Rectangle 177"/>
          <p:cNvSpPr/>
          <p:nvPr/>
        </p:nvSpPr>
        <p:spPr>
          <a:xfrm>
            <a:off x="6812280" y="2770632"/>
            <a:ext cx="182880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0" i="0">
                <a:solidFill>
                  <a:srgbClr val="353B4A"/>
                </a:solidFill>
                <a:latin typeface="Inter"/>
              </a:rPr>
              <a:t>7 · append SHA-256 receipt</a:t>
            </a:r>
          </a:p>
        </p:txBody>
      </p:sp>
      <p:sp>
        <p:nvSpPr>
          <p:cNvPr id="179" name="Rounded Rectangle 178"/>
          <p:cNvSpPr/>
          <p:nvPr/>
        </p:nvSpPr>
        <p:spPr>
          <a:xfrm>
            <a:off x="457200" y="4343400"/>
            <a:ext cx="8229600" cy="457200"/>
          </a:xfrm>
          <a:prstGeom prst="roundRect">
            <a:avLst>
              <a:gd name="adj" fmla="val 8000"/>
            </a:avLst>
          </a:prstGeom>
          <a:solidFill>
            <a:srgbClr val="EEF8F0"/>
          </a:solidFill>
          <a:ln w="15875">
            <a:solidFill>
              <a:srgbClr val="7CCF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ounded Rectangle 179"/>
          <p:cNvSpPr/>
          <p:nvPr/>
        </p:nvSpPr>
        <p:spPr>
          <a:xfrm>
            <a:off x="594360" y="4389120"/>
            <a:ext cx="2468880" cy="365760"/>
          </a:xfrm>
          <a:prstGeom prst="roundRect">
            <a:avLst>
              <a:gd name="adj" fmla="val 10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50" b="1" i="0">
                <a:solidFill>
                  <a:srgbClr val="1B2A55"/>
                </a:solidFill>
                <a:latin typeface="Inter"/>
              </a:rPr>
              <a:t>Instant-runoff tally (pandas)</a:t>
            </a:r>
          </a:p>
        </p:txBody>
      </p:sp>
      <p:sp>
        <p:nvSpPr>
          <p:cNvPr id="181" name="Rounded Rectangle 180"/>
          <p:cNvSpPr/>
          <p:nvPr/>
        </p:nvSpPr>
        <p:spPr>
          <a:xfrm>
            <a:off x="3337560" y="4389120"/>
            <a:ext cx="2468880" cy="365760"/>
          </a:xfrm>
          <a:prstGeom prst="roundRect">
            <a:avLst>
              <a:gd name="adj" fmla="val 10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50" b="1" i="0">
                <a:solidFill>
                  <a:srgbClr val="1B2A55"/>
                </a:solidFill>
                <a:latin typeface="Inter"/>
              </a:rPr>
              <a:t>Integrity sweep</a:t>
            </a:r>
          </a:p>
        </p:txBody>
      </p:sp>
      <p:sp>
        <p:nvSpPr>
          <p:cNvPr id="182" name="Rounded Rectangle 181"/>
          <p:cNvSpPr/>
          <p:nvPr/>
        </p:nvSpPr>
        <p:spPr>
          <a:xfrm>
            <a:off x="6080760" y="4389120"/>
            <a:ext cx="2468880" cy="365760"/>
          </a:xfrm>
          <a:prstGeom prst="roundRect">
            <a:avLst>
              <a:gd name="adj" fmla="val 10000"/>
            </a:avLst>
          </a:prstGeom>
          <a:solidFill>
            <a:srgbClr val="FFFFFF"/>
          </a:solidFill>
          <a:ln w="1143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50" b="1" i="0">
                <a:solidFill>
                  <a:srgbClr val="1B2A55"/>
                </a:solidFill>
                <a:latin typeface="Inter"/>
              </a:rPr>
              <a:t>Chain verification</a:t>
            </a:r>
          </a:p>
        </p:txBody>
      </p:sp>
      <p:cxnSp>
        <p:nvCxnSpPr>
          <p:cNvPr id="183" name="Connector 182"/>
          <p:cNvCxnSpPr/>
          <p:nvPr/>
        </p:nvCxnSpPr>
        <p:spPr>
          <a:xfrm>
            <a:off x="1828800" y="3977639"/>
            <a:ext cx="0" cy="411481"/>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84" name="Rounded Rectangle 183"/>
          <p:cNvSpPr/>
          <p:nvPr/>
        </p:nvSpPr>
        <p:spPr>
          <a:xfrm>
            <a:off x="566928" y="4069080"/>
            <a:ext cx="128016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0" i="0">
                <a:solidFill>
                  <a:srgbClr val="353B4A"/>
                </a:solidFill>
                <a:latin typeface="Inter"/>
              </a:rPr>
              <a:t>8 · ranks</a:t>
            </a:r>
          </a:p>
        </p:txBody>
      </p:sp>
      <p:cxnSp>
        <p:nvCxnSpPr>
          <p:cNvPr id="185" name="Connector 184"/>
          <p:cNvCxnSpPr/>
          <p:nvPr/>
        </p:nvCxnSpPr>
        <p:spPr>
          <a:xfrm>
            <a:off x="4206240" y="3977639"/>
            <a:ext cx="0" cy="411481"/>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86" name="Rounded Rectangle 185"/>
          <p:cNvSpPr/>
          <p:nvPr/>
        </p:nvSpPr>
        <p:spPr>
          <a:xfrm>
            <a:off x="2926080" y="4069080"/>
            <a:ext cx="141732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0" i="0">
                <a:solidFill>
                  <a:srgbClr val="353B4A"/>
                </a:solidFill>
                <a:latin typeface="Inter"/>
              </a:rPr>
              <a:t>9 · recompute hashes</a:t>
            </a:r>
          </a:p>
        </p:txBody>
      </p:sp>
      <p:cxnSp>
        <p:nvCxnSpPr>
          <p:cNvPr id="187" name="Connector 186"/>
          <p:cNvCxnSpPr/>
          <p:nvPr/>
        </p:nvCxnSpPr>
        <p:spPr>
          <a:xfrm flipH="1">
            <a:off x="5394960" y="3977639"/>
            <a:ext cx="1828800" cy="411481"/>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88" name="Rounded Rectangle 187"/>
          <p:cNvSpPr/>
          <p:nvPr/>
        </p:nvSpPr>
        <p:spPr>
          <a:xfrm>
            <a:off x="5852160" y="4069080"/>
            <a:ext cx="141732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0" i="0">
                <a:solidFill>
                  <a:srgbClr val="353B4A"/>
                </a:solidFill>
                <a:latin typeface="Inter"/>
              </a:rPr>
              <a:t>10 · cross-check</a:t>
            </a:r>
          </a:p>
        </p:txBody>
      </p:sp>
      <p:cxnSp>
        <p:nvCxnSpPr>
          <p:cNvPr id="189" name="Connector 188"/>
          <p:cNvCxnSpPr/>
          <p:nvPr/>
        </p:nvCxnSpPr>
        <p:spPr>
          <a:xfrm>
            <a:off x="8138160" y="3977639"/>
            <a:ext cx="0" cy="411481"/>
          </a:xfrm>
          <a:prstGeom prst="line">
            <a:avLst/>
          </a:prstGeom>
          <a:ln w="15875">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90" name="Rounded Rectangle 189"/>
          <p:cNvSpPr/>
          <p:nvPr/>
        </p:nvSpPr>
        <p:spPr>
          <a:xfrm>
            <a:off x="7406640" y="4114800"/>
            <a:ext cx="1005840" cy="182880"/>
          </a:xfrm>
          <a:prstGeom prst="roundRect">
            <a:avLst>
              <a:gd name="adj" fmla="val 20000"/>
            </a:avLst>
          </a:prstGeom>
          <a:solidFill>
            <a:srgbClr val="ECEC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0" i="0">
                <a:solidFill>
                  <a:srgbClr val="353B4A"/>
                </a:solidFill>
                <a:latin typeface="Inter"/>
              </a:rPr>
              <a:t>verify links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ER DIAGRAM &amp; RELATIONAL SCHEMA</a:t>
            </a:r>
          </a:p>
        </p:txBody>
      </p:sp>
      <p:sp>
        <p:nvSpPr>
          <p:cNvPr id="159"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Tables and ledger are linked by token, not by identity</a:t>
            </a:r>
          </a:p>
        </p:txBody>
      </p:sp>
      <p:sp>
        <p:nvSpPr>
          <p:cNvPr id="160"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9</a:t>
            </a:r>
          </a:p>
        </p:txBody>
      </p:sp>
      <p:pic>
        <p:nvPicPr>
          <p:cNvPr id="161" name="Picture 160" descr="er_slide.png"/>
          <p:cNvPicPr>
            <a:picLocks noChangeAspect="1"/>
          </p:cNvPicPr>
          <p:nvPr/>
        </p:nvPicPr>
        <p:blipFill>
          <a:blip r:embed="rId4"/>
          <a:stretch>
            <a:fillRect/>
          </a:stretch>
        </p:blipFill>
        <p:spPr>
          <a:xfrm>
            <a:off x="777240" y="1051560"/>
            <a:ext cx="7589520" cy="3794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p:nvPr/>
        </p:nvSpPr>
        <p:spPr>
          <a:xfrm>
            <a:off x="457200" y="457200"/>
            <a:ext cx="8686800" cy="1485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950"/>
              <a:buFont typeface="Inter"/>
              <a:buNone/>
            </a:pPr>
            <a:r>
              <a:rPr b="1" i="0" lang="en-US" sz="950" u="none" cap="none" strike="noStrike">
                <a:solidFill>
                  <a:srgbClr val="1B2A55"/>
                </a:solidFill>
                <a:latin typeface="Inter"/>
                <a:ea typeface="Inter"/>
                <a:cs typeface="Inter"/>
                <a:sym typeface="Inter"/>
              </a:rPr>
              <a:t>ROADMAP &amp; DELIVERABLES</a:t>
            </a:r>
            <a:endParaRPr b="0" i="0" sz="950" u="none" cap="none" strike="noStrike">
              <a:solidFill>
                <a:schemeClr val="dk1"/>
              </a:solidFill>
              <a:latin typeface="Calibri"/>
              <a:ea typeface="Calibri"/>
              <a:cs typeface="Calibri"/>
              <a:sym typeface="Calibri"/>
            </a:endParaRPr>
          </a:p>
        </p:txBody>
      </p:sp>
      <p:sp>
        <p:nvSpPr>
          <p:cNvPr id="166" name="Google Shape;166;p13"/>
          <p:cNvSpPr/>
          <p:nvPr/>
        </p:nvSpPr>
        <p:spPr>
          <a:xfrm>
            <a:off x="457200" y="675382"/>
            <a:ext cx="8229600" cy="31432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250"/>
              <a:buFont typeface="Inter"/>
              <a:buNone/>
            </a:pPr>
            <a:r>
              <a:rPr b="1" i="0" lang="en-US" sz="2250" u="none" cap="none" strike="noStrike">
                <a:solidFill>
                  <a:srgbClr val="1B2A55"/>
                </a:solidFill>
                <a:latin typeface="Inter"/>
                <a:ea typeface="Inter"/>
                <a:cs typeface="Inter"/>
                <a:sym typeface="Inter"/>
              </a:rPr>
              <a:t>Three reviews move from design to a finished system</a:t>
            </a:r>
            <a:endParaRPr b="0" i="0" sz="2250" u="none" cap="none" strike="noStrike">
              <a:solidFill>
                <a:schemeClr val="dk1"/>
              </a:solidFill>
              <a:latin typeface="Calibri"/>
              <a:ea typeface="Calibri"/>
              <a:cs typeface="Calibri"/>
              <a:sym typeface="Calibri"/>
            </a:endParaRPr>
          </a:p>
        </p:txBody>
      </p:sp>
      <p:sp>
        <p:nvSpPr>
          <p:cNvPr id="167" name="Google Shape;167;p13"/>
          <p:cNvSpPr/>
          <p:nvPr/>
        </p:nvSpPr>
        <p:spPr>
          <a:xfrm>
            <a:off x="457200" y="1098649"/>
            <a:ext cx="2590800" cy="2208981"/>
          </a:xfrm>
          <a:prstGeom prst="roundRect">
            <a:avLst>
              <a:gd fmla="val 6209"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
          <p:cNvSpPr/>
          <p:nvPr/>
        </p:nvSpPr>
        <p:spPr>
          <a:xfrm>
            <a:off x="638175" y="1222474"/>
            <a:ext cx="1260946"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735285" y="1270992"/>
            <a:ext cx="1523926"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REVIEW 1 · DONE</a:t>
            </a:r>
            <a:endParaRPr b="0" i="0" sz="1000" u="none" cap="none" strike="noStrike">
              <a:solidFill>
                <a:schemeClr val="dk1"/>
              </a:solidFill>
              <a:latin typeface="Calibri"/>
              <a:ea typeface="Calibri"/>
              <a:cs typeface="Calibri"/>
              <a:sym typeface="Calibri"/>
            </a:endParaRPr>
          </a:p>
        </p:txBody>
      </p:sp>
      <p:sp>
        <p:nvSpPr>
          <p:cNvPr id="170" name="Google Shape;170;p13"/>
          <p:cNvSpPr/>
          <p:nvPr/>
        </p:nvSpPr>
        <p:spPr>
          <a:xfrm>
            <a:off x="638175" y="1570211"/>
            <a:ext cx="2228850" cy="704329"/>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300"/>
              <a:buFont typeface="Inter"/>
              <a:buNone/>
            </a:pPr>
            <a:r>
              <a:rPr b="0" i="0" lang="en-US" sz="1300" u="none" cap="none" strike="noStrike">
                <a:solidFill>
                  <a:srgbClr val="1B2A55"/>
                </a:solidFill>
                <a:latin typeface="Inter"/>
                <a:ea typeface="Inter"/>
                <a:cs typeface="Inter"/>
                <a:sym typeface="Inter"/>
              </a:rPr>
              <a:t>Presented the design, schema, security approach, and planned system architecture.</a:t>
            </a:r>
            <a:endParaRPr b="0" i="0" sz="1300" u="none" cap="none" strike="noStrike">
              <a:solidFill>
                <a:schemeClr val="dk1"/>
              </a:solidFill>
              <a:latin typeface="Calibri"/>
              <a:ea typeface="Calibri"/>
              <a:cs typeface="Calibri"/>
              <a:sym typeface="Calibri"/>
            </a:endParaRPr>
          </a:p>
        </p:txBody>
      </p:sp>
      <p:sp>
        <p:nvSpPr>
          <p:cNvPr id="171" name="Google Shape;171;p13"/>
          <p:cNvSpPr/>
          <p:nvPr/>
        </p:nvSpPr>
        <p:spPr>
          <a:xfrm>
            <a:off x="3276600" y="1098649"/>
            <a:ext cx="2590800" cy="2208981"/>
          </a:xfrm>
          <a:prstGeom prst="roundRect">
            <a:avLst>
              <a:gd fmla="val 6209"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3"/>
          <p:cNvSpPr/>
          <p:nvPr/>
        </p:nvSpPr>
        <p:spPr>
          <a:xfrm>
            <a:off x="3457575" y="1222474"/>
            <a:ext cx="1325880" cy="252487"/>
          </a:xfrm>
          <a:prstGeom prst="roundRect">
            <a:avLst>
              <a:gd fmla="val 3395" name="adj"/>
            </a:avLst>
          </a:prstGeom>
          <a:noFill/>
          <a:ln cap="flat" cmpd="sng" w="19050">
            <a:solidFill>
              <a:srgbClr val="1B2A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
          <p:cNvSpPr/>
          <p:nvPr/>
        </p:nvSpPr>
        <p:spPr>
          <a:xfrm>
            <a:off x="3554685" y="1270992"/>
            <a:ext cx="1099914"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REVIEW 2 · NOW</a:t>
            </a:r>
            <a:endParaRPr b="0" i="0" sz="1000" u="none" cap="none" strike="noStrike">
              <a:solidFill>
                <a:schemeClr val="dk1"/>
              </a:solidFill>
              <a:latin typeface="Calibri"/>
              <a:ea typeface="Calibri"/>
              <a:cs typeface="Calibri"/>
              <a:sym typeface="Calibri"/>
            </a:endParaRPr>
          </a:p>
        </p:txBody>
      </p:sp>
      <p:sp>
        <p:nvSpPr>
          <p:cNvPr id="174" name="Google Shape;174;p13"/>
          <p:cNvSpPr/>
          <p:nvPr/>
        </p:nvSpPr>
        <p:spPr>
          <a:xfrm>
            <a:off x="3457575" y="1570211"/>
            <a:ext cx="2228850" cy="939105"/>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300"/>
              <a:buFont typeface="Inter"/>
              <a:buNone/>
            </a:pPr>
            <a:r>
              <a:rPr b="0" i="0" lang="en-US" sz="1300" u="none" cap="none" strike="noStrike">
                <a:solidFill>
                  <a:srgbClr val="1B2A55"/>
                </a:solidFill>
                <a:latin typeface="Inter"/>
                <a:ea typeface="Inter"/>
                <a:cs typeface="Inter"/>
                <a:sym typeface="Inter"/>
              </a:rPr>
              <a:t>Working implementation, about 75% of the planned scope, with live outputs and a tamper demonstration.</a:t>
            </a:r>
            <a:endParaRPr b="0" i="0" sz="1300" u="none" cap="none" strike="noStrike">
              <a:solidFill>
                <a:schemeClr val="dk1"/>
              </a:solidFill>
              <a:latin typeface="Calibri"/>
              <a:ea typeface="Calibri"/>
              <a:cs typeface="Calibri"/>
              <a:sym typeface="Calibri"/>
            </a:endParaRPr>
          </a:p>
        </p:txBody>
      </p:sp>
      <p:sp>
        <p:nvSpPr>
          <p:cNvPr id="175" name="Google Shape;175;p13"/>
          <p:cNvSpPr/>
          <p:nvPr/>
        </p:nvSpPr>
        <p:spPr>
          <a:xfrm>
            <a:off x="6096000" y="1098649"/>
            <a:ext cx="2590800" cy="2208981"/>
          </a:xfrm>
          <a:prstGeom prst="roundRect">
            <a:avLst>
              <a:gd fmla="val 6209" name="adj"/>
            </a:avLst>
          </a:prstGeom>
          <a:no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a:off x="6276975" y="1222474"/>
            <a:ext cx="1325880" cy="252487"/>
          </a:xfrm>
          <a:prstGeom prst="roundRect">
            <a:avLst>
              <a:gd fmla="val 3395" name="adj"/>
            </a:avLst>
          </a:prstGeom>
          <a:noFill/>
          <a:ln cap="flat" cmpd="sng" w="19050">
            <a:solidFill>
              <a:srgbClr val="1B2A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3"/>
          <p:cNvSpPr/>
          <p:nvPr/>
        </p:nvSpPr>
        <p:spPr>
          <a:xfrm>
            <a:off x="6374085" y="1270992"/>
            <a:ext cx="1101923"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FINAL REVIEW</a:t>
            </a:r>
            <a:endParaRPr b="0" i="0" sz="1000" u="none" cap="none" strike="noStrike">
              <a:solidFill>
                <a:schemeClr val="dk1"/>
              </a:solidFill>
              <a:latin typeface="Calibri"/>
              <a:ea typeface="Calibri"/>
              <a:cs typeface="Calibri"/>
              <a:sym typeface="Calibri"/>
            </a:endParaRPr>
          </a:p>
        </p:txBody>
      </p:sp>
      <p:sp>
        <p:nvSpPr>
          <p:cNvPr id="178" name="Google Shape;178;p13"/>
          <p:cNvSpPr/>
          <p:nvPr/>
        </p:nvSpPr>
        <p:spPr>
          <a:xfrm>
            <a:off x="6276975" y="1570211"/>
            <a:ext cx="2228850" cy="704329"/>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300"/>
              <a:buFont typeface="Inter"/>
              <a:buNone/>
            </a:pPr>
            <a:r>
              <a:rPr b="0" i="0" lang="en-US" sz="1300" u="none" cap="none" strike="noStrike">
                <a:solidFill>
                  <a:srgbClr val="1B2A55"/>
                </a:solidFill>
                <a:latin typeface="Inter"/>
                <a:ea typeface="Inter"/>
                <a:cs typeface="Inter"/>
                <a:sym typeface="Inter"/>
              </a:rPr>
              <a:t>Oracle + PL/SQL, MongoDB Atlas, cloud deployment, POSITION entity, then comparison with existing e-voting systems.</a:t>
            </a:r>
            <a:endParaRPr b="0" i="0" sz="1300" u="none" cap="none" strike="noStrike">
              <a:solidFill>
                <a:schemeClr val="dk1"/>
              </a:solidFill>
              <a:latin typeface="Calibri"/>
              <a:ea typeface="Calibri"/>
              <a:cs typeface="Calibri"/>
              <a:sym typeface="Calibri"/>
            </a:endParaRPr>
          </a:p>
        </p:txBody>
      </p:sp>
      <p:sp>
        <p:nvSpPr>
          <p:cNvPr id="179" name="Google Shape;179;p13"/>
          <p:cNvSpPr/>
          <p:nvPr/>
        </p:nvSpPr>
        <p:spPr>
          <a:xfrm>
            <a:off x="457200" y="3421931"/>
            <a:ext cx="8229600" cy="951979"/>
          </a:xfrm>
          <a:prstGeom prst="roundRect">
            <a:avLst>
              <a:gd fmla="val 14408" name="adj"/>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p:cNvSpPr/>
          <p:nvPr/>
        </p:nvSpPr>
        <p:spPr>
          <a:xfrm>
            <a:off x="638175" y="3545756"/>
            <a:ext cx="7867650" cy="704329"/>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000000"/>
              </a:buClr>
              <a:buSzPts val="1300"/>
              <a:buFont typeface="Inter"/>
              <a:buNone/>
            </a:pPr>
            <a:r>
              <a:rPr b="1" i="0" lang="en-US" sz="1300" u="none" cap="none" strike="noStrike">
                <a:solidFill>
                  <a:srgbClr val="000000"/>
                </a:solidFill>
                <a:latin typeface="Inter"/>
                <a:ea typeface="Inter"/>
                <a:cs typeface="Inter"/>
                <a:sym typeface="Inter"/>
              </a:rPr>
              <a:t>Remaining · Application: </a:t>
            </a:r>
            <a:r>
              <a:rPr b="0" i="0" lang="en-US" sz="1300" u="none" cap="none" strike="noStrike">
                <a:solidFill>
                  <a:srgbClr val="000000"/>
                </a:solidFill>
                <a:latin typeface="Inter"/>
                <a:ea typeface="Inter"/>
                <a:cs typeface="Inter"/>
                <a:sym typeface="Inter"/>
              </a:rPr>
              <a:t>host the platform live in the cloud</a:t>
            </a:r>
            <a:br>
              <a:rPr b="1" i="0" lang="en-US" sz="1300" u="none" cap="none" strike="noStrike">
                <a:solidFill>
                  <a:srgbClr val="000000"/>
                </a:solidFill>
                <a:latin typeface="Inter"/>
                <a:ea typeface="Inter"/>
                <a:cs typeface="Inter"/>
                <a:sym typeface="Inter"/>
              </a:rPr>
            </a:br>
            <a:r>
              <a:rPr b="1" i="0" lang="en-US" sz="1300" u="none" cap="none" strike="noStrike">
                <a:solidFill>
                  <a:srgbClr val="000000"/>
                </a:solidFill>
                <a:latin typeface="Inter"/>
                <a:ea typeface="Inter"/>
                <a:cs typeface="Inter"/>
                <a:sym typeface="Inter"/>
              </a:rPr>
              <a:t>Database: </a:t>
            </a:r>
            <a:r>
              <a:rPr b="0" i="0" lang="en-US" sz="1300" u="none" cap="none" strike="noStrike">
                <a:solidFill>
                  <a:srgbClr val="000000"/>
                </a:solidFill>
                <a:latin typeface="Inter"/>
                <a:ea typeface="Inter"/>
                <a:cs typeface="Inter"/>
                <a:sym typeface="Inter"/>
              </a:rPr>
              <a:t>PL/SQL procedures, DCL roles, Oracle and MongoDB scripts</a:t>
            </a:r>
            <a:br>
              <a:rPr b="1" i="0" lang="en-US" sz="1300" u="none" cap="none" strike="noStrike">
                <a:solidFill>
                  <a:srgbClr val="000000"/>
                </a:solidFill>
                <a:latin typeface="Inter"/>
                <a:ea typeface="Inter"/>
                <a:cs typeface="Inter"/>
                <a:sym typeface="Inter"/>
              </a:rPr>
            </a:br>
            <a:r>
              <a:rPr b="1" i="0" lang="en-US" sz="1300" u="none" cap="none" strike="noStrike">
                <a:solidFill>
                  <a:srgbClr val="000000"/>
                </a:solidFill>
                <a:latin typeface="Inter"/>
                <a:ea typeface="Inter"/>
                <a:cs typeface="Inter"/>
                <a:sym typeface="Inter"/>
              </a:rPr>
              <a:t>Verification: </a:t>
            </a:r>
            <a:r>
              <a:rPr b="0" i="0" lang="en-US" sz="1300" u="none" cap="none" strike="noStrike">
                <a:solidFill>
                  <a:srgbClr val="000000"/>
                </a:solidFill>
                <a:latin typeface="Inter"/>
                <a:ea typeface="Inter"/>
                <a:cs typeface="Inter"/>
                <a:sym typeface="Inter"/>
              </a:rPr>
              <a:t>detect ballots injected without a receipt</a:t>
            </a:r>
            <a:endParaRPr b="0" i="0" sz="1300" u="none" cap="none" strike="noStrike">
              <a:solidFill>
                <a:schemeClr val="dk1"/>
              </a:solidFill>
              <a:latin typeface="Calibri"/>
              <a:ea typeface="Calibri"/>
              <a:cs typeface="Calibri"/>
              <a:sym typeface="Calibri"/>
            </a:endParaRPr>
          </a:p>
        </p:txBody>
      </p:sp>
      <p:sp>
        <p:nvSpPr>
          <p:cNvPr id="181" name="Google Shape;181;p13"/>
          <p:cNvSpPr/>
          <p:nvPr/>
        </p:nvSpPr>
        <p:spPr>
          <a:xfrm>
            <a:off x="457200" y="4519166"/>
            <a:ext cx="86868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2 | Fall Semester 2026 · Slide 20</a:t>
            </a:r>
            <a:endParaRPr b="0" i="0" sz="950" u="none" cap="none" strike="noStrike">
              <a:solidFill>
                <a:schemeClr val="dk1"/>
              </a:solidFill>
              <a:latin typeface="Calibri"/>
              <a:ea typeface="Calibri"/>
              <a:cs typeface="Calibri"/>
              <a:sym typeface="Calibri"/>
            </a:endParaRPr>
          </a:p>
        </p:txBody>
      </p:sp>
      <p:sp>
        <p:nvSpPr>
          <p:cNvPr id="182" name="Google Shape;182;p13"/>
          <p:cNvSpPr/>
          <p:nvPr/>
        </p:nvSpPr>
        <p:spPr>
          <a:xfrm>
            <a:off x="8052550" y="4783825"/>
            <a:ext cx="1025100" cy="298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p:nvPr/>
        </p:nvSpPr>
        <p:spPr>
          <a:xfrm>
            <a:off x="342900" y="457200"/>
            <a:ext cx="2483644"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440010" y="505718"/>
            <a:ext cx="2746623"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PROJECT CONCLUSION · REVIEW 2</a:t>
            </a:r>
            <a:endParaRPr b="0" i="0" sz="1000" u="none" cap="none" strike="noStrike">
              <a:solidFill>
                <a:schemeClr val="dk1"/>
              </a:solidFill>
              <a:latin typeface="Calibri"/>
              <a:ea typeface="Calibri"/>
              <a:cs typeface="Calibri"/>
              <a:sym typeface="Calibri"/>
            </a:endParaRPr>
          </a:p>
        </p:txBody>
      </p:sp>
      <p:sp>
        <p:nvSpPr>
          <p:cNvPr id="190" name="Google Shape;190;p14"/>
          <p:cNvSpPr/>
          <p:nvPr/>
        </p:nvSpPr>
        <p:spPr>
          <a:xfrm>
            <a:off x="342900" y="891972"/>
            <a:ext cx="5105400" cy="46099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3300"/>
              <a:buFont typeface="Inter"/>
              <a:buNone/>
            </a:pPr>
            <a:r>
              <a:rPr b="1" i="0" lang="en-US" sz="3300" u="none" cap="none" strike="noStrike">
                <a:solidFill>
                  <a:srgbClr val="1B2A55"/>
                </a:solidFill>
                <a:latin typeface="Inter"/>
                <a:ea typeface="Inter"/>
                <a:cs typeface="Inter"/>
                <a:sym typeface="Inter"/>
              </a:rPr>
              <a:t>Thank You</a:t>
            </a:r>
            <a:endParaRPr b="0" i="0" sz="3300" u="none" cap="none" strike="noStrike">
              <a:solidFill>
                <a:schemeClr val="dk1"/>
              </a:solidFill>
              <a:latin typeface="Calibri"/>
              <a:ea typeface="Calibri"/>
              <a:cs typeface="Calibri"/>
              <a:sym typeface="Calibri"/>
            </a:endParaRPr>
          </a:p>
        </p:txBody>
      </p:sp>
      <p:sp>
        <p:nvSpPr>
          <p:cNvPr id="191" name="Google Shape;191;p14"/>
          <p:cNvSpPr/>
          <p:nvPr/>
        </p:nvSpPr>
        <p:spPr>
          <a:xfrm>
            <a:off x="342900" y="4519166"/>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2 | Fall Semester 2026 · Slide 21</a:t>
            </a:r>
            <a:endParaRPr b="0" i="0" sz="950" u="none" cap="none" strike="noStrike">
              <a:solidFill>
                <a:schemeClr val="dk1"/>
              </a:solidFill>
              <a:latin typeface="Calibri"/>
              <a:ea typeface="Calibri"/>
              <a:cs typeface="Calibri"/>
              <a:sym typeface="Calibri"/>
            </a:endParaRPr>
          </a:p>
        </p:txBody>
      </p:sp>
      <p:sp>
        <p:nvSpPr>
          <p:cNvPr id="192" name="Google Shape;192;p14"/>
          <p:cNvSpPr/>
          <p:nvPr/>
        </p:nvSpPr>
        <p:spPr>
          <a:xfrm>
            <a:off x="5791200" y="0"/>
            <a:ext cx="3352800" cy="5143500"/>
          </a:xfrm>
          <a:prstGeom prst="rect">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TextBox 192"/>
          <p:cNvSpPr txBox="1"/>
          <p:nvPr/>
        </p:nvSpPr>
        <p:spPr>
          <a:xfrm>
            <a:off x="347472" y="1600200"/>
            <a:ext cx="5120640" cy="274320"/>
          </a:xfrm>
          <a:prstGeom prst="rect">
            <a:avLst/>
          </a:prstGeom>
          <a:noFill/>
        </p:spPr>
        <p:txBody>
          <a:bodyPr wrap="square" anchor="t" lIns="0" rIns="0" tIns="0" bIns="0">
            <a:spAutoFit/>
          </a:bodyPr>
          <a:lstStyle/>
          <a:p>
            <a:pPr algn="l">
              <a:spcAft>
                <a:spcPts val="0"/>
              </a:spcAft>
            </a:pPr>
            <a:r>
              <a:rPr sz="1600" b="1" i="0">
                <a:solidFill>
                  <a:srgbClr val="353B4A"/>
                </a:solidFill>
                <a:latin typeface="Inter"/>
              </a:rPr>
              <a:t>Questions and discussion</a:t>
            </a:r>
          </a:p>
        </p:txBody>
      </p:sp>
      <p:sp>
        <p:nvSpPr>
          <p:cNvPr id="194" name="TextBox 193"/>
          <p:cNvSpPr txBox="1"/>
          <p:nvPr/>
        </p:nvSpPr>
        <p:spPr>
          <a:xfrm>
            <a:off x="347472" y="2057400"/>
            <a:ext cx="5120640" cy="1097280"/>
          </a:xfrm>
          <a:prstGeom prst="rect">
            <a:avLst/>
          </a:prstGeom>
          <a:noFill/>
        </p:spPr>
        <p:txBody>
          <a:bodyPr wrap="square" anchor="t" lIns="0" rIns="0" tIns="0" bIns="0">
            <a:spAutoFit/>
          </a:bodyPr>
          <a:lstStyle/>
          <a:p>
            <a:pPr algn="l">
              <a:spcAft>
                <a:spcPts val="300"/>
              </a:spcAft>
            </a:pPr>
            <a:r>
              <a:rPr sz="1200" b="1" i="0">
                <a:solidFill>
                  <a:srgbClr val="1B2A55"/>
                </a:solidFill>
                <a:latin typeface="Inter"/>
              </a:rPr>
              <a:t>Source code and documents</a:t>
            </a:r>
          </a:p>
          <a:p>
            <a:pPr algn="l">
              <a:spcAft>
                <a:spcPts val="300"/>
              </a:spcAft>
            </a:pPr>
            <a:r>
              <a:rPr sz="1100" b="0" i="0">
                <a:solidFill>
                  <a:srgbClr val="353B4A"/>
                </a:solidFill>
                <a:latin typeface="Inter"/>
              </a:rPr>
              <a:t>github.com/Tharakeshtj/polyvote-election-platform</a:t>
            </a:r>
          </a:p>
          <a:p>
            <a:pPr algn="l">
              <a:spcAft>
                <a:spcPts val="300"/>
              </a:spcAft>
            </a:pPr>
            <a:r>
              <a:rPr sz="1200" b="0" i="0">
                <a:solidFill>
                  <a:srgbClr val="353B4A"/>
                </a:solidFill>
                <a:latin typeface="Inter"/>
              </a:rPr>
              <a:t/>
            </a:r>
          </a:p>
          <a:p>
            <a:pPr algn="l">
              <a:spcAft>
                <a:spcPts val="300"/>
              </a:spcAft>
            </a:pPr>
            <a:r>
              <a:rPr sz="1200" b="1" i="0">
                <a:solidFill>
                  <a:srgbClr val="1B2A55"/>
                </a:solidFill>
                <a:latin typeface="Inter"/>
              </a:rPr>
              <a:t>Run it: </a:t>
            </a:r>
            <a:r>
              <a:rPr sz="1000" b="0" i="0">
                <a:solidFill>
                  <a:srgbClr val="353B4A"/>
                </a:solidFill>
                <a:latin typeface="Consolas"/>
              </a:rPr>
              <a:t>python -m uvicorn server:app --port 8000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REVIEW 2 · WHERE WE STAND</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we submitted, what we built, what changed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2</a:t>
            </a:r>
          </a:p>
        </p:txBody>
      </p:sp>
      <p:sp>
        <p:nvSpPr>
          <p:cNvPr id="6" name="Rounded Rectangle 5"/>
          <p:cNvSpPr/>
          <p:nvPr/>
        </p:nvSpPr>
        <p:spPr>
          <a:xfrm>
            <a:off x="457200"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17500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SUBMITTED</a:t>
            </a:r>
          </a:p>
        </p:txBody>
      </p:sp>
      <p:sp>
        <p:nvSpPr>
          <p:cNvPr id="8" name="TextBox 7"/>
          <p:cNvSpPr txBox="1"/>
          <p:nvPr/>
        </p:nvSpPr>
        <p:spPr>
          <a:xfrm>
            <a:off x="640080"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Review 1</a:t>
            </a:r>
          </a:p>
        </p:txBody>
      </p:sp>
      <p:sp>
        <p:nvSpPr>
          <p:cNvPr id="9" name="TextBox 8"/>
          <p:cNvSpPr txBox="1"/>
          <p:nvPr/>
        </p:nvSpPr>
        <p:spPr>
          <a:xfrm>
            <a:off x="640080"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Design, relational schema and ER diagram, security approach, literature review, and a planned architecture on Oracle, MongoDB and Streamlit.</a:t>
            </a:r>
          </a:p>
        </p:txBody>
      </p:sp>
      <p:sp>
        <p:nvSpPr>
          <p:cNvPr id="10" name="Rounded Rectangle 9"/>
          <p:cNvSpPr/>
          <p:nvPr/>
        </p:nvSpPr>
        <p:spPr>
          <a:xfrm>
            <a:off x="3282696"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5576" y="1225296"/>
            <a:ext cx="79095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BUILT</a:t>
            </a:r>
          </a:p>
        </p:txBody>
      </p:sp>
      <p:sp>
        <p:nvSpPr>
          <p:cNvPr id="12" name="TextBox 11"/>
          <p:cNvSpPr txBox="1"/>
          <p:nvPr/>
        </p:nvSpPr>
        <p:spPr>
          <a:xfrm>
            <a:off x="3465576"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Since Review 1</a:t>
            </a:r>
          </a:p>
        </p:txBody>
      </p:sp>
      <p:sp>
        <p:nvSpPr>
          <p:cNvPr id="13" name="TextBox 12"/>
          <p:cNvSpPr txBox="1"/>
          <p:nvPr/>
        </p:nvSpPr>
        <p:spPr>
          <a:xfrm>
            <a:off x="3465576"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A working system: React voter booth and admin console, FastAPI service, SQLite schema with trigger and views, instant-runoff tally, hash-chained receipts and a live tamper test.</a:t>
            </a:r>
          </a:p>
        </p:txBody>
      </p:sp>
      <p:sp>
        <p:nvSpPr>
          <p:cNvPr id="14" name="Rounded Rectangle 13"/>
          <p:cNvSpPr/>
          <p:nvPr/>
        </p:nvSpPr>
        <p:spPr>
          <a:xfrm>
            <a:off x="6108192"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225296"/>
            <a:ext cx="98298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CHANGED</a:t>
            </a:r>
          </a:p>
        </p:txBody>
      </p:sp>
      <p:sp>
        <p:nvSpPr>
          <p:cNvPr id="16" name="TextBox 15"/>
          <p:cNvSpPr txBox="1"/>
          <p:nvPr/>
        </p:nvSpPr>
        <p:spPr>
          <a:xfrm>
            <a:off x="6291072"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And why</a:t>
            </a:r>
          </a:p>
        </p:txBody>
      </p:sp>
      <p:sp>
        <p:nvSpPr>
          <p:cNvPr id="17" name="TextBox 16"/>
          <p:cNvSpPr txBox="1"/>
          <p:nvPr/>
        </p:nvSpPr>
        <p:spPr>
          <a:xfrm>
            <a:off x="6291072"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SQLite stands in for Oracle and a JSON document ledger for MongoDB; React + FastAPI now sits beside Streamlit; an ADMIN_USERS table was added.</a:t>
            </a:r>
          </a:p>
        </p:txBody>
      </p:sp>
      <p:sp>
        <p:nvSpPr>
          <p:cNvPr id="18" name="Rounded Rectangle 17"/>
          <p:cNvSpPr/>
          <p:nvPr/>
        </p:nvSpPr>
        <p:spPr>
          <a:xfrm>
            <a:off x="457200" y="3547872"/>
            <a:ext cx="8229600"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621024"/>
            <a:ext cx="1554480" cy="640080"/>
          </a:xfrm>
          <a:prstGeom prst="rect">
            <a:avLst/>
          </a:prstGeom>
          <a:noFill/>
        </p:spPr>
        <p:txBody>
          <a:bodyPr wrap="square" anchor="ctr" lIns="0" rIns="0" tIns="0" bIns="0">
            <a:spAutoFit/>
          </a:bodyPr>
          <a:lstStyle/>
          <a:p>
            <a:pPr algn="l">
              <a:spcAft>
                <a:spcPts val="0"/>
              </a:spcAft>
            </a:pPr>
            <a:r>
              <a:rPr sz="4400" b="1" i="0">
                <a:solidFill>
                  <a:srgbClr val="1B2A55"/>
                </a:solidFill>
                <a:latin typeface="Inter"/>
              </a:rPr>
              <a:t>75%</a:t>
            </a:r>
          </a:p>
        </p:txBody>
      </p:sp>
      <p:sp>
        <p:nvSpPr>
          <p:cNvPr id="20" name="TextBox 19"/>
          <p:cNvSpPr txBox="1"/>
          <p:nvPr/>
        </p:nvSpPr>
        <p:spPr>
          <a:xfrm>
            <a:off x="685800" y="4242816"/>
            <a:ext cx="1737360" cy="274320"/>
          </a:xfrm>
          <a:prstGeom prst="rect">
            <a:avLst/>
          </a:prstGeom>
          <a:noFill/>
        </p:spPr>
        <p:txBody>
          <a:bodyPr wrap="square" anchor="t" lIns="0" rIns="0" tIns="0" bIns="0">
            <a:spAutoFit/>
          </a:bodyPr>
          <a:lstStyle/>
          <a:p>
            <a:pPr algn="l">
              <a:spcAft>
                <a:spcPts val="0"/>
              </a:spcAft>
            </a:pPr>
            <a:r>
              <a:rPr sz="1100" b="0" i="0">
                <a:solidFill>
                  <a:srgbClr val="666A78"/>
                </a:solidFill>
                <a:latin typeface="Inter"/>
              </a:rPr>
              <a:t>of the Review 1 scope</a:t>
            </a:r>
          </a:p>
        </p:txBody>
      </p:sp>
      <p:sp>
        <p:nvSpPr>
          <p:cNvPr id="21" name="TextBox 20"/>
          <p:cNvSpPr txBox="1"/>
          <p:nvPr/>
        </p:nvSpPr>
        <p:spPr>
          <a:xfrm>
            <a:off x="2560320" y="3675887"/>
            <a:ext cx="5943600" cy="914400"/>
          </a:xfrm>
          <a:prstGeom prst="rect">
            <a:avLst/>
          </a:prstGeom>
          <a:noFill/>
        </p:spPr>
        <p:txBody>
          <a:bodyPr wrap="square" anchor="t" lIns="0" rIns="0" tIns="0" bIns="0">
            <a:spAutoFit/>
          </a:bodyPr>
          <a:lstStyle/>
          <a:p>
            <a:pPr algn="l">
              <a:spcAft>
                <a:spcPts val="200"/>
              </a:spcAft>
            </a:pPr>
            <a:r>
              <a:rPr sz="1200" b="1" i="0">
                <a:solidFill>
                  <a:srgbClr val="1B2A55"/>
                </a:solidFill>
                <a:latin typeface="Inter"/>
              </a:rPr>
              <a:t>Left for the final review: </a:t>
            </a:r>
            <a:r>
              <a:rPr sz="1200" b="0" i="0">
                <a:solidFill>
                  <a:srgbClr val="353B4A"/>
                </a:solidFill>
                <a:latin typeface="Inter"/>
              </a:rPr>
              <a:t>Oracle with PL/SQL procedures and DCL, MongoDB Atlas, cloud deployment, and the POSITION entity.</a:t>
            </a:r>
          </a:p>
          <a:p>
            <a:pPr algn="l">
              <a:spcAft>
                <a:spcPts val="200"/>
              </a:spcAft>
            </a:pPr>
            <a:r>
              <a:rPr sz="1200" b="0" i="0">
                <a:solidFill>
                  <a:srgbClr val="353B4A"/>
                </a:solidFill>
                <a:latin typeface="Inter"/>
              </a:rPr>
              <a:t/>
            </a:r>
          </a:p>
          <a:p>
            <a:pPr algn="l">
              <a:spcAft>
                <a:spcPts val="200"/>
              </a:spcAft>
            </a:pPr>
            <a:r>
              <a:rPr sz="1200" b="1" i="0">
                <a:solidFill>
                  <a:srgbClr val="1B2A55"/>
                </a:solidFill>
                <a:latin typeface="Inter"/>
              </a:rPr>
              <a:t>Next: </a:t>
            </a:r>
            <a:r>
              <a:rPr sz="1200" b="0" i="0">
                <a:solidFill>
                  <a:srgbClr val="353B4A"/>
                </a:solidFill>
                <a:latin typeface="Inter"/>
              </a:rPr>
              <a:t>the design recap, updated diagrams, then the running system and its outputs.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DATABASE INTEGRITY</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database itself refuses invalid votes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10</a:t>
            </a:r>
          </a:p>
        </p:txBody>
      </p:sp>
      <p:graphicFrame>
        <p:nvGraphicFramePr>
          <p:cNvPr id="6" name="Table 5"/>
          <p:cNvGraphicFramePr>
            <a:graphicFrameLocks noGrp="1"/>
          </p:cNvGraphicFramePr>
          <p:nvPr/>
        </p:nvGraphicFramePr>
        <p:xfrm>
          <a:off x="457200" y="1097280"/>
          <a:ext cx="8229599" cy="2560320"/>
        </p:xfrm>
        <a:graphic>
          <a:graphicData uri="http://schemas.openxmlformats.org/drawingml/2006/table">
            <a:tbl>
              <a:tblPr firstRow="1" bandRow="1">
                <a:tableStyleId>{5C22544A-7EE6-4342-B048-85BDC9FD1C3A}</a:tableStyleId>
              </a:tblPr>
              <a:tblGrid>
                <a:gridCol w="2011680"/>
                <a:gridCol w="2743200"/>
                <a:gridCol w="3474719"/>
              </a:tblGrid>
              <a:tr h="365760">
                <a:tc>
                  <a:txBody>
                    <a:bodyPr wrap="square"/>
                    <a:lstStyle/>
                    <a:p>
                      <a:r>
                        <a:rPr sz="1000" b="1" i="0">
                          <a:solidFill>
                            <a:srgbClr val="FFFFFF"/>
                          </a:solidFill>
                          <a:latin typeface="Inter"/>
                        </a:rPr>
                        <a:t>Rule</a:t>
                      </a:r>
                    </a:p>
                  </a:txBody>
                  <a:tcPr marL="73152" marR="73152" marT="36576" marB="36576" anchor="ctr">
                    <a:solidFill>
                      <a:srgbClr val="1B2A55"/>
                    </a:solidFill>
                  </a:tcPr>
                </a:tc>
                <a:tc>
                  <a:txBody>
                    <a:bodyPr wrap="square"/>
                    <a:lstStyle/>
                    <a:p>
                      <a:r>
                        <a:rPr sz="1000" b="1" i="0">
                          <a:solidFill>
                            <a:srgbClr val="FFFFFF"/>
                          </a:solidFill>
                          <a:latin typeface="Inter"/>
                        </a:rPr>
                        <a:t>Enforced by</a:t>
                      </a:r>
                    </a:p>
                  </a:txBody>
                  <a:tcPr marL="73152" marR="73152" marT="36576" marB="36576" anchor="ctr">
                    <a:solidFill>
                      <a:srgbClr val="1B2A55"/>
                    </a:solidFill>
                  </a:tcPr>
                </a:tc>
                <a:tc>
                  <a:txBody>
                    <a:bodyPr wrap="square"/>
                    <a:lstStyle/>
                    <a:p>
                      <a:r>
                        <a:rPr sz="1000" b="1" i="0">
                          <a:solidFill>
                            <a:srgbClr val="FFFFFF"/>
                          </a:solidFill>
                          <a:latin typeface="Inter"/>
                        </a:rPr>
                        <a:t>Response when we tried to break it</a:t>
                      </a:r>
                    </a:p>
                  </a:txBody>
                  <a:tcPr marL="73152" marR="73152" marT="36576" marB="36576" anchor="ctr">
                    <a:solidFill>
                      <a:srgbClr val="1B2A55"/>
                    </a:solidFill>
                  </a:tcPr>
                </a:tc>
              </a:tr>
              <a:tr h="548640">
                <a:tc>
                  <a:txBody>
                    <a:bodyPr wrap="square"/>
                    <a:lstStyle/>
                    <a:p>
                      <a:r>
                        <a:rPr sz="1000" b="1" i="0">
                          <a:solidFill>
                            <a:srgbClr val="1B2A55"/>
                          </a:solidFill>
                          <a:latin typeface="Inter"/>
                        </a:rPr>
                        <a:t>One vote per voter</a:t>
                      </a:r>
                    </a:p>
                  </a:txBody>
                  <a:tcPr marL="73152" marR="73152" marT="36576" marB="36576" anchor="ctr">
                    <a:solidFill>
                      <a:srgbClr val="FFFFFF"/>
                    </a:solidFill>
                  </a:tcPr>
                </a:tc>
                <a:tc>
                  <a:txBody>
                    <a:bodyPr wrap="square"/>
                    <a:lstStyle/>
                    <a:p>
                      <a:r>
                        <a:rPr sz="1000" b="0" i="0">
                          <a:solidFill>
                            <a:srgbClr val="353B4A"/>
                          </a:solidFill>
                          <a:latin typeface="Consolas"/>
                        </a:rPr>
                        <a:t>TRIGGER trg_block_duplicate_vote</a:t>
                      </a:r>
                    </a:p>
                  </a:txBody>
                  <a:tcPr marL="73152" marR="73152" marT="36576" marB="36576" anchor="ctr">
                    <a:solidFill>
                      <a:srgbClr val="FFFFFF"/>
                    </a:solidFill>
                  </a:tcPr>
                </a:tc>
                <a:tc>
                  <a:txBody>
                    <a:bodyPr wrap="square"/>
                    <a:lstStyle/>
                    <a:p>
                      <a:r>
                        <a:rPr sz="1000" b="0" i="0">
                          <a:solidFill>
                            <a:srgbClr val="353B4A"/>
                          </a:solidFill>
                          <a:latin typeface="Inter"/>
                        </a:rPr>
                        <a:t>DBMS Trigger Violation: Voter has already submitted a ballot.</a:t>
                      </a:r>
                    </a:p>
                  </a:txBody>
                  <a:tcPr marL="73152" marR="73152" marT="36576" marB="36576" anchor="ctr">
                    <a:solidFill>
                      <a:srgbClr val="FFFFFF"/>
                    </a:solidFill>
                  </a:tcPr>
                </a:tc>
              </a:tr>
              <a:tr h="548640">
                <a:tc>
                  <a:txBody>
                    <a:bodyPr wrap="square"/>
                    <a:lstStyle/>
                    <a:p>
                      <a:r>
                        <a:rPr sz="1000" b="1" i="0">
                          <a:solidFill>
                            <a:srgbClr val="1B2A55"/>
                          </a:solidFill>
                          <a:latin typeface="Inter"/>
                        </a:rPr>
                        <a:t>Top three ranks only</a:t>
                      </a:r>
                    </a:p>
                  </a:txBody>
                  <a:tcPr marL="73152" marR="73152" marT="36576" marB="36576" anchor="ctr">
                    <a:solidFill>
                      <a:srgbClr val="F1F0F6"/>
                    </a:solidFill>
                  </a:tcPr>
                </a:tc>
                <a:tc>
                  <a:txBody>
                    <a:bodyPr wrap="square"/>
                    <a:lstStyle/>
                    <a:p>
                      <a:r>
                        <a:rPr sz="1000" b="0" i="0">
                          <a:solidFill>
                            <a:srgbClr val="353B4A"/>
                          </a:solidFill>
                          <a:latin typeface="Consolas"/>
                        </a:rPr>
                        <a:t>CHECK (preference_rank BETWEEN 1 AND 3)</a:t>
                      </a:r>
                    </a:p>
                  </a:txBody>
                  <a:tcPr marL="73152" marR="73152" marT="36576" marB="36576" anchor="ctr">
                    <a:solidFill>
                      <a:srgbClr val="F1F0F6"/>
                    </a:solidFill>
                  </a:tcPr>
                </a:tc>
                <a:tc>
                  <a:txBody>
                    <a:bodyPr wrap="square"/>
                    <a:lstStyle/>
                    <a:p>
                      <a:r>
                        <a:rPr sz="1000" b="0" i="0">
                          <a:solidFill>
                            <a:srgbClr val="353B4A"/>
                          </a:solidFill>
                          <a:latin typeface="Inter"/>
                        </a:rPr>
                        <a:t>CHECK constraint failed: preference_rank BETWEEN 1 AND 3</a:t>
                      </a:r>
                    </a:p>
                  </a:txBody>
                  <a:tcPr marL="73152" marR="73152" marT="36576" marB="36576" anchor="ctr">
                    <a:solidFill>
                      <a:srgbClr val="F1F0F6"/>
                    </a:solidFill>
                  </a:tcPr>
                </a:tc>
              </a:tr>
              <a:tr h="548640">
                <a:tc>
                  <a:txBody>
                    <a:bodyPr wrap="square"/>
                    <a:lstStyle/>
                    <a:p>
                      <a:r>
                        <a:rPr sz="1000" b="1" i="0">
                          <a:solidFill>
                            <a:srgbClr val="1B2A55"/>
                          </a:solidFill>
                          <a:latin typeface="Inter"/>
                        </a:rPr>
                        <a:t>No candidate twice on one ballot</a:t>
                      </a:r>
                    </a:p>
                  </a:txBody>
                  <a:tcPr marL="73152" marR="73152" marT="36576" marB="36576" anchor="ctr">
                    <a:solidFill>
                      <a:srgbClr val="FFFFFF"/>
                    </a:solidFill>
                  </a:tcPr>
                </a:tc>
                <a:tc>
                  <a:txBody>
                    <a:bodyPr wrap="square"/>
                    <a:lstStyle/>
                    <a:p>
                      <a:r>
                        <a:rPr sz="1000" b="0" i="0">
                          <a:solidFill>
                            <a:srgbClr val="353B4A"/>
                          </a:solidFill>
                          <a:latin typeface="Consolas"/>
                        </a:rPr>
                        <a:t>PRIMARY KEY (ballot_token, candidate_id)</a:t>
                      </a:r>
                    </a:p>
                  </a:txBody>
                  <a:tcPr marL="73152" marR="73152" marT="36576" marB="36576" anchor="ctr">
                    <a:solidFill>
                      <a:srgbClr val="FFFFFF"/>
                    </a:solidFill>
                  </a:tcPr>
                </a:tc>
                <a:tc>
                  <a:txBody>
                    <a:bodyPr wrap="square"/>
                    <a:lstStyle/>
                    <a:p>
                      <a:r>
                        <a:rPr sz="1000" b="0" i="0">
                          <a:solidFill>
                            <a:srgbClr val="353B4A"/>
                          </a:solidFill>
                          <a:latin typeface="Inter"/>
                        </a:rPr>
                        <a:t>UNIQUE constraint failed: BALLOT_RANKS.ballot_token, BALLOT_RANKS.candidate_id</a:t>
                      </a:r>
                    </a:p>
                  </a:txBody>
                  <a:tcPr marL="73152" marR="73152" marT="36576" marB="36576" anchor="ctr">
                    <a:solidFill>
                      <a:srgbClr val="FFFFFF"/>
                    </a:solidFill>
                  </a:tcPr>
                </a:tc>
              </a:tr>
              <a:tr h="548640">
                <a:tc>
                  <a:txBody>
                    <a:bodyPr wrap="square"/>
                    <a:lstStyle/>
                    <a:p>
                      <a:r>
                        <a:rPr sz="1000" b="1" i="0">
                          <a:solidFill>
                            <a:srgbClr val="1B2A55"/>
                          </a:solidFill>
                          <a:latin typeface="Inter"/>
                        </a:rPr>
                        <a:t>Only real candidates</a:t>
                      </a:r>
                    </a:p>
                  </a:txBody>
                  <a:tcPr marL="73152" marR="73152" marT="36576" marB="36576" anchor="ctr">
                    <a:solidFill>
                      <a:srgbClr val="F1F0F6"/>
                    </a:solidFill>
                  </a:tcPr>
                </a:tc>
                <a:tc>
                  <a:txBody>
                    <a:bodyPr wrap="square"/>
                    <a:lstStyle/>
                    <a:p>
                      <a:r>
                        <a:rPr sz="1000" b="0" i="0">
                          <a:solidFill>
                            <a:srgbClr val="353B4A"/>
                          </a:solidFill>
                          <a:latin typeface="Consolas"/>
                        </a:rPr>
                        <a:t>FOREIGN KEY → CANDIDATE</a:t>
                      </a:r>
                    </a:p>
                  </a:txBody>
                  <a:tcPr marL="73152" marR="73152" marT="36576" marB="36576" anchor="ctr">
                    <a:solidFill>
                      <a:srgbClr val="F1F0F6"/>
                    </a:solidFill>
                  </a:tcPr>
                </a:tc>
                <a:tc>
                  <a:txBody>
                    <a:bodyPr wrap="square"/>
                    <a:lstStyle/>
                    <a:p>
                      <a:r>
                        <a:rPr sz="1000" b="0" i="0">
                          <a:solidFill>
                            <a:srgbClr val="353B4A"/>
                          </a:solidFill>
                          <a:latin typeface="Inter"/>
                        </a:rPr>
                        <a:t>FOREIGN KEY constraint failed</a:t>
                      </a:r>
                    </a:p>
                  </a:txBody>
                  <a:tcPr marL="73152" marR="73152" marT="36576" marB="36576" anchor="ctr">
                    <a:solidFill>
                      <a:srgbClr val="F1F0F6"/>
                    </a:solidFill>
                  </a:tcPr>
                </a:tc>
              </a:tr>
            </a:tbl>
          </a:graphicData>
        </a:graphic>
      </p:graphicFrame>
      <p:sp>
        <p:nvSpPr>
          <p:cNvPr id="7" name="Rounded Rectangle 6"/>
          <p:cNvSpPr/>
          <p:nvPr/>
        </p:nvSpPr>
        <p:spPr>
          <a:xfrm>
            <a:off x="457200" y="3840480"/>
            <a:ext cx="4023360" cy="86868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3931920"/>
            <a:ext cx="3749039" cy="731520"/>
          </a:xfrm>
          <a:prstGeom prst="rect">
            <a:avLst/>
          </a:prstGeom>
          <a:noFill/>
        </p:spPr>
        <p:txBody>
          <a:bodyPr wrap="square" anchor="t" lIns="0" rIns="0" tIns="0" bIns="0">
            <a:spAutoFit/>
          </a:bodyPr>
          <a:lstStyle/>
          <a:p>
            <a:pPr algn="l">
              <a:spcAft>
                <a:spcPts val="300"/>
              </a:spcAft>
            </a:pPr>
            <a:r>
              <a:rPr sz="1100" b="1" i="0">
                <a:solidFill>
                  <a:srgbClr val="1B2A55"/>
                </a:solidFill>
                <a:latin typeface="Inter"/>
              </a:rPr>
              <a:t>Live views</a:t>
            </a:r>
          </a:p>
          <a:p>
            <a:pPr algn="l">
              <a:spcAft>
                <a:spcPts val="300"/>
              </a:spcAft>
            </a:pPr>
            <a:r>
              <a:rPr sz="1100" b="0" i="0">
                <a:solidFill>
                  <a:srgbClr val="353B4A"/>
                </a:solidFill>
                <a:latin typeface="Inter"/>
              </a:rPr>
              <a:t>VIEW_ELECTION_TURNOUT and VIEW_FIRST_PREFERENCES feed the dashboards: 45 of 60 voters, 75% turnout.</a:t>
            </a:r>
          </a:p>
        </p:txBody>
      </p:sp>
      <p:sp>
        <p:nvSpPr>
          <p:cNvPr id="9" name="Rounded Rectangle 8"/>
          <p:cNvSpPr/>
          <p:nvPr/>
        </p:nvSpPr>
        <p:spPr>
          <a:xfrm>
            <a:off x="4663440" y="3840480"/>
            <a:ext cx="4023360" cy="86868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28032" y="3931920"/>
            <a:ext cx="3749039" cy="731520"/>
          </a:xfrm>
          <a:prstGeom prst="rect">
            <a:avLst/>
          </a:prstGeom>
          <a:noFill/>
        </p:spPr>
        <p:txBody>
          <a:bodyPr wrap="square" anchor="t" lIns="0" rIns="0" tIns="0" bIns="0">
            <a:spAutoFit/>
          </a:bodyPr>
          <a:lstStyle/>
          <a:p>
            <a:pPr algn="l">
              <a:spcAft>
                <a:spcPts val="300"/>
              </a:spcAft>
            </a:pPr>
            <a:r>
              <a:rPr sz="1100" b="1" i="0">
                <a:solidFill>
                  <a:srgbClr val="1B2A55"/>
                </a:solidFill>
                <a:latin typeface="Inter"/>
              </a:rPr>
              <a:t>Each statement ran on the live database</a:t>
            </a:r>
          </a:p>
          <a:p>
            <a:pPr algn="l">
              <a:spcAft>
                <a:spcPts val="300"/>
              </a:spcAft>
            </a:pPr>
            <a:r>
              <a:rPr sz="1100" b="0" i="0">
                <a:solidFill>
                  <a:srgbClr val="353B4A"/>
                </a:solidFill>
                <a:latin typeface="Inter"/>
              </a:rPr>
              <a:t>and was rolled back; the messages shown are the database’s own, not the application’s.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VOTER SIDE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Voting takes three steps and ends with a receipt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11</a:t>
            </a:r>
          </a:p>
        </p:txBody>
      </p:sp>
      <p:pic>
        <p:nvPicPr>
          <p:cNvPr id="6" name="Picture 5" descr="01_voter_home.png"/>
          <p:cNvPicPr>
            <a:picLocks noChangeAspect="1"/>
          </p:cNvPicPr>
          <p:nvPr/>
        </p:nvPicPr>
        <p:blipFill>
          <a:blip r:embed="rId2"/>
          <a:stretch>
            <a:fillRect/>
          </a:stretch>
        </p:blipFill>
        <p:spPr>
          <a:xfrm>
            <a:off x="457200" y="1143000"/>
            <a:ext cx="2103634" cy="2057400"/>
          </a:xfrm>
          <a:prstGeom prst="rect">
            <a:avLst/>
          </a:prstGeom>
          <a:ln w="12700">
            <a:solidFill>
              <a:srgbClr val="D9D9E4"/>
            </a:solidFill>
          </a:ln>
        </p:spPr>
      </p:pic>
      <p:sp>
        <p:nvSpPr>
          <p:cNvPr id="7" name="TextBox 6"/>
          <p:cNvSpPr txBox="1"/>
          <p:nvPr/>
        </p:nvSpPr>
        <p:spPr>
          <a:xfrm>
            <a:off x="457200" y="3310128"/>
            <a:ext cx="2194560" cy="228600"/>
          </a:xfrm>
          <a:prstGeom prst="rect">
            <a:avLst/>
          </a:prstGeom>
          <a:noFill/>
        </p:spPr>
        <p:txBody>
          <a:bodyPr wrap="square" anchor="t" lIns="0" rIns="0" tIns="0" bIns="0">
            <a:spAutoFit/>
          </a:bodyPr>
          <a:lstStyle/>
          <a:p>
            <a:pPr algn="l">
              <a:spcAft>
                <a:spcPts val="0"/>
              </a:spcAft>
            </a:pPr>
            <a:r>
              <a:rPr sz="1250" b="1" i="0">
                <a:solidFill>
                  <a:srgbClr val="1B2A55"/>
                </a:solidFill>
                <a:latin typeface="Inter"/>
              </a:rPr>
              <a:t>1 · Choose an open election</a:t>
            </a:r>
          </a:p>
        </p:txBody>
      </p:sp>
      <p:sp>
        <p:nvSpPr>
          <p:cNvPr id="8" name="TextBox 7"/>
          <p:cNvSpPr txBox="1"/>
          <p:nvPr/>
        </p:nvSpPr>
        <p:spPr>
          <a:xfrm>
            <a:off x="457200" y="3584448"/>
            <a:ext cx="2103120" cy="50292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Only elections in the Voting phase can be entered.</a:t>
            </a:r>
          </a:p>
        </p:txBody>
      </p:sp>
      <p:pic>
        <p:nvPicPr>
          <p:cNvPr id="9" name="Picture 8" descr="03_ballot_partial.png"/>
          <p:cNvPicPr>
            <a:picLocks noChangeAspect="1"/>
          </p:cNvPicPr>
          <p:nvPr/>
        </p:nvPicPr>
        <p:blipFill>
          <a:blip r:embed="rId3"/>
          <a:stretch>
            <a:fillRect/>
          </a:stretch>
        </p:blipFill>
        <p:spPr>
          <a:xfrm>
            <a:off x="2761065" y="1143000"/>
            <a:ext cx="3481067" cy="2057400"/>
          </a:xfrm>
          <a:prstGeom prst="rect">
            <a:avLst/>
          </a:prstGeom>
          <a:ln w="12700">
            <a:solidFill>
              <a:srgbClr val="D9D9E4"/>
            </a:solidFill>
          </a:ln>
        </p:spPr>
      </p:pic>
      <p:sp>
        <p:nvSpPr>
          <p:cNvPr id="10" name="TextBox 9"/>
          <p:cNvSpPr txBox="1"/>
          <p:nvPr/>
        </p:nvSpPr>
        <p:spPr>
          <a:xfrm>
            <a:off x="2761065" y="3310128"/>
            <a:ext cx="3481067" cy="228600"/>
          </a:xfrm>
          <a:prstGeom prst="rect">
            <a:avLst/>
          </a:prstGeom>
          <a:noFill/>
        </p:spPr>
        <p:txBody>
          <a:bodyPr wrap="square" anchor="t" lIns="0" rIns="0" tIns="0" bIns="0">
            <a:spAutoFit/>
          </a:bodyPr>
          <a:lstStyle/>
          <a:p>
            <a:pPr algn="l">
              <a:spcAft>
                <a:spcPts val="0"/>
              </a:spcAft>
            </a:pPr>
            <a:r>
              <a:rPr sz="1250" b="1" i="0">
                <a:solidFill>
                  <a:srgbClr val="1B2A55"/>
                </a:solidFill>
                <a:latin typeface="Inter"/>
              </a:rPr>
              <a:t>2 · Rank three candidates</a:t>
            </a:r>
          </a:p>
        </p:txBody>
      </p:sp>
      <p:sp>
        <p:nvSpPr>
          <p:cNvPr id="11" name="TextBox 10"/>
          <p:cNvSpPr txBox="1"/>
          <p:nvPr/>
        </p:nvSpPr>
        <p:spPr>
          <a:xfrm>
            <a:off x="2761065" y="3584448"/>
            <a:ext cx="3389627" cy="50292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Tap in order of preference; review before casting.</a:t>
            </a:r>
          </a:p>
        </p:txBody>
      </p:sp>
      <p:pic>
        <p:nvPicPr>
          <p:cNvPr id="12" name="Picture 11" descr="05_receipt.png"/>
          <p:cNvPicPr>
            <a:picLocks noChangeAspect="1"/>
          </p:cNvPicPr>
          <p:nvPr/>
        </p:nvPicPr>
        <p:blipFill>
          <a:blip r:embed="rId4"/>
          <a:stretch>
            <a:fillRect/>
          </a:stretch>
        </p:blipFill>
        <p:spPr>
          <a:xfrm>
            <a:off x="6442363" y="1143000"/>
            <a:ext cx="2244436" cy="2057400"/>
          </a:xfrm>
          <a:prstGeom prst="rect">
            <a:avLst/>
          </a:prstGeom>
          <a:ln w="12700">
            <a:solidFill>
              <a:srgbClr val="D9D9E4"/>
            </a:solidFill>
          </a:ln>
        </p:spPr>
      </p:pic>
      <p:sp>
        <p:nvSpPr>
          <p:cNvPr id="13" name="TextBox 12"/>
          <p:cNvSpPr txBox="1"/>
          <p:nvPr/>
        </p:nvSpPr>
        <p:spPr>
          <a:xfrm>
            <a:off x="6442363" y="3310128"/>
            <a:ext cx="2244436" cy="228600"/>
          </a:xfrm>
          <a:prstGeom prst="rect">
            <a:avLst/>
          </a:prstGeom>
          <a:noFill/>
        </p:spPr>
        <p:txBody>
          <a:bodyPr wrap="square" anchor="t" lIns="0" rIns="0" tIns="0" bIns="0">
            <a:spAutoFit/>
          </a:bodyPr>
          <a:lstStyle/>
          <a:p>
            <a:pPr algn="l">
              <a:spcAft>
                <a:spcPts val="0"/>
              </a:spcAft>
            </a:pPr>
            <a:r>
              <a:rPr sz="1250" b="1" i="0">
                <a:solidFill>
                  <a:srgbClr val="1B2A55"/>
                </a:solidFill>
                <a:latin typeface="Inter"/>
              </a:rPr>
              <a:t>3 · Keep the receipt token</a:t>
            </a:r>
          </a:p>
        </p:txBody>
      </p:sp>
      <p:sp>
        <p:nvSpPr>
          <p:cNvPr id="14" name="TextBox 13"/>
          <p:cNvSpPr txBox="1"/>
          <p:nvPr/>
        </p:nvSpPr>
        <p:spPr>
          <a:xfrm>
            <a:off x="6442363" y="3584448"/>
            <a:ext cx="2152996" cy="50292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It proves the ballot is sealed, not how you voted.</a:t>
            </a:r>
          </a:p>
        </p:txBody>
      </p:sp>
      <p:sp>
        <p:nvSpPr>
          <p:cNvPr id="15" name="Rounded Rectangle 14"/>
          <p:cNvSpPr/>
          <p:nvPr/>
        </p:nvSpPr>
        <p:spPr>
          <a:xfrm>
            <a:off x="457200" y="4114800"/>
            <a:ext cx="8229600" cy="64008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87952"/>
            <a:ext cx="7863840" cy="502920"/>
          </a:xfrm>
          <a:prstGeom prst="rect">
            <a:avLst/>
          </a:prstGeom>
          <a:noFill/>
        </p:spPr>
        <p:txBody>
          <a:bodyPr wrap="square" anchor="ctr" lIns="0" rIns="0" tIns="0" bIns="0">
            <a:spAutoFit/>
          </a:bodyPr>
          <a:lstStyle/>
          <a:p>
            <a:pPr algn="l">
              <a:spcAft>
                <a:spcPts val="0"/>
              </a:spcAft>
            </a:pPr>
            <a:r>
              <a:rPr sz="1150" b="1" i="0">
                <a:solidFill>
                  <a:srgbClr val="1B2A55"/>
                </a:solidFill>
                <a:latin typeface="Inter"/>
              </a:rPr>
              <a:t>Guards in the flow: </a:t>
            </a:r>
            <a:r>
              <a:rPr sz="1150" b="0" i="0">
                <a:solidFill>
                  <a:srgbClr val="353B4A"/>
                </a:solidFill>
                <a:latin typeface="Inter"/>
              </a:rPr>
              <a:t>wrong password is rejected, a voter who already voted is refused, and the ballot cannot be changed once cast.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PRIVACY BY DESIGN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One vote becomes two records that cannot be joined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12</a:t>
            </a:r>
          </a:p>
        </p:txBody>
      </p:sp>
      <p:sp>
        <p:nvSpPr>
          <p:cNvPr id="6" name="Rounded Rectangle 5"/>
          <p:cNvSpPr/>
          <p:nvPr/>
        </p:nvSpPr>
        <p:spPr>
          <a:xfrm>
            <a:off x="457200" y="1371600"/>
            <a:ext cx="1554480" cy="822960"/>
          </a:xfrm>
          <a:prstGeom prst="roundRect">
            <a:avLst>
              <a:gd name="adj" fmla="val 12000"/>
            </a:avLst>
          </a:prstGeom>
          <a:solidFill>
            <a:srgbClr val="F1F0F6"/>
          </a:solidFill>
          <a:ln w="1905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1B2A55"/>
                </a:solidFill>
                <a:latin typeface="Inter"/>
              </a:rPr>
              <a:t>Voter signs in</a:t>
            </a:r>
          </a:p>
          <a:p>
            <a:pPr algn="ctr">
              <a:spcAft>
                <a:spcPts val="0"/>
              </a:spcAft>
            </a:pPr>
            <a:r>
              <a:rPr sz="900" b="0" i="0">
                <a:solidFill>
                  <a:srgbClr val="1B2A55"/>
                </a:solidFill>
                <a:latin typeface="Inter"/>
              </a:rPr>
              <a:t>registration no. + password</a:t>
            </a:r>
          </a:p>
        </p:txBody>
      </p:sp>
      <p:cxnSp>
        <p:nvCxnSpPr>
          <p:cNvPr id="7" name="Connector 6"/>
          <p:cNvCxnSpPr/>
          <p:nvPr/>
        </p:nvCxnSpPr>
        <p:spPr>
          <a:xfrm>
            <a:off x="2011680" y="1783080"/>
            <a:ext cx="502920" cy="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14600" y="1097280"/>
            <a:ext cx="3520440" cy="2743200"/>
          </a:xfrm>
          <a:prstGeom prst="roundRect">
            <a:avLst>
              <a:gd name="adj" fmla="val 4000"/>
            </a:avLst>
          </a:prstGeom>
          <a:noFill/>
          <a:ln w="12700">
            <a:solidFill>
              <a:srgbClr val="66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0" y="1161288"/>
            <a:ext cx="3200400" cy="182880"/>
          </a:xfrm>
          <a:prstGeom prst="rect">
            <a:avLst/>
          </a:prstGeom>
          <a:noFill/>
        </p:spPr>
        <p:txBody>
          <a:bodyPr wrap="square" anchor="t" lIns="0" rIns="0" tIns="0" bIns="0">
            <a:spAutoFit/>
          </a:bodyPr>
          <a:lstStyle/>
          <a:p>
            <a:pPr algn="l">
              <a:spcAft>
                <a:spcPts val="0"/>
              </a:spcAft>
            </a:pPr>
            <a:r>
              <a:rPr sz="1000" b="1" i="0">
                <a:solidFill>
                  <a:srgbClr val="666A78"/>
                </a:solidFill>
                <a:latin typeface="Inter"/>
              </a:rPr>
              <a:t>One database transaction</a:t>
            </a:r>
          </a:p>
        </p:txBody>
      </p:sp>
      <p:sp>
        <p:nvSpPr>
          <p:cNvPr id="10" name="Rounded Rectangle 9"/>
          <p:cNvSpPr/>
          <p:nvPr/>
        </p:nvSpPr>
        <p:spPr>
          <a:xfrm>
            <a:off x="2697480" y="1463040"/>
            <a:ext cx="3154680" cy="731520"/>
          </a:xfrm>
          <a:prstGeom prst="roundRect">
            <a:avLst>
              <a:gd name="adj" fmla="val 10000"/>
            </a:avLst>
          </a:prstGeom>
          <a:solidFill>
            <a:srgbClr val="FFFFFF"/>
          </a:solidFill>
          <a:ln w="1905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1B2A55"/>
                </a:solidFill>
                <a:latin typeface="Inter"/>
              </a:rPr>
              <a:t>VOTER_PARTICIPATION</a:t>
            </a:r>
          </a:p>
          <a:p>
            <a:pPr algn="ctr">
              <a:spcAft>
                <a:spcPts val="0"/>
              </a:spcAft>
            </a:pPr>
            <a:r>
              <a:rPr sz="950" b="0" i="0">
                <a:solidFill>
                  <a:srgbClr val="1B2A55"/>
                </a:solidFill>
                <a:latin typeface="Inter"/>
              </a:rPr>
              <a:t>has_voted = 1   (identity side)</a:t>
            </a:r>
          </a:p>
        </p:txBody>
      </p:sp>
      <p:sp>
        <p:nvSpPr>
          <p:cNvPr id="11" name="TextBox 10"/>
          <p:cNvSpPr txBox="1"/>
          <p:nvPr/>
        </p:nvSpPr>
        <p:spPr>
          <a:xfrm>
            <a:off x="2697480" y="2286000"/>
            <a:ext cx="3154680" cy="274320"/>
          </a:xfrm>
          <a:prstGeom prst="rect">
            <a:avLst/>
          </a:prstGeom>
          <a:noFill/>
        </p:spPr>
        <p:txBody>
          <a:bodyPr wrap="square" anchor="t" lIns="0" rIns="0" tIns="0" bIns="0">
            <a:spAutoFit/>
          </a:bodyPr>
          <a:lstStyle/>
          <a:p>
            <a:pPr algn="ctr">
              <a:spcAft>
                <a:spcPts val="0"/>
              </a:spcAft>
            </a:pPr>
            <a:r>
              <a:rPr sz="950" b="0" i="1">
                <a:solidFill>
                  <a:srgbClr val="C0392B"/>
                </a:solidFill>
                <a:latin typeface="Inter"/>
              </a:rPr>
              <a:t>privacy boundary: no voter ID is ever stored with a ballot</a:t>
            </a:r>
          </a:p>
        </p:txBody>
      </p:sp>
      <p:sp>
        <p:nvSpPr>
          <p:cNvPr id="12" name="Rounded Rectangle 11"/>
          <p:cNvSpPr/>
          <p:nvPr/>
        </p:nvSpPr>
        <p:spPr>
          <a:xfrm>
            <a:off x="2697480" y="2697480"/>
            <a:ext cx="3154680" cy="868680"/>
          </a:xfrm>
          <a:prstGeom prst="roundRect">
            <a:avLst>
              <a:gd name="adj" fmla="val 10000"/>
            </a:avLst>
          </a:prstGeom>
          <a:solidFill>
            <a:srgbClr val="FFFFFF"/>
          </a:solidFill>
          <a:ln w="1905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1B2A55"/>
                </a:solidFill>
                <a:latin typeface="Inter"/>
              </a:rPr>
              <a:t>BALLOT_RANKS</a:t>
            </a:r>
          </a:p>
          <a:p>
            <a:pPr algn="ctr">
              <a:spcAft>
                <a:spcPts val="0"/>
              </a:spcAft>
            </a:pPr>
            <a:r>
              <a:rPr sz="950" b="0" i="0">
                <a:solidFill>
                  <a:srgbClr val="1B2A55"/>
                </a:solidFill>
                <a:latin typeface="Inter"/>
              </a:rPr>
              <a:t>random ballot_token + 3 ranked candidates</a:t>
            </a:r>
          </a:p>
          <a:p>
            <a:pPr algn="ctr">
              <a:spcAft>
                <a:spcPts val="0"/>
              </a:spcAft>
            </a:pPr>
            <a:r>
              <a:rPr sz="950" b="0" i="0">
                <a:solidFill>
                  <a:srgbClr val="1B2A55"/>
                </a:solidFill>
                <a:latin typeface="Inter"/>
              </a:rPr>
              <a:t>(ballot side)</a:t>
            </a:r>
          </a:p>
        </p:txBody>
      </p:sp>
      <p:cxnSp>
        <p:nvCxnSpPr>
          <p:cNvPr id="13" name="Connector 12"/>
          <p:cNvCxnSpPr/>
          <p:nvPr/>
        </p:nvCxnSpPr>
        <p:spPr>
          <a:xfrm>
            <a:off x="6035040" y="3108960"/>
            <a:ext cx="502920" cy="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537960" y="2606040"/>
            <a:ext cx="2148840" cy="1005840"/>
          </a:xfrm>
          <a:prstGeom prst="roundRect">
            <a:avLst>
              <a:gd name="adj" fmla="val 10000"/>
            </a:avLst>
          </a:prstGeom>
          <a:solidFill>
            <a:srgbClr val="FFF4E6"/>
          </a:solidFill>
          <a:ln w="19050">
            <a:solidFill>
              <a:srgbClr val="F0B46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1B2A55"/>
                </a:solidFill>
                <a:latin typeface="Inter"/>
              </a:rPr>
              <a:t>Ledger append</a:t>
            </a:r>
          </a:p>
          <a:p>
            <a:pPr algn="ctr">
              <a:spcAft>
                <a:spcPts val="0"/>
              </a:spcAft>
            </a:pPr>
            <a:r>
              <a:rPr sz="950" b="0" i="0">
                <a:solidFill>
                  <a:srgbClr val="1B2A55"/>
                </a:solidFill>
                <a:latin typeface="Inter"/>
              </a:rPr>
              <a:t>SHA-256 of the ranks + prev_hash, sealed as curr_hash</a:t>
            </a:r>
          </a:p>
        </p:txBody>
      </p:sp>
      <p:cxnSp>
        <p:nvCxnSpPr>
          <p:cNvPr id="15" name="Connector 14"/>
          <p:cNvCxnSpPr/>
          <p:nvPr/>
        </p:nvCxnSpPr>
        <p:spPr>
          <a:xfrm flipV="1">
            <a:off x="7589520" y="2194560"/>
            <a:ext cx="0" cy="41148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537960" y="1371600"/>
            <a:ext cx="2148840" cy="822960"/>
          </a:xfrm>
          <a:prstGeom prst="roundRect">
            <a:avLst>
              <a:gd name="adj" fmla="val 12000"/>
            </a:avLst>
          </a:prstGeom>
          <a:solidFill>
            <a:srgbClr val="F1F0F6"/>
          </a:solidFill>
          <a:ln w="1905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1B2A55"/>
                </a:solidFill>
                <a:latin typeface="Inter"/>
              </a:rPr>
              <a:t>Receipt token</a:t>
            </a:r>
          </a:p>
          <a:p>
            <a:pPr algn="ctr">
              <a:spcAft>
                <a:spcPts val="0"/>
              </a:spcAft>
            </a:pPr>
            <a:r>
              <a:rPr sz="950" b="0" i="0">
                <a:solidFill>
                  <a:srgbClr val="1B2A55"/>
                </a:solidFill>
                <a:latin typeface="Inter"/>
              </a:rPr>
              <a:t>returned to the voter</a:t>
            </a:r>
          </a:p>
        </p:txBody>
      </p:sp>
      <p:sp>
        <p:nvSpPr>
          <p:cNvPr id="17" name="Rounded Rectangle 16"/>
          <p:cNvSpPr/>
          <p:nvPr/>
        </p:nvSpPr>
        <p:spPr>
          <a:xfrm>
            <a:off x="457200" y="4005072"/>
            <a:ext cx="2587752" cy="77724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069080"/>
            <a:ext cx="2331720" cy="685800"/>
          </a:xfrm>
          <a:prstGeom prst="rect">
            <a:avLst/>
          </a:prstGeom>
          <a:noFill/>
        </p:spPr>
        <p:txBody>
          <a:bodyPr wrap="square" anchor="t" lIns="0" rIns="0" tIns="0" bIns="0">
            <a:spAutoFit/>
          </a:bodyPr>
          <a:lstStyle/>
          <a:p>
            <a:pPr algn="l">
              <a:spcAft>
                <a:spcPts val="100"/>
              </a:spcAft>
            </a:pPr>
            <a:r>
              <a:rPr sz="1100" b="1" i="0">
                <a:solidFill>
                  <a:srgbClr val="1B2A55"/>
                </a:solidFill>
                <a:latin typeface="Inter"/>
              </a:rPr>
              <a:t>Atomic</a:t>
            </a:r>
          </a:p>
          <a:p>
            <a:pPr algn="l">
              <a:spcAft>
                <a:spcPts val="100"/>
              </a:spcAft>
            </a:pPr>
            <a:r>
              <a:rPr sz="950" b="0" i="0">
                <a:solidFill>
                  <a:srgbClr val="353B4A"/>
                </a:solidFill>
                <a:latin typeface="Inter"/>
              </a:rPr>
              <a:t>The voter flag and the ballot rows commit together, then the receipt is appended.</a:t>
            </a:r>
          </a:p>
        </p:txBody>
      </p:sp>
      <p:sp>
        <p:nvSpPr>
          <p:cNvPr id="19" name="Rounded Rectangle 18"/>
          <p:cNvSpPr/>
          <p:nvPr/>
        </p:nvSpPr>
        <p:spPr>
          <a:xfrm>
            <a:off x="3282696" y="4005072"/>
            <a:ext cx="2587752" cy="77724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9856" y="4069080"/>
            <a:ext cx="2331720" cy="685800"/>
          </a:xfrm>
          <a:prstGeom prst="rect">
            <a:avLst/>
          </a:prstGeom>
          <a:noFill/>
        </p:spPr>
        <p:txBody>
          <a:bodyPr wrap="square" anchor="t" lIns="0" rIns="0" tIns="0" bIns="0">
            <a:spAutoFit/>
          </a:bodyPr>
          <a:lstStyle/>
          <a:p>
            <a:pPr algn="l">
              <a:spcAft>
                <a:spcPts val="100"/>
              </a:spcAft>
            </a:pPr>
            <a:r>
              <a:rPr sz="1100" b="1" i="0">
                <a:solidFill>
                  <a:srgbClr val="1B2A55"/>
                </a:solidFill>
                <a:latin typeface="Inter"/>
              </a:rPr>
              <a:t>Serialized</a:t>
            </a:r>
          </a:p>
          <a:p>
            <a:pPr algn="l">
              <a:spcAft>
                <a:spcPts val="100"/>
              </a:spcAft>
            </a:pPr>
            <a:r>
              <a:rPr sz="950" b="0" i="0">
                <a:solidFill>
                  <a:srgbClr val="353B4A"/>
                </a:solidFill>
                <a:latin typeface="Inter"/>
              </a:rPr>
              <a:t>A server-side write lock keeps simultaneous ballots from corrupting the ledger.</a:t>
            </a:r>
          </a:p>
        </p:txBody>
      </p:sp>
      <p:sp>
        <p:nvSpPr>
          <p:cNvPr id="21" name="Rounded Rectangle 20"/>
          <p:cNvSpPr/>
          <p:nvPr/>
        </p:nvSpPr>
        <p:spPr>
          <a:xfrm>
            <a:off x="6108192" y="4005072"/>
            <a:ext cx="2587752" cy="77724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5352" y="4069080"/>
            <a:ext cx="2331720" cy="685800"/>
          </a:xfrm>
          <a:prstGeom prst="rect">
            <a:avLst/>
          </a:prstGeom>
          <a:noFill/>
        </p:spPr>
        <p:txBody>
          <a:bodyPr wrap="square" anchor="t" lIns="0" rIns="0" tIns="0" bIns="0">
            <a:spAutoFit/>
          </a:bodyPr>
          <a:lstStyle/>
          <a:p>
            <a:pPr algn="l">
              <a:spcAft>
                <a:spcPts val="100"/>
              </a:spcAft>
            </a:pPr>
            <a:r>
              <a:rPr sz="1100" b="1" i="0">
                <a:solidFill>
                  <a:srgbClr val="1B2A55"/>
                </a:solidFill>
                <a:latin typeface="Inter"/>
              </a:rPr>
              <a:t>Verifiable</a:t>
            </a:r>
          </a:p>
          <a:p>
            <a:pPr algn="l">
              <a:spcAft>
                <a:spcPts val="100"/>
              </a:spcAft>
            </a:pPr>
            <a:r>
              <a:rPr sz="950" b="0" i="0">
                <a:solidFill>
                  <a:srgbClr val="353B4A"/>
                </a:solidFill>
                <a:latin typeface="Inter"/>
              </a:rPr>
              <a:t>Voters can look their token up later without revealing their choices.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TALLYING ENGINE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Instant-runoff counts until someone holds a majority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13</a:t>
            </a:r>
          </a:p>
        </p:txBody>
      </p:sp>
      <p:graphicFrame>
        <p:nvGraphicFramePr>
          <p:cNvPr id="6" name="Chart 5"/>
          <p:cNvGraphicFramePr>
            <a:graphicFrameLocks noGrp="1"/>
          </p:cNvGraphicFramePr>
          <p:nvPr/>
        </p:nvGraphicFramePr>
        <p:xfrm>
          <a:off x="365760" y="1051560"/>
          <a:ext cx="5120640" cy="3657600"/>
        </p:xfrm>
        <a:graphic>
          <a:graphicData uri="http://schemas.openxmlformats.org/drawingml/2006/chart">
            <c:chart xmlns:c="http://schemas.openxmlformats.org/drawingml/2006/chart" r:id="rId2"/>
          </a:graphicData>
        </a:graphic>
      </p:graphicFrame>
      <p:sp>
        <p:nvSpPr>
          <p:cNvPr id="7" name="Rounded Rectangle 6"/>
          <p:cNvSpPr/>
          <p:nvPr/>
        </p:nvSpPr>
        <p:spPr>
          <a:xfrm>
            <a:off x="5669280" y="1097280"/>
            <a:ext cx="3017520" cy="132588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33872" y="1188720"/>
            <a:ext cx="2743200" cy="1188720"/>
          </a:xfrm>
          <a:prstGeom prst="rect">
            <a:avLst/>
          </a:prstGeom>
          <a:noFill/>
        </p:spPr>
        <p:txBody>
          <a:bodyPr wrap="square" anchor="t" lIns="0" rIns="0" tIns="0" bIns="0">
            <a:spAutoFit/>
          </a:bodyPr>
          <a:lstStyle/>
          <a:p>
            <a:pPr algn="l">
              <a:spcAft>
                <a:spcPts val="300"/>
              </a:spcAft>
            </a:pPr>
            <a:r>
              <a:rPr sz="1400" b="1" i="0">
                <a:solidFill>
                  <a:srgbClr val="1A7F37"/>
                </a:solidFill>
                <a:latin typeface="Inter"/>
              </a:rPr>
              <a:t>Chaitanya Reddy wins</a:t>
            </a:r>
          </a:p>
          <a:p>
            <a:pPr algn="l">
              <a:spcAft>
                <a:spcPts val="300"/>
              </a:spcAft>
            </a:pPr>
            <a:r>
              <a:rPr sz="1150" b="0" i="0">
                <a:solidFill>
                  <a:srgbClr val="353B4A"/>
                </a:solidFill>
                <a:latin typeface="Inter"/>
              </a:rPr>
              <a:t>23 of 45 continuing ballots (51.1%) in round 4, against 22 for Diya Sharma.</a:t>
            </a:r>
          </a:p>
        </p:txBody>
      </p:sp>
      <p:sp>
        <p:nvSpPr>
          <p:cNvPr id="9" name="TextBox 8"/>
          <p:cNvSpPr txBox="1"/>
          <p:nvPr/>
        </p:nvSpPr>
        <p:spPr>
          <a:xfrm>
            <a:off x="5669280" y="2606040"/>
            <a:ext cx="3017520" cy="210312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How it runs</a:t>
            </a:r>
          </a:p>
          <a:p>
            <a:pPr algn="l">
              <a:spcAft>
                <a:spcPts val="500"/>
              </a:spcAft>
            </a:pPr>
            <a:r>
              <a:rPr sz="1100" b="0" i="0">
                <a:solidFill>
                  <a:srgbClr val="353B4A"/>
                </a:solidFill>
                <a:latin typeface="Inter"/>
              </a:rPr>
              <a:t>Count each ballot’s top continuing choice.</a:t>
            </a:r>
          </a:p>
          <a:p>
            <a:pPr algn="l">
              <a:spcAft>
                <a:spcPts val="500"/>
              </a:spcAft>
            </a:pPr>
            <a:r>
              <a:rPr sz="1100" b="0" i="0">
                <a:solidFill>
                  <a:srgbClr val="353B4A"/>
                </a:solidFill>
                <a:latin typeface="Inter"/>
              </a:rPr>
              <a:t>No majority? Eliminate the last-place candidate and move those ballots to their next choice.</a:t>
            </a:r>
          </a:p>
          <a:p>
            <a:pPr algn="l">
              <a:spcAft>
                <a:spcPts val="500"/>
              </a:spcAft>
            </a:pPr>
            <a:r>
              <a:rPr sz="1100" b="0" i="0">
                <a:solidFill>
                  <a:srgbClr val="353B4A"/>
                </a:solidFill>
                <a:latin typeface="Inter"/>
              </a:rPr>
              <a:t>Edge cases: exhausted ballots, empty elections, and last-place ties are flagged in the interface.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AUDIT LEDGER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Every ballot is sealed in a hash chain</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14</a:t>
            </a:r>
          </a:p>
        </p:txBody>
      </p:sp>
      <p:sp>
        <p:nvSpPr>
          <p:cNvPr id="6" name="Rounded Rectangle 5"/>
          <p:cNvSpPr/>
          <p:nvPr/>
        </p:nvSpPr>
        <p:spPr>
          <a:xfrm>
            <a:off x="457200" y="1097280"/>
            <a:ext cx="2587752" cy="192024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188720"/>
            <a:ext cx="98298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Block 1</a:t>
            </a:r>
          </a:p>
        </p:txBody>
      </p:sp>
      <p:sp>
        <p:nvSpPr>
          <p:cNvPr id="8" name="TextBox 7"/>
          <p:cNvSpPr txBox="1"/>
          <p:nvPr/>
        </p:nvSpPr>
        <p:spPr>
          <a:xfrm>
            <a:off x="621792" y="1536192"/>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ballot_token</a:t>
            </a:r>
          </a:p>
        </p:txBody>
      </p:sp>
      <p:sp>
        <p:nvSpPr>
          <p:cNvPr id="9" name="TextBox 8"/>
          <p:cNvSpPr txBox="1"/>
          <p:nvPr/>
        </p:nvSpPr>
        <p:spPr>
          <a:xfrm>
            <a:off x="1719072" y="1536192"/>
            <a:ext cx="1234440" cy="274320"/>
          </a:xfrm>
          <a:prstGeom prst="rect">
            <a:avLst/>
          </a:prstGeom>
          <a:noFill/>
        </p:spPr>
        <p:txBody>
          <a:bodyPr wrap="square" anchor="ctr" lIns="0" rIns="0" tIns="0" bIns="0">
            <a:spAutoFit/>
          </a:bodyPr>
          <a:lstStyle/>
          <a:p>
            <a:pPr algn="l">
              <a:spcAft>
                <a:spcPts val="0"/>
              </a:spcAft>
            </a:pPr>
            <a:r>
              <a:rPr sz="1050" b="0" i="0">
                <a:solidFill>
                  <a:srgbClr val="1B2A55"/>
                </a:solidFill>
                <a:latin typeface="Consolas"/>
              </a:rPr>
              <a:t>0f2da608…</a:t>
            </a:r>
          </a:p>
        </p:txBody>
      </p:sp>
      <p:sp>
        <p:nvSpPr>
          <p:cNvPr id="10" name="TextBox 9"/>
          <p:cNvSpPr txBox="1"/>
          <p:nvPr/>
        </p:nvSpPr>
        <p:spPr>
          <a:xfrm>
            <a:off x="621792" y="1883664"/>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vote_data_hash</a:t>
            </a:r>
          </a:p>
        </p:txBody>
      </p:sp>
      <p:sp>
        <p:nvSpPr>
          <p:cNvPr id="11" name="TextBox 10"/>
          <p:cNvSpPr txBox="1"/>
          <p:nvPr/>
        </p:nvSpPr>
        <p:spPr>
          <a:xfrm>
            <a:off x="1719072" y="1883664"/>
            <a:ext cx="1234440" cy="274320"/>
          </a:xfrm>
          <a:prstGeom prst="rect">
            <a:avLst/>
          </a:prstGeom>
          <a:noFill/>
        </p:spPr>
        <p:txBody>
          <a:bodyPr wrap="square" anchor="ctr" lIns="0" rIns="0" tIns="0" bIns="0">
            <a:spAutoFit/>
          </a:bodyPr>
          <a:lstStyle/>
          <a:p>
            <a:pPr algn="l">
              <a:spcAft>
                <a:spcPts val="0"/>
              </a:spcAft>
            </a:pPr>
            <a:r>
              <a:rPr sz="1050" b="0" i="0">
                <a:solidFill>
                  <a:srgbClr val="1B2A55"/>
                </a:solidFill>
                <a:latin typeface="Consolas"/>
              </a:rPr>
              <a:t>98f83226…</a:t>
            </a:r>
          </a:p>
        </p:txBody>
      </p:sp>
      <p:sp>
        <p:nvSpPr>
          <p:cNvPr id="12" name="TextBox 11"/>
          <p:cNvSpPr txBox="1"/>
          <p:nvPr/>
        </p:nvSpPr>
        <p:spPr>
          <a:xfrm>
            <a:off x="621792" y="2231136"/>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prev_hash</a:t>
            </a:r>
          </a:p>
        </p:txBody>
      </p:sp>
      <p:sp>
        <p:nvSpPr>
          <p:cNvPr id="13" name="TextBox 12"/>
          <p:cNvSpPr txBox="1"/>
          <p:nvPr/>
        </p:nvSpPr>
        <p:spPr>
          <a:xfrm>
            <a:off x="1719072" y="2231136"/>
            <a:ext cx="1234440" cy="274320"/>
          </a:xfrm>
          <a:prstGeom prst="rect">
            <a:avLst/>
          </a:prstGeom>
          <a:noFill/>
        </p:spPr>
        <p:txBody>
          <a:bodyPr wrap="square" anchor="ctr" lIns="0" rIns="0" tIns="0" bIns="0">
            <a:spAutoFit/>
          </a:bodyPr>
          <a:lstStyle/>
          <a:p>
            <a:pPr algn="l">
              <a:spcAft>
                <a:spcPts val="0"/>
              </a:spcAft>
            </a:pPr>
            <a:r>
              <a:rPr sz="1050" b="1" i="0">
                <a:solidFill>
                  <a:srgbClr val="1B2A55"/>
                </a:solidFill>
                <a:latin typeface="Consolas"/>
              </a:rPr>
              <a:t>00000000…</a:t>
            </a:r>
          </a:p>
        </p:txBody>
      </p:sp>
      <p:sp>
        <p:nvSpPr>
          <p:cNvPr id="14" name="TextBox 13"/>
          <p:cNvSpPr txBox="1"/>
          <p:nvPr/>
        </p:nvSpPr>
        <p:spPr>
          <a:xfrm>
            <a:off x="621792" y="2578608"/>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curr_hash</a:t>
            </a:r>
          </a:p>
        </p:txBody>
      </p:sp>
      <p:sp>
        <p:nvSpPr>
          <p:cNvPr id="15" name="TextBox 14"/>
          <p:cNvSpPr txBox="1"/>
          <p:nvPr/>
        </p:nvSpPr>
        <p:spPr>
          <a:xfrm>
            <a:off x="1719072" y="2578608"/>
            <a:ext cx="1234440" cy="274320"/>
          </a:xfrm>
          <a:prstGeom prst="rect">
            <a:avLst/>
          </a:prstGeom>
          <a:noFill/>
        </p:spPr>
        <p:txBody>
          <a:bodyPr wrap="square" anchor="ctr" lIns="0" rIns="0" tIns="0" bIns="0">
            <a:spAutoFit/>
          </a:bodyPr>
          <a:lstStyle/>
          <a:p>
            <a:pPr algn="l">
              <a:spcAft>
                <a:spcPts val="0"/>
              </a:spcAft>
            </a:pPr>
            <a:r>
              <a:rPr sz="1050" b="1" i="0">
                <a:solidFill>
                  <a:srgbClr val="1B2A55"/>
                </a:solidFill>
                <a:latin typeface="Consolas"/>
              </a:rPr>
              <a:t>5906eaba…</a:t>
            </a:r>
          </a:p>
        </p:txBody>
      </p:sp>
      <p:cxnSp>
        <p:nvCxnSpPr>
          <p:cNvPr id="16" name="Connector 15"/>
          <p:cNvCxnSpPr/>
          <p:nvPr/>
        </p:nvCxnSpPr>
        <p:spPr>
          <a:xfrm>
            <a:off x="3044952" y="2377440"/>
            <a:ext cx="237744" cy="0"/>
          </a:xfrm>
          <a:prstGeom prst="line">
            <a:avLst/>
          </a:prstGeom>
          <a:ln w="25400">
            <a:solidFill>
              <a:srgbClr val="1A7F3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282696" y="1097280"/>
            <a:ext cx="2587752" cy="192024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19856" y="1188720"/>
            <a:ext cx="98298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Block 2</a:t>
            </a:r>
          </a:p>
        </p:txBody>
      </p:sp>
      <p:sp>
        <p:nvSpPr>
          <p:cNvPr id="19" name="TextBox 18"/>
          <p:cNvSpPr txBox="1"/>
          <p:nvPr/>
        </p:nvSpPr>
        <p:spPr>
          <a:xfrm>
            <a:off x="3447288" y="1536192"/>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ballot_token</a:t>
            </a:r>
          </a:p>
        </p:txBody>
      </p:sp>
      <p:sp>
        <p:nvSpPr>
          <p:cNvPr id="20" name="TextBox 19"/>
          <p:cNvSpPr txBox="1"/>
          <p:nvPr/>
        </p:nvSpPr>
        <p:spPr>
          <a:xfrm>
            <a:off x="4544568" y="1536192"/>
            <a:ext cx="1234440" cy="274320"/>
          </a:xfrm>
          <a:prstGeom prst="rect">
            <a:avLst/>
          </a:prstGeom>
          <a:noFill/>
        </p:spPr>
        <p:txBody>
          <a:bodyPr wrap="square" anchor="ctr" lIns="0" rIns="0" tIns="0" bIns="0">
            <a:spAutoFit/>
          </a:bodyPr>
          <a:lstStyle/>
          <a:p>
            <a:pPr algn="l">
              <a:spcAft>
                <a:spcPts val="0"/>
              </a:spcAft>
            </a:pPr>
            <a:r>
              <a:rPr sz="1050" b="0" i="0">
                <a:solidFill>
                  <a:srgbClr val="1B2A55"/>
                </a:solidFill>
                <a:latin typeface="Consolas"/>
              </a:rPr>
              <a:t>050556d2…</a:t>
            </a:r>
          </a:p>
        </p:txBody>
      </p:sp>
      <p:sp>
        <p:nvSpPr>
          <p:cNvPr id="21" name="TextBox 20"/>
          <p:cNvSpPr txBox="1"/>
          <p:nvPr/>
        </p:nvSpPr>
        <p:spPr>
          <a:xfrm>
            <a:off x="3447288" y="1883664"/>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vote_data_hash</a:t>
            </a:r>
          </a:p>
        </p:txBody>
      </p:sp>
      <p:sp>
        <p:nvSpPr>
          <p:cNvPr id="22" name="TextBox 21"/>
          <p:cNvSpPr txBox="1"/>
          <p:nvPr/>
        </p:nvSpPr>
        <p:spPr>
          <a:xfrm>
            <a:off x="4544568" y="1883664"/>
            <a:ext cx="1234440" cy="274320"/>
          </a:xfrm>
          <a:prstGeom prst="rect">
            <a:avLst/>
          </a:prstGeom>
          <a:noFill/>
        </p:spPr>
        <p:txBody>
          <a:bodyPr wrap="square" anchor="ctr" lIns="0" rIns="0" tIns="0" bIns="0">
            <a:spAutoFit/>
          </a:bodyPr>
          <a:lstStyle/>
          <a:p>
            <a:pPr algn="l">
              <a:spcAft>
                <a:spcPts val="0"/>
              </a:spcAft>
            </a:pPr>
            <a:r>
              <a:rPr sz="1050" b="0" i="0">
                <a:solidFill>
                  <a:srgbClr val="1B2A55"/>
                </a:solidFill>
                <a:latin typeface="Consolas"/>
              </a:rPr>
              <a:t>470ef925…</a:t>
            </a:r>
          </a:p>
        </p:txBody>
      </p:sp>
      <p:sp>
        <p:nvSpPr>
          <p:cNvPr id="23" name="TextBox 22"/>
          <p:cNvSpPr txBox="1"/>
          <p:nvPr/>
        </p:nvSpPr>
        <p:spPr>
          <a:xfrm>
            <a:off x="3447288" y="2231136"/>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prev_hash</a:t>
            </a:r>
          </a:p>
        </p:txBody>
      </p:sp>
      <p:sp>
        <p:nvSpPr>
          <p:cNvPr id="24" name="TextBox 23"/>
          <p:cNvSpPr txBox="1"/>
          <p:nvPr/>
        </p:nvSpPr>
        <p:spPr>
          <a:xfrm>
            <a:off x="4544568" y="2231136"/>
            <a:ext cx="1234440" cy="274320"/>
          </a:xfrm>
          <a:prstGeom prst="rect">
            <a:avLst/>
          </a:prstGeom>
          <a:noFill/>
        </p:spPr>
        <p:txBody>
          <a:bodyPr wrap="square" anchor="ctr" lIns="0" rIns="0" tIns="0" bIns="0">
            <a:spAutoFit/>
          </a:bodyPr>
          <a:lstStyle/>
          <a:p>
            <a:pPr algn="l">
              <a:spcAft>
                <a:spcPts val="0"/>
              </a:spcAft>
            </a:pPr>
            <a:r>
              <a:rPr sz="1050" b="1" i="0">
                <a:solidFill>
                  <a:srgbClr val="1A7F37"/>
                </a:solidFill>
                <a:latin typeface="Consolas"/>
              </a:rPr>
              <a:t>5906eaba…</a:t>
            </a:r>
          </a:p>
        </p:txBody>
      </p:sp>
      <p:sp>
        <p:nvSpPr>
          <p:cNvPr id="25" name="TextBox 24"/>
          <p:cNvSpPr txBox="1"/>
          <p:nvPr/>
        </p:nvSpPr>
        <p:spPr>
          <a:xfrm>
            <a:off x="3447288" y="2578608"/>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curr_hash</a:t>
            </a:r>
          </a:p>
        </p:txBody>
      </p:sp>
      <p:sp>
        <p:nvSpPr>
          <p:cNvPr id="26" name="TextBox 25"/>
          <p:cNvSpPr txBox="1"/>
          <p:nvPr/>
        </p:nvSpPr>
        <p:spPr>
          <a:xfrm>
            <a:off x="4544568" y="2578608"/>
            <a:ext cx="1234440" cy="274320"/>
          </a:xfrm>
          <a:prstGeom prst="rect">
            <a:avLst/>
          </a:prstGeom>
          <a:noFill/>
        </p:spPr>
        <p:txBody>
          <a:bodyPr wrap="square" anchor="ctr" lIns="0" rIns="0" tIns="0" bIns="0">
            <a:spAutoFit/>
          </a:bodyPr>
          <a:lstStyle/>
          <a:p>
            <a:pPr algn="l">
              <a:spcAft>
                <a:spcPts val="0"/>
              </a:spcAft>
            </a:pPr>
            <a:r>
              <a:rPr sz="1050" b="1" i="0">
                <a:solidFill>
                  <a:srgbClr val="1B2A55"/>
                </a:solidFill>
                <a:latin typeface="Consolas"/>
              </a:rPr>
              <a:t>077a697b…</a:t>
            </a:r>
          </a:p>
        </p:txBody>
      </p:sp>
      <p:cxnSp>
        <p:nvCxnSpPr>
          <p:cNvPr id="27" name="Connector 26"/>
          <p:cNvCxnSpPr/>
          <p:nvPr/>
        </p:nvCxnSpPr>
        <p:spPr>
          <a:xfrm>
            <a:off x="5870448" y="2377440"/>
            <a:ext cx="237744" cy="0"/>
          </a:xfrm>
          <a:prstGeom prst="line">
            <a:avLst/>
          </a:prstGeom>
          <a:ln w="25400">
            <a:solidFill>
              <a:srgbClr val="1A7F37"/>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08192" y="1097280"/>
            <a:ext cx="2587752" cy="192024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45352" y="1188720"/>
            <a:ext cx="98298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Block 3</a:t>
            </a:r>
          </a:p>
        </p:txBody>
      </p:sp>
      <p:sp>
        <p:nvSpPr>
          <p:cNvPr id="30" name="TextBox 29"/>
          <p:cNvSpPr txBox="1"/>
          <p:nvPr/>
        </p:nvSpPr>
        <p:spPr>
          <a:xfrm>
            <a:off x="6272783" y="1536192"/>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ballot_token</a:t>
            </a:r>
          </a:p>
        </p:txBody>
      </p:sp>
      <p:sp>
        <p:nvSpPr>
          <p:cNvPr id="31" name="TextBox 30"/>
          <p:cNvSpPr txBox="1"/>
          <p:nvPr/>
        </p:nvSpPr>
        <p:spPr>
          <a:xfrm>
            <a:off x="7370063" y="1536192"/>
            <a:ext cx="1234440" cy="274320"/>
          </a:xfrm>
          <a:prstGeom prst="rect">
            <a:avLst/>
          </a:prstGeom>
          <a:noFill/>
        </p:spPr>
        <p:txBody>
          <a:bodyPr wrap="square" anchor="ctr" lIns="0" rIns="0" tIns="0" bIns="0">
            <a:spAutoFit/>
          </a:bodyPr>
          <a:lstStyle/>
          <a:p>
            <a:pPr algn="l">
              <a:spcAft>
                <a:spcPts val="0"/>
              </a:spcAft>
            </a:pPr>
            <a:r>
              <a:rPr sz="1050" b="0" i="0">
                <a:solidFill>
                  <a:srgbClr val="1B2A55"/>
                </a:solidFill>
                <a:latin typeface="Consolas"/>
              </a:rPr>
              <a:t>de410a8a…</a:t>
            </a:r>
          </a:p>
        </p:txBody>
      </p:sp>
      <p:sp>
        <p:nvSpPr>
          <p:cNvPr id="32" name="TextBox 31"/>
          <p:cNvSpPr txBox="1"/>
          <p:nvPr/>
        </p:nvSpPr>
        <p:spPr>
          <a:xfrm>
            <a:off x="6272783" y="1883664"/>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vote_data_hash</a:t>
            </a:r>
          </a:p>
        </p:txBody>
      </p:sp>
      <p:sp>
        <p:nvSpPr>
          <p:cNvPr id="33" name="TextBox 32"/>
          <p:cNvSpPr txBox="1"/>
          <p:nvPr/>
        </p:nvSpPr>
        <p:spPr>
          <a:xfrm>
            <a:off x="7370063" y="1883664"/>
            <a:ext cx="1234440" cy="274320"/>
          </a:xfrm>
          <a:prstGeom prst="rect">
            <a:avLst/>
          </a:prstGeom>
          <a:noFill/>
        </p:spPr>
        <p:txBody>
          <a:bodyPr wrap="square" anchor="ctr" lIns="0" rIns="0" tIns="0" bIns="0">
            <a:spAutoFit/>
          </a:bodyPr>
          <a:lstStyle/>
          <a:p>
            <a:pPr algn="l">
              <a:spcAft>
                <a:spcPts val="0"/>
              </a:spcAft>
            </a:pPr>
            <a:r>
              <a:rPr sz="1050" b="0" i="0">
                <a:solidFill>
                  <a:srgbClr val="1B2A55"/>
                </a:solidFill>
                <a:latin typeface="Consolas"/>
              </a:rPr>
              <a:t>98f83226…</a:t>
            </a:r>
          </a:p>
        </p:txBody>
      </p:sp>
      <p:sp>
        <p:nvSpPr>
          <p:cNvPr id="34" name="TextBox 33"/>
          <p:cNvSpPr txBox="1"/>
          <p:nvPr/>
        </p:nvSpPr>
        <p:spPr>
          <a:xfrm>
            <a:off x="6272783" y="2231136"/>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prev_hash</a:t>
            </a:r>
          </a:p>
        </p:txBody>
      </p:sp>
      <p:sp>
        <p:nvSpPr>
          <p:cNvPr id="35" name="TextBox 34"/>
          <p:cNvSpPr txBox="1"/>
          <p:nvPr/>
        </p:nvSpPr>
        <p:spPr>
          <a:xfrm>
            <a:off x="7370063" y="2231136"/>
            <a:ext cx="1234440" cy="274320"/>
          </a:xfrm>
          <a:prstGeom prst="rect">
            <a:avLst/>
          </a:prstGeom>
          <a:noFill/>
        </p:spPr>
        <p:txBody>
          <a:bodyPr wrap="square" anchor="ctr" lIns="0" rIns="0" tIns="0" bIns="0">
            <a:spAutoFit/>
          </a:bodyPr>
          <a:lstStyle/>
          <a:p>
            <a:pPr algn="l">
              <a:spcAft>
                <a:spcPts val="0"/>
              </a:spcAft>
            </a:pPr>
            <a:r>
              <a:rPr sz="1050" b="1" i="0">
                <a:solidFill>
                  <a:srgbClr val="1A7F37"/>
                </a:solidFill>
                <a:latin typeface="Consolas"/>
              </a:rPr>
              <a:t>077a697b…</a:t>
            </a:r>
          </a:p>
        </p:txBody>
      </p:sp>
      <p:sp>
        <p:nvSpPr>
          <p:cNvPr id="36" name="TextBox 35"/>
          <p:cNvSpPr txBox="1"/>
          <p:nvPr/>
        </p:nvSpPr>
        <p:spPr>
          <a:xfrm>
            <a:off x="6272783" y="2578608"/>
            <a:ext cx="1097280" cy="274320"/>
          </a:xfrm>
          <a:prstGeom prst="rect">
            <a:avLst/>
          </a:prstGeom>
          <a:noFill/>
        </p:spPr>
        <p:txBody>
          <a:bodyPr wrap="square" anchor="ctr" lIns="0" rIns="0" tIns="0" bIns="0">
            <a:spAutoFit/>
          </a:bodyPr>
          <a:lstStyle/>
          <a:p>
            <a:pPr algn="l">
              <a:spcAft>
                <a:spcPts val="0"/>
              </a:spcAft>
            </a:pPr>
            <a:r>
              <a:rPr sz="1000" b="0" i="0">
                <a:solidFill>
                  <a:srgbClr val="666A78"/>
                </a:solidFill>
                <a:latin typeface="Inter"/>
              </a:rPr>
              <a:t>curr_hash</a:t>
            </a:r>
          </a:p>
        </p:txBody>
      </p:sp>
      <p:sp>
        <p:nvSpPr>
          <p:cNvPr id="37" name="TextBox 36"/>
          <p:cNvSpPr txBox="1"/>
          <p:nvPr/>
        </p:nvSpPr>
        <p:spPr>
          <a:xfrm>
            <a:off x="7370063" y="2578608"/>
            <a:ext cx="1234440" cy="274320"/>
          </a:xfrm>
          <a:prstGeom prst="rect">
            <a:avLst/>
          </a:prstGeom>
          <a:noFill/>
        </p:spPr>
        <p:txBody>
          <a:bodyPr wrap="square" anchor="ctr" lIns="0" rIns="0" tIns="0" bIns="0">
            <a:spAutoFit/>
          </a:bodyPr>
          <a:lstStyle/>
          <a:p>
            <a:pPr algn="l">
              <a:spcAft>
                <a:spcPts val="0"/>
              </a:spcAft>
            </a:pPr>
            <a:r>
              <a:rPr sz="1050" b="1" i="0">
                <a:solidFill>
                  <a:srgbClr val="1B2A55"/>
                </a:solidFill>
                <a:latin typeface="Consolas"/>
              </a:rPr>
              <a:t>e50bbfe1…</a:t>
            </a:r>
          </a:p>
        </p:txBody>
      </p:sp>
      <p:sp>
        <p:nvSpPr>
          <p:cNvPr id="38" name="TextBox 37"/>
          <p:cNvSpPr txBox="1"/>
          <p:nvPr/>
        </p:nvSpPr>
        <p:spPr>
          <a:xfrm>
            <a:off x="457200" y="3108960"/>
            <a:ext cx="8229600" cy="201168"/>
          </a:xfrm>
          <a:prstGeom prst="rect">
            <a:avLst/>
          </a:prstGeom>
          <a:noFill/>
        </p:spPr>
        <p:txBody>
          <a:bodyPr wrap="square" anchor="t" lIns="0" rIns="0" tIns="0" bIns="0">
            <a:spAutoFit/>
          </a:bodyPr>
          <a:lstStyle/>
          <a:p>
            <a:pPr algn="l">
              <a:spcAft>
                <a:spcPts val="0"/>
              </a:spcAft>
            </a:pPr>
            <a:r>
              <a:rPr sz="1050" b="0" i="1">
                <a:solidFill>
                  <a:srgbClr val="666A78"/>
                </a:solidFill>
                <a:latin typeface="Inter"/>
              </a:rPr>
              <a:t>Block 2’s prev_hash equals block 1’s curr_hash, and so on: editing any block breaks every link after it.</a:t>
            </a:r>
          </a:p>
        </p:txBody>
      </p:sp>
      <p:sp>
        <p:nvSpPr>
          <p:cNvPr id="39" name="Rounded Rectangle 38"/>
          <p:cNvSpPr/>
          <p:nvPr/>
        </p:nvSpPr>
        <p:spPr>
          <a:xfrm>
            <a:off x="457200" y="3474720"/>
            <a:ext cx="2587752" cy="123444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3566160"/>
            <a:ext cx="2286000" cy="1097280"/>
          </a:xfrm>
          <a:prstGeom prst="rect">
            <a:avLst/>
          </a:prstGeom>
          <a:noFill/>
        </p:spPr>
        <p:txBody>
          <a:bodyPr wrap="square" anchor="t" lIns="0" rIns="0" tIns="0" bIns="0">
            <a:spAutoFit/>
          </a:bodyPr>
          <a:lstStyle/>
          <a:p>
            <a:pPr algn="l">
              <a:spcAft>
                <a:spcPts val="300"/>
              </a:spcAft>
            </a:pPr>
            <a:r>
              <a:rPr sz="1250" b="1" i="0">
                <a:solidFill>
                  <a:srgbClr val="1B2A55"/>
                </a:solidFill>
                <a:latin typeface="Inter"/>
              </a:rPr>
              <a:t>Seal</a:t>
            </a:r>
          </a:p>
          <a:p>
            <a:pPr algn="l">
              <a:spcAft>
                <a:spcPts val="300"/>
              </a:spcAft>
            </a:pPr>
            <a:r>
              <a:rPr sz="1100" b="0" i="0">
                <a:solidFill>
                  <a:srgbClr val="353B4A"/>
                </a:solidFill>
                <a:latin typeface="Inter"/>
              </a:rPr>
              <a:t>vote_data_hash = SHA-256 of the ballot’s ranks; curr_hash covers the whole block.</a:t>
            </a:r>
          </a:p>
        </p:txBody>
      </p:sp>
      <p:sp>
        <p:nvSpPr>
          <p:cNvPr id="41" name="Rounded Rectangle 40"/>
          <p:cNvSpPr/>
          <p:nvPr/>
        </p:nvSpPr>
        <p:spPr>
          <a:xfrm>
            <a:off x="3282696" y="3474720"/>
            <a:ext cx="2587752" cy="123444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47288" y="3566160"/>
            <a:ext cx="2286000" cy="1097280"/>
          </a:xfrm>
          <a:prstGeom prst="rect">
            <a:avLst/>
          </a:prstGeom>
          <a:noFill/>
        </p:spPr>
        <p:txBody>
          <a:bodyPr wrap="square" anchor="t" lIns="0" rIns="0" tIns="0" bIns="0">
            <a:spAutoFit/>
          </a:bodyPr>
          <a:lstStyle/>
          <a:p>
            <a:pPr algn="l">
              <a:spcAft>
                <a:spcPts val="300"/>
              </a:spcAft>
            </a:pPr>
            <a:r>
              <a:rPr sz="1250" b="1" i="0">
                <a:solidFill>
                  <a:srgbClr val="1B2A55"/>
                </a:solidFill>
                <a:latin typeface="Inter"/>
              </a:rPr>
              <a:t>Chain check</a:t>
            </a:r>
          </a:p>
          <a:p>
            <a:pPr algn="l">
              <a:spcAft>
                <a:spcPts val="300"/>
              </a:spcAft>
            </a:pPr>
            <a:r>
              <a:rPr sz="1100" b="0" i="0">
                <a:solidFill>
                  <a:srgbClr val="353B4A"/>
                </a:solidFill>
                <a:latin typeface="Inter"/>
              </a:rPr>
              <a:t>audit_ledger.py recomputes every hash and link: 45 of 45 blocks intact.</a:t>
            </a:r>
          </a:p>
        </p:txBody>
      </p:sp>
      <p:sp>
        <p:nvSpPr>
          <p:cNvPr id="43" name="Rounded Rectangle 42"/>
          <p:cNvSpPr/>
          <p:nvPr/>
        </p:nvSpPr>
        <p:spPr>
          <a:xfrm>
            <a:off x="6108192" y="3474720"/>
            <a:ext cx="2587752" cy="123444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2783" y="3566160"/>
            <a:ext cx="2286000" cy="1097280"/>
          </a:xfrm>
          <a:prstGeom prst="rect">
            <a:avLst/>
          </a:prstGeom>
          <a:noFill/>
        </p:spPr>
        <p:txBody>
          <a:bodyPr wrap="square" anchor="t" lIns="0" rIns="0" tIns="0" bIns="0">
            <a:spAutoFit/>
          </a:bodyPr>
          <a:lstStyle/>
          <a:p>
            <a:pPr algn="l">
              <a:spcAft>
                <a:spcPts val="300"/>
              </a:spcAft>
            </a:pPr>
            <a:r>
              <a:rPr sz="1250" b="1" i="0">
                <a:solidFill>
                  <a:srgbClr val="1B2A55"/>
                </a:solidFill>
                <a:latin typeface="Inter"/>
              </a:rPr>
              <a:t>Ballot check</a:t>
            </a:r>
          </a:p>
          <a:p>
            <a:pPr algn="l">
              <a:spcAft>
                <a:spcPts val="300"/>
              </a:spcAft>
            </a:pPr>
            <a:r>
              <a:rPr sz="1100" b="0" i="0">
                <a:solidFill>
                  <a:srgbClr val="353B4A"/>
                </a:solidFill>
                <a:latin typeface="Inter"/>
              </a:rPr>
              <a:t>The integrity sweep recomputes each ballot from the database and compares it with its receipt.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ADMINISTRATOR SIDE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Officers run each election through a guarded lifecycle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15</a:t>
            </a:r>
          </a:p>
        </p:txBody>
      </p:sp>
      <p:pic>
        <p:nvPicPr>
          <p:cNvPr id="6" name="Picture 5" descr="11_admin_overview.png"/>
          <p:cNvPicPr>
            <a:picLocks noChangeAspect="1"/>
          </p:cNvPicPr>
          <p:nvPr/>
        </p:nvPicPr>
        <p:blipFill>
          <a:blip r:embed="rId2"/>
          <a:stretch>
            <a:fillRect/>
          </a:stretch>
        </p:blipFill>
        <p:spPr>
          <a:xfrm>
            <a:off x="457200" y="1097280"/>
            <a:ext cx="4572000" cy="2350213"/>
          </a:xfrm>
          <a:prstGeom prst="rect">
            <a:avLst/>
          </a:prstGeom>
          <a:ln w="12700">
            <a:solidFill>
              <a:srgbClr val="D9D9E4"/>
            </a:solidFill>
          </a:ln>
        </p:spPr>
      </p:pic>
      <p:pic>
        <p:nvPicPr>
          <p:cNvPr id="7" name="Picture 6" descr="10_admin_elections.png"/>
          <p:cNvPicPr>
            <a:picLocks noChangeAspect="1"/>
          </p:cNvPicPr>
          <p:nvPr/>
        </p:nvPicPr>
        <p:blipFill>
          <a:blip r:embed="rId3"/>
          <a:stretch>
            <a:fillRect/>
          </a:stretch>
        </p:blipFill>
        <p:spPr>
          <a:xfrm>
            <a:off x="457200" y="3584653"/>
            <a:ext cx="4572000" cy="1106612"/>
          </a:xfrm>
          <a:prstGeom prst="rect">
            <a:avLst/>
          </a:prstGeom>
          <a:ln w="12700">
            <a:solidFill>
              <a:srgbClr val="D9D9E4"/>
            </a:solidFill>
          </a:ln>
        </p:spPr>
      </p:pic>
      <p:sp>
        <p:nvSpPr>
          <p:cNvPr id="8" name="Rounded Rectangle 7"/>
          <p:cNvSpPr/>
          <p:nvPr/>
        </p:nvSpPr>
        <p:spPr>
          <a:xfrm>
            <a:off x="5257800" y="1097280"/>
            <a:ext cx="3429000" cy="361188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1188720"/>
            <a:ext cx="3108960" cy="228600"/>
          </a:xfrm>
          <a:prstGeom prst="rect">
            <a:avLst/>
          </a:prstGeom>
          <a:noFill/>
        </p:spPr>
        <p:txBody>
          <a:bodyPr wrap="square" anchor="t" lIns="0" rIns="0" tIns="0" bIns="0">
            <a:spAutoFit/>
          </a:bodyPr>
          <a:lstStyle/>
          <a:p>
            <a:pPr algn="l">
              <a:spcAft>
                <a:spcPts val="0"/>
              </a:spcAft>
            </a:pPr>
            <a:r>
              <a:rPr sz="1400" b="1" i="0">
                <a:solidFill>
                  <a:srgbClr val="1B2A55"/>
                </a:solidFill>
                <a:latin typeface="Inter"/>
              </a:rPr>
              <a:t>Election lifecycle</a:t>
            </a:r>
          </a:p>
        </p:txBody>
      </p:sp>
      <p:sp>
        <p:nvSpPr>
          <p:cNvPr id="10" name="Rounded Rectangle 9"/>
          <p:cNvSpPr/>
          <p:nvPr/>
        </p:nvSpPr>
        <p:spPr>
          <a:xfrm>
            <a:off x="5440680" y="1600200"/>
            <a:ext cx="310896" cy="310896"/>
          </a:xfrm>
          <a:prstGeom prst="roundRect">
            <a:avLst>
              <a:gd name="adj" fmla="val 50000"/>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FFFFFF"/>
                </a:solidFill>
                <a:latin typeface="Inter"/>
              </a:rPr>
              <a:t>1</a:t>
            </a:r>
          </a:p>
        </p:txBody>
      </p:sp>
      <p:sp>
        <p:nvSpPr>
          <p:cNvPr id="11" name="TextBox 10"/>
          <p:cNvSpPr txBox="1"/>
          <p:nvPr/>
        </p:nvSpPr>
        <p:spPr>
          <a:xfrm>
            <a:off x="5852160" y="1581912"/>
            <a:ext cx="2697480" cy="822960"/>
          </a:xfrm>
          <a:prstGeom prst="rect">
            <a:avLst/>
          </a:prstGeom>
          <a:noFill/>
        </p:spPr>
        <p:txBody>
          <a:bodyPr wrap="square" anchor="t" lIns="0" rIns="0" tIns="0" bIns="0">
            <a:spAutoFit/>
          </a:bodyPr>
          <a:lstStyle/>
          <a:p>
            <a:pPr algn="l">
              <a:spcAft>
                <a:spcPts val="100"/>
              </a:spcAft>
            </a:pPr>
            <a:r>
              <a:rPr sz="1200" b="1" i="0">
                <a:solidFill>
                  <a:srgbClr val="1B2A55"/>
                </a:solidFill>
                <a:latin typeface="Inter"/>
              </a:rPr>
              <a:t>Nominations</a:t>
            </a:r>
          </a:p>
          <a:p>
            <a:pPr algn="l">
              <a:spcAft>
                <a:spcPts val="100"/>
              </a:spcAft>
            </a:pPr>
            <a:r>
              <a:rPr sz="1050" b="0" i="0">
                <a:solidFill>
                  <a:srgbClr val="353B4A"/>
                </a:solidFill>
                <a:latin typeface="Inter"/>
              </a:rPr>
              <a:t>Add candidates; build the roster by hand or in bulk.</a:t>
            </a:r>
          </a:p>
        </p:txBody>
      </p:sp>
      <p:sp>
        <p:nvSpPr>
          <p:cNvPr id="12" name="Rounded Rectangle 11"/>
          <p:cNvSpPr/>
          <p:nvPr/>
        </p:nvSpPr>
        <p:spPr>
          <a:xfrm>
            <a:off x="5440680" y="2468880"/>
            <a:ext cx="310896" cy="310896"/>
          </a:xfrm>
          <a:prstGeom prst="roundRect">
            <a:avLst>
              <a:gd name="adj" fmla="val 50000"/>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FFFFFF"/>
                </a:solidFill>
                <a:latin typeface="Inter"/>
              </a:rPr>
              <a:t>2</a:t>
            </a:r>
          </a:p>
        </p:txBody>
      </p:sp>
      <p:sp>
        <p:nvSpPr>
          <p:cNvPr id="13" name="TextBox 12"/>
          <p:cNvSpPr txBox="1"/>
          <p:nvPr/>
        </p:nvSpPr>
        <p:spPr>
          <a:xfrm>
            <a:off x="5852160" y="2450592"/>
            <a:ext cx="2697480" cy="822960"/>
          </a:xfrm>
          <a:prstGeom prst="rect">
            <a:avLst/>
          </a:prstGeom>
          <a:noFill/>
        </p:spPr>
        <p:txBody>
          <a:bodyPr wrap="square" anchor="t" lIns="0" rIns="0" tIns="0" bIns="0">
            <a:spAutoFit/>
          </a:bodyPr>
          <a:lstStyle/>
          <a:p>
            <a:pPr algn="l">
              <a:spcAft>
                <a:spcPts val="100"/>
              </a:spcAft>
            </a:pPr>
            <a:r>
              <a:rPr sz="1200" b="1" i="0">
                <a:solidFill>
                  <a:srgbClr val="1B2A55"/>
                </a:solidFill>
                <a:latin typeface="Inter"/>
              </a:rPr>
              <a:t>Voting</a:t>
            </a:r>
          </a:p>
          <a:p>
            <a:pPr algn="l">
              <a:spcAft>
                <a:spcPts val="100"/>
              </a:spcAft>
            </a:pPr>
            <a:r>
              <a:rPr sz="1050" b="0" i="0">
                <a:solidFill>
                  <a:srgbClr val="353B4A"/>
                </a:solidFill>
                <a:latin typeface="Inter"/>
              </a:rPr>
              <a:t>Candidates are locked; voters cast ballots; simulation tools for testing.</a:t>
            </a:r>
          </a:p>
        </p:txBody>
      </p:sp>
      <p:sp>
        <p:nvSpPr>
          <p:cNvPr id="14" name="Rounded Rectangle 13"/>
          <p:cNvSpPr/>
          <p:nvPr/>
        </p:nvSpPr>
        <p:spPr>
          <a:xfrm>
            <a:off x="5440680" y="3337560"/>
            <a:ext cx="310896" cy="310896"/>
          </a:xfrm>
          <a:prstGeom prst="roundRect">
            <a:avLst>
              <a:gd name="adj" fmla="val 50000"/>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100" b="1" i="0">
                <a:solidFill>
                  <a:srgbClr val="FFFFFF"/>
                </a:solidFill>
                <a:latin typeface="Inter"/>
              </a:rPr>
              <a:t>3</a:t>
            </a:r>
          </a:p>
        </p:txBody>
      </p:sp>
      <p:sp>
        <p:nvSpPr>
          <p:cNvPr id="15" name="TextBox 14"/>
          <p:cNvSpPr txBox="1"/>
          <p:nvPr/>
        </p:nvSpPr>
        <p:spPr>
          <a:xfrm>
            <a:off x="5852160" y="3319272"/>
            <a:ext cx="2697480" cy="822960"/>
          </a:xfrm>
          <a:prstGeom prst="rect">
            <a:avLst/>
          </a:prstGeom>
          <a:noFill/>
        </p:spPr>
        <p:txBody>
          <a:bodyPr wrap="square" anchor="t" lIns="0" rIns="0" tIns="0" bIns="0">
            <a:spAutoFit/>
          </a:bodyPr>
          <a:lstStyle/>
          <a:p>
            <a:pPr algn="l">
              <a:spcAft>
                <a:spcPts val="100"/>
              </a:spcAft>
            </a:pPr>
            <a:r>
              <a:rPr sz="1200" b="1" i="0">
                <a:solidFill>
                  <a:srgbClr val="1B2A55"/>
                </a:solidFill>
                <a:latin typeface="Inter"/>
              </a:rPr>
              <a:t>Closed</a:t>
            </a:r>
          </a:p>
          <a:p>
            <a:pPr algn="l">
              <a:spcAft>
                <a:spcPts val="100"/>
              </a:spcAft>
            </a:pPr>
            <a:r>
              <a:rPr sz="1050" b="0" i="0">
                <a:solidFill>
                  <a:srgbClr val="353B4A"/>
                </a:solidFill>
                <a:latin typeface="Inter"/>
              </a:rPr>
              <a:t>No more votes; run the integrity sweep, then count.</a:t>
            </a:r>
          </a:p>
        </p:txBody>
      </p:sp>
      <p:sp>
        <p:nvSpPr>
          <p:cNvPr id="16" name="TextBox 15"/>
          <p:cNvSpPr txBox="1"/>
          <p:nvPr/>
        </p:nvSpPr>
        <p:spPr>
          <a:xfrm>
            <a:off x="5440680" y="4206240"/>
            <a:ext cx="3108960" cy="457200"/>
          </a:xfrm>
          <a:prstGeom prst="rect">
            <a:avLst/>
          </a:prstGeom>
          <a:noFill/>
        </p:spPr>
        <p:txBody>
          <a:bodyPr wrap="square" anchor="t" lIns="0" rIns="0" tIns="0" bIns="0">
            <a:spAutoFit/>
          </a:bodyPr>
          <a:lstStyle/>
          <a:p>
            <a:pPr algn="l">
              <a:spcAft>
                <a:spcPts val="0"/>
              </a:spcAft>
            </a:pPr>
            <a:r>
              <a:rPr sz="1050" b="0" i="1">
                <a:solidFill>
                  <a:srgbClr val="666A78"/>
                </a:solidFill>
                <a:latin typeface="Inter"/>
              </a:rPr>
              <a:t>Each change asks for confirmation, and a closed election cannot be reopened.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LIVE TAMPER TEST</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rogue DBA edits the database and the sweep catches it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16</a:t>
            </a:r>
          </a:p>
        </p:txBody>
      </p:sp>
      <p:sp>
        <p:nvSpPr>
          <p:cNvPr id="6" name="Rounded Rectangle 5"/>
          <p:cNvSpPr/>
          <p:nvPr/>
        </p:nvSpPr>
        <p:spPr>
          <a:xfrm>
            <a:off x="457200" y="1143000"/>
            <a:ext cx="347472" cy="347472"/>
          </a:xfrm>
          <a:prstGeom prst="roundRect">
            <a:avLst>
              <a:gd name="adj" fmla="val 50000"/>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200" b="1" i="0">
                <a:solidFill>
                  <a:srgbClr val="FFFFFF"/>
                </a:solidFill>
                <a:latin typeface="Inter"/>
              </a:rPr>
              <a:t>1</a:t>
            </a:r>
          </a:p>
        </p:txBody>
      </p:sp>
      <p:sp>
        <p:nvSpPr>
          <p:cNvPr id="7" name="TextBox 6"/>
          <p:cNvSpPr txBox="1"/>
          <p:nvPr/>
        </p:nvSpPr>
        <p:spPr>
          <a:xfrm>
            <a:off x="960120" y="1124712"/>
            <a:ext cx="2331720" cy="914400"/>
          </a:xfrm>
          <a:prstGeom prst="rect">
            <a:avLst/>
          </a:prstGeom>
          <a:noFill/>
        </p:spPr>
        <p:txBody>
          <a:bodyPr wrap="square" anchor="t" lIns="0" rIns="0" tIns="0" bIns="0">
            <a:spAutoFit/>
          </a:bodyPr>
          <a:lstStyle/>
          <a:p>
            <a:pPr algn="l">
              <a:spcAft>
                <a:spcPts val="200"/>
              </a:spcAft>
            </a:pPr>
            <a:r>
              <a:rPr sz="1300" b="1" i="0">
                <a:solidFill>
                  <a:srgbClr val="1B2A55"/>
                </a:solidFill>
                <a:latin typeface="Inter"/>
              </a:rPr>
              <a:t>Edit</a:t>
            </a:r>
          </a:p>
          <a:p>
            <a:pPr algn="l">
              <a:spcAft>
                <a:spcPts val="200"/>
              </a:spcAft>
            </a:pPr>
            <a:r>
              <a:rPr sz="1050" b="0" i="0">
                <a:solidFill>
                  <a:srgbClr val="353B4A"/>
                </a:solidFill>
                <a:latin typeface="Inter"/>
              </a:rPr>
              <a:t>In DB Studio we re-assigned one ballot’s first choice.</a:t>
            </a:r>
          </a:p>
        </p:txBody>
      </p:sp>
      <p:sp>
        <p:nvSpPr>
          <p:cNvPr id="8" name="Rounded Rectangle 7"/>
          <p:cNvSpPr/>
          <p:nvPr/>
        </p:nvSpPr>
        <p:spPr>
          <a:xfrm>
            <a:off x="457200" y="2167128"/>
            <a:ext cx="347472" cy="347472"/>
          </a:xfrm>
          <a:prstGeom prst="roundRect">
            <a:avLst>
              <a:gd name="adj" fmla="val 50000"/>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200" b="1" i="0">
                <a:solidFill>
                  <a:srgbClr val="FFFFFF"/>
                </a:solidFill>
                <a:latin typeface="Inter"/>
              </a:rPr>
              <a:t>2</a:t>
            </a:r>
          </a:p>
        </p:txBody>
      </p:sp>
      <p:sp>
        <p:nvSpPr>
          <p:cNvPr id="9" name="TextBox 8"/>
          <p:cNvSpPr txBox="1"/>
          <p:nvPr/>
        </p:nvSpPr>
        <p:spPr>
          <a:xfrm>
            <a:off x="960120" y="2148840"/>
            <a:ext cx="2331720" cy="914400"/>
          </a:xfrm>
          <a:prstGeom prst="rect">
            <a:avLst/>
          </a:prstGeom>
          <a:noFill/>
        </p:spPr>
        <p:txBody>
          <a:bodyPr wrap="square" anchor="t" lIns="0" rIns="0" tIns="0" bIns="0">
            <a:spAutoFit/>
          </a:bodyPr>
          <a:lstStyle/>
          <a:p>
            <a:pPr algn="l">
              <a:spcAft>
                <a:spcPts val="200"/>
              </a:spcAft>
            </a:pPr>
            <a:r>
              <a:rPr sz="1300" b="1" i="0">
                <a:solidFill>
                  <a:srgbClr val="1B2A55"/>
                </a:solidFill>
                <a:latin typeface="Inter"/>
              </a:rPr>
              <a:t>Delete</a:t>
            </a:r>
          </a:p>
          <a:p>
            <a:pPr algn="l">
              <a:spcAft>
                <a:spcPts val="200"/>
              </a:spcAft>
            </a:pPr>
            <a:r>
              <a:rPr sz="1050" b="0" i="0">
                <a:solidFill>
                  <a:srgbClr val="353B4A"/>
                </a:solidFill>
                <a:latin typeface="Inter"/>
              </a:rPr>
              <a:t>We deleted two ballot rows, including a voter’s own.</a:t>
            </a:r>
          </a:p>
        </p:txBody>
      </p:sp>
      <p:sp>
        <p:nvSpPr>
          <p:cNvPr id="10" name="Rounded Rectangle 9"/>
          <p:cNvSpPr/>
          <p:nvPr/>
        </p:nvSpPr>
        <p:spPr>
          <a:xfrm>
            <a:off x="457200" y="3191256"/>
            <a:ext cx="347472" cy="347472"/>
          </a:xfrm>
          <a:prstGeom prst="roundRect">
            <a:avLst>
              <a:gd name="adj" fmla="val 50000"/>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200" b="1" i="0">
                <a:solidFill>
                  <a:srgbClr val="FFFFFF"/>
                </a:solidFill>
                <a:latin typeface="Inter"/>
              </a:rPr>
              <a:t>3</a:t>
            </a:r>
          </a:p>
        </p:txBody>
      </p:sp>
      <p:sp>
        <p:nvSpPr>
          <p:cNvPr id="11" name="TextBox 10"/>
          <p:cNvSpPr txBox="1"/>
          <p:nvPr/>
        </p:nvSpPr>
        <p:spPr>
          <a:xfrm>
            <a:off x="960120" y="3172968"/>
            <a:ext cx="2331720" cy="914400"/>
          </a:xfrm>
          <a:prstGeom prst="rect">
            <a:avLst/>
          </a:prstGeom>
          <a:noFill/>
        </p:spPr>
        <p:txBody>
          <a:bodyPr wrap="square" anchor="t" lIns="0" rIns="0" tIns="0" bIns="0">
            <a:spAutoFit/>
          </a:bodyPr>
          <a:lstStyle/>
          <a:p>
            <a:pPr algn="l">
              <a:spcAft>
                <a:spcPts val="200"/>
              </a:spcAft>
            </a:pPr>
            <a:r>
              <a:rPr sz="1300" b="1" i="0">
                <a:solidFill>
                  <a:srgbClr val="1B2A55"/>
                </a:solidFill>
                <a:latin typeface="Inter"/>
              </a:rPr>
              <a:t>Sweep</a:t>
            </a:r>
          </a:p>
          <a:p>
            <a:pPr algn="l">
              <a:spcAft>
                <a:spcPts val="200"/>
              </a:spcAft>
            </a:pPr>
            <a:r>
              <a:rPr sz="1050" b="0" i="0">
                <a:solidFill>
                  <a:srgbClr val="353B4A"/>
                </a:solidFill>
                <a:latin typeface="Inter"/>
              </a:rPr>
              <a:t>Run integrity sweep: every sealed ballot is recomputed and compared.</a:t>
            </a:r>
          </a:p>
        </p:txBody>
      </p:sp>
      <p:sp>
        <p:nvSpPr>
          <p:cNvPr id="12" name="Rounded Rectangle 11"/>
          <p:cNvSpPr/>
          <p:nvPr/>
        </p:nvSpPr>
        <p:spPr>
          <a:xfrm>
            <a:off x="457200" y="4251960"/>
            <a:ext cx="2834640" cy="548640"/>
          </a:xfrm>
          <a:prstGeom prst="roundRect">
            <a:avLst>
              <a:gd name="adj" fmla="val 6000"/>
            </a:avLst>
          </a:prstGeom>
          <a:solidFill>
            <a:srgbClr val="FDECEA"/>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297680"/>
            <a:ext cx="2606040" cy="457200"/>
          </a:xfrm>
          <a:prstGeom prst="rect">
            <a:avLst/>
          </a:prstGeom>
          <a:noFill/>
        </p:spPr>
        <p:txBody>
          <a:bodyPr wrap="square" anchor="ctr" lIns="0" rIns="0" tIns="0" bIns="0">
            <a:spAutoFit/>
          </a:bodyPr>
          <a:lstStyle/>
          <a:p>
            <a:pPr algn="l">
              <a:spcAft>
                <a:spcPts val="0"/>
              </a:spcAft>
            </a:pPr>
            <a:r>
              <a:rPr sz="1100" b="1" i="0">
                <a:solidFill>
                  <a:srgbClr val="C0392B"/>
                </a:solidFill>
                <a:latin typeface="Inter"/>
              </a:rPr>
              <a:t>Result: 3 of 3 flagged</a:t>
            </a:r>
            <a:r>
              <a:rPr sz="1100" b="0" i="0">
                <a:solidFill>
                  <a:srgbClr val="353B4A"/>
                </a:solidFill>
                <a:latin typeface="Inter"/>
              </a:rPr>
              <a:t> (1 modified, 2 deleted)</a:t>
            </a:r>
          </a:p>
        </p:txBody>
      </p:sp>
      <p:pic>
        <p:nvPicPr>
          <p:cNvPr id="14" name="Picture 13" descr="17_sweep_tampered.png"/>
          <p:cNvPicPr>
            <a:picLocks noChangeAspect="1"/>
          </p:cNvPicPr>
          <p:nvPr/>
        </p:nvPicPr>
        <p:blipFill>
          <a:blip r:embed="rId2"/>
          <a:stretch>
            <a:fillRect/>
          </a:stretch>
        </p:blipFill>
        <p:spPr>
          <a:xfrm>
            <a:off x="3520440" y="1143000"/>
            <a:ext cx="5166360" cy="3127389"/>
          </a:xfrm>
          <a:prstGeom prst="rect">
            <a:avLst/>
          </a:prstGeom>
          <a:ln w="12700">
            <a:solidFill>
              <a:srgbClr val="D9D9E4"/>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VERIFICATION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Seven checks, seven expected outcomes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17</a:t>
            </a:r>
          </a:p>
        </p:txBody>
      </p:sp>
      <p:graphicFrame>
        <p:nvGraphicFramePr>
          <p:cNvPr id="6" name="Table 5"/>
          <p:cNvGraphicFramePr>
            <a:graphicFrameLocks noGrp="1"/>
          </p:cNvGraphicFramePr>
          <p:nvPr/>
        </p:nvGraphicFramePr>
        <p:xfrm>
          <a:off x="457200" y="1097280"/>
          <a:ext cx="8229599" cy="3310128"/>
        </p:xfrm>
        <a:graphic>
          <a:graphicData uri="http://schemas.openxmlformats.org/drawingml/2006/table">
            <a:tbl>
              <a:tblPr firstRow="1" bandRow="1">
                <a:tableStyleId>{5C22544A-7EE6-4342-B048-85BDC9FD1C3A}</a:tableStyleId>
              </a:tblPr>
              <a:tblGrid>
                <a:gridCol w="3108960"/>
                <a:gridCol w="1828800"/>
                <a:gridCol w="3291839"/>
              </a:tblGrid>
              <a:tr h="365760">
                <a:tc>
                  <a:txBody>
                    <a:bodyPr wrap="square"/>
                    <a:lstStyle/>
                    <a:p>
                      <a:r>
                        <a:rPr sz="1000" b="1" i="0">
                          <a:solidFill>
                            <a:srgbClr val="FFFFFF"/>
                          </a:solidFill>
                          <a:latin typeface="Inter"/>
                        </a:rPr>
                        <a:t>Check</a:t>
                      </a:r>
                    </a:p>
                  </a:txBody>
                  <a:tcPr marL="73152" marR="73152" marT="36576" marB="36576" anchor="ctr">
                    <a:solidFill>
                      <a:srgbClr val="1B2A55"/>
                    </a:solidFill>
                  </a:tcPr>
                </a:tc>
                <a:tc>
                  <a:txBody>
                    <a:bodyPr wrap="square"/>
                    <a:lstStyle/>
                    <a:p>
                      <a:r>
                        <a:rPr sz="1000" b="1" i="0">
                          <a:solidFill>
                            <a:srgbClr val="FFFFFF"/>
                          </a:solidFill>
                          <a:latin typeface="Inter"/>
                        </a:rPr>
                        <a:t>Expected</a:t>
                      </a:r>
                    </a:p>
                  </a:txBody>
                  <a:tcPr marL="73152" marR="73152" marT="36576" marB="36576" anchor="ctr">
                    <a:solidFill>
                      <a:srgbClr val="1B2A55"/>
                    </a:solidFill>
                  </a:tcPr>
                </a:tc>
                <a:tc>
                  <a:txBody>
                    <a:bodyPr wrap="square"/>
                    <a:lstStyle/>
                    <a:p>
                      <a:r>
                        <a:rPr sz="1000" b="1" i="0">
                          <a:solidFill>
                            <a:srgbClr val="FFFFFF"/>
                          </a:solidFill>
                          <a:latin typeface="Inter"/>
                        </a:rPr>
                        <a:t>Observed</a:t>
                      </a:r>
                    </a:p>
                  </a:txBody>
                  <a:tcPr marL="73152" marR="73152" marT="36576" marB="36576" anchor="ctr">
                    <a:solidFill>
                      <a:srgbClr val="1B2A55"/>
                    </a:solidFill>
                  </a:tcPr>
                </a:tc>
              </a:tr>
              <a:tr h="420624">
                <a:tc>
                  <a:txBody>
                    <a:bodyPr wrap="square"/>
                    <a:lstStyle/>
                    <a:p>
                      <a:r>
                        <a:rPr sz="1050" b="1" i="0">
                          <a:solidFill>
                            <a:srgbClr val="1B2A55"/>
                          </a:solidFill>
                          <a:latin typeface="Inter"/>
                        </a:rPr>
                        <a:t>Same voter votes twice</a:t>
                      </a:r>
                    </a:p>
                  </a:txBody>
                  <a:tcPr marL="73152" marR="73152" marT="36576" marB="36576" anchor="ctr">
                    <a:solidFill>
                      <a:srgbClr val="FFFFFF"/>
                    </a:solidFill>
                  </a:tcPr>
                </a:tc>
                <a:tc>
                  <a:txBody>
                    <a:bodyPr wrap="square"/>
                    <a:lstStyle/>
                    <a:p>
                      <a:r>
                        <a:rPr sz="1050" b="0" i="0">
                          <a:solidFill>
                            <a:srgbClr val="353B4A"/>
                          </a:solidFill>
                          <a:latin typeface="Inter"/>
                        </a:rPr>
                        <a:t>Refused</a:t>
                      </a:r>
                    </a:p>
                  </a:txBody>
                  <a:tcPr marL="73152" marR="73152" marT="36576" marB="36576" anchor="ctr">
                    <a:solidFill>
                      <a:srgbClr val="FFFFFF"/>
                    </a:solidFill>
                  </a:tcPr>
                </a:tc>
                <a:tc>
                  <a:txBody>
                    <a:bodyPr wrap="square"/>
                    <a:lstStyle/>
                    <a:p>
                      <a:r>
                        <a:rPr sz="1050" b="0" i="0">
                          <a:solidFill>
                            <a:srgbClr val="353B4A"/>
                          </a:solidFill>
                          <a:latin typeface="Inter"/>
                        </a:rPr>
                        <a:t>You have already voted in this election.</a:t>
                      </a:r>
                    </a:p>
                  </a:txBody>
                  <a:tcPr marL="73152" marR="73152" marT="36576" marB="36576" anchor="ctr">
                    <a:solidFill>
                      <a:srgbClr val="FFFFFF"/>
                    </a:solidFill>
                  </a:tcPr>
                </a:tc>
              </a:tr>
              <a:tr h="420624">
                <a:tc>
                  <a:txBody>
                    <a:bodyPr wrap="square"/>
                    <a:lstStyle/>
                    <a:p>
                      <a:r>
                        <a:rPr sz="1050" b="1" i="0">
                          <a:solidFill>
                            <a:srgbClr val="1B2A55"/>
                          </a:solidFill>
                          <a:latin typeface="Inter"/>
                        </a:rPr>
                        <a:t>Wrong password at sign-in</a:t>
                      </a:r>
                    </a:p>
                  </a:txBody>
                  <a:tcPr marL="73152" marR="73152" marT="36576" marB="36576" anchor="ctr">
                    <a:solidFill>
                      <a:srgbClr val="F1F0F6"/>
                    </a:solidFill>
                  </a:tcPr>
                </a:tc>
                <a:tc>
                  <a:txBody>
                    <a:bodyPr wrap="square"/>
                    <a:lstStyle/>
                    <a:p>
                      <a:r>
                        <a:rPr sz="1050" b="0" i="0">
                          <a:solidFill>
                            <a:srgbClr val="353B4A"/>
                          </a:solidFill>
                          <a:latin typeface="Inter"/>
                        </a:rPr>
                        <a:t>Rejected</a:t>
                      </a:r>
                    </a:p>
                  </a:txBody>
                  <a:tcPr marL="73152" marR="73152" marT="36576" marB="36576" anchor="ctr">
                    <a:solidFill>
                      <a:srgbClr val="F1F0F6"/>
                    </a:solidFill>
                  </a:tcPr>
                </a:tc>
                <a:tc>
                  <a:txBody>
                    <a:bodyPr wrap="square"/>
                    <a:lstStyle/>
                    <a:p>
                      <a:r>
                        <a:rPr sz="1050" b="0" i="0">
                          <a:solidFill>
                            <a:srgbClr val="353B4A"/>
                          </a:solidFill>
                          <a:latin typeface="Inter"/>
                        </a:rPr>
                        <a:t>Incorrect password.</a:t>
                      </a:r>
                    </a:p>
                  </a:txBody>
                  <a:tcPr marL="73152" marR="73152" marT="36576" marB="36576" anchor="ctr">
                    <a:solidFill>
                      <a:srgbClr val="F1F0F6"/>
                    </a:solidFill>
                  </a:tcPr>
                </a:tc>
              </a:tr>
              <a:tr h="420624">
                <a:tc>
                  <a:txBody>
                    <a:bodyPr wrap="square"/>
                    <a:lstStyle/>
                    <a:p>
                      <a:r>
                        <a:rPr sz="1050" b="1" i="0">
                          <a:solidFill>
                            <a:srgbClr val="1B2A55"/>
                          </a:solidFill>
                          <a:latin typeface="Inter"/>
                        </a:rPr>
                        <a:t>Ledger hash chain</a:t>
                      </a:r>
                    </a:p>
                  </a:txBody>
                  <a:tcPr marL="73152" marR="73152" marT="36576" marB="36576" anchor="ctr">
                    <a:solidFill>
                      <a:srgbClr val="FFFFFF"/>
                    </a:solidFill>
                  </a:tcPr>
                </a:tc>
                <a:tc>
                  <a:txBody>
                    <a:bodyPr wrap="square"/>
                    <a:lstStyle/>
                    <a:p>
                      <a:r>
                        <a:rPr sz="1050" b="0" i="0">
                          <a:solidFill>
                            <a:srgbClr val="353B4A"/>
                          </a:solidFill>
                          <a:latin typeface="Inter"/>
                        </a:rPr>
                        <a:t>Intact</a:t>
                      </a:r>
                    </a:p>
                  </a:txBody>
                  <a:tcPr marL="73152" marR="73152" marT="36576" marB="36576" anchor="ctr">
                    <a:solidFill>
                      <a:srgbClr val="FFFFFF"/>
                    </a:solidFill>
                  </a:tcPr>
                </a:tc>
                <a:tc>
                  <a:txBody>
                    <a:bodyPr wrap="square"/>
                    <a:lstStyle/>
                    <a:p>
                      <a:r>
                        <a:rPr sz="1050" b="0" i="0">
                          <a:solidFill>
                            <a:srgbClr val="353B4A"/>
                          </a:solidFill>
                          <a:latin typeface="Inter"/>
                        </a:rPr>
                        <a:t>Chain intact across all 45 receipts</a:t>
                      </a:r>
                    </a:p>
                  </a:txBody>
                  <a:tcPr marL="73152" marR="73152" marT="36576" marB="36576" anchor="ctr">
                    <a:solidFill>
                      <a:srgbClr val="FFFFFF"/>
                    </a:solidFill>
                  </a:tcPr>
                </a:tc>
              </a:tr>
              <a:tr h="420624">
                <a:tc>
                  <a:txBody>
                    <a:bodyPr wrap="square"/>
                    <a:lstStyle/>
                    <a:p>
                      <a:r>
                        <a:rPr sz="1050" b="1" i="0">
                          <a:solidFill>
                            <a:srgbClr val="1B2A55"/>
                          </a:solidFill>
                          <a:latin typeface="Inter"/>
                        </a:rPr>
                        <a:t>1 ballot re-ranked, 2 deleted in the database</a:t>
                      </a:r>
                    </a:p>
                  </a:txBody>
                  <a:tcPr marL="73152" marR="73152" marT="36576" marB="36576" anchor="ctr">
                    <a:solidFill>
                      <a:srgbClr val="F1F0F6"/>
                    </a:solidFill>
                  </a:tcPr>
                </a:tc>
                <a:tc>
                  <a:txBody>
                    <a:bodyPr wrap="square"/>
                    <a:lstStyle/>
                    <a:p>
                      <a:r>
                        <a:rPr sz="1050" b="0" i="0">
                          <a:solidFill>
                            <a:srgbClr val="353B4A"/>
                          </a:solidFill>
                          <a:latin typeface="Inter"/>
                        </a:rPr>
                        <a:t>All three flagged</a:t>
                      </a:r>
                    </a:p>
                  </a:txBody>
                  <a:tcPr marL="73152" marR="73152" marT="36576" marB="36576" anchor="ctr">
                    <a:solidFill>
                      <a:srgbClr val="F1F0F6"/>
                    </a:solidFill>
                  </a:tcPr>
                </a:tc>
                <a:tc>
                  <a:txBody>
                    <a:bodyPr wrap="square"/>
                    <a:lstStyle/>
                    <a:p>
                      <a:r>
                        <a:rPr sz="1050" b="0" i="0">
                          <a:solidFill>
                            <a:srgbClr val="353B4A"/>
                          </a:solidFill>
                          <a:latin typeface="Inter"/>
                        </a:rPr>
                        <a:t>1 modified and 2 deleted detected</a:t>
                      </a:r>
                    </a:p>
                  </a:txBody>
                  <a:tcPr marL="73152" marR="73152" marT="36576" marB="36576" anchor="ctr">
                    <a:solidFill>
                      <a:srgbClr val="F1F0F6"/>
                    </a:solidFill>
                  </a:tcPr>
                </a:tc>
              </a:tr>
              <a:tr h="420624">
                <a:tc>
                  <a:txBody>
                    <a:bodyPr wrap="square"/>
                    <a:lstStyle/>
                    <a:p>
                      <a:r>
                        <a:rPr sz="1050" b="1" i="0">
                          <a:solidFill>
                            <a:srgbClr val="1B2A55"/>
                          </a:solidFill>
                          <a:latin typeface="Inter"/>
                        </a:rPr>
                        <a:t>Voter checks a deleted ballot’s receipt</a:t>
                      </a:r>
                    </a:p>
                  </a:txBody>
                  <a:tcPr marL="73152" marR="73152" marT="36576" marB="36576" anchor="ctr">
                    <a:solidFill>
                      <a:srgbClr val="FFFFFF"/>
                    </a:solidFill>
                  </a:tcPr>
                </a:tc>
                <a:tc>
                  <a:txBody>
                    <a:bodyPr wrap="square"/>
                    <a:lstStyle/>
                    <a:p>
                      <a:r>
                        <a:rPr sz="1050" b="0" i="0">
                          <a:solidFill>
                            <a:srgbClr val="353B4A"/>
                          </a:solidFill>
                          <a:latin typeface="Inter"/>
                        </a:rPr>
                        <a:t>Warned</a:t>
                      </a:r>
                    </a:p>
                  </a:txBody>
                  <a:tcPr marL="73152" marR="73152" marT="36576" marB="36576" anchor="ctr">
                    <a:solidFill>
                      <a:srgbClr val="FFFFFF"/>
                    </a:solidFill>
                  </a:tcPr>
                </a:tc>
                <a:tc>
                  <a:txBody>
                    <a:bodyPr wrap="square"/>
                    <a:lstStyle/>
                    <a:p>
                      <a:r>
                        <a:rPr sz="1050" b="0" i="0">
                          <a:solidFill>
                            <a:srgbClr val="353B4A"/>
                          </a:solidFill>
                          <a:latin typeface="Inter"/>
                        </a:rPr>
                        <a:t>Recorded, but missing from the count</a:t>
                      </a:r>
                    </a:p>
                  </a:txBody>
                  <a:tcPr marL="73152" marR="73152" marT="36576" marB="36576" anchor="ctr">
                    <a:solidFill>
                      <a:srgbClr val="FFFFFF"/>
                    </a:solidFill>
                  </a:tcPr>
                </a:tc>
              </a:tr>
              <a:tr h="420624">
                <a:tc>
                  <a:txBody>
                    <a:bodyPr wrap="square"/>
                    <a:lstStyle/>
                    <a:p>
                      <a:r>
                        <a:rPr sz="1050" b="1" i="0">
                          <a:solidFill>
                            <a:srgbClr val="1B2A55"/>
                          </a:solidFill>
                          <a:latin typeface="Inter"/>
                        </a:rPr>
                        <a:t>Counts after tampering</a:t>
                      </a:r>
                    </a:p>
                  </a:txBody>
                  <a:tcPr marL="73152" marR="73152" marT="36576" marB="36576" anchor="ctr">
                    <a:solidFill>
                      <a:srgbClr val="F1F0F6"/>
                    </a:solidFill>
                  </a:tcPr>
                </a:tc>
                <a:tc>
                  <a:txBody>
                    <a:bodyPr wrap="square"/>
                    <a:lstStyle/>
                    <a:p>
                      <a:r>
                        <a:rPr sz="1050" b="0" i="0">
                          <a:solidFill>
                            <a:srgbClr val="353B4A"/>
                          </a:solidFill>
                          <a:latin typeface="Inter"/>
                        </a:rPr>
                        <a:t>Mismatch visible</a:t>
                      </a:r>
                    </a:p>
                  </a:txBody>
                  <a:tcPr marL="73152" marR="73152" marT="36576" marB="36576" anchor="ctr">
                    <a:solidFill>
                      <a:srgbClr val="F1F0F6"/>
                    </a:solidFill>
                  </a:tcPr>
                </a:tc>
                <a:tc>
                  <a:txBody>
                    <a:bodyPr wrap="square"/>
                    <a:lstStyle/>
                    <a:p>
                      <a:r>
                        <a:rPr sz="1050" b="0" i="0">
                          <a:solidFill>
                            <a:srgbClr val="353B4A"/>
                          </a:solidFill>
                          <a:latin typeface="Inter"/>
                        </a:rPr>
                        <a:t>43 ballots vs 45 receipts vs 45 voted</a:t>
                      </a:r>
                    </a:p>
                  </a:txBody>
                  <a:tcPr marL="73152" marR="73152" marT="36576" marB="36576" anchor="ctr">
                    <a:solidFill>
                      <a:srgbClr val="F1F0F6"/>
                    </a:solidFill>
                  </a:tcPr>
                </a:tc>
              </a:tr>
              <a:tr h="420624">
                <a:tc>
                  <a:txBody>
                    <a:bodyPr wrap="square"/>
                    <a:lstStyle/>
                    <a:p>
                      <a:r>
                        <a:rPr sz="1050" b="1" i="0">
                          <a:solidFill>
                            <a:srgbClr val="1B2A55"/>
                          </a:solidFill>
                          <a:latin typeface="Inter"/>
                        </a:rPr>
                        <a:t>Ranked-choice majority</a:t>
                      </a:r>
                    </a:p>
                  </a:txBody>
                  <a:tcPr marL="73152" marR="73152" marT="36576" marB="36576" anchor="ctr">
                    <a:solidFill>
                      <a:srgbClr val="FFFFFF"/>
                    </a:solidFill>
                  </a:tcPr>
                </a:tc>
                <a:tc>
                  <a:txBody>
                    <a:bodyPr wrap="square"/>
                    <a:lstStyle/>
                    <a:p>
                      <a:r>
                        <a:rPr sz="1050" b="0" i="0">
                          <a:solidFill>
                            <a:srgbClr val="353B4A"/>
                          </a:solidFill>
                          <a:latin typeface="Inter"/>
                        </a:rPr>
                        <a:t>Winner holds a majority</a:t>
                      </a:r>
                    </a:p>
                  </a:txBody>
                  <a:tcPr marL="73152" marR="73152" marT="36576" marB="36576" anchor="ctr">
                    <a:solidFill>
                      <a:srgbClr val="FFFFFF"/>
                    </a:solidFill>
                  </a:tcPr>
                </a:tc>
                <a:tc>
                  <a:txBody>
                    <a:bodyPr wrap="square"/>
                    <a:lstStyle/>
                    <a:p>
                      <a:r>
                        <a:rPr sz="1050" b="0" i="0">
                          <a:solidFill>
                            <a:srgbClr val="353B4A"/>
                          </a:solidFill>
                          <a:latin typeface="Inter"/>
                        </a:rPr>
                        <a:t>Chaitanya Reddy: 23 of 45 (51.1%)</a:t>
                      </a:r>
                    </a:p>
                  </a:txBody>
                  <a:tcPr marL="73152" marR="73152" marT="36576" marB="36576" anchor="ctr">
                    <a:solidFill>
                      <a:srgbClr val="FFFFFF"/>
                    </a:solidFill>
                  </a:tcPr>
                </a:tc>
              </a:tr>
            </a:tbl>
          </a:graphicData>
        </a:graphic>
      </p:graphicFrame>
      <p:sp>
        <p:nvSpPr>
          <p:cNvPr id="7" name="TextBox 6"/>
          <p:cNvSpPr txBox="1"/>
          <p:nvPr/>
        </p:nvSpPr>
        <p:spPr>
          <a:xfrm>
            <a:off x="457200" y="4526280"/>
            <a:ext cx="8229600" cy="274320"/>
          </a:xfrm>
          <a:prstGeom prst="rect">
            <a:avLst/>
          </a:prstGeom>
          <a:noFill/>
        </p:spPr>
        <p:txBody>
          <a:bodyPr wrap="square" anchor="t" lIns="0" rIns="0" tIns="0" bIns="0">
            <a:spAutoFit/>
          </a:bodyPr>
          <a:lstStyle/>
          <a:p>
            <a:pPr algn="l">
              <a:spcAft>
                <a:spcPts val="0"/>
              </a:spcAft>
            </a:pPr>
            <a:r>
              <a:rPr sz="1050" b="0" i="1">
                <a:solidFill>
                  <a:srgbClr val="666A78"/>
                </a:solidFill>
                <a:latin typeface="Inter"/>
              </a:rPr>
              <a:t>Outputs captured on a demo election: 60 registered voters, 45 ballots cast, five candidates.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IMPLEMENTATION STATUS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About 75% of the Review 1 scope is implemented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18</a:t>
            </a:r>
          </a:p>
        </p:txBody>
      </p:sp>
      <p:graphicFrame>
        <p:nvGraphicFramePr>
          <p:cNvPr id="6" name="Chart 5"/>
          <p:cNvGraphicFramePr>
            <a:graphicFrameLocks noGrp="1"/>
          </p:cNvGraphicFramePr>
          <p:nvPr/>
        </p:nvGraphicFramePr>
        <p:xfrm>
          <a:off x="365760" y="1051560"/>
          <a:ext cx="4754880" cy="3611880"/>
        </p:xfrm>
        <a:graphic>
          <a:graphicData uri="http://schemas.openxmlformats.org/drawingml/2006/chart">
            <c:chart xmlns:c="http://schemas.openxmlformats.org/drawingml/2006/chart" r:id="rId2"/>
          </a:graphicData>
        </a:graphic>
      </p:graphicFrame>
      <p:sp>
        <p:nvSpPr>
          <p:cNvPr id="7" name="Rounded Rectangle 6"/>
          <p:cNvSpPr/>
          <p:nvPr/>
        </p:nvSpPr>
        <p:spPr>
          <a:xfrm>
            <a:off x="5349240" y="1097280"/>
            <a:ext cx="3337560" cy="16002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32120" y="1188720"/>
            <a:ext cx="3017520" cy="1463040"/>
          </a:xfrm>
          <a:prstGeom prst="rect">
            <a:avLst/>
          </a:prstGeom>
          <a:noFill/>
        </p:spPr>
        <p:txBody>
          <a:bodyPr wrap="square" anchor="t" lIns="0" rIns="0" tIns="0" bIns="0">
            <a:spAutoFit/>
          </a:bodyPr>
          <a:lstStyle/>
          <a:p>
            <a:pPr algn="l">
              <a:spcAft>
                <a:spcPts val="300"/>
              </a:spcAft>
            </a:pPr>
            <a:r>
              <a:rPr sz="1300" b="1" i="0">
                <a:solidFill>
                  <a:srgbClr val="1A7F37"/>
                </a:solidFill>
                <a:latin typeface="Inter"/>
              </a:rPr>
              <a:t>Done</a:t>
            </a:r>
          </a:p>
          <a:p>
            <a:pPr algn="l">
              <a:spcAft>
                <a:spcPts val="300"/>
              </a:spcAft>
            </a:pPr>
            <a:r>
              <a:rPr sz="1100" b="0" i="0">
                <a:solidFill>
                  <a:srgbClr val="353B4A"/>
                </a:solidFill>
                <a:latin typeface="Inter"/>
              </a:rPr>
              <a:t>Multi-tenant schema, trigger and views, instant-runoff tally, hash-chained ledger, tamper detection, voter and admin applications.</a:t>
            </a:r>
          </a:p>
        </p:txBody>
      </p:sp>
      <p:sp>
        <p:nvSpPr>
          <p:cNvPr id="9" name="Rounded Rectangle 8"/>
          <p:cNvSpPr/>
          <p:nvPr/>
        </p:nvSpPr>
        <p:spPr>
          <a:xfrm>
            <a:off x="5349240" y="2880360"/>
            <a:ext cx="3337560" cy="17830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32120" y="2971800"/>
            <a:ext cx="3017520" cy="1645920"/>
          </a:xfrm>
          <a:prstGeom prst="rect">
            <a:avLst/>
          </a:prstGeom>
          <a:noFill/>
        </p:spPr>
        <p:txBody>
          <a:bodyPr wrap="square" anchor="t" lIns="0" rIns="0" tIns="0" bIns="0">
            <a:spAutoFit/>
          </a:bodyPr>
          <a:lstStyle/>
          <a:p>
            <a:pPr algn="l">
              <a:spcAft>
                <a:spcPts val="300"/>
              </a:spcAft>
            </a:pPr>
            <a:r>
              <a:rPr sz="1300" b="1" i="0">
                <a:solidFill>
                  <a:srgbClr val="9A6700"/>
                </a:solidFill>
                <a:latin typeface="Inter"/>
              </a:rPr>
              <a:t>Remaining for the final review</a:t>
            </a:r>
          </a:p>
          <a:p>
            <a:pPr algn="l">
              <a:spcAft>
                <a:spcPts val="300"/>
              </a:spcAft>
            </a:pPr>
            <a:r>
              <a:rPr sz="1100" b="0" i="0">
                <a:solidFill>
                  <a:srgbClr val="353B4A"/>
                </a:solidFill>
                <a:latin typeface="Inter"/>
              </a:rPr>
              <a:t>Oracle with PL/SQL procedures and DCL</a:t>
            </a:r>
          </a:p>
          <a:p>
            <a:pPr algn="l">
              <a:spcAft>
                <a:spcPts val="300"/>
              </a:spcAft>
            </a:pPr>
            <a:r>
              <a:rPr sz="1100" b="0" i="0">
                <a:solidFill>
                  <a:srgbClr val="353B4A"/>
                </a:solidFill>
                <a:latin typeface="Inter"/>
              </a:rPr>
              <a:t>MongoDB Atlas for the ledger</a:t>
            </a:r>
          </a:p>
          <a:p>
            <a:pPr algn="l">
              <a:spcAft>
                <a:spcPts val="300"/>
              </a:spcAft>
            </a:pPr>
            <a:r>
              <a:rPr sz="1100" b="0" i="0">
                <a:solidFill>
                  <a:srgbClr val="353B4A"/>
                </a:solidFill>
                <a:latin typeface="Inter"/>
              </a:rPr>
              <a:t>Cloud deployment</a:t>
            </a:r>
          </a:p>
          <a:p>
            <a:pPr algn="l">
              <a:spcAft>
                <a:spcPts val="300"/>
              </a:spcAft>
            </a:pPr>
            <a:r>
              <a:rPr sz="1100" b="0" i="0">
                <a:solidFill>
                  <a:srgbClr val="353B4A"/>
                </a:solidFill>
                <a:latin typeface="Inter"/>
              </a:rPr>
              <a:t>POSITION entity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PLAN VS BUILD</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Where the build differs from the Review 1 plan, and why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2 | Fall Semester 2026 · Slide 19</a:t>
            </a:r>
          </a:p>
        </p:txBody>
      </p:sp>
      <p:graphicFrame>
        <p:nvGraphicFramePr>
          <p:cNvPr id="6" name="Table 5"/>
          <p:cNvGraphicFramePr>
            <a:graphicFrameLocks noGrp="1"/>
          </p:cNvGraphicFramePr>
          <p:nvPr/>
        </p:nvGraphicFramePr>
        <p:xfrm>
          <a:off x="457200" y="1097280"/>
          <a:ext cx="8229597" cy="2926080"/>
        </p:xfrm>
        <a:graphic>
          <a:graphicData uri="http://schemas.openxmlformats.org/drawingml/2006/table">
            <a:tbl>
              <a:tblPr firstRow="1" bandRow="1">
                <a:tableStyleId>{5C22544A-7EE6-4342-B048-85BDC9FD1C3A}</a:tableStyleId>
              </a:tblPr>
              <a:tblGrid>
                <a:gridCol w="1341782"/>
                <a:gridCol w="1967947"/>
                <a:gridCol w="2504660"/>
                <a:gridCol w="2415208"/>
              </a:tblGrid>
              <a:tr h="365760">
                <a:tc>
                  <a:txBody>
                    <a:bodyPr wrap="square"/>
                    <a:lstStyle/>
                    <a:p>
                      <a:r>
                        <a:rPr sz="1000" b="1" i="0">
                          <a:solidFill>
                            <a:srgbClr val="FFFFFF"/>
                          </a:solidFill>
                          <a:latin typeface="Inter"/>
                        </a:rPr>
                        <a:t>Area</a:t>
                      </a:r>
                    </a:p>
                  </a:txBody>
                  <a:tcPr marL="73152" marR="73152" marT="36576" marB="36576" anchor="ctr">
                    <a:solidFill>
                      <a:srgbClr val="1B2A55"/>
                    </a:solidFill>
                  </a:tcPr>
                </a:tc>
                <a:tc>
                  <a:txBody>
                    <a:bodyPr wrap="square"/>
                    <a:lstStyle/>
                    <a:p>
                      <a:r>
                        <a:rPr sz="1000" b="1" i="0">
                          <a:solidFill>
                            <a:srgbClr val="FFFFFF"/>
                          </a:solidFill>
                          <a:latin typeface="Inter"/>
                        </a:rPr>
                        <a:t>Review 1 plan</a:t>
                      </a:r>
                    </a:p>
                  </a:txBody>
                  <a:tcPr marL="73152" marR="73152" marT="36576" marB="36576" anchor="ctr">
                    <a:solidFill>
                      <a:srgbClr val="1B2A55"/>
                    </a:solidFill>
                  </a:tcPr>
                </a:tc>
                <a:tc>
                  <a:txBody>
                    <a:bodyPr wrap="square"/>
                    <a:lstStyle/>
                    <a:p>
                      <a:r>
                        <a:rPr sz="1000" b="1" i="0">
                          <a:solidFill>
                            <a:srgbClr val="FFFFFF"/>
                          </a:solidFill>
                          <a:latin typeface="Inter"/>
                        </a:rPr>
                        <a:t>Built for Review 2</a:t>
                      </a:r>
                    </a:p>
                  </a:txBody>
                  <a:tcPr marL="73152" marR="73152" marT="36576" marB="36576" anchor="ctr">
                    <a:solidFill>
                      <a:srgbClr val="1B2A55"/>
                    </a:solidFill>
                  </a:tcPr>
                </a:tc>
                <a:tc>
                  <a:txBody>
                    <a:bodyPr wrap="square"/>
                    <a:lstStyle/>
                    <a:p>
                      <a:r>
                        <a:rPr sz="1000" b="1" i="0">
                          <a:solidFill>
                            <a:srgbClr val="FFFFFF"/>
                          </a:solidFill>
                          <a:latin typeface="Inter"/>
                        </a:rPr>
                        <a:t>Why</a:t>
                      </a:r>
                    </a:p>
                  </a:txBody>
                  <a:tcPr marL="73152" marR="73152" marT="36576" marB="36576" anchor="ctr">
                    <a:solidFill>
                      <a:srgbClr val="1B2A55"/>
                    </a:solidFill>
                  </a:tcPr>
                </a:tc>
              </a:tr>
              <a:tr h="512064">
                <a:tc>
                  <a:txBody>
                    <a:bodyPr wrap="square"/>
                    <a:lstStyle/>
                    <a:p>
                      <a:r>
                        <a:rPr sz="1000" b="1" i="0">
                          <a:solidFill>
                            <a:srgbClr val="1B2A55"/>
                          </a:solidFill>
                          <a:latin typeface="Inter"/>
                        </a:rPr>
                        <a:t>Relational DBMS</a:t>
                      </a:r>
                    </a:p>
                  </a:txBody>
                  <a:tcPr marL="73152" marR="73152" marT="36576" marB="36576" anchor="ctr">
                    <a:solidFill>
                      <a:srgbClr val="FFFFFF"/>
                    </a:solidFill>
                  </a:tcPr>
                </a:tc>
                <a:tc>
                  <a:txBody>
                    <a:bodyPr wrap="square"/>
                    <a:lstStyle/>
                    <a:p>
                      <a:r>
                        <a:rPr sz="1000" b="0" i="0">
                          <a:solidFill>
                            <a:srgbClr val="353B4A"/>
                          </a:solidFill>
                          <a:latin typeface="Inter"/>
                        </a:rPr>
                        <a:t>Oracle Autonomous DB with PL/SQL</a:t>
                      </a:r>
                    </a:p>
                  </a:txBody>
                  <a:tcPr marL="73152" marR="73152" marT="36576" marB="36576" anchor="ctr">
                    <a:solidFill>
                      <a:srgbClr val="FFFFFF"/>
                    </a:solidFill>
                  </a:tcPr>
                </a:tc>
                <a:tc>
                  <a:txBody>
                    <a:bodyPr wrap="square"/>
                    <a:lstStyle/>
                    <a:p>
                      <a:r>
                        <a:rPr sz="1000" b="0" i="0">
                          <a:solidFill>
                            <a:srgbClr val="353B4A"/>
                          </a:solidFill>
                          <a:latin typeface="Inter"/>
                        </a:rPr>
                        <a:t>SQLite with trigger, views, constraints</a:t>
                      </a:r>
                    </a:p>
                  </a:txBody>
                  <a:tcPr marL="73152" marR="73152" marT="36576" marB="36576" anchor="ctr">
                    <a:solidFill>
                      <a:srgbClr val="FFFFFF"/>
                    </a:solidFill>
                  </a:tcPr>
                </a:tc>
                <a:tc>
                  <a:txBody>
                    <a:bodyPr wrap="square"/>
                    <a:lstStyle/>
                    <a:p>
                      <a:r>
                        <a:rPr sz="1000" b="0" i="0">
                          <a:solidFill>
                            <a:srgbClr val="353B4A"/>
                          </a:solidFill>
                          <a:latin typeface="Inter"/>
                        </a:rPr>
                        <a:t>Zero-setup development; schema kept portable</a:t>
                      </a:r>
                    </a:p>
                  </a:txBody>
                  <a:tcPr marL="73152" marR="73152" marT="36576" marB="36576" anchor="ctr">
                    <a:solidFill>
                      <a:srgbClr val="FFFFFF"/>
                    </a:solidFill>
                  </a:tcPr>
                </a:tc>
              </a:tr>
              <a:tr h="512064">
                <a:tc>
                  <a:txBody>
                    <a:bodyPr wrap="square"/>
                    <a:lstStyle/>
                    <a:p>
                      <a:r>
                        <a:rPr sz="1000" b="1" i="0">
                          <a:solidFill>
                            <a:srgbClr val="1B2A55"/>
                          </a:solidFill>
                          <a:latin typeface="Inter"/>
                        </a:rPr>
                        <a:t>NoSQL ledger</a:t>
                      </a:r>
                    </a:p>
                  </a:txBody>
                  <a:tcPr marL="73152" marR="73152" marT="36576" marB="36576" anchor="ctr">
                    <a:solidFill>
                      <a:srgbClr val="F1F0F6"/>
                    </a:solidFill>
                  </a:tcPr>
                </a:tc>
                <a:tc>
                  <a:txBody>
                    <a:bodyPr wrap="square"/>
                    <a:lstStyle/>
                    <a:p>
                      <a:r>
                        <a:rPr sz="1000" b="0" i="0">
                          <a:solidFill>
                            <a:srgbClr val="353B4A"/>
                          </a:solidFill>
                          <a:latin typeface="Inter"/>
                        </a:rPr>
                        <a:t>MongoDB Atlas</a:t>
                      </a:r>
                    </a:p>
                  </a:txBody>
                  <a:tcPr marL="73152" marR="73152" marT="36576" marB="36576" anchor="ctr">
                    <a:solidFill>
                      <a:srgbClr val="F1F0F6"/>
                    </a:solidFill>
                  </a:tcPr>
                </a:tc>
                <a:tc>
                  <a:txBody>
                    <a:bodyPr wrap="square"/>
                    <a:lstStyle/>
                    <a:p>
                      <a:r>
                        <a:rPr sz="1000" b="0" i="0">
                          <a:solidFill>
                            <a:srgbClr val="353B4A"/>
                          </a:solidFill>
                          <a:latin typeface="Inter"/>
                        </a:rPr>
                        <a:t>Hash-chained JSON documents</a:t>
                      </a:r>
                    </a:p>
                  </a:txBody>
                  <a:tcPr marL="73152" marR="73152" marT="36576" marB="36576" anchor="ctr">
                    <a:solidFill>
                      <a:srgbClr val="F1F0F6"/>
                    </a:solidFill>
                  </a:tcPr>
                </a:tc>
                <a:tc>
                  <a:txBody>
                    <a:bodyPr wrap="square"/>
                    <a:lstStyle/>
                    <a:p>
                      <a:r>
                        <a:rPr sz="1000" b="0" i="0">
                          <a:solidFill>
                            <a:srgbClr val="353B4A"/>
                          </a:solidFill>
                          <a:latin typeface="Inter"/>
                        </a:rPr>
                        <a:t>Same document model without a hosted cluster</a:t>
                      </a:r>
                    </a:p>
                  </a:txBody>
                  <a:tcPr marL="73152" marR="73152" marT="36576" marB="36576" anchor="ctr">
                    <a:solidFill>
                      <a:srgbClr val="F1F0F6"/>
                    </a:solidFill>
                  </a:tcPr>
                </a:tc>
              </a:tr>
              <a:tr h="512064">
                <a:tc>
                  <a:txBody>
                    <a:bodyPr wrap="square"/>
                    <a:lstStyle/>
                    <a:p>
                      <a:r>
                        <a:rPr sz="1000" b="1" i="0">
                          <a:solidFill>
                            <a:srgbClr val="1B2A55"/>
                          </a:solidFill>
                          <a:latin typeface="Inter"/>
                        </a:rPr>
                        <a:t>Frontend</a:t>
                      </a:r>
                    </a:p>
                  </a:txBody>
                  <a:tcPr marL="73152" marR="73152" marT="36576" marB="36576" anchor="ctr">
                    <a:solidFill>
                      <a:srgbClr val="FFFFFF"/>
                    </a:solidFill>
                  </a:tcPr>
                </a:tc>
                <a:tc>
                  <a:txBody>
                    <a:bodyPr wrap="square"/>
                    <a:lstStyle/>
                    <a:p>
                      <a:r>
                        <a:rPr sz="1000" b="0" i="0">
                          <a:solidFill>
                            <a:srgbClr val="353B4A"/>
                          </a:solidFill>
                          <a:latin typeface="Inter"/>
                        </a:rPr>
                        <a:t>Streamlit</a:t>
                      </a:r>
                    </a:p>
                  </a:txBody>
                  <a:tcPr marL="73152" marR="73152" marT="36576" marB="36576" anchor="ctr">
                    <a:solidFill>
                      <a:srgbClr val="FFFFFF"/>
                    </a:solidFill>
                  </a:tcPr>
                </a:tc>
                <a:tc>
                  <a:txBody>
                    <a:bodyPr wrap="square"/>
                    <a:lstStyle/>
                    <a:p>
                      <a:r>
                        <a:rPr sz="1000" b="0" i="0">
                          <a:solidFill>
                            <a:srgbClr val="353B4A"/>
                          </a:solidFill>
                          <a:latin typeface="Inter"/>
                        </a:rPr>
                        <a:t>React + FastAPI; Streamlit kept</a:t>
                      </a:r>
                    </a:p>
                  </a:txBody>
                  <a:tcPr marL="73152" marR="73152" marT="36576" marB="36576" anchor="ctr">
                    <a:solidFill>
                      <a:srgbClr val="FFFFFF"/>
                    </a:solidFill>
                  </a:tcPr>
                </a:tc>
                <a:tc>
                  <a:txBody>
                    <a:bodyPr wrap="square"/>
                    <a:lstStyle/>
                    <a:p>
                      <a:r>
                        <a:rPr sz="1000" b="0" i="0">
                          <a:solidFill>
                            <a:srgbClr val="353B4A"/>
                          </a:solidFill>
                          <a:latin typeface="Inter"/>
                        </a:rPr>
                        <a:t>Separate voter and admin experiences, mobile support</a:t>
                      </a:r>
                    </a:p>
                  </a:txBody>
                  <a:tcPr marL="73152" marR="73152" marT="36576" marB="36576" anchor="ctr">
                    <a:solidFill>
                      <a:srgbClr val="FFFFFF"/>
                    </a:solidFill>
                  </a:tcPr>
                </a:tc>
              </a:tr>
              <a:tr h="512064">
                <a:tc>
                  <a:txBody>
                    <a:bodyPr wrap="square"/>
                    <a:lstStyle/>
                    <a:p>
                      <a:r>
                        <a:rPr sz="1000" b="1" i="0">
                          <a:solidFill>
                            <a:srgbClr val="1B2A55"/>
                          </a:solidFill>
                          <a:latin typeface="Inter"/>
                        </a:rPr>
                        <a:t>Schema</a:t>
                      </a:r>
                    </a:p>
                  </a:txBody>
                  <a:tcPr marL="73152" marR="73152" marT="36576" marB="36576" anchor="ctr">
                    <a:solidFill>
                      <a:srgbClr val="F1F0F6"/>
                    </a:solidFill>
                  </a:tcPr>
                </a:tc>
                <a:tc>
                  <a:txBody>
                    <a:bodyPr wrap="square"/>
                    <a:lstStyle/>
                    <a:p>
                      <a:r>
                        <a:rPr sz="1000" b="0" i="0">
                          <a:solidFill>
                            <a:srgbClr val="353B4A"/>
                          </a:solidFill>
                          <a:latin typeface="Inter"/>
                        </a:rPr>
                        <a:t>Five core tables</a:t>
                      </a:r>
                    </a:p>
                  </a:txBody>
                  <a:tcPr marL="73152" marR="73152" marT="36576" marB="36576" anchor="ctr">
                    <a:solidFill>
                      <a:srgbClr val="F1F0F6"/>
                    </a:solidFill>
                  </a:tcPr>
                </a:tc>
                <a:tc>
                  <a:txBody>
                    <a:bodyPr wrap="square"/>
                    <a:lstStyle/>
                    <a:p>
                      <a:r>
                        <a:rPr sz="1000" b="0" i="0">
                          <a:solidFill>
                            <a:srgbClr val="353B4A"/>
                          </a:solidFill>
                          <a:latin typeface="Inter"/>
                        </a:rPr>
                        <a:t>+ ADMIN_USERS; POSITION deferred</a:t>
                      </a:r>
                    </a:p>
                  </a:txBody>
                  <a:tcPr marL="73152" marR="73152" marT="36576" marB="36576" anchor="ctr">
                    <a:solidFill>
                      <a:srgbClr val="F1F0F6"/>
                    </a:solidFill>
                  </a:tcPr>
                </a:tc>
                <a:tc>
                  <a:txBody>
                    <a:bodyPr wrap="square"/>
                    <a:lstStyle/>
                    <a:p>
                      <a:r>
                        <a:rPr sz="1000" b="0" i="0">
                          <a:solidFill>
                            <a:srgbClr val="353B4A"/>
                          </a:solidFill>
                          <a:latin typeface="Inter"/>
                        </a:rPr>
                        <a:t>Officer logins needed a table</a:t>
                      </a:r>
                    </a:p>
                  </a:txBody>
                  <a:tcPr marL="73152" marR="73152" marT="36576" marB="36576" anchor="ctr">
                    <a:solidFill>
                      <a:srgbClr val="F1F0F6"/>
                    </a:solidFill>
                  </a:tcPr>
                </a:tc>
              </a:tr>
              <a:tr h="512064">
                <a:tc>
                  <a:txBody>
                    <a:bodyPr wrap="square"/>
                    <a:lstStyle/>
                    <a:p>
                      <a:r>
                        <a:rPr sz="1000" b="1" i="0">
                          <a:solidFill>
                            <a:srgbClr val="1B2A55"/>
                          </a:solidFill>
                          <a:latin typeface="Inter"/>
                        </a:rPr>
                        <a:t>Lifecycle</a:t>
                      </a:r>
                    </a:p>
                  </a:txBody>
                  <a:tcPr marL="73152" marR="73152" marT="36576" marB="36576" anchor="ctr">
                    <a:solidFill>
                      <a:srgbClr val="FFFFFF"/>
                    </a:solidFill>
                  </a:tcPr>
                </a:tc>
                <a:tc>
                  <a:txBody>
                    <a:bodyPr wrap="square"/>
                    <a:lstStyle/>
                    <a:p>
                      <a:r>
                        <a:rPr sz="1000" b="0" i="0">
                          <a:solidFill>
                            <a:srgbClr val="353B4A"/>
                          </a:solidFill>
                          <a:latin typeface="Inter"/>
                        </a:rPr>
                        <a:t>Timestamp-driven procedures</a:t>
                      </a:r>
                    </a:p>
                  </a:txBody>
                  <a:tcPr marL="73152" marR="73152" marT="36576" marB="36576" anchor="ctr">
                    <a:solidFill>
                      <a:srgbClr val="FFFFFF"/>
                    </a:solidFill>
                  </a:tcPr>
                </a:tc>
                <a:tc>
                  <a:txBody>
                    <a:bodyPr wrap="square"/>
                    <a:lstStyle/>
                    <a:p>
                      <a:r>
                        <a:rPr sz="1000" b="0" i="0">
                          <a:solidFill>
                            <a:srgbClr val="353B4A"/>
                          </a:solidFill>
                          <a:latin typeface="Inter"/>
                        </a:rPr>
                        <a:t>Guarded Nominations → Voting → Closed</a:t>
                      </a:r>
                    </a:p>
                  </a:txBody>
                  <a:tcPr marL="73152" marR="73152" marT="36576" marB="36576" anchor="ctr">
                    <a:solidFill>
                      <a:srgbClr val="FFFFFF"/>
                    </a:solidFill>
                  </a:tcPr>
                </a:tc>
                <a:tc>
                  <a:txBody>
                    <a:bodyPr wrap="square"/>
                    <a:lstStyle/>
                    <a:p>
                      <a:r>
                        <a:rPr sz="1000" b="0" i="0">
                          <a:solidFill>
                            <a:srgbClr val="353B4A"/>
                          </a:solidFill>
                          <a:latin typeface="Inter"/>
                        </a:rPr>
                        <a:t>SQLite has no stored procedures</a:t>
                      </a:r>
                    </a:p>
                  </a:txBody>
                  <a:tcPr marL="73152" marR="73152" marT="36576" marB="36576" anchor="ctr">
                    <a:solidFill>
                      <a:srgbClr val="FFFFFF"/>
                    </a:solidFill>
                  </a:tcPr>
                </a:tc>
              </a:tr>
            </a:tbl>
          </a:graphicData>
        </a:graphic>
      </p:graphicFrame>
      <p:sp>
        <p:nvSpPr>
          <p:cNvPr id="7" name="Rounded Rectangle 6"/>
          <p:cNvSpPr/>
          <p:nvPr/>
        </p:nvSpPr>
        <p:spPr>
          <a:xfrm>
            <a:off x="457200" y="4114800"/>
            <a:ext cx="8229600" cy="594360"/>
          </a:xfrm>
          <a:prstGeom prst="roundRect">
            <a:avLst>
              <a:gd name="adj" fmla="val 6000"/>
            </a:avLst>
          </a:prstGeom>
          <a:solidFill>
            <a:srgbClr val="F1F0F6"/>
          </a:solidFill>
          <a:ln w="15875">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60520"/>
            <a:ext cx="7863840" cy="50292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Unchanged targets: </a:t>
            </a:r>
            <a:r>
              <a:rPr sz="1100" b="0" i="0">
                <a:solidFill>
                  <a:srgbClr val="353B4A"/>
                </a:solidFill>
                <a:latin typeface="Inter"/>
              </a:rPr>
              <a:t>Oracle with PL/SQL, MongoDB Atlas and cloud deployment remain the goals for the final review; the code is structured so they are a migration, not a rewrite.</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