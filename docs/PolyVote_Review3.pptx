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66" r:id="rId14"/>
    <p:sldId id="267" r:id="rId13"/>
    <p:sldId id="268" r:id="rId12"/>
    <p:sldId id="269" r:id="rId11"/>
    <p:sldId id="270" r:id="rId10"/>
    <p:sldId id="271" r:id="rId9"/>
    <p:sldId id="272" r:id="rId8"/>
    <p:sldId id="273" r:id="rId7"/>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265" r:id="rId15"/>
  </p:sldIdLst>
  <p:sldSz cy="5143500" cx="9144000"/>
  <p:notesSz cx="5143500" cy="9144000"/>
  <p:embeddedFontLst>
    <p:embeddedFont>
      <p:font typeface="Inter SemiBold"/>
      <p:regular r:id="rId16"/>
      <p:bold r:id="rId17"/>
      <p:italic r:id="rId18"/>
      <p:boldItalic r:id="rId19"/>
    </p:embeddedFont>
    <p:embeddedFont>
      <p:font typeface="Inter"/>
      <p:bold r:id="rId20"/>
      <p:boldItalic r:id="rId21"/>
    </p:embeddedFont>
    <p:embeddedFont>
      <p:font typeface="Inter Medium"/>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56F632-080D-41BD-B1F7-19A39A7C3095}">
  <a:tblStyle styleId="{CF56F632-080D-41BD-B1F7-19A39A7C309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3.xml"/><Relationship Id="rId15" Type="http://schemas.openxmlformats.org/officeDocument/2006/relationships/slide" Target="slides/slide90.xml"/><Relationship Id="rId16" Type="http://schemas.openxmlformats.org/officeDocument/2006/relationships/font" Target="fonts/InterSemiBold-regular.fntdata"/><Relationship Id="rId17" Type="http://schemas.openxmlformats.org/officeDocument/2006/relationships/font" Target="fonts/InterSemiBold-bold.fntdata"/><Relationship Id="rId18" Type="http://schemas.openxmlformats.org/officeDocument/2006/relationships/font" Target="fonts/InterSemiBold-italic.fntdata"/><Relationship Id="rId19" Type="http://schemas.openxmlformats.org/officeDocument/2006/relationships/font" Target="fonts/InterSemiBold-boldItalic.fntdata"/><Relationship Id="rId20" Type="http://schemas.openxmlformats.org/officeDocument/2006/relationships/font" Target="fonts/Inter-bold.fntdata"/><Relationship Id="rId21" Type="http://schemas.openxmlformats.org/officeDocument/2006/relationships/font" Target="fonts/Inter-boldItalic.fntdata"/><Relationship Id="rId22" Type="http://schemas.openxmlformats.org/officeDocument/2006/relationships/font" Target="fonts/InterMedium-regular.fntdata"/><Relationship Id="rId23" Type="http://schemas.openxmlformats.org/officeDocument/2006/relationships/font" Target="fonts/InterMedium-bold.fntdata"/><Relationship Id="rId24" Type="http://schemas.openxmlformats.org/officeDocument/2006/relationships/font" Target="fonts/InterMedium-italic.fntdata"/><Relationship Id="rId25" Type="http://schemas.openxmlformats.org/officeDocument/2006/relationships/font" Target="fonts/InterMedium-boldItalic.fntdata"/><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morning, sir, and everyone. This is Review 3, the final review of PolyVote, our ranked-choice election platform with a tamper-evident audit trail. Review 1 presented the design and Review 2 showed the working system. Today we show the completed system: a MongoDB Atlas ledger, a keyed hash chain, a second authentication factor using emailed one-time codes, public hosting, and an evaluation that tests our claims instead of asserting them. We will also show a short live demonstration of the version with email verification switched on.</a:t>
            </a: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architecture. One FastAPI service that also serves the React app, exposed through a tunnel. Behind it three stores. The election database holds the roster, candidates and anonymous ballots. The verification database is a separate file that holds voter emails and one-time-code challenges, and it is never joined to ballots. The ledger is a MongoDB Atlas collection. Secrets live in an environment file outside all three. The point of the separation is that an administrator of one store cannot touch the others; only the application host sees all three, which is why host compromise is outside our model.</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quick map of where we are. Review 1 was the design; Review 2 was the working system at about seventy-five percent. At the end of Review 2 we received three pieces of feedback: add a second factor to confirm that the person voting is the person whose credentials are used, finish the MongoDB and hosting items, and show that the design is genuinely better rather than just built. Today answers all three. We now estimate about eighty-five percent completion, which is our own estimate; what remains open is deliberate: Oracle with PL/SQL and roles, the POSITION entity and a true cloud platform.</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pick up exactly where Review 2 ended. At Review 2 we were at about seventy-five percent, with MongoDB Atlas, hosting and injected-ballot detection still open, and the faculty comment that we should confirm the person voting is the person whose credentials are used. Two new features lead this review. First, the emailed one-time code: a correct password is no longer enough, because a six-digit code goes to the voter's email, valid for five minutes, usable once, with three guesses. Second, QR voting: the vote page shows a QR code for the public link, so any phone can open the ballot in seconds, and the same phone can receive the emailed code. The rest of the deck shows how they work, the evidence, and how this compares with similar systems.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slide is the direct response to the Review 2 comments. The second factor became an emailed one-time code with its own database and fourteen passing tests. MongoDB is done and live on Atlas. Hosting is a public HTTPS link with a QR code, so a phone can vote. And to prove the design is better, we built a forty-seven scenario suite and ran it against both the Review 2 design and the final one. The weaknesses we knew about, such as injected ballots, forged receipts and renamed candidates, each have a test and a fix. Where we still say future work, we explain why.</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Six changes. One, the ledger moved from a local JSON file to MongoDB Atlas. Two, the hash chain is now keyed with HMAC, so rebuilding it needs a secret. Three, each block also seals a hash of the candidate list. Four, the integrity sweep gained three rules. Five, the emailed one-time code. Six, public hosting with a QR code, and the executable test suite. Everything else from Review 2 is unchanged and still passes its tests.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Honest status. On the seven core features we score five and a half of seven, about seventy-nine percent, up from sixty-four. Polyglot persistence is complete and deployment has started. Counting the second factor, the comparative study and the evaluation, we estimate about eighty-five percent overall. The three open items are Oracle with PL/SQL and DCL roles, the POSITION entity, and a true cloud platform. They were deferred deliberately, and the code is structured so the Oracle move is a migration, not a rewrite.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security claim means nothing without a threat model, so we start there. Seven adversaries, ordered by capability. A voter with a leaked password is stopped by the emailed code. A rogue database administrator and a ledger-store administrator are detected by the sweep and the keyed chain. An insider with both stores but no secrets is detected, because they cannot recompute the keyed chain. Three are not covered: a network observer, beyond the tunnel's encryption; an insider who also holds the key; and roster injection through the admin path. We say so now rather than have it found later.</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Eight goals, each with the mechanism that serves it and, later, the test that checks it. One vote per voter; only verified, rostered voters; anonymity in storage; malformed ballots rejected; detectability of edits, deletions and insertions; a ledger that cannot be silently rewritten without the key; candidate names fixed after voting; and a receipt that lets a voter confirm their ballot is recorded and counted.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Thank you. To summarise: PolyVote now enforces election rules in the database, seals every ballot in a keyed ledger on MongoDB Atlas, confirms voters with an emailed one-time code, runs publicly, and is evaluated by an executable suite that shows automatic detection of tampering rising from six to twelve of thirteen scenarios, with the remaining gaps stated openly. The code, the long report and the short paper are available, and we are happy to take questions or run any part of the demonstration again.</a:t>
            </a:r>
          </a:p>
        </p:txBody>
      </p:sp>
      <p:sp>
        <p:nvSpPr>
          <p:cNvPr id="186" name="Google Shape;18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updated ER diagram. The left frame is the election database, unchanged in structure from Review 2 apart from what it protects. The dashed box is a ledger block, a JSON document linked to a ballot by its token, not by a foreign key. The right frame is new: the verification database with voter contacts, challenges and a mail log. Notice there is deliberately no line from it to the ballot table. A voter's email can never be joined to a ballot.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Casting a ballot is the one path that touches everything, so it is serialised. After authentication the server takes a write lock, checks the election is open, validates the ranking and confirms the voter has not voted. In one transaction it sets the voted flag and inserts the ranked rows under a random token. Then it appends a sealed block to the ledger and invalidates the session. The ledger append happens after the commit; if the ledger were unreachable at that instant, the ballot would exist without a receipt, and the sweep reports exactly that. We chose the variant that fails visibly.</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key idea of the integrity story. Each block holds the ranks hash, the roster hash, the previous block's hash and its own hash. In Review 2 the block hash was plain SHA-256, so someone who could write the store could change a ballot and recompute every later hash. The chain was consistent but not authenticated. Now the block hash is an HMAC under a secret key held outside both stores. An attacker without the key can rebuild a chain, but it fails verification at the first block. Older blocks still verify. The limit is stated on the slide: whoever holds the key can still forge, which needs an external witness.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sweep recomputes the state of an election from the database and compares it with the ledger. Rules one and two were in Review 2. Rule three finds a ballot in the database that has no receipt. Rule four compares the current candidate names with the sealed hash. Rule five compares voter flags, ballots and receipts. The chain check, which verifies every block, is separate and complementary: it finds edits inside the ledger, while the sweep finds edits to the database.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MongoDB. Each block is a document in a collection with a unique index on the block position. That index is our compare-and-swap: two simultaneous writers cannot both take the same slot, so the chain cannot fork. Appending reads only the last block and inserts one document, so the cost does not grow with the chain. If no connection string is set, or Atlas is unreachable, the system falls back to the local file, and the health endpoint says which backend is active. A migration script moved our existing blocks and verified the chain. The connection string lives only in the environment file.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second factor. The voter enters the registration number and password. If they are right, the server does not issue a session; it issues a challenge, generates a six-digit code, stores only a keyed hash of it, and emails the code from a background thread so the page never waits on the mail server. The voter types the code, the server compares it in constant time, checks the attempt count and the single-use flag, and only then issues the voting session. A failed email never blocks sign-in because the code is also visible in the administrator outbox.</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choices that make it hold up. Codes come from a cryptographically secure generator, so they are unpredictable. Only an HMAC of the code is stored, so the database never holds a usable code. A code lasts five minutes, works once, and allows three guesses. Resends are limited, and so are new challenges per voter, so a resend cannot be used to keep guessing. Emails live in their own database. A test found a real bug here, which we will show in the evaluation.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what a voter sees. One: sign in with registration number and password; the QR code lets a phone open the same ballot. Two: the new step, the code sent to the address on file. Three: rank three candidates in order; there is a review step before the irreversible cast. Four: the receipt token and the ledger block number. The token shows that a ballot is recorded and counted; it does not reveal how anyone voted.</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Hosting. We expose the service through a Cloudflare quick tunnel, which gives a temporary public HTTPS address without opening ports. The voter page shows a QR code for it, so a phone scans and votes; we cast a real ballot from a phone this way. To be precise, this is public hosting from a laptop, not cloud deployment: the laptop has to stay on and the address changes when the tunnel restarts. A real cloud platform is part of the Oracle migration planned next. The repository contains only a template for the environment file, never the secrets.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a short live demonstration, on a separate copy of the project we call Sample PolyVote. It is identical except that email verification is switched on, and it has its own database and its own Atlas collection so it cannot disturb the main system. The flow: show the admin view with voter emails and the outbox; sign in as a voter, and note that the right password is not enough; take the code from the outbox, or from the inbox if mail is configured; rank and cast; check the receipt and show the new block in Atlas. Then the tamper test: edit a ballot in DB Studio and run the sweep, and edit a block in Atlas to show the chain breaking. If email is slow, the code is always in the outbox.</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prove the design is better we built a suite instead of arguing. Forty-seven scenarios: seven database-level prevention tests, thirteen API abuse tests, thirteen tampering scenarios, and fourteen one-time-code tests, plus benchmarks at one hundred, one thousand and ten thousand ballots. The suite runs on a throwaway copy, drives the real API, and plays the rogue administrator by editing the database and ledger files directly. The baseline is the Review 2 design, run unchanged, and the attacker scripts never see the ledger key. We repeat each run three times; the outcomes were identical every time.</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prevention results. Six of seven database statements are rejected by the engine with its own error message, and all thirteen API abuse tests are refused, including twenty simultaneous casts by one voter of which exactly one is stored. The one gap is instructive: SQLite enforces foreign keys only on connections that turn the setting on. Our application does; a console opened with default settings does not. So a rogue administrator can insert a ballot for a candidate that does not exist. The sweep reports it as injected, but the lesson is that a constraint is only as strong as the engine's enforcement, which is one reason for the move to a server database.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central result. Thirteen scenarios of tampering by someone with direct storage access. Under the Review 2 design, 6 are detected automatically, three are visible only if an officer compares the counters by eye, and four are not detected at all. Under the final design, 12 are detected automatically, none depend on the counters, and one is not detected: adding a ghost voter to the roster and voting as them. We report that one openly. The detection bar shows each scenario, colour-coded.</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why counters alone are not enough. On the left, one ballot was deleted and another injected, so the counters still read forty-six, forty-six, forty-six and look perfectly healthy. The sweep nevertheless names both ballots, one deleted and one without a receipt. On the right, a single edited block makes the audit ledger page show a red banner: data tampered at block twenty.</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Six scenarios the old design missed or only half caught. A ballot injected without a receipt, and a truncated ledger, were visible only in the counters; the new injected-ballot and reconciliation rules catch them. Renaming candidates after voting was invisible; the sealed roster hash catches it. The two serious ones are ballot stuffing with a forged receipt and a consistent rewrite of the whole chain. Both were completely undetected, because a plain hash chain lets an attacker recompute every hash. With the key, the forged or rebuilt blocks fail verification.</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All fourteen one-time-code tests pass: no session from a password alone, replay refused, three wrong guesses lock the challenge, expiry, resend limits, privacy of stored codes, and resilience to a failed mail server. But it did not start that way. Test F4 failed. The attempt counter was updated inside a database context manager and the handler then raised an HTTP error; SQLite rolls back when an exception leaves the context, so every failed guess was recorded and then undone, which meant unlimited guessing. We fixed it by committing before the error propagates. It is a good argument for executable tests over review for security logic.</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Performance. The keyed chain and the three extra rules cost little: the sweep at ten thousand ballots takes about 147 milliseconds, roughly 15 percent slower than before. The file ledger is the one that grows: a cast goes from about 9 milliseconds at a hundred ballots to 205 at ten thousand, because every append rewrites the whole file. Against Atlas an append costs about 147 milliseconds at any size, which is mostly network time on a mobile hotspot. So Atlas is not about raw speed at small sizes; it is about flat growth, concurrency control, and holding the ledger off the application machine.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How we compare. These systems optimise cryptographic assurance: Helios and Belenios give a publicly verifiable tally with encrypted ballots; Civitas and the paper-based systems add coercion resistance or voter verification; Estonia is a national system whose analysis found real weaknesses; and commercial mobile voting products have had serious vulnerabilities reported. We sit at the low-burden end: database rules, a keyed ledger and a reconciling sweep. We did not run these systems; the comparison is from their published designs. We are not a substitute where a hostile administrator is the main concern. We target the many elections where cryptographic voting is impractical.</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comparative study. We grouped similar systems into five kinds: the cryptographic research systems like Helios and Belenios; commercial hosted services such as ElectionBuddy, OpaVote and Simply Voting; general form tools such as Google Forms; the typical student voting project, which is a single table with one password; and national systems such as Estonia. We compared them on ten properties using their published designs and vendor pages, and for PolyVote using our own executable tests. We did not run the other systems ourselves. The question we ask is not who has the strongest cryptography, because the research systems win that, but which system makes a small election both easy to run and hard to tamper with undetected.</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the feature comparison. Read it row by row. PolyVote has ranked-choice counting built in, serves many organisations from one install, enforces the one-vote rule inside the database engine, stores voters and ballots with no linking column, and is the only entry with published test evidence for tamper detection: forty-seven scenarios. It adds a second factor with an emailed code, and scan-to-vote on a phone. The honest rows are the cryptographic systems: they let a voter verify their ballot, which we do not; we show only that a ballot is recorded and counted. For the other systems the entries come from their published designs and vendor pages, and where we could not confirm something we wrote varies or not documented rather than guess.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is unique. We are careful with this word: it means we did not find these five things together in one small-election system, not that no one has done any of them. One, integrity inside the database: the engine itself refuses a second vote, a bad rank, or a ballot for a missing candidate. Two, the keyed ledger in a separate MongoDB store with a sealed candidate roster, so rebuilding the chain needs a secret key. Three, three separate stores for ballots, voter emails and the ledger, so no join can link an email to a ballot. Four, an emailed one-time code plus a QR code that opens the ballot on any phone. Five, evidence: an executable suite attacks both the old and the final design, and automatic detection rose from six to twelve of thirteen scenarios.</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verdict. For the problem we target, small and medium elections such as clubs, councils and classes, PolyVote is the better fit: it gives ranked-choice results, runs in an afternoon for free, proves that edits and deletions are caught, and confirms voters by email on any phone. The cryptographic systems are the better choice when the administrator cannot be trusted, when voters must verify their own ballot content, when coercion is a threat, or when a public cryptographic audit is required. We say this openly because it makes the claim credible. Our claim is that for the elections we target, PolyVote is simpler to run, enforces more inside the database, and is the only system in this comparison with tested evidence.</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summary of improvements over our own Review 2 design. Automatic detection of tampering rises from six to twelve of thirteen. Forged receipts, rebuilt chains and renamed candidates move from undetected to detected. Authentication goes from password only to password plus an emailed code. The ledger moves to Atlas, and the system becomes publicly reachable. The cost is small: the sweep at ten thousand ballots goes from about one hundred and twenty-nine to about one hundred and forty-seven milliseconds.</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we do not claim. An insider holding the key and both stores can still forge a chain; the remedy is an external witness for the chain head. Roster injection is not detected; we need a committed roster. We are not end-to-end verifiable. Passwords are stored with plain SHA-256, which we know should be a salted slow hash. Email is a weak factor compared with an authenticator app. Ties in instant-runoff are broken arbitrarily. And SQLite is a single-node engine with per-connection foreign keys, so the planned move to Oracle with PL/SQL and roles also fixes that.</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are the venues we found that are still accepting papers today, sorted by the student author fee. The cheapest are Indian conferences at about eight to nine thousand rupees: Confluence at Amity Noida, closing the fourth of December; INDIACom in New Delhi, closing the seventh of December, with a six page limit; IEM-ICDC in Kolkata; ICRCICN at Kalyani; and ICESICSC at KIIT Bhubaneswar, which closes on the thirtieth of October. i-PACT is at VIT Vellore in September 2027 for twelve thousand rupees. The international ones cost fifty to seventy-five thousand rupees before travel. The important caveat is the last column: none of these venues has confirmed indexing yet. Every one says submitted for, proposed, or approval awaited, so they are plans, not results, and indexing should be checked on the publisher's site before paying. Fees are normally paid after acceptance, and are approximate in rupees.</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same list grouped by where the conference is held. Most of the cheap options are in India, so travel is domestic: Noida, New Delhi, Kolkata and Kalyani, Bhubaneswar, and i-PACT on our own campus in Vellore. No open venue is online-only, but ISDFS in San Jose, ICDAM in London, and two of the Indian ones offer an online or hybrid option; online presentation usually still costs the full registration fee. Abroad, the strongest topical fits are ICISSP in Malta, ICEIS and DATA in Rome, and ICEDEG on e-democracy in Spain. Travel and visa costs are not in any of the fees we quote.</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recommended order, remembering that we cannot submit to two venues at the same time. ICISSP closes on the twenty-ninth of October, so it is first if we can adapt the paper to their template in time; the decision arrives on the fourth of December. If that fails, INDIACom or Confluence are the cheap Indian options; pick one, not both. Confluence gives the fastest answer, by the twenty-fifth of December, but the deadline is the same day as the ICISSP decision. Then ICEIS, IFIP SEC or ICDF2C as better-quality fallbacks, ISDFS in January with online presentation, and ICEDEG or DATA in the spring. Before submitting: verify the publisher on its own page, remove author names for double-blind venues, follow each venue's AI-disclosure policy, and recheck the deadline, because dates move.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also checked the list your roommates found. The venues are real. ICRTAC is run by VIT Chennai SCOPE and its ninth edition is on the tenth and eleventh of December, but its paper deadline passed in August. ICSCAN held its seventh edition in June. i-PACT is real but is a power-engineering conference. E-Vote-ID is real and the best topical match. What we could not support is the claim that these are easy or have seventy-five percent acceptance: no venue publishes such a figure, and the numbers we found point the other way, for example ICRTAC 2024 accepted thirty-six of three hundred and fifteen papers, about eleven percent. Also, ICRTAC 2026 says IEEE Xplore, not Springer, and IEEE sponsorship for ICSCAN and ICCCNT is not confirmed on their official sites. A very fast acceptance is a warning sign, so we recommend choosing on fit and verified indexing.</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plan. Our claim is specific: a database-centric design that raises the cost of undetected tampering, supported by executable evidence and a stated threat model. We do not claim parity with end-to-end verifiable systems. A short IEEE-style paper and the long report are ready. For choosing a venue, check indexing on the publisher or Scopus rather than on the conference page, be wary of very short review cycles and fees without a named proceedings publisher, and start with a good-fit venue with a backup. Finally, follow each venue's policy on disclosing AI assistance in writing or coding.</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FFFFFF"/>
        </a:solidFill>
      </p:bgPr>
    </p:bg>
    <p:spTree>
      <p:nvGrpSpPr>
        <p:cNvPr id="10" name="Shape 10"/>
        <p:cNvGrpSpPr/>
        <p:nvPr/>
      </p:nvGrpSpPr>
      <p:grpSpPr>
        <a:xfrm>
          <a:off x="0" y="0"/>
          <a:ext cx="0" cy="0"/>
          <a:chOff x="0" y="0"/>
          <a:chExt cx="0" cy="0"/>
        </a:xfrm>
      </p:grpSpPr>
      <p:pic>
        <p:nvPicPr>
          <p:cNvPr descr="preencoded.png" id="11" name="Google Shape;11;p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4"/>
          <p:cNvSpPr txBox="1"/>
          <p:nvPr>
            <p:ph type="title"/>
          </p:nvPr>
        </p:nvSpPr>
        <p:spPr>
          <a:xfrm>
            <a:off x="411480" y="240030"/>
            <a:ext cx="8318700" cy="6171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2"/>
              </a:buClr>
              <a:buSzPts val="2400"/>
              <a:buFont typeface="Cambria"/>
              <a:buNone/>
              <a:defRPr b="1" i="0" sz="2400" u="none" cap="none" strike="noStrike">
                <a:solidFill>
                  <a:schemeClr val="dk2"/>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5" name="Google Shape;15;p4"/>
          <p:cNvSpPr/>
          <p:nvPr/>
        </p:nvSpPr>
        <p:spPr>
          <a:xfrm>
            <a:off x="411480" y="480060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800"/>
              <a:buFont typeface="Calibri"/>
              <a:buNone/>
            </a:pPr>
            <a:r>
              <a:rPr b="0" i="0" lang="en-US" sz="800" u="none" cap="none" strike="noStrike">
                <a:solidFill>
                  <a:schemeClr val="accent5"/>
                </a:solidFill>
                <a:latin typeface="Calibri"/>
                <a:ea typeface="Calibri"/>
                <a:cs typeface="Calibri"/>
                <a:sym typeface="Calibri"/>
              </a:rPr>
              <a:t>BACSE291 – Innovative Design Project  |  First Review  |  Fall Semester 2026</a:t>
            </a:r>
            <a:endParaRPr b="0" i="0" sz="800" u="none" cap="none" strike="noStrike">
              <a:solidFill>
                <a:schemeClr val="dk1"/>
              </a:solidFill>
              <a:latin typeface="Calibri"/>
              <a:ea typeface="Calibri"/>
              <a:cs typeface="Calibri"/>
              <a:sym typeface="Calibri"/>
            </a:endParaRPr>
          </a:p>
        </p:txBody>
      </p:sp>
      <p:sp>
        <p:nvSpPr>
          <p:cNvPr id="16" name="Google Shape;16;p4"/>
          <p:cNvSpPr txBox="1"/>
          <p:nvPr>
            <p:ph idx="12" type="sldNum"/>
          </p:nvPr>
        </p:nvSpPr>
        <p:spPr>
          <a:xfrm>
            <a:off x="8181594" y="4800600"/>
            <a:ext cx="548400" cy="2058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5"/>
                </a:solidFill>
                <a:latin typeface="Calibri"/>
                <a:ea typeface="Calibri"/>
                <a:cs typeface="Calibri"/>
                <a:sym typeface="Calibri"/>
              </a:defRPr>
            </a:lvl1pPr>
            <a:lvl2pPr indent="0" lvl="1" marL="0" marR="0" algn="r">
              <a:spcBef>
                <a:spcPts val="0"/>
              </a:spcBef>
              <a:buNone/>
              <a:defRPr b="0" i="0" sz="800" u="none" cap="none" strike="noStrike">
                <a:solidFill>
                  <a:schemeClr val="accent5"/>
                </a:solidFill>
                <a:latin typeface="Calibri"/>
                <a:ea typeface="Calibri"/>
                <a:cs typeface="Calibri"/>
                <a:sym typeface="Calibri"/>
              </a:defRPr>
            </a:lvl2pPr>
            <a:lvl3pPr indent="0" lvl="2" marL="0" marR="0" algn="r">
              <a:spcBef>
                <a:spcPts val="0"/>
              </a:spcBef>
              <a:buNone/>
              <a:defRPr b="0" i="0" sz="800" u="none" cap="none" strike="noStrike">
                <a:solidFill>
                  <a:schemeClr val="accent5"/>
                </a:solidFill>
                <a:latin typeface="Calibri"/>
                <a:ea typeface="Calibri"/>
                <a:cs typeface="Calibri"/>
                <a:sym typeface="Calibri"/>
              </a:defRPr>
            </a:lvl3pPr>
            <a:lvl4pPr indent="0" lvl="3" marL="0" marR="0" algn="r">
              <a:spcBef>
                <a:spcPts val="0"/>
              </a:spcBef>
              <a:buNone/>
              <a:defRPr b="0" i="0" sz="800" u="none" cap="none" strike="noStrike">
                <a:solidFill>
                  <a:schemeClr val="accent5"/>
                </a:solidFill>
                <a:latin typeface="Calibri"/>
                <a:ea typeface="Calibri"/>
                <a:cs typeface="Calibri"/>
                <a:sym typeface="Calibri"/>
              </a:defRPr>
            </a:lvl4pPr>
            <a:lvl5pPr indent="0" lvl="4" marL="0" marR="0" algn="r">
              <a:spcBef>
                <a:spcPts val="0"/>
              </a:spcBef>
              <a:buNone/>
              <a:defRPr b="0" i="0" sz="800" u="none" cap="none" strike="noStrike">
                <a:solidFill>
                  <a:schemeClr val="accent5"/>
                </a:solidFill>
                <a:latin typeface="Calibri"/>
                <a:ea typeface="Calibri"/>
                <a:cs typeface="Calibri"/>
                <a:sym typeface="Calibri"/>
              </a:defRPr>
            </a:lvl5pPr>
            <a:lvl6pPr indent="0" lvl="5" marL="0" marR="0" algn="r">
              <a:spcBef>
                <a:spcPts val="0"/>
              </a:spcBef>
              <a:buNone/>
              <a:defRPr b="0" i="0" sz="800" u="none" cap="none" strike="noStrike">
                <a:solidFill>
                  <a:schemeClr val="accent5"/>
                </a:solidFill>
                <a:latin typeface="Calibri"/>
                <a:ea typeface="Calibri"/>
                <a:cs typeface="Calibri"/>
                <a:sym typeface="Calibri"/>
              </a:defRPr>
            </a:lvl6pPr>
            <a:lvl7pPr indent="0" lvl="6" marL="0" marR="0" algn="r">
              <a:spcBef>
                <a:spcPts val="0"/>
              </a:spcBef>
              <a:buNone/>
              <a:defRPr b="0" i="0" sz="800" u="none" cap="none" strike="noStrike">
                <a:solidFill>
                  <a:schemeClr val="accent5"/>
                </a:solidFill>
                <a:latin typeface="Calibri"/>
                <a:ea typeface="Calibri"/>
                <a:cs typeface="Calibri"/>
                <a:sym typeface="Calibri"/>
              </a:defRPr>
            </a:lvl7pPr>
            <a:lvl8pPr indent="0" lvl="7" marL="0" marR="0" algn="r">
              <a:spcBef>
                <a:spcPts val="0"/>
              </a:spcBef>
              <a:buNone/>
              <a:defRPr b="0" i="0" sz="800" u="none" cap="none" strike="noStrike">
                <a:solidFill>
                  <a:schemeClr val="accent5"/>
                </a:solidFill>
                <a:latin typeface="Calibri"/>
                <a:ea typeface="Calibri"/>
                <a:cs typeface="Calibri"/>
                <a:sym typeface="Calibri"/>
              </a:defRPr>
            </a:lvl8pPr>
            <a:lvl9pPr indent="0" lvl="8" marL="0" marR="0" algn="r">
              <a:spcBef>
                <a:spcPts val="0"/>
              </a:spcBef>
              <a:buNone/>
              <a:defRPr b="0" i="0" sz="8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5"/>
          <p:cNvSpPr/>
          <p:nvPr/>
        </p:nvSpPr>
        <p:spPr>
          <a:xfrm>
            <a:off x="342900" y="304800"/>
            <a:ext cx="2281238"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5"/>
          <p:cNvSpPr/>
          <p:nvPr/>
        </p:nvSpPr>
        <p:spPr>
          <a:xfrm>
            <a:off x="440010" y="353318"/>
            <a:ext cx="2544217"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BACSE202 · Fall Semester 2026</a:t>
            </a:r>
            <a:endParaRPr b="0" i="0" sz="1000" u="none" cap="none" strike="noStrike">
              <a:solidFill>
                <a:schemeClr val="dk1"/>
              </a:solidFill>
              <a:latin typeface="Calibri"/>
              <a:ea typeface="Calibri"/>
              <a:cs typeface="Calibri"/>
              <a:sym typeface="Calibri"/>
            </a:endParaRPr>
          </a:p>
        </p:txBody>
      </p:sp>
      <p:sp>
        <p:nvSpPr>
          <p:cNvPr id="24" name="Google Shape;24;p5"/>
          <p:cNvSpPr/>
          <p:nvPr/>
        </p:nvSpPr>
        <p:spPr>
          <a:xfrm>
            <a:off x="342900" y="700996"/>
            <a:ext cx="5181600" cy="39811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2850"/>
              <a:buFont typeface="Inter"/>
              <a:buNone/>
            </a:pPr>
            <a:r>
              <a:rPr b="1" i="0" lang="en-US" sz="2850" u="none" cap="none" strike="noStrike">
                <a:solidFill>
                  <a:srgbClr val="1B2A55"/>
                </a:solidFill>
                <a:latin typeface="Inter"/>
                <a:ea typeface="Inter"/>
                <a:cs typeface="Inter"/>
                <a:sym typeface="Inter"/>
              </a:rPr>
              <a:t>PolyVote</a:t>
            </a:r>
            <a:endParaRPr b="0" i="0" sz="2850" u="none" cap="none" strike="noStrike">
              <a:solidFill>
                <a:schemeClr val="dk1"/>
              </a:solidFill>
              <a:latin typeface="Calibri"/>
              <a:ea typeface="Calibri"/>
              <a:cs typeface="Calibri"/>
              <a:sym typeface="Calibri"/>
            </a:endParaRPr>
          </a:p>
        </p:txBody>
      </p:sp>
      <p:sp>
        <p:nvSpPr>
          <p:cNvPr id="25" name="Google Shape;25;p5"/>
          <p:cNvSpPr/>
          <p:nvPr/>
        </p:nvSpPr>
        <p:spPr>
          <a:xfrm>
            <a:off x="342900" y="1250677"/>
            <a:ext cx="5181600" cy="441871"/>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Clr>
                <a:srgbClr val="1B2A55"/>
              </a:buClr>
              <a:buSzPts val="1200"/>
              <a:buFont typeface="Inter"/>
              <a:buNone/>
            </a:pPr>
            <a:r>
              <a:rPr b="1" i="0" lang="en-US" sz="1200" u="none" cap="none" strike="noStrike">
                <a:solidFill>
                  <a:srgbClr val="1B2A55"/>
                </a:solidFill>
                <a:latin typeface="Inter"/>
                <a:ea typeface="Inter"/>
                <a:cs typeface="Inter"/>
                <a:sym typeface="Inter"/>
              </a:rPr>
              <a:t>A Multi-Tenant, Ranked-Choice Election Platform with a Tamper-Evident Audit Trail</a:t>
            </a:r>
            <a:endParaRPr b="0" i="0" sz="1200" u="none" cap="none" strike="noStrike">
              <a:solidFill>
                <a:schemeClr val="dk1"/>
              </a:solidFill>
              <a:latin typeface="Calibri"/>
              <a:ea typeface="Calibri"/>
              <a:cs typeface="Calibri"/>
              <a:sym typeface="Calibri"/>
            </a:endParaRPr>
          </a:p>
        </p:txBody>
      </p:sp>
      <p:sp>
        <p:nvSpPr>
          <p:cNvPr id="26" name="Google Shape;26;p5"/>
          <p:cNvSpPr/>
          <p:nvPr/>
        </p:nvSpPr>
        <p:spPr>
          <a:xfrm>
            <a:off x="342900" y="1837804"/>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Review 3 · Final Project Review · Guide: Dr. Katari Balakrishna</a:t>
            </a:r>
            <a:endParaRPr b="0" i="0" sz="950" u="none" cap="none" strike="noStrike">
              <a:solidFill>
                <a:schemeClr val="dk1"/>
              </a:solidFill>
              <a:latin typeface="Calibri"/>
              <a:ea typeface="Calibri"/>
              <a:cs typeface="Calibri"/>
              <a:sym typeface="Calibri"/>
            </a:endParaRPr>
          </a:p>
        </p:txBody>
      </p:sp>
      <p:graphicFrame>
        <p:nvGraphicFramePr>
          <p:cNvPr id="27" name="Google Shape;27;p5"/>
          <p:cNvGraphicFramePr/>
          <p:nvPr/>
        </p:nvGraphicFramePr>
        <p:xfrm>
          <a:off x="342900" y="3147864"/>
          <a:ext cx="3000000" cy="3000000"/>
        </p:xfrm>
        <a:graphic>
          <a:graphicData uri="http://schemas.openxmlformats.org/drawingml/2006/table">
            <a:tbl>
              <a:tblPr>
                <a:noFill/>
                <a:tableStyleId>{CF56F632-080D-41BD-B1F7-19A39A7C3095}</a:tableStyleId>
              </a:tblPr>
              <a:tblGrid>
                <a:gridCol w="628350"/>
                <a:gridCol w="2586875"/>
                <a:gridCol w="1966350"/>
              </a:tblGrid>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S.No</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Name</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Register No</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1</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Tharakesharasu Thennarasu</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25BCE2699</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73775">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Pawan Durga Karthik</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25BCE27</a:t>
                      </a:r>
                      <a:r>
                        <a:rPr lang="en-US" sz="1300">
                          <a:solidFill>
                            <a:srgbClr val="1B2A55"/>
                          </a:solidFill>
                          <a:latin typeface="Inter"/>
                          <a:ea typeface="Inter"/>
                          <a:cs typeface="Inter"/>
                          <a:sym typeface="Inter"/>
                        </a:rPr>
                        <a:t>12</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r h="364250">
                <a:tc>
                  <a:txBody>
                    <a:bodyPr/>
                    <a:lstStyle/>
                    <a:p>
                      <a:pPr indent="0" lvl="0" marL="0" marR="0" rtl="0" algn="l">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3</a:t>
                      </a:r>
                      <a:endParaRPr sz="1300" u="none" cap="none" strike="noStrike">
                        <a:latin typeface="Inter"/>
                        <a:ea typeface="Inter"/>
                        <a:cs typeface="Inter"/>
                        <a:sym typeface="Inter"/>
                      </a:endParaRPr>
                    </a:p>
                  </a:txBody>
                  <a:tcPr marT="64775" marB="64775" marR="121450" marL="121450" anchor="ctr">
                    <a:lnL cap="flat" cmpd="sng" w="12700">
                      <a:solidFill>
                        <a:srgbClr val="D9D9E4"/>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Shivam Malge</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c>
                  <a:txBody>
                    <a:bodyPr/>
                    <a:lstStyle/>
                    <a:p>
                      <a:pPr indent="0" lvl="0" marL="0" marR="0" rtl="0" algn="r">
                        <a:spcBef>
                          <a:spcPts val="0"/>
                        </a:spcBef>
                        <a:spcAft>
                          <a:spcPts val="0"/>
                        </a:spcAft>
                        <a:buClr>
                          <a:srgbClr val="1B2A55"/>
                        </a:buClr>
                        <a:buSzPts val="1300"/>
                        <a:buFont typeface="Inter"/>
                        <a:buNone/>
                      </a:pPr>
                      <a:r>
                        <a:rPr lang="en-US" sz="1300" u="none" cap="none" strike="noStrike">
                          <a:solidFill>
                            <a:srgbClr val="1B2A55"/>
                          </a:solidFill>
                          <a:latin typeface="Inter"/>
                          <a:ea typeface="Inter"/>
                          <a:cs typeface="Inter"/>
                          <a:sym typeface="Inter"/>
                        </a:rPr>
                        <a:t>25BCE0386</a:t>
                      </a:r>
                      <a:endParaRPr sz="1300" u="none" cap="none" strike="noStrike">
                        <a:latin typeface="Inter"/>
                        <a:ea typeface="Inter"/>
                        <a:cs typeface="Inter"/>
                        <a:sym typeface="Inter"/>
                      </a:endParaRPr>
                    </a:p>
                  </a:txBody>
                  <a:tcPr marT="64775" marB="64775" marR="121450" marL="121450" anchor="ctr">
                    <a:lnL cap="flat" cmpd="sng" w="12700">
                      <a:solidFill>
                        <a:srgbClr val="FFFFFF"/>
                      </a:solidFill>
                      <a:prstDash val="solid"/>
                      <a:round/>
                      <a:headEnd len="sm" w="sm" type="none"/>
                      <a:tailEnd len="sm" w="sm" type="none"/>
                    </a:lnL>
                    <a:lnR cap="flat" cmpd="sng" w="12700">
                      <a:solidFill>
                        <a:srgbClr val="D9D9E4"/>
                      </a:solidFill>
                      <a:prstDash val="solid"/>
                      <a:round/>
                      <a:headEnd len="sm" w="sm" type="none"/>
                      <a:tailEnd len="sm" w="sm" type="none"/>
                    </a:lnR>
                    <a:lnT cap="flat" cmpd="sng" w="12700">
                      <a:solidFill>
                        <a:srgbClr val="D9D9E4"/>
                      </a:solidFill>
                      <a:prstDash val="solid"/>
                      <a:round/>
                      <a:headEnd len="sm" w="sm" type="none"/>
                      <a:tailEnd len="sm" w="sm" type="none"/>
                    </a:lnT>
                    <a:lnB cap="flat" cmpd="sng" w="12700">
                      <a:solidFill>
                        <a:srgbClr val="D9D9E4"/>
                      </a:solidFill>
                      <a:prstDash val="solid"/>
                      <a:round/>
                      <a:headEnd len="sm" w="sm" type="none"/>
                      <a:tailEnd len="sm" w="sm" type="none"/>
                    </a:lnB>
                  </a:tcPr>
                </a:tc>
              </a:tr>
            </a:tbl>
          </a:graphicData>
        </a:graphic>
      </p:graphicFrame>
      <p:sp>
        <p:nvSpPr>
          <p:cNvPr id="28" name="Google Shape;28;p5"/>
          <p:cNvSpPr/>
          <p:nvPr/>
        </p:nvSpPr>
        <p:spPr>
          <a:xfrm>
            <a:off x="342900" y="4785866"/>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3 | Fall Semester 2026 · Slide 1</a:t>
            </a:r>
            <a:endParaRPr b="0" i="0" sz="950" u="none" cap="none" strike="noStrike">
              <a:solidFill>
                <a:schemeClr val="dk1"/>
              </a:solidFill>
              <a:latin typeface="Calibri"/>
              <a:ea typeface="Calibri"/>
              <a:cs typeface="Calibri"/>
              <a:sym typeface="Calibri"/>
            </a:endParaRPr>
          </a:p>
        </p:txBody>
      </p:sp>
      <p:sp>
        <p:nvSpPr>
          <p:cNvPr id="29" name="Google Shape;29;p5"/>
          <p:cNvSpPr/>
          <p:nvPr/>
        </p:nvSpPr>
        <p:spPr>
          <a:xfrm>
            <a:off x="5791200" y="0"/>
            <a:ext cx="3352800" cy="5143500"/>
          </a:xfrm>
          <a:prstGeom prst="rect">
            <a:avLst/>
          </a:prstGeom>
          <a:solidFill>
            <a:srgbClr val="F1F0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5"/>
          <p:cNvPicPr preferRelativeResize="0"/>
          <p:nvPr/>
        </p:nvPicPr>
        <p:blipFill rotWithShape="1">
          <a:blip r:embed="rId3">
            <a:alphaModFix/>
          </a:blip>
          <a:srcRect b="0" l="0" r="0" t="0"/>
          <a:stretch/>
        </p:blipFill>
        <p:spPr>
          <a:xfrm>
            <a:off x="6019800" y="828526"/>
            <a:ext cx="2895600" cy="3505498"/>
          </a:xfrm>
          <a:prstGeom prst="rect">
            <a:avLst/>
          </a:prstGeom>
          <a:noFill/>
          <a:ln>
            <a:no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REVIEW 3 · WHERE WE STAND</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we submitted, what we built, what is new today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a:t>
            </a:r>
          </a:p>
        </p:txBody>
      </p:sp>
      <p:sp>
        <p:nvSpPr>
          <p:cNvPr id="6" name="Rounded Rectangle 5"/>
          <p:cNvSpPr/>
          <p:nvPr/>
        </p:nvSpPr>
        <p:spPr>
          <a:xfrm>
            <a:off x="457200"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17500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SUBMITTED</a:t>
            </a:r>
          </a:p>
        </p:txBody>
      </p:sp>
      <p:sp>
        <p:nvSpPr>
          <p:cNvPr id="8" name="TextBox 7"/>
          <p:cNvSpPr txBox="1"/>
          <p:nvPr/>
        </p:nvSpPr>
        <p:spPr>
          <a:xfrm>
            <a:off x="640080"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Reviews 1 and 2</a:t>
            </a:r>
          </a:p>
        </p:txBody>
      </p:sp>
      <p:sp>
        <p:nvSpPr>
          <p:cNvPr id="9" name="TextBox 8"/>
          <p:cNvSpPr txBox="1"/>
          <p:nvPr/>
        </p:nvSpPr>
        <p:spPr>
          <a:xfrm>
            <a:off x="640080"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Design, schema, ER and data-flow diagrams, literature; then a working React + FastAPI system, instant-runoff tally, hash-chained receipts and a live tamper test.</a:t>
            </a:r>
          </a:p>
        </p:txBody>
      </p:sp>
      <p:sp>
        <p:nvSpPr>
          <p:cNvPr id="10" name="Rounded Rectangle 9"/>
          <p:cNvSpPr/>
          <p:nvPr/>
        </p:nvSpPr>
        <p:spPr>
          <a:xfrm>
            <a:off x="3282696"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5576" y="1225296"/>
            <a:ext cx="1078992"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FEEDBACK</a:t>
            </a:r>
          </a:p>
        </p:txBody>
      </p:sp>
      <p:sp>
        <p:nvSpPr>
          <p:cNvPr id="12" name="TextBox 11"/>
          <p:cNvSpPr txBox="1"/>
          <p:nvPr/>
        </p:nvSpPr>
        <p:spPr>
          <a:xfrm>
            <a:off x="3465576"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At Review 2</a:t>
            </a:r>
          </a:p>
        </p:txBody>
      </p:sp>
      <p:sp>
        <p:nvSpPr>
          <p:cNvPr id="13" name="TextBox 12"/>
          <p:cNvSpPr txBox="1"/>
          <p:nvPr/>
        </p:nvSpPr>
        <p:spPr>
          <a:xfrm>
            <a:off x="3465576"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Confirm the voter with a second factor (OTP or face ID); finish MongoDB and hosting; show that the design is an improvement, not just a build.</a:t>
            </a:r>
          </a:p>
        </p:txBody>
      </p:sp>
      <p:sp>
        <p:nvSpPr>
          <p:cNvPr id="14" name="Rounded Rectangle 13"/>
          <p:cNvSpPr/>
          <p:nvPr/>
        </p:nvSpPr>
        <p:spPr>
          <a:xfrm>
            <a:off x="6108192" y="1097280"/>
            <a:ext cx="2587752" cy="22860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225296"/>
            <a:ext cx="117500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NEW TODAY</a:t>
            </a:r>
          </a:p>
        </p:txBody>
      </p:sp>
      <p:sp>
        <p:nvSpPr>
          <p:cNvPr id="16" name="TextBox 15"/>
          <p:cNvSpPr txBox="1"/>
          <p:nvPr/>
        </p:nvSpPr>
        <p:spPr>
          <a:xfrm>
            <a:off x="6291072" y="1572768"/>
            <a:ext cx="2240280" cy="256032"/>
          </a:xfrm>
          <a:prstGeom prst="rect">
            <a:avLst/>
          </a:prstGeom>
          <a:noFill/>
        </p:spPr>
        <p:txBody>
          <a:bodyPr wrap="square" anchor="t" lIns="0" rIns="0" tIns="0" bIns="0">
            <a:spAutoFit/>
          </a:bodyPr>
          <a:lstStyle/>
          <a:p>
            <a:pPr algn="l">
              <a:spcAft>
                <a:spcPts val="0"/>
              </a:spcAft>
            </a:pPr>
            <a:r>
              <a:rPr sz="1500" b="1" i="0">
                <a:solidFill>
                  <a:srgbClr val="1B2A55"/>
                </a:solidFill>
                <a:latin typeface="Inter"/>
              </a:rPr>
              <a:t>This review</a:t>
            </a:r>
          </a:p>
        </p:txBody>
      </p:sp>
      <p:sp>
        <p:nvSpPr>
          <p:cNvPr id="17" name="TextBox 16"/>
          <p:cNvSpPr txBox="1"/>
          <p:nvPr/>
        </p:nvSpPr>
        <p:spPr>
          <a:xfrm>
            <a:off x="6291072" y="1901952"/>
            <a:ext cx="2240280" cy="1371600"/>
          </a:xfrm>
          <a:prstGeom prst="rect">
            <a:avLst/>
          </a:prstGeom>
          <a:noFill/>
        </p:spPr>
        <p:txBody>
          <a:bodyPr wrap="square" anchor="t" lIns="0" rIns="0" tIns="0" bIns="0">
            <a:spAutoFit/>
          </a:bodyPr>
          <a:lstStyle/>
          <a:p>
            <a:pPr algn="l">
              <a:spcAft>
                <a:spcPts val="0"/>
              </a:spcAft>
            </a:pPr>
            <a:r>
              <a:rPr sz="1200" b="0" i="0">
                <a:solidFill>
                  <a:srgbClr val="353B4A"/>
                </a:solidFill>
                <a:latin typeface="Inter"/>
              </a:rPr>
              <a:t>Atlas ledger, keyed chain, extended sweep, emailed one-time code, public link and QR, and 47 executable test scenarios with benchmarks.</a:t>
            </a:r>
          </a:p>
        </p:txBody>
      </p:sp>
      <p:sp>
        <p:nvSpPr>
          <p:cNvPr id="18" name="Rounded Rectangle 17"/>
          <p:cNvSpPr/>
          <p:nvPr/>
        </p:nvSpPr>
        <p:spPr>
          <a:xfrm>
            <a:off x="457200" y="3547872"/>
            <a:ext cx="8229600"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621024"/>
            <a:ext cx="1554480" cy="640080"/>
          </a:xfrm>
          <a:prstGeom prst="rect">
            <a:avLst/>
          </a:prstGeom>
          <a:noFill/>
        </p:spPr>
        <p:txBody>
          <a:bodyPr wrap="square" anchor="ctr" lIns="0" rIns="0" tIns="0" bIns="0">
            <a:spAutoFit/>
          </a:bodyPr>
          <a:lstStyle/>
          <a:p>
            <a:pPr algn="l">
              <a:spcAft>
                <a:spcPts val="0"/>
              </a:spcAft>
            </a:pPr>
            <a:r>
              <a:rPr sz="4000" b="1" i="0">
                <a:solidFill>
                  <a:srgbClr val="1B2A55"/>
                </a:solidFill>
                <a:latin typeface="Inter"/>
              </a:rPr>
              <a:t>~85%</a:t>
            </a:r>
          </a:p>
        </p:txBody>
      </p:sp>
      <p:sp>
        <p:nvSpPr>
          <p:cNvPr id="20" name="TextBox 19"/>
          <p:cNvSpPr txBox="1"/>
          <p:nvPr/>
        </p:nvSpPr>
        <p:spPr>
          <a:xfrm>
            <a:off x="685800" y="4242816"/>
            <a:ext cx="1737360" cy="274320"/>
          </a:xfrm>
          <a:prstGeom prst="rect">
            <a:avLst/>
          </a:prstGeom>
          <a:noFill/>
        </p:spPr>
        <p:txBody>
          <a:bodyPr wrap="square" anchor="t" lIns="0" rIns="0" tIns="0" bIns="0">
            <a:spAutoFit/>
          </a:bodyPr>
          <a:lstStyle/>
          <a:p>
            <a:pPr algn="l">
              <a:spcAft>
                <a:spcPts val="0"/>
              </a:spcAft>
            </a:pPr>
            <a:r>
              <a:rPr sz="1100" b="0" i="0">
                <a:solidFill>
                  <a:srgbClr val="666A78"/>
                </a:solidFill>
                <a:latin typeface="Inter"/>
              </a:rPr>
              <a:t>of the planned scope</a:t>
            </a:r>
          </a:p>
        </p:txBody>
      </p:sp>
      <p:sp>
        <p:nvSpPr>
          <p:cNvPr id="21" name="TextBox 20"/>
          <p:cNvSpPr txBox="1"/>
          <p:nvPr/>
        </p:nvSpPr>
        <p:spPr>
          <a:xfrm>
            <a:off x="2560320" y="3675887"/>
            <a:ext cx="5943600" cy="914400"/>
          </a:xfrm>
          <a:prstGeom prst="rect">
            <a:avLst/>
          </a:prstGeom>
          <a:noFill/>
        </p:spPr>
        <p:txBody>
          <a:bodyPr wrap="square" anchor="t" lIns="0" rIns="0" tIns="0" bIns="0">
            <a:spAutoFit/>
          </a:bodyPr>
          <a:lstStyle/>
          <a:p>
            <a:pPr algn="l">
              <a:spcAft>
                <a:spcPts val="200"/>
              </a:spcAft>
            </a:pPr>
            <a:r>
              <a:rPr sz="1200" b="1" i="0">
                <a:solidFill>
                  <a:srgbClr val="1B2A55"/>
                </a:solidFill>
                <a:latin typeface="Inter"/>
              </a:rPr>
              <a:t>Up from 75% at Review 2. </a:t>
            </a:r>
            <a:r>
              <a:rPr sz="1200" b="0" i="0">
                <a:solidFill>
                  <a:srgbClr val="353B4A"/>
                </a:solidFill>
                <a:latin typeface="Inter"/>
              </a:rPr>
              <a:t>This is our own estimate. Still open by choice: Oracle with PL/SQL and roles, the POSITION entity, and a true cloud platform.</a:t>
            </a:r>
          </a:p>
          <a:p>
            <a:pPr algn="l">
              <a:spcAft>
                <a:spcPts val="200"/>
              </a:spcAft>
            </a:pPr>
            <a:r>
              <a:rPr sz="1200" b="0" i="0">
                <a:solidFill>
                  <a:srgbClr val="353B4A"/>
                </a:solidFill>
                <a:latin typeface="Inter"/>
              </a:rPr>
              <a:t/>
            </a:r>
          </a:p>
          <a:p>
            <a:pPr algn="l">
              <a:spcAft>
                <a:spcPts val="200"/>
              </a:spcAft>
            </a:pPr>
            <a:r>
              <a:rPr sz="1200" b="1" i="0">
                <a:solidFill>
                  <a:srgbClr val="1B2A55"/>
                </a:solidFill>
                <a:latin typeface="Inter"/>
              </a:rPr>
              <a:t>Today: </a:t>
            </a:r>
            <a:r>
              <a:rPr sz="1200" b="0" i="0">
                <a:solidFill>
                  <a:srgbClr val="353B4A"/>
                </a:solidFill>
                <a:latin typeface="Inter"/>
              </a:rPr>
              <a:t>recap, new features, evidence, comparison, limits, publication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PICKING UP FROM REVIEW 2</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Review 2 left a short list; two new features lead it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a:t>
            </a:r>
          </a:p>
        </p:txBody>
      </p:sp>
      <p:sp>
        <p:nvSpPr>
          <p:cNvPr id="6" name="Rounded Rectangle 5"/>
          <p:cNvSpPr/>
          <p:nvPr/>
        </p:nvSpPr>
        <p:spPr>
          <a:xfrm>
            <a:off x="457200" y="1097280"/>
            <a:ext cx="3108960" cy="34747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213512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REVIEW 2 ENDED WITH</a:t>
            </a:r>
          </a:p>
        </p:txBody>
      </p:sp>
      <p:sp>
        <p:nvSpPr>
          <p:cNvPr id="8" name="TextBox 7"/>
          <p:cNvSpPr txBox="1"/>
          <p:nvPr/>
        </p:nvSpPr>
        <p:spPr>
          <a:xfrm>
            <a:off x="640080" y="1600200"/>
            <a:ext cx="2743200" cy="292608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About 75% of the scope built and demonstrated.</a:t>
            </a:r>
          </a:p>
          <a:p>
            <a:pPr algn="l">
              <a:spcAft>
                <a:spcPts val="500"/>
              </a:spcAft>
            </a:pPr>
            <a:r>
              <a:rPr sz="1100" b="1" i="0">
                <a:solidFill>
                  <a:srgbClr val="1B2A55"/>
                </a:solidFill>
                <a:latin typeface="Inter"/>
              </a:rPr>
              <a:t>•  </a:t>
            </a:r>
            <a:r>
              <a:rPr sz="1100" b="0" i="0">
                <a:solidFill>
                  <a:srgbClr val="353B4A"/>
                </a:solidFill>
                <a:latin typeface="Inter"/>
              </a:rPr>
              <a:t>Open: MongoDB Atlas, hosting, injected-ballot detection.</a:t>
            </a:r>
          </a:p>
          <a:p>
            <a:pPr algn="l">
              <a:spcAft>
                <a:spcPts val="500"/>
              </a:spcAft>
            </a:pPr>
            <a:r>
              <a:rPr sz="1100" b="1" i="0">
                <a:solidFill>
                  <a:srgbClr val="1B2A55"/>
                </a:solidFill>
                <a:latin typeface="Inter"/>
              </a:rPr>
              <a:t>•  </a:t>
            </a:r>
            <a:r>
              <a:rPr sz="1100" b="0" i="0">
                <a:solidFill>
                  <a:srgbClr val="353B4A"/>
                </a:solidFill>
                <a:latin typeface="Inter"/>
              </a:rPr>
              <a:t>Faculty feedback: confirm the voter with a second factor.</a:t>
            </a:r>
          </a:p>
          <a:p>
            <a:pPr algn="l">
              <a:spcAft>
                <a:spcPts val="500"/>
              </a:spcAft>
            </a:pPr>
            <a:r>
              <a:rPr sz="1100" b="1" i="0">
                <a:solidFill>
                  <a:srgbClr val="1B2A55"/>
                </a:solidFill>
                <a:latin typeface="Inter"/>
              </a:rPr>
              <a:t>•  </a:t>
            </a:r>
            <a:r>
              <a:rPr sz="1100" b="0" i="0">
                <a:solidFill>
                  <a:srgbClr val="353B4A"/>
                </a:solidFill>
                <a:latin typeface="Inter"/>
              </a:rPr>
              <a:t>Deferred on purpose: Oracle with PL/SQL, POSITION entity.</a:t>
            </a:r>
          </a:p>
        </p:txBody>
      </p:sp>
      <p:sp>
        <p:nvSpPr>
          <p:cNvPr id="9" name="Rounded Rectangle 8"/>
          <p:cNvSpPr/>
          <p:nvPr/>
        </p:nvSpPr>
        <p:spPr>
          <a:xfrm>
            <a:off x="3749039" y="1097280"/>
            <a:ext cx="2377440" cy="34747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31920" y="1225296"/>
            <a:ext cx="165506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NEW: EMAIL OTP</a:t>
            </a:r>
          </a:p>
        </p:txBody>
      </p:sp>
      <p:sp>
        <p:nvSpPr>
          <p:cNvPr id="11" name="TextBox 10"/>
          <p:cNvSpPr txBox="1"/>
          <p:nvPr/>
        </p:nvSpPr>
        <p:spPr>
          <a:xfrm>
            <a:off x="3931920" y="1600200"/>
            <a:ext cx="2011680" cy="2926080"/>
          </a:xfrm>
          <a:prstGeom prst="rect">
            <a:avLst/>
          </a:prstGeom>
          <a:noFill/>
        </p:spPr>
        <p:txBody>
          <a:bodyPr wrap="square" anchor="t" lIns="0" rIns="0" tIns="0" bIns="0">
            <a:spAutoFit/>
          </a:bodyPr>
          <a:lstStyle/>
          <a:p>
            <a:pPr algn="l">
              <a:spcAft>
                <a:spcPts val="400"/>
              </a:spcAft>
            </a:pPr>
            <a:r>
              <a:rPr sz="1100" b="1" i="0">
                <a:solidFill>
                  <a:srgbClr val="1B2A55"/>
                </a:solidFill>
                <a:latin typeface="Inter"/>
              </a:rPr>
              <a:t>A correct password is no longer enough.</a:t>
            </a:r>
          </a:p>
          <a:p>
            <a:pPr algn="l">
              <a:spcAft>
                <a:spcPts val="400"/>
              </a:spcAft>
            </a:pPr>
            <a:r>
              <a:rPr sz="1100" b="0" i="0">
                <a:solidFill>
                  <a:srgbClr val="353B4A"/>
                </a:solidFill>
                <a:latin typeface="Inter"/>
              </a:rPr>
              <a:t>A 6-digit code is emailed to the voter, valid 5 minutes, one use, 3 guesses.</a:t>
            </a:r>
          </a:p>
          <a:p>
            <a:pPr algn="l">
              <a:spcAft>
                <a:spcPts val="400"/>
              </a:spcAft>
            </a:pPr>
            <a:r>
              <a:rPr sz="1100" b="0" i="0">
                <a:solidFill>
                  <a:srgbClr val="353B4A"/>
                </a:solidFill>
                <a:latin typeface="Inter"/>
              </a:rPr>
              <a:t/>
            </a:r>
          </a:p>
          <a:p>
            <a:pPr algn="l">
              <a:spcAft>
                <a:spcPts val="400"/>
              </a:spcAft>
            </a:pPr>
            <a:r>
              <a:rPr sz="1100" b="0" i="1">
                <a:solidFill>
                  <a:srgbClr val="666A78"/>
                </a:solidFill>
                <a:latin typeface="Inter"/>
              </a:rPr>
              <a:t>Answers the Review 2 comment.</a:t>
            </a:r>
          </a:p>
        </p:txBody>
      </p:sp>
      <p:sp>
        <p:nvSpPr>
          <p:cNvPr id="12" name="Rounded Rectangle 11"/>
          <p:cNvSpPr/>
          <p:nvPr/>
        </p:nvSpPr>
        <p:spPr>
          <a:xfrm>
            <a:off x="6309360" y="1097280"/>
            <a:ext cx="2377440" cy="34747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92240" y="1225296"/>
            <a:ext cx="165506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NEW: QR VOTING</a:t>
            </a:r>
          </a:p>
        </p:txBody>
      </p:sp>
      <p:sp>
        <p:nvSpPr>
          <p:cNvPr id="14" name="TextBox 13"/>
          <p:cNvSpPr txBox="1"/>
          <p:nvPr/>
        </p:nvSpPr>
        <p:spPr>
          <a:xfrm>
            <a:off x="6492240" y="1600200"/>
            <a:ext cx="2011680" cy="2926080"/>
          </a:xfrm>
          <a:prstGeom prst="rect">
            <a:avLst/>
          </a:prstGeom>
          <a:noFill/>
        </p:spPr>
        <p:txBody>
          <a:bodyPr wrap="square" anchor="t" lIns="0" rIns="0" tIns="0" bIns="0">
            <a:spAutoFit/>
          </a:bodyPr>
          <a:lstStyle/>
          <a:p>
            <a:pPr algn="l">
              <a:spcAft>
                <a:spcPts val="400"/>
              </a:spcAft>
            </a:pPr>
            <a:r>
              <a:rPr sz="1100" b="1" i="0">
                <a:solidFill>
                  <a:srgbClr val="1B2A55"/>
                </a:solidFill>
                <a:latin typeface="Inter"/>
              </a:rPr>
              <a:t>Scan, sign in, vote.</a:t>
            </a:r>
          </a:p>
          <a:p>
            <a:pPr algn="l">
              <a:spcAft>
                <a:spcPts val="400"/>
              </a:spcAft>
            </a:pPr>
            <a:r>
              <a:rPr sz="1100" b="0" i="0">
                <a:solidFill>
                  <a:srgbClr val="353B4A"/>
                </a:solidFill>
                <a:latin typeface="Inter"/>
              </a:rPr>
              <a:t>The vote page shows a QR code for the public link, so any phone opens the ballot in seconds.</a:t>
            </a:r>
          </a:p>
          <a:p>
            <a:pPr algn="l">
              <a:spcAft>
                <a:spcPts val="400"/>
              </a:spcAft>
            </a:pPr>
            <a:r>
              <a:rPr sz="1100" b="0" i="0">
                <a:solidFill>
                  <a:srgbClr val="353B4A"/>
                </a:solidFill>
                <a:latin typeface="Inter"/>
              </a:rPr>
              <a:t/>
            </a:r>
          </a:p>
          <a:p>
            <a:pPr algn="l">
              <a:spcAft>
                <a:spcPts val="400"/>
              </a:spcAft>
            </a:pPr>
            <a:r>
              <a:rPr sz="1100" b="0" i="1">
                <a:solidFill>
                  <a:srgbClr val="666A78"/>
                </a:solidFill>
                <a:latin typeface="Inter"/>
              </a:rPr>
              <a:t>Works with the emailed code on the same phone.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RESPONSE TO FEEDBACK</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Each Review 2 comment has a concrete answer</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4</a:t>
            </a:r>
          </a:p>
        </p:txBody>
      </p:sp>
      <p:graphicFrame>
        <p:nvGraphicFramePr>
          <p:cNvPr id="6" name="Table 5"/>
          <p:cNvGraphicFramePr>
            <a:graphicFrameLocks noGrp="1"/>
          </p:cNvGraphicFramePr>
          <p:nvPr/>
        </p:nvGraphicFramePr>
        <p:xfrm>
          <a:off x="457200" y="1097280"/>
          <a:ext cx="8229600" cy="3200400"/>
        </p:xfrm>
        <a:graphic>
          <a:graphicData uri="http://schemas.openxmlformats.org/drawingml/2006/table">
            <a:tbl>
              <a:tblPr firstRow="1" bandRow="1">
                <a:tableStyleId>{5C22544A-7EE6-4342-B048-85BDC9FD1C3A}</a:tableStyleId>
              </a:tblPr>
              <a:tblGrid>
                <a:gridCol w="2468880"/>
                <a:gridCol w="3703320"/>
                <a:gridCol w="2057400"/>
              </a:tblGrid>
              <a:tr h="365760">
                <a:tc>
                  <a:txBody>
                    <a:bodyPr wrap="square"/>
                    <a:lstStyle/>
                    <a:p>
                      <a:r>
                        <a:rPr sz="1000" b="1" i="0">
                          <a:solidFill>
                            <a:srgbClr val="FFFFFF"/>
                          </a:solidFill>
                          <a:latin typeface="Inter"/>
                        </a:rPr>
                        <a:t>Comment at Review 2</a:t>
                      </a:r>
                    </a:p>
                  </a:txBody>
                  <a:tcPr marL="73152" marR="73152" marT="36576" marB="36576" anchor="ctr">
                    <a:solidFill>
                      <a:srgbClr val="1B2A55"/>
                    </a:solidFill>
                  </a:tcPr>
                </a:tc>
                <a:tc>
                  <a:txBody>
                    <a:bodyPr wrap="square"/>
                    <a:lstStyle/>
                    <a:p>
                      <a:r>
                        <a:rPr sz="1000" b="1" i="0">
                          <a:solidFill>
                            <a:srgbClr val="FFFFFF"/>
                          </a:solidFill>
                          <a:latin typeface="Inter"/>
                        </a:rPr>
                        <a:t>What we did</a:t>
                      </a:r>
                    </a:p>
                  </a:txBody>
                  <a:tcPr marL="73152" marR="73152" marT="36576" marB="36576" anchor="ctr">
                    <a:solidFill>
                      <a:srgbClr val="1B2A55"/>
                    </a:solidFill>
                  </a:tcPr>
                </a:tc>
                <a:tc>
                  <a:txBody>
                    <a:bodyPr wrap="square"/>
                    <a:lstStyle/>
                    <a:p>
                      <a:r>
                        <a:rPr sz="1000" b="1" i="0">
                          <a:solidFill>
                            <a:srgbClr val="FFFFFF"/>
                          </a:solidFill>
                          <a:latin typeface="Inter"/>
                        </a:rPr>
                        <a:t>Evidence</a:t>
                      </a:r>
                    </a:p>
                  </a:txBody>
                  <a:tcPr marL="73152" marR="73152" marT="36576" marB="36576" anchor="ctr">
                    <a:solidFill>
                      <a:srgbClr val="1B2A55"/>
                    </a:solidFill>
                  </a:tcPr>
                </a:tc>
              </a:tr>
              <a:tr h="566928">
                <a:tc>
                  <a:txBody>
                    <a:bodyPr wrap="square"/>
                    <a:lstStyle/>
                    <a:p>
                      <a:r>
                        <a:rPr sz="1050" b="1" i="0">
                          <a:solidFill>
                            <a:srgbClr val="1B2A55"/>
                          </a:solidFill>
                          <a:latin typeface="Inter"/>
                        </a:rPr>
                        <a:t>Confirm the voter: OTP or face ID</a:t>
                      </a:r>
                    </a:p>
                  </a:txBody>
                  <a:tcPr marL="73152" marR="73152" marT="36576" marB="36576" anchor="ctr">
                    <a:solidFill>
                      <a:srgbClr val="FFFFFF"/>
                    </a:solidFill>
                  </a:tcPr>
                </a:tc>
                <a:tc>
                  <a:txBody>
                    <a:bodyPr wrap="square"/>
                    <a:lstStyle/>
                    <a:p>
                      <a:r>
                        <a:rPr sz="1050" b="0" i="0">
                          <a:solidFill>
                            <a:srgbClr val="353B4A"/>
                          </a:solidFill>
                          <a:latin typeface="Inter"/>
                        </a:rPr>
                        <a:t>Emailed one-time code after the password; separate verification database; admin outbox</a:t>
                      </a:r>
                    </a:p>
                  </a:txBody>
                  <a:tcPr marL="73152" marR="73152" marT="36576" marB="36576" anchor="ctr">
                    <a:solidFill>
                      <a:srgbClr val="FFFFFF"/>
                    </a:solidFill>
                  </a:tcPr>
                </a:tc>
                <a:tc>
                  <a:txBody>
                    <a:bodyPr wrap="square"/>
                    <a:lstStyle/>
                    <a:p>
                      <a:r>
                        <a:rPr sz="1050" b="0" i="0">
                          <a:solidFill>
                            <a:srgbClr val="353B4A"/>
                          </a:solidFill>
                          <a:latin typeface="Inter"/>
                        </a:rPr>
                        <a:t>14 of 14 OTP tests pass</a:t>
                      </a:r>
                    </a:p>
                  </a:txBody>
                  <a:tcPr marL="73152" marR="73152" marT="36576" marB="36576" anchor="ctr">
                    <a:solidFill>
                      <a:srgbClr val="FFFFFF"/>
                    </a:solidFill>
                  </a:tcPr>
                </a:tc>
              </a:tr>
              <a:tr h="566928">
                <a:tc>
                  <a:txBody>
                    <a:bodyPr wrap="square"/>
                    <a:lstStyle/>
                    <a:p>
                      <a:r>
                        <a:rPr sz="1050" b="1" i="0">
                          <a:solidFill>
                            <a:srgbClr val="1B2A55"/>
                          </a:solidFill>
                          <a:latin typeface="Inter"/>
                        </a:rPr>
                        <a:t>Finish MongoDB</a:t>
                      </a:r>
                    </a:p>
                  </a:txBody>
                  <a:tcPr marL="73152" marR="73152" marT="36576" marB="36576" anchor="ctr">
                    <a:solidFill>
                      <a:srgbClr val="F1F0F6"/>
                    </a:solidFill>
                  </a:tcPr>
                </a:tc>
                <a:tc>
                  <a:txBody>
                    <a:bodyPr wrap="square"/>
                    <a:lstStyle/>
                    <a:p>
                      <a:r>
                        <a:rPr sz="1050" b="0" i="0">
                          <a:solidFill>
                            <a:srgbClr val="353B4A"/>
                          </a:solidFill>
                          <a:latin typeface="Inter"/>
                        </a:rPr>
                        <a:t>Ledger now in MongoDB Atlas, unique-index concurrency control, file fallback, migration script</a:t>
                      </a:r>
                    </a:p>
                  </a:txBody>
                  <a:tcPr marL="73152" marR="73152" marT="36576" marB="36576" anchor="ctr">
                    <a:solidFill>
                      <a:srgbClr val="F1F0F6"/>
                    </a:solidFill>
                  </a:tcPr>
                </a:tc>
                <a:tc>
                  <a:txBody>
                    <a:bodyPr wrap="square"/>
                    <a:lstStyle/>
                    <a:p>
                      <a:r>
                        <a:rPr sz="1050" b="0" i="0">
                          <a:solidFill>
                            <a:srgbClr val="353B4A"/>
                          </a:solidFill>
                          <a:latin typeface="Inter"/>
                        </a:rPr>
                        <a:t>25 blocks migrated; live health endpoint</a:t>
                      </a:r>
                    </a:p>
                  </a:txBody>
                  <a:tcPr marL="73152" marR="73152" marT="36576" marB="36576" anchor="ctr">
                    <a:solidFill>
                      <a:srgbClr val="F1F0F6"/>
                    </a:solidFill>
                  </a:tcPr>
                </a:tc>
              </a:tr>
              <a:tr h="566928">
                <a:tc>
                  <a:txBody>
                    <a:bodyPr wrap="square"/>
                    <a:lstStyle/>
                    <a:p>
                      <a:r>
                        <a:rPr sz="1050" b="1" i="0">
                          <a:solidFill>
                            <a:srgbClr val="1B2A55"/>
                          </a:solidFill>
                          <a:latin typeface="Inter"/>
                        </a:rPr>
                        <a:t>Host it online</a:t>
                      </a:r>
                    </a:p>
                  </a:txBody>
                  <a:tcPr marL="73152" marR="73152" marT="36576" marB="36576" anchor="ctr">
                    <a:solidFill>
                      <a:srgbClr val="FFFFFF"/>
                    </a:solidFill>
                  </a:tcPr>
                </a:tc>
                <a:tc>
                  <a:txBody>
                    <a:bodyPr wrap="square"/>
                    <a:lstStyle/>
                    <a:p>
                      <a:r>
                        <a:rPr sz="1050" b="0" i="0">
                          <a:solidFill>
                            <a:srgbClr val="353B4A"/>
                          </a:solidFill>
                          <a:latin typeface="Inter"/>
                        </a:rPr>
                        <a:t>Public HTTPS link through a tunnel; QR code on the voter page for phones</a:t>
                      </a:r>
                    </a:p>
                  </a:txBody>
                  <a:tcPr marL="73152" marR="73152" marT="36576" marB="36576" anchor="ctr">
                    <a:solidFill>
                      <a:srgbClr val="FFFFFF"/>
                    </a:solidFill>
                  </a:tcPr>
                </a:tc>
                <a:tc>
                  <a:txBody>
                    <a:bodyPr wrap="square"/>
                    <a:lstStyle/>
                    <a:p>
                      <a:r>
                        <a:rPr sz="1050" b="0" i="0">
                          <a:solidFill>
                            <a:srgbClr val="353B4A"/>
                          </a:solidFill>
                          <a:latin typeface="Inter"/>
                        </a:rPr>
                        <a:t>Cast a ballot from a phone</a:t>
                      </a:r>
                    </a:p>
                  </a:txBody>
                  <a:tcPr marL="73152" marR="73152" marT="36576" marB="36576" anchor="ctr">
                    <a:solidFill>
                      <a:srgbClr val="FFFFFF"/>
                    </a:solidFill>
                  </a:tcPr>
                </a:tc>
              </a:tr>
              <a:tr h="566928">
                <a:tc>
                  <a:txBody>
                    <a:bodyPr wrap="square"/>
                    <a:lstStyle/>
                    <a:p>
                      <a:r>
                        <a:rPr sz="1050" b="1" i="0">
                          <a:solidFill>
                            <a:srgbClr val="1B2A55"/>
                          </a:solidFill>
                          <a:latin typeface="Inter"/>
                        </a:rPr>
                        <a:t>Prove it is better</a:t>
                      </a:r>
                    </a:p>
                  </a:txBody>
                  <a:tcPr marL="73152" marR="73152" marT="36576" marB="36576" anchor="ctr">
                    <a:solidFill>
                      <a:srgbClr val="F1F0F6"/>
                    </a:solidFill>
                  </a:tcPr>
                </a:tc>
                <a:tc>
                  <a:txBody>
                    <a:bodyPr wrap="square"/>
                    <a:lstStyle/>
                    <a:p>
                      <a:r>
                        <a:rPr sz="1050" b="0" i="0">
                          <a:solidFill>
                            <a:srgbClr val="353B4A"/>
                          </a:solidFill>
                          <a:latin typeface="Inter"/>
                        </a:rPr>
                        <a:t>47-scenario executable suite run on the Review 2 design and the final design</a:t>
                      </a:r>
                    </a:p>
                  </a:txBody>
                  <a:tcPr marL="73152" marR="73152" marT="36576" marB="36576" anchor="ctr">
                    <a:solidFill>
                      <a:srgbClr val="F1F0F6"/>
                    </a:solidFill>
                  </a:tcPr>
                </a:tc>
                <a:tc>
                  <a:txBody>
                    <a:bodyPr wrap="square"/>
                    <a:lstStyle/>
                    <a:p>
                      <a:r>
                        <a:rPr sz="1050" b="0" i="0">
                          <a:solidFill>
                            <a:srgbClr val="353B4A"/>
                          </a:solidFill>
                          <a:latin typeface="Inter"/>
                        </a:rPr>
                        <a:t>6 of 13 to 12 of 13 attacks caught</a:t>
                      </a:r>
                    </a:p>
                  </a:txBody>
                  <a:tcPr marL="73152" marR="73152" marT="36576" marB="36576" anchor="ctr">
                    <a:solidFill>
                      <a:srgbClr val="F1F0F6"/>
                    </a:solidFill>
                  </a:tcPr>
                </a:tc>
              </a:tr>
              <a:tr h="566928">
                <a:tc>
                  <a:txBody>
                    <a:bodyPr wrap="square"/>
                    <a:lstStyle/>
                    <a:p>
                      <a:r>
                        <a:rPr sz="1050" b="1" i="0">
                          <a:solidFill>
                            <a:srgbClr val="1B2A55"/>
                          </a:solidFill>
                          <a:latin typeface="Inter"/>
                        </a:rPr>
                        <a:t>Weak spots we knew about</a:t>
                      </a:r>
                    </a:p>
                  </a:txBody>
                  <a:tcPr marL="73152" marR="73152" marT="36576" marB="36576" anchor="ctr">
                    <a:solidFill>
                      <a:srgbClr val="FFFFFF"/>
                    </a:solidFill>
                  </a:tcPr>
                </a:tc>
                <a:tc>
                  <a:txBody>
                    <a:bodyPr wrap="square"/>
                    <a:lstStyle/>
                    <a:p>
                      <a:r>
                        <a:rPr sz="1050" b="0" i="0">
                          <a:solidFill>
                            <a:srgbClr val="353B4A"/>
                          </a:solidFill>
                          <a:latin typeface="Inter"/>
                        </a:rPr>
                        <a:t>Injected ballots, forged receipts, rewritten chains, renamed candidates</a:t>
                      </a:r>
                    </a:p>
                  </a:txBody>
                  <a:tcPr marL="73152" marR="73152" marT="36576" marB="36576" anchor="ctr">
                    <a:solidFill>
                      <a:srgbClr val="FFFFFF"/>
                    </a:solidFill>
                  </a:tcPr>
                </a:tc>
                <a:tc>
                  <a:txBody>
                    <a:bodyPr wrap="square"/>
                    <a:lstStyle/>
                    <a:p>
                      <a:r>
                        <a:rPr sz="1050" b="0" i="0">
                          <a:solidFill>
                            <a:srgbClr val="353B4A"/>
                          </a:solidFill>
                          <a:latin typeface="Inter"/>
                        </a:rPr>
                        <a:t>Each has a test and a fix</a:t>
                      </a:r>
                    </a:p>
                  </a:txBody>
                  <a:tcPr marL="73152" marR="73152" marT="36576" marB="36576" anchor="ctr">
                    <a:solidFill>
                      <a:srgbClr val="FFFFFF"/>
                    </a:solidFill>
                  </a:tcPr>
                </a:tc>
              </a:tr>
            </a:tbl>
          </a:graphicData>
        </a:graphic>
      </p:graphicFrame>
      <p:sp>
        <p:nvSpPr>
          <p:cNvPr id="7" name="TextBox 6"/>
          <p:cNvSpPr txBox="1"/>
          <p:nvPr/>
        </p:nvSpPr>
        <p:spPr>
          <a:xfrm>
            <a:off x="457200" y="4343400"/>
            <a:ext cx="8229600" cy="457200"/>
          </a:xfrm>
          <a:prstGeom prst="rect">
            <a:avLst/>
          </a:prstGeom>
          <a:noFill/>
        </p:spPr>
        <p:txBody>
          <a:bodyPr wrap="square" anchor="t" lIns="0" rIns="0" tIns="0" bIns="0">
            <a:spAutoFit/>
          </a:bodyPr>
          <a:lstStyle/>
          <a:p>
            <a:pPr algn="l">
              <a:spcAft>
                <a:spcPts val="0"/>
              </a:spcAft>
            </a:pPr>
            <a:r>
              <a:rPr sz="1100" b="0" i="1">
                <a:solidFill>
                  <a:srgbClr val="666A78"/>
                </a:solidFill>
                <a:latin typeface="Inter"/>
              </a:rPr>
              <a:t>Where we say "future work", it is because the design needs something we cannot add honestly in one semester, and we say what.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WHAT CHANGED SINCE REVIEW 2</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Six changes, each tied to a weakness we could measure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5</a:t>
            </a:r>
          </a:p>
        </p:txBody>
      </p:sp>
      <p:sp>
        <p:nvSpPr>
          <p:cNvPr id="6" name="Rounded Rectangle 5"/>
          <p:cNvSpPr/>
          <p:nvPr/>
        </p:nvSpPr>
        <p:spPr>
          <a:xfrm>
            <a:off x="457200" y="1143000"/>
            <a:ext cx="2587752" cy="15087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7101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1</a:t>
            </a:r>
          </a:p>
        </p:txBody>
      </p:sp>
      <p:sp>
        <p:nvSpPr>
          <p:cNvPr id="8" name="TextBox 7"/>
          <p:cNvSpPr txBox="1"/>
          <p:nvPr/>
        </p:nvSpPr>
        <p:spPr>
          <a:xfrm>
            <a:off x="640080" y="1618488"/>
            <a:ext cx="2240280" cy="32004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Ledger in MongoDB Atlas</a:t>
            </a:r>
          </a:p>
        </p:txBody>
      </p:sp>
      <p:sp>
        <p:nvSpPr>
          <p:cNvPr id="9" name="TextBox 8"/>
          <p:cNvSpPr txBox="1"/>
          <p:nvPr/>
        </p:nvSpPr>
        <p:spPr>
          <a:xfrm>
            <a:off x="640080" y="1984248"/>
            <a:ext cx="2240280" cy="64008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Unique block index, file fallback, migration script, health endpoint</a:t>
            </a:r>
          </a:p>
        </p:txBody>
      </p:sp>
      <p:sp>
        <p:nvSpPr>
          <p:cNvPr id="10" name="Rounded Rectangle 9"/>
          <p:cNvSpPr/>
          <p:nvPr/>
        </p:nvSpPr>
        <p:spPr>
          <a:xfrm>
            <a:off x="3282696" y="1143000"/>
            <a:ext cx="2587752" cy="15087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5576" y="127101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2</a:t>
            </a:r>
          </a:p>
        </p:txBody>
      </p:sp>
      <p:sp>
        <p:nvSpPr>
          <p:cNvPr id="12" name="TextBox 11"/>
          <p:cNvSpPr txBox="1"/>
          <p:nvPr/>
        </p:nvSpPr>
        <p:spPr>
          <a:xfrm>
            <a:off x="3465576" y="1618488"/>
            <a:ext cx="2240280" cy="32004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Keyed hash chain</a:t>
            </a:r>
          </a:p>
        </p:txBody>
      </p:sp>
      <p:sp>
        <p:nvSpPr>
          <p:cNvPr id="13" name="TextBox 12"/>
          <p:cNvSpPr txBox="1"/>
          <p:nvPr/>
        </p:nvSpPr>
        <p:spPr>
          <a:xfrm>
            <a:off x="3465576" y="1984248"/>
            <a:ext cx="2240280" cy="64008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Blocks sealed with HMAC-SHA-256 under an external key</a:t>
            </a:r>
          </a:p>
        </p:txBody>
      </p:sp>
      <p:sp>
        <p:nvSpPr>
          <p:cNvPr id="14" name="Rounded Rectangle 13"/>
          <p:cNvSpPr/>
          <p:nvPr/>
        </p:nvSpPr>
        <p:spPr>
          <a:xfrm>
            <a:off x="6108192" y="1143000"/>
            <a:ext cx="2587752" cy="15087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27101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3</a:t>
            </a:r>
          </a:p>
        </p:txBody>
      </p:sp>
      <p:sp>
        <p:nvSpPr>
          <p:cNvPr id="16" name="TextBox 15"/>
          <p:cNvSpPr txBox="1"/>
          <p:nvPr/>
        </p:nvSpPr>
        <p:spPr>
          <a:xfrm>
            <a:off x="6291072" y="1618488"/>
            <a:ext cx="2240280" cy="32004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Sealed candidate roster</a:t>
            </a:r>
          </a:p>
        </p:txBody>
      </p:sp>
      <p:sp>
        <p:nvSpPr>
          <p:cNvPr id="17" name="TextBox 16"/>
          <p:cNvSpPr txBox="1"/>
          <p:nvPr/>
        </p:nvSpPr>
        <p:spPr>
          <a:xfrm>
            <a:off x="6291072" y="1984248"/>
            <a:ext cx="2240280" cy="64008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Each block carries a hash of the candidate list</a:t>
            </a:r>
          </a:p>
        </p:txBody>
      </p:sp>
      <p:sp>
        <p:nvSpPr>
          <p:cNvPr id="18" name="Rounded Rectangle 17"/>
          <p:cNvSpPr/>
          <p:nvPr/>
        </p:nvSpPr>
        <p:spPr>
          <a:xfrm>
            <a:off x="457200" y="2834640"/>
            <a:ext cx="2587752" cy="15087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296265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4</a:t>
            </a:r>
          </a:p>
        </p:txBody>
      </p:sp>
      <p:sp>
        <p:nvSpPr>
          <p:cNvPr id="20" name="TextBox 19"/>
          <p:cNvSpPr txBox="1"/>
          <p:nvPr/>
        </p:nvSpPr>
        <p:spPr>
          <a:xfrm>
            <a:off x="640080" y="3310128"/>
            <a:ext cx="2240280" cy="32004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Extended integrity sweep</a:t>
            </a:r>
          </a:p>
        </p:txBody>
      </p:sp>
      <p:sp>
        <p:nvSpPr>
          <p:cNvPr id="21" name="TextBox 20"/>
          <p:cNvSpPr txBox="1"/>
          <p:nvPr/>
        </p:nvSpPr>
        <p:spPr>
          <a:xfrm>
            <a:off x="640080" y="3675888"/>
            <a:ext cx="2240280" cy="64008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Injected ballots, roster change, flag/ballot/receipt mismatch</a:t>
            </a:r>
          </a:p>
        </p:txBody>
      </p:sp>
      <p:sp>
        <p:nvSpPr>
          <p:cNvPr id="22" name="Rounded Rectangle 21"/>
          <p:cNvSpPr/>
          <p:nvPr/>
        </p:nvSpPr>
        <p:spPr>
          <a:xfrm>
            <a:off x="3282696" y="2834640"/>
            <a:ext cx="2587752" cy="15087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65576" y="296265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5</a:t>
            </a:r>
          </a:p>
        </p:txBody>
      </p:sp>
      <p:sp>
        <p:nvSpPr>
          <p:cNvPr id="24" name="TextBox 23"/>
          <p:cNvSpPr txBox="1"/>
          <p:nvPr/>
        </p:nvSpPr>
        <p:spPr>
          <a:xfrm>
            <a:off x="3465576" y="3310128"/>
            <a:ext cx="2240280" cy="32004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Email one-time code</a:t>
            </a:r>
          </a:p>
        </p:txBody>
      </p:sp>
      <p:sp>
        <p:nvSpPr>
          <p:cNvPr id="25" name="TextBox 24"/>
          <p:cNvSpPr txBox="1"/>
          <p:nvPr/>
        </p:nvSpPr>
        <p:spPr>
          <a:xfrm>
            <a:off x="3465576" y="3675888"/>
            <a:ext cx="2240280" cy="64008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Standalone module, own database, hashed single-use codes</a:t>
            </a:r>
          </a:p>
        </p:txBody>
      </p:sp>
      <p:sp>
        <p:nvSpPr>
          <p:cNvPr id="26" name="Rounded Rectangle 25"/>
          <p:cNvSpPr/>
          <p:nvPr/>
        </p:nvSpPr>
        <p:spPr>
          <a:xfrm>
            <a:off x="6108192" y="2834640"/>
            <a:ext cx="2587752" cy="15087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91072" y="296265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6</a:t>
            </a:r>
          </a:p>
        </p:txBody>
      </p:sp>
      <p:sp>
        <p:nvSpPr>
          <p:cNvPr id="28" name="TextBox 27"/>
          <p:cNvSpPr txBox="1"/>
          <p:nvPr/>
        </p:nvSpPr>
        <p:spPr>
          <a:xfrm>
            <a:off x="6291072" y="3310128"/>
            <a:ext cx="2240280" cy="32004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Public link + QR + tests</a:t>
            </a:r>
          </a:p>
        </p:txBody>
      </p:sp>
      <p:sp>
        <p:nvSpPr>
          <p:cNvPr id="29" name="TextBox 28"/>
          <p:cNvSpPr txBox="1"/>
          <p:nvPr/>
        </p:nvSpPr>
        <p:spPr>
          <a:xfrm>
            <a:off x="6291072" y="3675888"/>
            <a:ext cx="2240280" cy="64008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Tunnel hosting, scan-to-vote, 47 executable scenarios</a:t>
            </a:r>
          </a:p>
        </p:txBody>
      </p:sp>
      <p:sp>
        <p:nvSpPr>
          <p:cNvPr id="30" name="TextBox 29"/>
          <p:cNvSpPr txBox="1"/>
          <p:nvPr/>
        </p:nvSpPr>
        <p:spPr>
          <a:xfrm>
            <a:off x="457200" y="4572000"/>
            <a:ext cx="8229600" cy="274320"/>
          </a:xfrm>
          <a:prstGeom prst="rect">
            <a:avLst/>
          </a:prstGeom>
          <a:noFill/>
        </p:spPr>
        <p:txBody>
          <a:bodyPr wrap="square" anchor="t" lIns="0" rIns="0" tIns="0" bIns="0">
            <a:spAutoFit/>
          </a:bodyPr>
          <a:lstStyle/>
          <a:p>
            <a:pPr algn="l">
              <a:spcAft>
                <a:spcPts val="0"/>
              </a:spcAft>
            </a:pPr>
            <a:r>
              <a:rPr sz="1050" b="0" i="1">
                <a:solidFill>
                  <a:srgbClr val="666A78"/>
                </a:solidFill>
                <a:latin typeface="Inter"/>
              </a:rPr>
              <a:t>Everything else from Review 2 (schema, trigger, tally engine, admin console, DB Studio) is unchanged and still passes.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PROJECT STATUS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About 85% done; the open items are the ones we deferred on purpose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6</a:t>
            </a:r>
          </a:p>
        </p:txBody>
      </p:sp>
      <p:graphicFrame>
        <p:nvGraphicFramePr>
          <p:cNvPr id="6" name="Table 5"/>
          <p:cNvGraphicFramePr>
            <a:graphicFrameLocks noGrp="1"/>
          </p:cNvGraphicFramePr>
          <p:nvPr/>
        </p:nvGraphicFramePr>
        <p:xfrm>
          <a:off x="457200" y="1097280"/>
          <a:ext cx="8229600" cy="3474720"/>
        </p:xfrm>
        <a:graphic>
          <a:graphicData uri="http://schemas.openxmlformats.org/drawingml/2006/table">
            <a:tbl>
              <a:tblPr firstRow="1" bandRow="1">
                <a:tableStyleId>{5C22544A-7EE6-4342-B048-85BDC9FD1C3A}</a:tableStyleId>
              </a:tblPr>
              <a:tblGrid>
                <a:gridCol w="3943350"/>
                <a:gridCol w="1371600"/>
                <a:gridCol w="2914650"/>
              </a:tblGrid>
              <a:tr h="365760">
                <a:tc>
                  <a:txBody>
                    <a:bodyPr wrap="square"/>
                    <a:lstStyle/>
                    <a:p>
                      <a:r>
                        <a:rPr sz="1000" b="1" i="0">
                          <a:solidFill>
                            <a:srgbClr val="FFFFFF"/>
                          </a:solidFill>
                          <a:latin typeface="Inter"/>
                        </a:rPr>
                        <a:t>Item</a:t>
                      </a:r>
                    </a:p>
                  </a:txBody>
                  <a:tcPr marL="73152" marR="73152" marT="36576" marB="36576" anchor="ctr">
                    <a:solidFill>
                      <a:srgbClr val="1B2A55"/>
                    </a:solidFill>
                  </a:tcPr>
                </a:tc>
                <a:tc>
                  <a:txBody>
                    <a:bodyPr wrap="square"/>
                    <a:lstStyle/>
                    <a:p>
                      <a:r>
                        <a:rPr sz="1000" b="1" i="0">
                          <a:solidFill>
                            <a:srgbClr val="FFFFFF"/>
                          </a:solidFill>
                          <a:latin typeface="Inter"/>
                        </a:rPr>
                        <a:t>Review 2</a:t>
                      </a:r>
                    </a:p>
                  </a:txBody>
                  <a:tcPr marL="73152" marR="73152" marT="36576" marB="36576" anchor="ctr">
                    <a:solidFill>
                      <a:srgbClr val="1B2A55"/>
                    </a:solidFill>
                  </a:tcPr>
                </a:tc>
                <a:tc>
                  <a:txBody>
                    <a:bodyPr wrap="square"/>
                    <a:lstStyle/>
                    <a:p>
                      <a:r>
                        <a:rPr sz="1000" b="1" i="0">
                          <a:solidFill>
                            <a:srgbClr val="FFFFFF"/>
                          </a:solidFill>
                          <a:latin typeface="Inter"/>
                        </a:rPr>
                        <a:t>Now</a:t>
                      </a:r>
                    </a:p>
                  </a:txBody>
                  <a:tcPr marL="73152" marR="73152" marT="36576" marB="36576" anchor="ctr">
                    <a:solidFill>
                      <a:srgbClr val="1B2A55"/>
                    </a:solidFill>
                  </a:tcPr>
                </a:tc>
              </a:tr>
              <a:tr h="310896">
                <a:tc>
                  <a:txBody>
                    <a:bodyPr wrap="square"/>
                    <a:lstStyle/>
                    <a:p>
                      <a:r>
                        <a:rPr sz="1000" b="1" i="0">
                          <a:solidFill>
                            <a:srgbClr val="1B2A55"/>
                          </a:solidFill>
                          <a:latin typeface="Inter"/>
                        </a:rPr>
                        <a:t>Multi-tenant normalised schema</a:t>
                      </a:r>
                    </a:p>
                  </a:txBody>
                  <a:tcPr marL="73152" marR="73152" marT="36576" marB="36576" anchor="ctr">
                    <a:solidFill>
                      <a:srgbClr val="FFFFFF"/>
                    </a:solidFill>
                  </a:tcPr>
                </a:tc>
                <a:tc>
                  <a:txBody>
                    <a:bodyPr wrap="square"/>
                    <a:lstStyle/>
                    <a:p>
                      <a:r>
                        <a:rPr sz="1000" b="0" i="0">
                          <a:solidFill>
                            <a:srgbClr val="353B4A"/>
                          </a:solidFill>
                          <a:latin typeface="Inter"/>
                        </a:rPr>
                        <a:t>Done</a:t>
                      </a:r>
                    </a:p>
                  </a:txBody>
                  <a:tcPr marL="73152" marR="73152" marT="36576" marB="36576" anchor="ctr">
                    <a:solidFill>
                      <a:srgbClr val="FFFFFF"/>
                    </a:solidFill>
                  </a:tcPr>
                </a:tc>
                <a:tc>
                  <a:txBody>
                    <a:bodyPr wrap="square"/>
                    <a:lstStyle/>
                    <a:p>
                      <a:r>
                        <a:rPr sz="1000" b="0" i="0">
                          <a:solidFill>
                            <a:srgbClr val="353B4A"/>
                          </a:solidFill>
                          <a:latin typeface="Inter"/>
                        </a:rPr>
                        <a:t>Done</a:t>
                      </a:r>
                    </a:p>
                  </a:txBody>
                  <a:tcPr marL="73152" marR="73152" marT="36576" marB="36576" anchor="ctr">
                    <a:solidFill>
                      <a:srgbClr val="FFFFFF"/>
                    </a:solidFill>
                  </a:tcPr>
                </a:tc>
              </a:tr>
              <a:tr h="310896">
                <a:tc>
                  <a:txBody>
                    <a:bodyPr wrap="square"/>
                    <a:lstStyle/>
                    <a:p>
                      <a:r>
                        <a:rPr sz="1000" b="1" i="0">
                          <a:solidFill>
                            <a:srgbClr val="1B2A55"/>
                          </a:solidFill>
                          <a:latin typeface="Inter"/>
                        </a:rPr>
                        <a:t>Complex queries, views, trigger</a:t>
                      </a:r>
                    </a:p>
                  </a:txBody>
                  <a:tcPr marL="73152" marR="73152" marT="36576" marB="36576" anchor="ctr">
                    <a:solidFill>
                      <a:srgbClr val="F1F0F6"/>
                    </a:solidFill>
                  </a:tcPr>
                </a:tc>
                <a:tc>
                  <a:txBody>
                    <a:bodyPr wrap="square"/>
                    <a:lstStyle/>
                    <a:p>
                      <a:r>
                        <a:rPr sz="1000" b="0" i="0">
                          <a:solidFill>
                            <a:srgbClr val="353B4A"/>
                          </a:solidFill>
                          <a:latin typeface="Inter"/>
                        </a:rPr>
                        <a:t>Done</a:t>
                      </a:r>
                    </a:p>
                  </a:txBody>
                  <a:tcPr marL="73152" marR="73152" marT="36576" marB="36576" anchor="ctr">
                    <a:solidFill>
                      <a:srgbClr val="F1F0F6"/>
                    </a:solidFill>
                  </a:tcPr>
                </a:tc>
                <a:tc>
                  <a:txBody>
                    <a:bodyPr wrap="square"/>
                    <a:lstStyle/>
                    <a:p>
                      <a:r>
                        <a:rPr sz="1000" b="0" i="0">
                          <a:solidFill>
                            <a:srgbClr val="353B4A"/>
                          </a:solidFill>
                          <a:latin typeface="Inter"/>
                        </a:rPr>
                        <a:t>Done</a:t>
                      </a:r>
                    </a:p>
                  </a:txBody>
                  <a:tcPr marL="73152" marR="73152" marT="36576" marB="36576" anchor="ctr">
                    <a:solidFill>
                      <a:srgbClr val="F1F0F6"/>
                    </a:solidFill>
                  </a:tcPr>
                </a:tc>
              </a:tr>
              <a:tr h="310896">
                <a:tc>
                  <a:txBody>
                    <a:bodyPr wrap="square"/>
                    <a:lstStyle/>
                    <a:p>
                      <a:r>
                        <a:rPr sz="1000" b="1" i="0">
                          <a:solidFill>
                            <a:srgbClr val="1B2A55"/>
                          </a:solidFill>
                          <a:latin typeface="Inter"/>
                        </a:rPr>
                        <a:t>Application integration (React + FastAPI)</a:t>
                      </a:r>
                    </a:p>
                  </a:txBody>
                  <a:tcPr marL="73152" marR="73152" marT="36576" marB="36576" anchor="ctr">
                    <a:solidFill>
                      <a:srgbClr val="FFFFFF"/>
                    </a:solidFill>
                  </a:tcPr>
                </a:tc>
                <a:tc>
                  <a:txBody>
                    <a:bodyPr wrap="square"/>
                    <a:lstStyle/>
                    <a:p>
                      <a:r>
                        <a:rPr sz="1000" b="0" i="0">
                          <a:solidFill>
                            <a:srgbClr val="353B4A"/>
                          </a:solidFill>
                          <a:latin typeface="Inter"/>
                        </a:rPr>
                        <a:t>Done</a:t>
                      </a:r>
                    </a:p>
                  </a:txBody>
                  <a:tcPr marL="73152" marR="73152" marT="36576" marB="36576" anchor="ctr">
                    <a:solidFill>
                      <a:srgbClr val="FFFFFF"/>
                    </a:solidFill>
                  </a:tcPr>
                </a:tc>
                <a:tc>
                  <a:txBody>
                    <a:bodyPr wrap="square"/>
                    <a:lstStyle/>
                    <a:p>
                      <a:r>
                        <a:rPr sz="1000" b="0" i="0">
                          <a:solidFill>
                            <a:srgbClr val="353B4A"/>
                          </a:solidFill>
                          <a:latin typeface="Inter"/>
                        </a:rPr>
                        <a:t>Done</a:t>
                      </a:r>
                    </a:p>
                  </a:txBody>
                  <a:tcPr marL="73152" marR="73152" marT="36576" marB="36576" anchor="ctr">
                    <a:solidFill>
                      <a:srgbClr val="FFFFFF"/>
                    </a:solidFill>
                  </a:tcPr>
                </a:tc>
              </a:tr>
              <a:tr h="310896">
                <a:tc>
                  <a:txBody>
                    <a:bodyPr wrap="square"/>
                    <a:lstStyle/>
                    <a:p>
                      <a:r>
                        <a:rPr sz="1000" b="1" i="0">
                          <a:solidFill>
                            <a:srgbClr val="1B2A55"/>
                          </a:solidFill>
                          <a:latin typeface="Inter"/>
                        </a:rPr>
                        <a:t>Polyglot persistence (document store)</a:t>
                      </a:r>
                    </a:p>
                  </a:txBody>
                  <a:tcPr marL="73152" marR="73152" marT="36576" marB="36576" anchor="ctr">
                    <a:solidFill>
                      <a:srgbClr val="F1F0F6"/>
                    </a:solidFill>
                  </a:tcPr>
                </a:tc>
                <a:tc>
                  <a:txBody>
                    <a:bodyPr wrap="square"/>
                    <a:lstStyle/>
                    <a:p>
                      <a:r>
                        <a:rPr sz="1000" b="0" i="0">
                          <a:solidFill>
                            <a:srgbClr val="353B4A"/>
                          </a:solidFill>
                          <a:latin typeface="Inter"/>
                        </a:rPr>
                        <a:t>Partly</a:t>
                      </a:r>
                    </a:p>
                  </a:txBody>
                  <a:tcPr marL="73152" marR="73152" marT="36576" marB="36576" anchor="ctr">
                    <a:solidFill>
                      <a:srgbClr val="F1F0F6"/>
                    </a:solidFill>
                  </a:tcPr>
                </a:tc>
                <a:tc>
                  <a:txBody>
                    <a:bodyPr wrap="square"/>
                    <a:lstStyle/>
                    <a:p>
                      <a:r>
                        <a:rPr sz="1000" b="0" i="0">
                          <a:solidFill>
                            <a:srgbClr val="353B4A"/>
                          </a:solidFill>
                          <a:latin typeface="Inter"/>
                        </a:rPr>
                        <a:t>Done: MongoDB Atlas</a:t>
                      </a:r>
                    </a:p>
                  </a:txBody>
                  <a:tcPr marL="73152" marR="73152" marT="36576" marB="36576" anchor="ctr">
                    <a:solidFill>
                      <a:srgbClr val="F1F0F6"/>
                    </a:solidFill>
                  </a:tcPr>
                </a:tc>
              </a:tr>
              <a:tr h="310896">
                <a:tc>
                  <a:txBody>
                    <a:bodyPr wrap="square"/>
                    <a:lstStyle/>
                    <a:p>
                      <a:r>
                        <a:rPr sz="1000" b="1" i="0">
                          <a:solidFill>
                            <a:srgbClr val="1B2A55"/>
                          </a:solidFill>
                          <a:latin typeface="Inter"/>
                        </a:rPr>
                        <a:t>Tamper detection</a:t>
                      </a:r>
                    </a:p>
                  </a:txBody>
                  <a:tcPr marL="73152" marR="73152" marT="36576" marB="36576" anchor="ctr">
                    <a:solidFill>
                      <a:srgbClr val="FFFFFF"/>
                    </a:solidFill>
                  </a:tcPr>
                </a:tc>
                <a:tc>
                  <a:txBody>
                    <a:bodyPr wrap="square"/>
                    <a:lstStyle/>
                    <a:p>
                      <a:r>
                        <a:rPr sz="1000" b="0" i="0">
                          <a:solidFill>
                            <a:srgbClr val="353B4A"/>
                          </a:solidFill>
                          <a:latin typeface="Inter"/>
                        </a:rPr>
                        <a:t>Done</a:t>
                      </a:r>
                    </a:p>
                  </a:txBody>
                  <a:tcPr marL="73152" marR="73152" marT="36576" marB="36576" anchor="ctr">
                    <a:solidFill>
                      <a:srgbClr val="FFFFFF"/>
                    </a:solidFill>
                  </a:tcPr>
                </a:tc>
                <a:tc>
                  <a:txBody>
                    <a:bodyPr wrap="square"/>
                    <a:lstStyle/>
                    <a:p>
                      <a:r>
                        <a:rPr sz="1000" b="0" i="0">
                          <a:solidFill>
                            <a:srgbClr val="353B4A"/>
                          </a:solidFill>
                          <a:latin typeface="Inter"/>
                        </a:rPr>
                        <a:t>Done: extended and keyed</a:t>
                      </a:r>
                    </a:p>
                  </a:txBody>
                  <a:tcPr marL="73152" marR="73152" marT="36576" marB="36576" anchor="ctr">
                    <a:solidFill>
                      <a:srgbClr val="FFFFFF"/>
                    </a:solidFill>
                  </a:tcPr>
                </a:tc>
              </a:tr>
              <a:tr h="310896">
                <a:tc>
                  <a:txBody>
                    <a:bodyPr wrap="square"/>
                    <a:lstStyle/>
                    <a:p>
                      <a:r>
                        <a:rPr sz="1000" b="1" i="0">
                          <a:solidFill>
                            <a:srgbClr val="1B2A55"/>
                          </a:solidFill>
                          <a:latin typeface="Inter"/>
                        </a:rPr>
                        <a:t>Voter second factor</a:t>
                      </a:r>
                    </a:p>
                  </a:txBody>
                  <a:tcPr marL="73152" marR="73152" marT="36576" marB="36576" anchor="ctr">
                    <a:solidFill>
                      <a:srgbClr val="F1F0F6"/>
                    </a:solidFill>
                  </a:tcPr>
                </a:tc>
                <a:tc>
                  <a:txBody>
                    <a:bodyPr wrap="square"/>
                    <a:lstStyle/>
                    <a:p>
                      <a:r>
                        <a:rPr sz="1000" b="0" i="0">
                          <a:solidFill>
                            <a:srgbClr val="353B4A"/>
                          </a:solidFill>
                          <a:latin typeface="Inter"/>
                        </a:rPr>
                        <a:t>Suggested</a:t>
                      </a:r>
                    </a:p>
                  </a:txBody>
                  <a:tcPr marL="73152" marR="73152" marT="36576" marB="36576" anchor="ctr">
                    <a:solidFill>
                      <a:srgbClr val="F1F0F6"/>
                    </a:solidFill>
                  </a:tcPr>
                </a:tc>
                <a:tc>
                  <a:txBody>
                    <a:bodyPr wrap="square"/>
                    <a:lstStyle/>
                    <a:p>
                      <a:r>
                        <a:rPr sz="1000" b="0" i="0">
                          <a:solidFill>
                            <a:srgbClr val="353B4A"/>
                          </a:solidFill>
                          <a:latin typeface="Inter"/>
                        </a:rPr>
                        <a:t>Done: email one-time code</a:t>
                      </a:r>
                    </a:p>
                  </a:txBody>
                  <a:tcPr marL="73152" marR="73152" marT="36576" marB="36576" anchor="ctr">
                    <a:solidFill>
                      <a:srgbClr val="F1F0F6"/>
                    </a:solidFill>
                  </a:tcPr>
                </a:tc>
              </a:tr>
              <a:tr h="310896">
                <a:tc>
                  <a:txBody>
                    <a:bodyPr wrap="square"/>
                    <a:lstStyle/>
                    <a:p>
                      <a:r>
                        <a:rPr sz="1000" b="1" i="0">
                          <a:solidFill>
                            <a:srgbClr val="1B2A55"/>
                          </a:solidFill>
                          <a:latin typeface="Inter"/>
                        </a:rPr>
                        <a:t>Comparative study and evaluation</a:t>
                      </a:r>
                    </a:p>
                  </a:txBody>
                  <a:tcPr marL="73152" marR="73152" marT="36576" marB="36576" anchor="ctr">
                    <a:solidFill>
                      <a:srgbClr val="FFFFFF"/>
                    </a:solidFill>
                  </a:tcPr>
                </a:tc>
                <a:tc>
                  <a:txBody>
                    <a:bodyPr wrap="square"/>
                    <a:lstStyle/>
                    <a:p>
                      <a:r>
                        <a:rPr sz="1000" b="0" i="0">
                          <a:solidFill>
                            <a:srgbClr val="353B4A"/>
                          </a:solidFill>
                          <a:latin typeface="Inter"/>
                        </a:rPr>
                        <a:t>Not started</a:t>
                      </a:r>
                    </a:p>
                  </a:txBody>
                  <a:tcPr marL="73152" marR="73152" marT="36576" marB="36576" anchor="ctr">
                    <a:solidFill>
                      <a:srgbClr val="FFFFFF"/>
                    </a:solidFill>
                  </a:tcPr>
                </a:tc>
                <a:tc>
                  <a:txBody>
                    <a:bodyPr wrap="square"/>
                    <a:lstStyle/>
                    <a:p>
                      <a:r>
                        <a:rPr sz="1000" b="0" i="0">
                          <a:solidFill>
                            <a:srgbClr val="353B4A"/>
                          </a:solidFill>
                          <a:latin typeface="Inter"/>
                        </a:rPr>
                        <a:t>Done: 47 scenarios</a:t>
                      </a:r>
                    </a:p>
                  </a:txBody>
                  <a:tcPr marL="73152" marR="73152" marT="36576" marB="36576" anchor="ctr">
                    <a:solidFill>
                      <a:srgbClr val="FFFFFF"/>
                    </a:solidFill>
                  </a:tcPr>
                </a:tc>
              </a:tr>
              <a:tr h="310896">
                <a:tc>
                  <a:txBody>
                    <a:bodyPr wrap="square"/>
                    <a:lstStyle/>
                    <a:p>
                      <a:r>
                        <a:rPr sz="1000" b="1" i="0">
                          <a:solidFill>
                            <a:srgbClr val="1B2A55"/>
                          </a:solidFill>
                          <a:latin typeface="Inter"/>
                        </a:rPr>
                        <a:t>Live deployment</a:t>
                      </a:r>
                    </a:p>
                  </a:txBody>
                  <a:tcPr marL="73152" marR="73152" marT="36576" marB="36576" anchor="ctr">
                    <a:solidFill>
                      <a:srgbClr val="F1F0F6"/>
                    </a:solidFill>
                  </a:tcPr>
                </a:tc>
                <a:tc>
                  <a:txBody>
                    <a:bodyPr wrap="square"/>
                    <a:lstStyle/>
                    <a:p>
                      <a:r>
                        <a:rPr sz="1000" b="0" i="0">
                          <a:solidFill>
                            <a:srgbClr val="353B4A"/>
                          </a:solidFill>
                          <a:latin typeface="Inter"/>
                        </a:rPr>
                        <a:t>Not started</a:t>
                      </a:r>
                    </a:p>
                  </a:txBody>
                  <a:tcPr marL="73152" marR="73152" marT="36576" marB="36576" anchor="ctr">
                    <a:solidFill>
                      <a:srgbClr val="F1F0F6"/>
                    </a:solidFill>
                  </a:tcPr>
                </a:tc>
                <a:tc>
                  <a:txBody>
                    <a:bodyPr wrap="square"/>
                    <a:lstStyle/>
                    <a:p>
                      <a:r>
                        <a:rPr sz="1000" b="0" i="0">
                          <a:solidFill>
                            <a:srgbClr val="353B4A"/>
                          </a:solidFill>
                          <a:latin typeface="Inter"/>
                        </a:rPr>
                        <a:t>Partly: public link, not a cloud platform</a:t>
                      </a:r>
                    </a:p>
                  </a:txBody>
                  <a:tcPr marL="73152" marR="73152" marT="36576" marB="36576" anchor="ctr">
                    <a:solidFill>
                      <a:srgbClr val="F1F0F6"/>
                    </a:solidFill>
                  </a:tcPr>
                </a:tc>
              </a:tr>
              <a:tr h="310896">
                <a:tc>
                  <a:txBody>
                    <a:bodyPr wrap="square"/>
                    <a:lstStyle/>
                    <a:p>
                      <a:r>
                        <a:rPr sz="1000" b="1" i="0">
                          <a:solidFill>
                            <a:srgbClr val="1B2A55"/>
                          </a:solidFill>
                          <a:latin typeface="Inter"/>
                        </a:rPr>
                        <a:t>DCL roles and PL/SQL procedures (Oracle)</a:t>
                      </a:r>
                    </a:p>
                  </a:txBody>
                  <a:tcPr marL="73152" marR="73152" marT="36576" marB="36576" anchor="ctr">
                    <a:solidFill>
                      <a:srgbClr val="FFFFFF"/>
                    </a:solidFill>
                  </a:tcPr>
                </a:tc>
                <a:tc>
                  <a:txBody>
                    <a:bodyPr wrap="square"/>
                    <a:lstStyle/>
                    <a:p>
                      <a:r>
                        <a:rPr sz="1000" b="0" i="0">
                          <a:solidFill>
                            <a:srgbClr val="353B4A"/>
                          </a:solidFill>
                          <a:latin typeface="Inter"/>
                        </a:rPr>
                        <a:t>Planned</a:t>
                      </a:r>
                    </a:p>
                  </a:txBody>
                  <a:tcPr marL="73152" marR="73152" marT="36576" marB="36576" anchor="ctr">
                    <a:solidFill>
                      <a:srgbClr val="FFFFFF"/>
                    </a:solidFill>
                  </a:tcPr>
                </a:tc>
                <a:tc>
                  <a:txBody>
                    <a:bodyPr wrap="square"/>
                    <a:lstStyle/>
                    <a:p>
                      <a:r>
                        <a:rPr sz="1000" b="0" i="0">
                          <a:solidFill>
                            <a:srgbClr val="353B4A"/>
                          </a:solidFill>
                          <a:latin typeface="Inter"/>
                        </a:rPr>
                        <a:t>Not started</a:t>
                      </a:r>
                    </a:p>
                  </a:txBody>
                  <a:tcPr marL="73152" marR="73152" marT="36576" marB="36576" anchor="ctr">
                    <a:solidFill>
                      <a:srgbClr val="FFFFFF"/>
                    </a:solidFill>
                  </a:tcPr>
                </a:tc>
              </a:tr>
              <a:tr h="310896">
                <a:tc>
                  <a:txBody>
                    <a:bodyPr wrap="square"/>
                    <a:lstStyle/>
                    <a:p>
                      <a:r>
                        <a:rPr sz="1000" b="1" i="0">
                          <a:solidFill>
                            <a:srgbClr val="1B2A55"/>
                          </a:solidFill>
                          <a:latin typeface="Inter"/>
                        </a:rPr>
                        <a:t>POSITION entity</a:t>
                      </a:r>
                    </a:p>
                  </a:txBody>
                  <a:tcPr marL="73152" marR="73152" marT="36576" marB="36576" anchor="ctr">
                    <a:solidFill>
                      <a:srgbClr val="F1F0F6"/>
                    </a:solidFill>
                  </a:tcPr>
                </a:tc>
                <a:tc>
                  <a:txBody>
                    <a:bodyPr wrap="square"/>
                    <a:lstStyle/>
                    <a:p>
                      <a:r>
                        <a:rPr sz="1000" b="0" i="0">
                          <a:solidFill>
                            <a:srgbClr val="353B4A"/>
                          </a:solidFill>
                          <a:latin typeface="Inter"/>
                        </a:rPr>
                        <a:t>Deferred</a:t>
                      </a:r>
                    </a:p>
                  </a:txBody>
                  <a:tcPr marL="73152" marR="73152" marT="36576" marB="36576" anchor="ctr">
                    <a:solidFill>
                      <a:srgbClr val="F1F0F6"/>
                    </a:solidFill>
                  </a:tcPr>
                </a:tc>
                <a:tc>
                  <a:txBody>
                    <a:bodyPr wrap="square"/>
                    <a:lstStyle/>
                    <a:p>
                      <a:r>
                        <a:rPr sz="1000" b="0" i="0">
                          <a:solidFill>
                            <a:srgbClr val="353B4A"/>
                          </a:solidFill>
                          <a:latin typeface="Inter"/>
                        </a:rPr>
                        <a:t>Not started</a:t>
                      </a:r>
                    </a:p>
                  </a:txBody>
                  <a:tcPr marL="73152" marR="73152" marT="36576" marB="36576" anchor="ctr">
                    <a:solidFill>
                      <a:srgbClr val="F1F0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THREAT MODEL</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Who the attacker is, and who we do not stop</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7</a:t>
            </a:r>
          </a:p>
        </p:txBody>
      </p:sp>
      <p:pic>
        <p:nvPicPr>
          <p:cNvPr id="6" name="Picture 5" descr="threat_model.png"/>
          <p:cNvPicPr>
            <a:picLocks noChangeAspect="1"/>
          </p:cNvPicPr>
          <p:nvPr/>
        </p:nvPicPr>
        <p:blipFill>
          <a:blip r:embed="rId2"/>
          <a:stretch>
            <a:fillRect/>
          </a:stretch>
        </p:blipFill>
        <p:spPr>
          <a:xfrm>
            <a:off x="1739486" y="1051560"/>
            <a:ext cx="5665026" cy="3383280"/>
          </a:xfrm>
          <a:prstGeom prst="rect">
            <a:avLst/>
          </a:prstGeom>
        </p:spPr>
      </p:pic>
      <p:sp>
        <p:nvSpPr>
          <p:cNvPr id="7" name="TextBox 6"/>
          <p:cNvSpPr txBox="1"/>
          <p:nvPr/>
        </p:nvSpPr>
        <p:spPr>
          <a:xfrm>
            <a:off x="457200" y="4462272"/>
            <a:ext cx="8229600" cy="274320"/>
          </a:xfrm>
          <a:prstGeom prst="rect">
            <a:avLst/>
          </a:prstGeom>
          <a:noFill/>
        </p:spPr>
        <p:txBody>
          <a:bodyPr wrap="square" anchor="t" lIns="0" rIns="0" tIns="0" bIns="0">
            <a:spAutoFit/>
          </a:bodyPr>
          <a:lstStyle/>
          <a:p>
            <a:pPr algn="ctr">
              <a:spcAft>
                <a:spcPts val="0"/>
              </a:spcAft>
            </a:pPr>
            <a:r>
              <a:rPr sz="950" b="0" i="1">
                <a:solidFill>
                  <a:srgbClr val="666A78"/>
                </a:solidFill>
                <a:latin typeface="Inter"/>
              </a:rPr>
              <a:t>Detected means found by an auditor running the checks, not blocked in real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SECURITY GOALS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Eight goals, each with a mechanism we can test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8</a:t>
            </a:r>
          </a:p>
        </p:txBody>
      </p:sp>
      <p:graphicFrame>
        <p:nvGraphicFramePr>
          <p:cNvPr id="6" name="Table 5"/>
          <p:cNvGraphicFramePr>
            <a:graphicFrameLocks noGrp="1"/>
          </p:cNvGraphicFramePr>
          <p:nvPr/>
        </p:nvGraphicFramePr>
        <p:xfrm>
          <a:off x="457200" y="1097280"/>
          <a:ext cx="8229600" cy="3511296"/>
        </p:xfrm>
        <a:graphic>
          <a:graphicData uri="http://schemas.openxmlformats.org/drawingml/2006/table">
            <a:tbl>
              <a:tblPr firstRow="1" bandRow="1">
                <a:tableStyleId>{5C22544A-7EE6-4342-B048-85BDC9FD1C3A}</a:tableStyleId>
              </a:tblPr>
              <a:tblGrid>
                <a:gridCol w="576072"/>
                <a:gridCol w="3456432"/>
                <a:gridCol w="4197096"/>
              </a:tblGrid>
              <a:tr h="365760">
                <a:tc>
                  <a:txBody>
                    <a:bodyPr wrap="square"/>
                    <a:lstStyle/>
                    <a:p>
                      <a:r>
                        <a:rPr sz="1000" b="1" i="0">
                          <a:solidFill>
                            <a:srgbClr val="FFFFFF"/>
                          </a:solidFill>
                          <a:latin typeface="Inter"/>
                        </a:rPr>
                        <a:t>Goal</a:t>
                      </a:r>
                    </a:p>
                  </a:txBody>
                  <a:tcPr marL="73152" marR="73152" marT="36576" marB="36576" anchor="ctr">
                    <a:solidFill>
                      <a:srgbClr val="1B2A55"/>
                    </a:solidFill>
                  </a:tcPr>
                </a:tc>
                <a:tc>
                  <a:txBody>
                    <a:bodyPr wrap="square"/>
                    <a:lstStyle/>
                    <a:p>
                      <a:r>
                        <a:rPr sz="1000" b="1" i="0">
                          <a:solidFill>
                            <a:srgbClr val="FFFFFF"/>
                          </a:solidFill>
                          <a:latin typeface="Inter"/>
                        </a:rPr>
                        <a:t>Statement</a:t>
                      </a:r>
                    </a:p>
                  </a:txBody>
                  <a:tcPr marL="73152" marR="73152" marT="36576" marB="36576" anchor="ctr">
                    <a:solidFill>
                      <a:srgbClr val="1B2A55"/>
                    </a:solidFill>
                  </a:tcPr>
                </a:tc>
                <a:tc>
                  <a:txBody>
                    <a:bodyPr wrap="square"/>
                    <a:lstStyle/>
                    <a:p>
                      <a:r>
                        <a:rPr sz="1000" b="1" i="0">
                          <a:solidFill>
                            <a:srgbClr val="FFFFFF"/>
                          </a:solidFill>
                          <a:latin typeface="Inter"/>
                        </a:rPr>
                        <a:t>Mechanism</a:t>
                      </a:r>
                    </a:p>
                  </a:txBody>
                  <a:tcPr marL="73152" marR="73152" marT="36576" marB="36576" anchor="ctr">
                    <a:solidFill>
                      <a:srgbClr val="1B2A55"/>
                    </a:solidFill>
                  </a:tcPr>
                </a:tc>
              </a:tr>
              <a:tr h="393192">
                <a:tc>
                  <a:txBody>
                    <a:bodyPr wrap="square"/>
                    <a:lstStyle/>
                    <a:p>
                      <a:r>
                        <a:rPr sz="1050" b="1" i="0">
                          <a:solidFill>
                            <a:srgbClr val="1B2A55"/>
                          </a:solidFill>
                          <a:latin typeface="Inter"/>
                        </a:rPr>
                        <a:t>G1</a:t>
                      </a:r>
                    </a:p>
                  </a:txBody>
                  <a:tcPr marL="73152" marR="73152" marT="36576" marB="36576" anchor="ctr">
                    <a:solidFill>
                      <a:srgbClr val="FFFFFF"/>
                    </a:solidFill>
                  </a:tcPr>
                </a:tc>
                <a:tc>
                  <a:txBody>
                    <a:bodyPr wrap="square"/>
                    <a:lstStyle/>
                    <a:p>
                      <a:r>
                        <a:rPr sz="1050" b="0" i="0">
                          <a:solidFill>
                            <a:srgbClr val="353B4A"/>
                          </a:solidFill>
                          <a:latin typeface="Inter"/>
                        </a:rPr>
                        <a:t>No voter can vote twice</a:t>
                      </a:r>
                    </a:p>
                  </a:txBody>
                  <a:tcPr marL="73152" marR="73152" marT="36576" marB="36576" anchor="ctr">
                    <a:solidFill>
                      <a:srgbClr val="FFFFFF"/>
                    </a:solidFill>
                  </a:tcPr>
                </a:tc>
                <a:tc>
                  <a:txBody>
                    <a:bodyPr wrap="square"/>
                    <a:lstStyle/>
                    <a:p>
                      <a:r>
                        <a:rPr sz="1050" b="0" i="0">
                          <a:solidFill>
                            <a:srgbClr val="353B4A"/>
                          </a:solidFill>
                          <a:latin typeface="Inter"/>
                        </a:rPr>
                        <a:t>Trigger, CHECK, unique roster, single-use session, write lock</a:t>
                      </a:r>
                    </a:p>
                  </a:txBody>
                  <a:tcPr marL="73152" marR="73152" marT="36576" marB="36576" anchor="ctr">
                    <a:solidFill>
                      <a:srgbClr val="FFFFFF"/>
                    </a:solidFill>
                  </a:tcPr>
                </a:tc>
              </a:tr>
              <a:tr h="393192">
                <a:tc>
                  <a:txBody>
                    <a:bodyPr wrap="square"/>
                    <a:lstStyle/>
                    <a:p>
                      <a:r>
                        <a:rPr sz="1050" b="1" i="0">
                          <a:solidFill>
                            <a:srgbClr val="1B2A55"/>
                          </a:solidFill>
                          <a:latin typeface="Inter"/>
                        </a:rPr>
                        <a:t>G2</a:t>
                      </a:r>
                    </a:p>
                  </a:txBody>
                  <a:tcPr marL="73152" marR="73152" marT="36576" marB="36576" anchor="ctr">
                    <a:solidFill>
                      <a:srgbClr val="F1F0F6"/>
                    </a:solidFill>
                  </a:tcPr>
                </a:tc>
                <a:tc>
                  <a:txBody>
                    <a:bodyPr wrap="square"/>
                    <a:lstStyle/>
                    <a:p>
                      <a:r>
                        <a:rPr sz="1050" b="0" i="0">
                          <a:solidFill>
                            <a:srgbClr val="353B4A"/>
                          </a:solidFill>
                          <a:latin typeface="Inter"/>
                        </a:rPr>
                        <a:t>Only rostered, verified voters vote</a:t>
                      </a:r>
                    </a:p>
                  </a:txBody>
                  <a:tcPr marL="73152" marR="73152" marT="36576" marB="36576" anchor="ctr">
                    <a:solidFill>
                      <a:srgbClr val="F1F0F6"/>
                    </a:solidFill>
                  </a:tcPr>
                </a:tc>
                <a:tc>
                  <a:txBody>
                    <a:bodyPr wrap="square"/>
                    <a:lstStyle/>
                    <a:p>
                      <a:r>
                        <a:rPr sz="1050" b="0" i="0">
                          <a:solidFill>
                            <a:srgbClr val="353B4A"/>
                          </a:solidFill>
                          <a:latin typeface="Inter"/>
                        </a:rPr>
                        <a:t>Roster lookup, password, emailed code</a:t>
                      </a:r>
                    </a:p>
                  </a:txBody>
                  <a:tcPr marL="73152" marR="73152" marT="36576" marB="36576" anchor="ctr">
                    <a:solidFill>
                      <a:srgbClr val="F1F0F6"/>
                    </a:solidFill>
                  </a:tcPr>
                </a:tc>
              </a:tr>
              <a:tr h="393192">
                <a:tc>
                  <a:txBody>
                    <a:bodyPr wrap="square"/>
                    <a:lstStyle/>
                    <a:p>
                      <a:r>
                        <a:rPr sz="1050" b="1" i="0">
                          <a:solidFill>
                            <a:srgbClr val="1B2A55"/>
                          </a:solidFill>
                          <a:latin typeface="Inter"/>
                        </a:rPr>
                        <a:t>G3</a:t>
                      </a:r>
                    </a:p>
                  </a:txBody>
                  <a:tcPr marL="73152" marR="73152" marT="36576" marB="36576" anchor="ctr">
                    <a:solidFill>
                      <a:srgbClr val="FFFFFF"/>
                    </a:solidFill>
                  </a:tcPr>
                </a:tc>
                <a:tc>
                  <a:txBody>
                    <a:bodyPr wrap="square"/>
                    <a:lstStyle/>
                    <a:p>
                      <a:r>
                        <a:rPr sz="1050" b="0" i="0">
                          <a:solidFill>
                            <a:srgbClr val="353B4A"/>
                          </a:solidFill>
                          <a:latin typeface="Inter"/>
                        </a:rPr>
                        <a:t>Ballots are anonymous in storage</a:t>
                      </a:r>
                    </a:p>
                  </a:txBody>
                  <a:tcPr marL="73152" marR="73152" marT="36576" marB="36576" anchor="ctr">
                    <a:solidFill>
                      <a:srgbClr val="FFFFFF"/>
                    </a:solidFill>
                  </a:tcPr>
                </a:tc>
                <a:tc>
                  <a:txBody>
                    <a:bodyPr wrap="square"/>
                    <a:lstStyle/>
                    <a:p>
                      <a:r>
                        <a:rPr sz="1050" b="0" i="0">
                          <a:solidFill>
                            <a:srgbClr val="353B4A"/>
                          </a:solidFill>
                          <a:latin typeface="Inter"/>
                        </a:rPr>
                        <a:t>No linking column; random ballot tokens</a:t>
                      </a:r>
                    </a:p>
                  </a:txBody>
                  <a:tcPr marL="73152" marR="73152" marT="36576" marB="36576" anchor="ctr">
                    <a:solidFill>
                      <a:srgbClr val="FFFFFF"/>
                    </a:solidFill>
                  </a:tcPr>
                </a:tc>
              </a:tr>
              <a:tr h="393192">
                <a:tc>
                  <a:txBody>
                    <a:bodyPr wrap="square"/>
                    <a:lstStyle/>
                    <a:p>
                      <a:r>
                        <a:rPr sz="1050" b="1" i="0">
                          <a:solidFill>
                            <a:srgbClr val="1B2A55"/>
                          </a:solidFill>
                          <a:latin typeface="Inter"/>
                        </a:rPr>
                        <a:t>G4</a:t>
                      </a:r>
                    </a:p>
                  </a:txBody>
                  <a:tcPr marL="73152" marR="73152" marT="36576" marB="36576" anchor="ctr">
                    <a:solidFill>
                      <a:srgbClr val="F1F0F6"/>
                    </a:solidFill>
                  </a:tcPr>
                </a:tc>
                <a:tc>
                  <a:txBody>
                    <a:bodyPr wrap="square"/>
                    <a:lstStyle/>
                    <a:p>
                      <a:r>
                        <a:rPr sz="1050" b="0" i="0">
                          <a:solidFill>
                            <a:srgbClr val="353B4A"/>
                          </a:solidFill>
                          <a:latin typeface="Inter"/>
                        </a:rPr>
                        <a:t>Malformed ballots are rejected</a:t>
                      </a:r>
                    </a:p>
                  </a:txBody>
                  <a:tcPr marL="73152" marR="73152" marT="36576" marB="36576" anchor="ctr">
                    <a:solidFill>
                      <a:srgbClr val="F1F0F6"/>
                    </a:solidFill>
                  </a:tcPr>
                </a:tc>
                <a:tc>
                  <a:txBody>
                    <a:bodyPr wrap="square"/>
                    <a:lstStyle/>
                    <a:p>
                      <a:r>
                        <a:rPr sz="1050" b="0" i="0">
                          <a:solidFill>
                            <a:srgbClr val="353B4A"/>
                          </a:solidFill>
                          <a:latin typeface="Inter"/>
                        </a:rPr>
                        <a:t>CHECK, composite key, foreign key, API validation</a:t>
                      </a:r>
                    </a:p>
                  </a:txBody>
                  <a:tcPr marL="73152" marR="73152" marT="36576" marB="36576" anchor="ctr">
                    <a:solidFill>
                      <a:srgbClr val="F1F0F6"/>
                    </a:solidFill>
                  </a:tcPr>
                </a:tc>
              </a:tr>
              <a:tr h="393192">
                <a:tc>
                  <a:txBody>
                    <a:bodyPr wrap="square"/>
                    <a:lstStyle/>
                    <a:p>
                      <a:r>
                        <a:rPr sz="1050" b="1" i="0">
                          <a:solidFill>
                            <a:srgbClr val="1B2A55"/>
                          </a:solidFill>
                          <a:latin typeface="Inter"/>
                        </a:rPr>
                        <a:t>G5</a:t>
                      </a:r>
                    </a:p>
                  </a:txBody>
                  <a:tcPr marL="73152" marR="73152" marT="36576" marB="36576" anchor="ctr">
                    <a:solidFill>
                      <a:srgbClr val="FFFFFF"/>
                    </a:solidFill>
                  </a:tcPr>
                </a:tc>
                <a:tc>
                  <a:txBody>
                    <a:bodyPr wrap="square"/>
                    <a:lstStyle/>
                    <a:p>
                      <a:r>
                        <a:rPr sz="1050" b="0" i="0">
                          <a:solidFill>
                            <a:srgbClr val="353B4A"/>
                          </a:solidFill>
                          <a:latin typeface="Inter"/>
                        </a:rPr>
                        <a:t>Edits, deletions, insertions are detectable</a:t>
                      </a:r>
                    </a:p>
                  </a:txBody>
                  <a:tcPr marL="73152" marR="73152" marT="36576" marB="36576" anchor="ctr">
                    <a:solidFill>
                      <a:srgbClr val="FFFFFF"/>
                    </a:solidFill>
                  </a:tcPr>
                </a:tc>
                <a:tc>
                  <a:txBody>
                    <a:bodyPr wrap="square"/>
                    <a:lstStyle/>
                    <a:p>
                      <a:r>
                        <a:rPr sz="1050" b="0" i="0">
                          <a:solidFill>
                            <a:srgbClr val="353B4A"/>
                          </a:solidFill>
                          <a:latin typeface="Inter"/>
                        </a:rPr>
                        <a:t>Per-ballot receipt and integrity sweep</a:t>
                      </a:r>
                    </a:p>
                  </a:txBody>
                  <a:tcPr marL="73152" marR="73152" marT="36576" marB="36576" anchor="ctr">
                    <a:solidFill>
                      <a:srgbClr val="FFFFFF"/>
                    </a:solidFill>
                  </a:tcPr>
                </a:tc>
              </a:tr>
              <a:tr h="393192">
                <a:tc>
                  <a:txBody>
                    <a:bodyPr wrap="square"/>
                    <a:lstStyle/>
                    <a:p>
                      <a:r>
                        <a:rPr sz="1050" b="1" i="0">
                          <a:solidFill>
                            <a:srgbClr val="1B2A55"/>
                          </a:solidFill>
                          <a:latin typeface="Inter"/>
                        </a:rPr>
                        <a:t>G6</a:t>
                      </a:r>
                    </a:p>
                  </a:txBody>
                  <a:tcPr marL="73152" marR="73152" marT="36576" marB="36576" anchor="ctr">
                    <a:solidFill>
                      <a:srgbClr val="F1F0F6"/>
                    </a:solidFill>
                  </a:tcPr>
                </a:tc>
                <a:tc>
                  <a:txBody>
                    <a:bodyPr wrap="square"/>
                    <a:lstStyle/>
                    <a:p>
                      <a:r>
                        <a:rPr sz="1050" b="0" i="0">
                          <a:solidFill>
                            <a:srgbClr val="353B4A"/>
                          </a:solidFill>
                          <a:latin typeface="Inter"/>
                        </a:rPr>
                        <a:t>Ledger cannot be silently rewritten without the key</a:t>
                      </a:r>
                    </a:p>
                  </a:txBody>
                  <a:tcPr marL="73152" marR="73152" marT="36576" marB="36576" anchor="ctr">
                    <a:solidFill>
                      <a:srgbClr val="F1F0F6"/>
                    </a:solidFill>
                  </a:tcPr>
                </a:tc>
                <a:tc>
                  <a:txBody>
                    <a:bodyPr wrap="square"/>
                    <a:lstStyle/>
                    <a:p>
                      <a:r>
                        <a:rPr sz="1050" b="0" i="0">
                          <a:solidFill>
                            <a:srgbClr val="353B4A"/>
                          </a:solidFill>
                          <a:latin typeface="Inter"/>
                        </a:rPr>
                        <a:t>HMAC chain, unique index, separate store</a:t>
                      </a:r>
                    </a:p>
                  </a:txBody>
                  <a:tcPr marL="73152" marR="73152" marT="36576" marB="36576" anchor="ctr">
                    <a:solidFill>
                      <a:srgbClr val="F1F0F6"/>
                    </a:solidFill>
                  </a:tcPr>
                </a:tc>
              </a:tr>
              <a:tr h="393192">
                <a:tc>
                  <a:txBody>
                    <a:bodyPr wrap="square"/>
                    <a:lstStyle/>
                    <a:p>
                      <a:r>
                        <a:rPr sz="1050" b="1" i="0">
                          <a:solidFill>
                            <a:srgbClr val="1B2A55"/>
                          </a:solidFill>
                          <a:latin typeface="Inter"/>
                        </a:rPr>
                        <a:t>G7</a:t>
                      </a:r>
                    </a:p>
                  </a:txBody>
                  <a:tcPr marL="73152" marR="73152" marT="36576" marB="36576" anchor="ctr">
                    <a:solidFill>
                      <a:srgbClr val="FFFFFF"/>
                    </a:solidFill>
                  </a:tcPr>
                </a:tc>
                <a:tc>
                  <a:txBody>
                    <a:bodyPr wrap="square"/>
                    <a:lstStyle/>
                    <a:p>
                      <a:r>
                        <a:rPr sz="1050" b="0" i="0">
                          <a:solidFill>
                            <a:srgbClr val="353B4A"/>
                          </a:solidFill>
                          <a:latin typeface="Inter"/>
                        </a:rPr>
                        <a:t>Candidate attribution is fixed after voting</a:t>
                      </a:r>
                    </a:p>
                  </a:txBody>
                  <a:tcPr marL="73152" marR="73152" marT="36576" marB="36576" anchor="ctr">
                    <a:solidFill>
                      <a:srgbClr val="FFFFFF"/>
                    </a:solidFill>
                  </a:tcPr>
                </a:tc>
                <a:tc>
                  <a:txBody>
                    <a:bodyPr wrap="square"/>
                    <a:lstStyle/>
                    <a:p>
                      <a:r>
                        <a:rPr sz="1050" b="0" i="0">
                          <a:solidFill>
                            <a:srgbClr val="353B4A"/>
                          </a:solidFill>
                          <a:latin typeface="Inter"/>
                        </a:rPr>
                        <a:t>Roster hash sealed in every block</a:t>
                      </a:r>
                    </a:p>
                  </a:txBody>
                  <a:tcPr marL="73152" marR="73152" marT="36576" marB="36576" anchor="ctr">
                    <a:solidFill>
                      <a:srgbClr val="FFFFFF"/>
                    </a:solidFill>
                  </a:tcPr>
                </a:tc>
              </a:tr>
              <a:tr h="393192">
                <a:tc>
                  <a:txBody>
                    <a:bodyPr wrap="square"/>
                    <a:lstStyle/>
                    <a:p>
                      <a:r>
                        <a:rPr sz="1050" b="1" i="0">
                          <a:solidFill>
                            <a:srgbClr val="1B2A55"/>
                          </a:solidFill>
                          <a:latin typeface="Inter"/>
                        </a:rPr>
                        <a:t>G8</a:t>
                      </a:r>
                    </a:p>
                  </a:txBody>
                  <a:tcPr marL="73152" marR="73152" marT="36576" marB="36576" anchor="ctr">
                    <a:solidFill>
                      <a:srgbClr val="F1F0F6"/>
                    </a:solidFill>
                  </a:tcPr>
                </a:tc>
                <a:tc>
                  <a:txBody>
                    <a:bodyPr wrap="square"/>
                    <a:lstStyle/>
                    <a:p>
                      <a:r>
                        <a:rPr sz="1050" b="0" i="0">
                          <a:solidFill>
                            <a:srgbClr val="353B4A"/>
                          </a:solidFill>
                          <a:latin typeface="Inter"/>
                        </a:rPr>
                        <a:t>A voter can confirm their ballot is counted</a:t>
                      </a:r>
                    </a:p>
                  </a:txBody>
                  <a:tcPr marL="73152" marR="73152" marT="36576" marB="36576" anchor="ctr">
                    <a:solidFill>
                      <a:srgbClr val="F1F0F6"/>
                    </a:solidFill>
                  </a:tcPr>
                </a:tc>
                <a:tc>
                  <a:txBody>
                    <a:bodyPr wrap="square"/>
                    <a:lstStyle/>
                    <a:p>
                      <a:r>
                        <a:rPr sz="1050" b="0" i="0">
                          <a:solidFill>
                            <a:srgbClr val="353B4A"/>
                          </a:solidFill>
                          <a:latin typeface="Inter"/>
                        </a:rPr>
                        <a:t>Receipt token and public receipt check</a:t>
                      </a:r>
                    </a:p>
                  </a:txBody>
                  <a:tcPr marL="73152" marR="73152" marT="36576" marB="36576" anchor="ctr">
                    <a:solidFill>
                      <a:srgbClr val="F1F0F6"/>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FINAL ARCHITECTURE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Three stores, separated by what each is trusted with</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9</a:t>
            </a:r>
          </a:p>
        </p:txBody>
      </p:sp>
      <p:pic>
        <p:nvPicPr>
          <p:cNvPr id="6" name="Picture 5" descr="architecture.png"/>
          <p:cNvPicPr>
            <a:picLocks noChangeAspect="1"/>
          </p:cNvPicPr>
          <p:nvPr/>
        </p:nvPicPr>
        <p:blipFill>
          <a:blip r:embed="rId2"/>
          <a:stretch>
            <a:fillRect/>
          </a:stretch>
        </p:blipFill>
        <p:spPr>
          <a:xfrm>
            <a:off x="701040" y="1051560"/>
            <a:ext cx="4998719" cy="3749039"/>
          </a:xfrm>
          <a:prstGeom prst="rect">
            <a:avLst/>
          </a:prstGeom>
        </p:spPr>
      </p:pic>
      <p:sp>
        <p:nvSpPr>
          <p:cNvPr id="7" name="TextBox 6"/>
          <p:cNvSpPr txBox="1"/>
          <p:nvPr/>
        </p:nvSpPr>
        <p:spPr>
          <a:xfrm>
            <a:off x="6126480" y="1188720"/>
            <a:ext cx="2651760" cy="347472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Election DB:</a:t>
            </a:r>
            <a:r>
              <a:rPr sz="1150" b="0" i="0">
                <a:solidFill>
                  <a:srgbClr val="353B4A"/>
                </a:solidFill>
                <a:latin typeface="Inter"/>
              </a:rPr>
              <a:t> roster, candidates, anonymous ballots.</a:t>
            </a:r>
          </a:p>
          <a:p>
            <a:pPr algn="l">
              <a:spcAft>
                <a:spcPts val="500"/>
              </a:spcAft>
            </a:pPr>
            <a:r>
              <a:rPr sz="1150" b="1" i="0">
                <a:solidFill>
                  <a:srgbClr val="1B2A55"/>
                </a:solidFill>
                <a:latin typeface="Inter"/>
              </a:rPr>
              <a:t>•  </a:t>
            </a:r>
            <a:r>
              <a:rPr sz="1150" b="1" i="0">
                <a:solidFill>
                  <a:srgbClr val="1B2A55"/>
                </a:solidFill>
                <a:latin typeface="Inter"/>
              </a:rPr>
              <a:t>Verification DB:</a:t>
            </a:r>
            <a:r>
              <a:rPr sz="1150" b="0" i="0">
                <a:solidFill>
                  <a:srgbClr val="353B4A"/>
                </a:solidFill>
                <a:latin typeface="Inter"/>
              </a:rPr>
              <a:t> emails and one-time codes, a separate file, never joined to ballots.</a:t>
            </a:r>
          </a:p>
          <a:p>
            <a:pPr algn="l">
              <a:spcAft>
                <a:spcPts val="500"/>
              </a:spcAft>
            </a:pPr>
            <a:r>
              <a:rPr sz="1150" b="1" i="0">
                <a:solidFill>
                  <a:srgbClr val="1B2A55"/>
                </a:solidFill>
                <a:latin typeface="Inter"/>
              </a:rPr>
              <a:t>•  </a:t>
            </a:r>
            <a:r>
              <a:rPr sz="1150" b="1" i="0">
                <a:solidFill>
                  <a:srgbClr val="1B2A55"/>
                </a:solidFill>
                <a:latin typeface="Inter"/>
              </a:rPr>
              <a:t>Ledger:</a:t>
            </a:r>
            <a:r>
              <a:rPr sz="1150" b="0" i="0">
                <a:solidFill>
                  <a:srgbClr val="353B4A"/>
                </a:solidFill>
                <a:latin typeface="Inter"/>
              </a:rPr>
              <a:t> MongoDB Atlas, HMAC chain.</a:t>
            </a:r>
          </a:p>
          <a:p>
            <a:pPr algn="l">
              <a:spcAft>
                <a:spcPts val="500"/>
              </a:spcAft>
            </a:pPr>
            <a:r>
              <a:rPr sz="1150" b="1" i="0">
                <a:solidFill>
                  <a:srgbClr val="1B2A55"/>
                </a:solidFill>
                <a:latin typeface="Inter"/>
              </a:rPr>
              <a:t>•  </a:t>
            </a:r>
            <a:r>
              <a:rPr sz="1150" b="1" i="0">
                <a:solidFill>
                  <a:srgbClr val="1B2A55"/>
                </a:solidFill>
                <a:latin typeface="Inter"/>
              </a:rPr>
              <a:t>Secrets:</a:t>
            </a:r>
            <a:r>
              <a:rPr sz="1150" b="0" i="0">
                <a:solidFill>
                  <a:srgbClr val="353B4A"/>
                </a:solidFill>
                <a:latin typeface="Inter"/>
              </a:rPr>
              <a:t> in .env, outside every store.</a:t>
            </a:r>
          </a:p>
          <a:p>
            <a:pPr algn="l">
              <a:spcAft>
                <a:spcPts val="500"/>
              </a:spcAft>
            </a:pPr>
            <a:r>
              <a:rPr sz="1150" b="1" i="0">
                <a:solidFill>
                  <a:srgbClr val="1B2A55"/>
                </a:solidFill>
                <a:latin typeface="Inter"/>
              </a:rPr>
              <a:t>•  </a:t>
            </a:r>
            <a:r>
              <a:rPr sz="1150" b="0" i="0">
                <a:solidFill>
                  <a:srgbClr val="353B4A"/>
                </a:solidFill>
                <a:latin typeface="Inter"/>
              </a:rPr>
              <a:t>An administrator of one store cannot touch the others.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DATA MODEL</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Data model: election, ledger and verification stores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10</a:t>
            </a:r>
          </a:p>
        </p:txBody>
      </p:sp>
      <p:pic>
        <p:nvPicPr>
          <p:cNvPr id="6" name="Picture 5" descr="er.png"/>
          <p:cNvPicPr>
            <a:picLocks noChangeAspect="1"/>
          </p:cNvPicPr>
          <p:nvPr/>
        </p:nvPicPr>
        <p:blipFill>
          <a:blip r:embed="rId2"/>
          <a:stretch>
            <a:fillRect/>
          </a:stretch>
        </p:blipFill>
        <p:spPr>
          <a:xfrm>
            <a:off x="814493" y="1051560"/>
            <a:ext cx="5137573" cy="3749039"/>
          </a:xfrm>
          <a:prstGeom prst="rect">
            <a:avLst/>
          </a:prstGeom>
        </p:spPr>
      </p:pic>
      <p:sp>
        <p:nvSpPr>
          <p:cNvPr id="7" name="TextBox 6"/>
          <p:cNvSpPr txBox="1"/>
          <p:nvPr/>
        </p:nvSpPr>
        <p:spPr>
          <a:xfrm>
            <a:off x="6492240" y="1188720"/>
            <a:ext cx="2286000" cy="347472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Shared multi-tenant schema, scoped by election.</a:t>
            </a:r>
          </a:p>
          <a:p>
            <a:pPr algn="l">
              <a:spcAft>
                <a:spcPts val="500"/>
              </a:spcAft>
            </a:pPr>
            <a:r>
              <a:rPr sz="1100" b="1" i="0">
                <a:solidFill>
                  <a:srgbClr val="1B2A55"/>
                </a:solidFill>
                <a:latin typeface="Inter"/>
              </a:rPr>
              <a:t>•  </a:t>
            </a:r>
            <a:r>
              <a:rPr sz="1100" b="0" i="0">
                <a:solidFill>
                  <a:srgbClr val="353B4A"/>
                </a:solidFill>
                <a:latin typeface="Inter"/>
              </a:rPr>
              <a:t>No column links a ballot to a voter.</a:t>
            </a:r>
          </a:p>
          <a:p>
            <a:pPr algn="l">
              <a:spcAft>
                <a:spcPts val="500"/>
              </a:spcAft>
            </a:pPr>
            <a:r>
              <a:rPr sz="1100" b="1" i="0">
                <a:solidFill>
                  <a:srgbClr val="1B2A55"/>
                </a:solidFill>
                <a:latin typeface="Inter"/>
              </a:rPr>
              <a:t>•  </a:t>
            </a:r>
            <a:r>
              <a:rPr sz="1100" b="0" i="0">
                <a:solidFill>
                  <a:srgbClr val="353B4A"/>
                </a:solidFill>
                <a:latin typeface="Inter"/>
              </a:rPr>
              <a:t>Candidate roster hash sealed in the ledger.</a:t>
            </a:r>
          </a:p>
          <a:p>
            <a:pPr algn="l">
              <a:spcAft>
                <a:spcPts val="500"/>
              </a:spcAft>
            </a:pPr>
            <a:r>
              <a:rPr sz="1100" b="1" i="0">
                <a:solidFill>
                  <a:srgbClr val="1B2A55"/>
                </a:solidFill>
                <a:latin typeface="Inter"/>
              </a:rPr>
              <a:t>•  </a:t>
            </a:r>
            <a:r>
              <a:rPr sz="1100" b="0" i="0">
                <a:solidFill>
                  <a:srgbClr val="353B4A"/>
                </a:solidFill>
                <a:latin typeface="Inter"/>
              </a:rPr>
              <a:t>Emails live in a different file; no key reaches ballots.</a:t>
            </a:r>
          </a:p>
          <a:p>
            <a:pPr algn="l">
              <a:spcAft>
                <a:spcPts val="500"/>
              </a:spcAft>
            </a:pPr>
            <a:r>
              <a:rPr sz="1100" b="1" i="0">
                <a:solidFill>
                  <a:srgbClr val="1B2A55"/>
                </a:solidFill>
                <a:latin typeface="Inter"/>
              </a:rPr>
              <a:t>•  </a:t>
            </a:r>
            <a:r>
              <a:rPr sz="1100" b="0" i="0">
                <a:solidFill>
                  <a:srgbClr val="353B4A"/>
                </a:solidFill>
                <a:latin typeface="Inter"/>
              </a:rPr>
              <a:t>Trigger, CHECK, UNIQUE, FK enforce the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CASTING A BALLOT</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One serialised, transactional path touches every structure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11</a:t>
            </a:r>
          </a:p>
        </p:txBody>
      </p:sp>
      <p:pic>
        <p:nvPicPr>
          <p:cNvPr id="6" name="Picture 5" descr="cast_transaction.png"/>
          <p:cNvPicPr>
            <a:picLocks noChangeAspect="1"/>
          </p:cNvPicPr>
          <p:nvPr/>
        </p:nvPicPr>
        <p:blipFill>
          <a:blip r:embed="rId2"/>
          <a:stretch>
            <a:fillRect/>
          </a:stretch>
        </p:blipFill>
        <p:spPr>
          <a:xfrm>
            <a:off x="484632" y="1005840"/>
            <a:ext cx="3511296" cy="3840480"/>
          </a:xfrm>
          <a:prstGeom prst="rect">
            <a:avLst/>
          </a:prstGeom>
        </p:spPr>
      </p:pic>
      <p:sp>
        <p:nvSpPr>
          <p:cNvPr id="7" name="TextBox 6"/>
          <p:cNvSpPr txBox="1"/>
          <p:nvPr/>
        </p:nvSpPr>
        <p:spPr>
          <a:xfrm>
            <a:off x="4297680" y="1188720"/>
            <a:ext cx="4389120" cy="3474720"/>
          </a:xfrm>
          <a:prstGeom prst="rect">
            <a:avLst/>
          </a:prstGeom>
          <a:noFill/>
        </p:spPr>
        <p:txBody>
          <a:bodyPr wrap="square" anchor="t" lIns="0" rIns="0" tIns="0" bIns="0">
            <a:spAutoFit/>
          </a:bodyPr>
          <a:lstStyle/>
          <a:p>
            <a:pPr algn="l">
              <a:spcAft>
                <a:spcPts val="500"/>
              </a:spcAft>
            </a:pPr>
            <a:r>
              <a:rPr sz="1200" b="1" i="0">
                <a:solidFill>
                  <a:srgbClr val="1B2A55"/>
                </a:solidFill>
                <a:latin typeface="Inter"/>
              </a:rPr>
              <a:t>•  </a:t>
            </a:r>
            <a:r>
              <a:rPr sz="1200" b="1" i="0">
                <a:solidFill>
                  <a:srgbClr val="1B2A55"/>
                </a:solidFill>
                <a:latin typeface="Inter"/>
              </a:rPr>
              <a:t>Serialised:</a:t>
            </a:r>
            <a:r>
              <a:rPr sz="1200" b="0" i="0">
                <a:solidFill>
                  <a:srgbClr val="353B4A"/>
                </a:solidFill>
                <a:latin typeface="Inter"/>
              </a:rPr>
              <a:t> a write lock plus the voted flag, checked inside the transaction.</a:t>
            </a:r>
          </a:p>
          <a:p>
            <a:pPr algn="l">
              <a:spcAft>
                <a:spcPts val="500"/>
              </a:spcAft>
            </a:pPr>
            <a:r>
              <a:rPr sz="1200" b="1" i="0">
                <a:solidFill>
                  <a:srgbClr val="1B2A55"/>
                </a:solidFill>
                <a:latin typeface="Inter"/>
              </a:rPr>
              <a:t>•  </a:t>
            </a:r>
            <a:r>
              <a:rPr sz="1200" b="1" i="0">
                <a:solidFill>
                  <a:srgbClr val="1B2A55"/>
                </a:solidFill>
                <a:latin typeface="Inter"/>
              </a:rPr>
              <a:t>Atomic:</a:t>
            </a:r>
            <a:r>
              <a:rPr sz="1200" b="0" i="0">
                <a:solidFill>
                  <a:srgbClr val="353B4A"/>
                </a:solidFill>
                <a:latin typeface="Inter"/>
              </a:rPr>
              <a:t> flag and ballot rows commit together or not at all.</a:t>
            </a:r>
          </a:p>
          <a:p>
            <a:pPr algn="l">
              <a:spcAft>
                <a:spcPts val="500"/>
              </a:spcAft>
            </a:pPr>
            <a:r>
              <a:rPr sz="1200" b="1" i="0">
                <a:solidFill>
                  <a:srgbClr val="1B2A55"/>
                </a:solidFill>
                <a:latin typeface="Inter"/>
              </a:rPr>
              <a:t>•  </a:t>
            </a:r>
            <a:r>
              <a:rPr sz="1200" b="1" i="0">
                <a:solidFill>
                  <a:srgbClr val="1B2A55"/>
                </a:solidFill>
                <a:latin typeface="Inter"/>
              </a:rPr>
              <a:t>Anonymous:</a:t>
            </a:r>
            <a:r>
              <a:rPr sz="1200" b="0" i="0">
                <a:solidFill>
                  <a:srgbClr val="353B4A"/>
                </a:solidFill>
                <a:latin typeface="Inter"/>
              </a:rPr>
              <a:t> the ballot is stored under a random token.</a:t>
            </a:r>
          </a:p>
          <a:p>
            <a:pPr algn="l">
              <a:spcAft>
                <a:spcPts val="500"/>
              </a:spcAft>
            </a:pPr>
            <a:r>
              <a:rPr sz="1200" b="1" i="0">
                <a:solidFill>
                  <a:srgbClr val="1B2A55"/>
                </a:solidFill>
                <a:latin typeface="Inter"/>
              </a:rPr>
              <a:t>•  </a:t>
            </a:r>
            <a:r>
              <a:rPr sz="1200" b="1" i="0">
                <a:solidFill>
                  <a:srgbClr val="1B2A55"/>
                </a:solidFill>
                <a:latin typeface="Inter"/>
              </a:rPr>
              <a:t>Sealed:</a:t>
            </a:r>
            <a:r>
              <a:rPr sz="1200" b="0" i="0">
                <a:solidFill>
                  <a:srgbClr val="353B4A"/>
                </a:solidFill>
                <a:latin typeface="Inter"/>
              </a:rPr>
              <a:t> then a block with the ranks hash and roster hash joins the ledger.</a:t>
            </a:r>
          </a:p>
          <a:p>
            <a:pPr algn="l">
              <a:spcAft>
                <a:spcPts val="500"/>
              </a:spcAft>
            </a:pPr>
            <a:r>
              <a:rPr sz="1200" b="1" i="0">
                <a:solidFill>
                  <a:srgbClr val="1B2A55"/>
                </a:solidFill>
                <a:latin typeface="Inter"/>
              </a:rPr>
              <a:t>•  </a:t>
            </a:r>
            <a:r>
              <a:rPr sz="1200" b="1" i="0">
                <a:solidFill>
                  <a:srgbClr val="1B2A55"/>
                </a:solidFill>
                <a:latin typeface="Inter"/>
              </a:rPr>
              <a:t>Fails visibly:</a:t>
            </a:r>
            <a:r>
              <a:rPr sz="1200" b="0" i="0">
                <a:solidFill>
                  <a:srgbClr val="353B4A"/>
                </a:solidFill>
                <a:latin typeface="Inter"/>
              </a:rPr>
              <a:t> if the ledger is down after commit, the sweep reports a ballot with no receipt.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KEYED AUDIT LEDGER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Keyed chain: rebuilding it needs the secret key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12</a:t>
            </a:r>
          </a:p>
        </p:txBody>
      </p:sp>
      <p:sp>
        <p:nvSpPr>
          <p:cNvPr id="6" name="Rounded Rectangle 5"/>
          <p:cNvSpPr/>
          <p:nvPr/>
        </p:nvSpPr>
        <p:spPr>
          <a:xfrm>
            <a:off x="457200" y="1143000"/>
            <a:ext cx="178308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07008"/>
            <a:ext cx="1554480" cy="2286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Block 1</a:t>
            </a:r>
          </a:p>
        </p:txBody>
      </p:sp>
      <p:sp>
        <p:nvSpPr>
          <p:cNvPr id="8" name="TextBox 7"/>
          <p:cNvSpPr txBox="1"/>
          <p:nvPr/>
        </p:nvSpPr>
        <p:spPr>
          <a:xfrm>
            <a:off x="566928" y="1481328"/>
            <a:ext cx="1600200" cy="457200"/>
          </a:xfrm>
          <a:prstGeom prst="rect">
            <a:avLst/>
          </a:prstGeom>
          <a:noFill/>
        </p:spPr>
        <p:txBody>
          <a:bodyPr wrap="square" anchor="t" lIns="0" rIns="0" tIns="0" bIns="0">
            <a:spAutoFit/>
          </a:bodyPr>
          <a:lstStyle/>
          <a:p>
            <a:pPr algn="l">
              <a:spcAft>
                <a:spcPts val="0"/>
              </a:spcAft>
            </a:pPr>
            <a:r>
              <a:rPr sz="750" b="0" i="0">
                <a:solidFill>
                  <a:srgbClr val="353B4A"/>
                </a:solidFill>
                <a:latin typeface="Consolas"/>
              </a:rPr>
              <a:t>ballot_token, vote_data_hash,</a:t>
            </a:r>
          </a:p>
          <a:p>
            <a:pPr algn="l">
              <a:spcAft>
                <a:spcPts val="0"/>
              </a:spcAft>
            </a:pPr>
            <a:r>
              <a:rPr sz="750" b="0" i="0">
                <a:solidFill>
                  <a:srgbClr val="353B4A"/>
                </a:solidFill>
                <a:latin typeface="Consolas"/>
              </a:rPr>
              <a:t>roster_hash, prev_hash</a:t>
            </a:r>
          </a:p>
        </p:txBody>
      </p:sp>
      <p:sp>
        <p:nvSpPr>
          <p:cNvPr id="9" name="Rounded Rectangle 8"/>
          <p:cNvSpPr/>
          <p:nvPr/>
        </p:nvSpPr>
        <p:spPr>
          <a:xfrm>
            <a:off x="566928" y="2057400"/>
            <a:ext cx="1554480" cy="365760"/>
          </a:xfrm>
          <a:prstGeom prst="roundRect">
            <a:avLst>
              <a:gd name="adj" fmla="val 10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1" i="0">
                <a:solidFill>
                  <a:srgbClr val="1B2A55"/>
                </a:solidFill>
                <a:latin typeface="Inter"/>
              </a:rPr>
              <a:t>curr_hash = HMAC(key, block)</a:t>
            </a:r>
          </a:p>
        </p:txBody>
      </p:sp>
      <p:cxnSp>
        <p:nvCxnSpPr>
          <p:cNvPr id="10" name="Connector 9"/>
          <p:cNvCxnSpPr/>
          <p:nvPr/>
        </p:nvCxnSpPr>
        <p:spPr>
          <a:xfrm>
            <a:off x="2240280" y="1828800"/>
            <a:ext cx="228600" cy="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68880" y="1143000"/>
            <a:ext cx="178308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78608" y="1207008"/>
            <a:ext cx="1554480" cy="2286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Block 2</a:t>
            </a:r>
          </a:p>
        </p:txBody>
      </p:sp>
      <p:sp>
        <p:nvSpPr>
          <p:cNvPr id="13" name="TextBox 12"/>
          <p:cNvSpPr txBox="1"/>
          <p:nvPr/>
        </p:nvSpPr>
        <p:spPr>
          <a:xfrm>
            <a:off x="2578608" y="1481328"/>
            <a:ext cx="1600200" cy="457200"/>
          </a:xfrm>
          <a:prstGeom prst="rect">
            <a:avLst/>
          </a:prstGeom>
          <a:noFill/>
        </p:spPr>
        <p:txBody>
          <a:bodyPr wrap="square" anchor="t" lIns="0" rIns="0" tIns="0" bIns="0">
            <a:spAutoFit/>
          </a:bodyPr>
          <a:lstStyle/>
          <a:p>
            <a:pPr algn="l">
              <a:spcAft>
                <a:spcPts val="0"/>
              </a:spcAft>
            </a:pPr>
            <a:r>
              <a:rPr sz="750" b="0" i="0">
                <a:solidFill>
                  <a:srgbClr val="353B4A"/>
                </a:solidFill>
                <a:latin typeface="Consolas"/>
              </a:rPr>
              <a:t>ballot_token, vote_data_hash,</a:t>
            </a:r>
          </a:p>
          <a:p>
            <a:pPr algn="l">
              <a:spcAft>
                <a:spcPts val="0"/>
              </a:spcAft>
            </a:pPr>
            <a:r>
              <a:rPr sz="750" b="0" i="0">
                <a:solidFill>
                  <a:srgbClr val="353B4A"/>
                </a:solidFill>
                <a:latin typeface="Consolas"/>
              </a:rPr>
              <a:t>roster_hash, prev_hash</a:t>
            </a:r>
          </a:p>
        </p:txBody>
      </p:sp>
      <p:sp>
        <p:nvSpPr>
          <p:cNvPr id="14" name="Rounded Rectangle 13"/>
          <p:cNvSpPr/>
          <p:nvPr/>
        </p:nvSpPr>
        <p:spPr>
          <a:xfrm>
            <a:off x="2578608" y="2057400"/>
            <a:ext cx="1554480" cy="365760"/>
          </a:xfrm>
          <a:prstGeom prst="roundRect">
            <a:avLst>
              <a:gd name="adj" fmla="val 10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1" i="0">
                <a:solidFill>
                  <a:srgbClr val="1B2A55"/>
                </a:solidFill>
                <a:latin typeface="Inter"/>
              </a:rPr>
              <a:t>curr_hash = HMAC(key, block)</a:t>
            </a:r>
          </a:p>
        </p:txBody>
      </p:sp>
      <p:cxnSp>
        <p:nvCxnSpPr>
          <p:cNvPr id="15" name="Connector 14"/>
          <p:cNvCxnSpPr/>
          <p:nvPr/>
        </p:nvCxnSpPr>
        <p:spPr>
          <a:xfrm>
            <a:off x="4251960" y="1828800"/>
            <a:ext cx="228600" cy="0"/>
          </a:xfrm>
          <a:prstGeom prst="line">
            <a:avLst/>
          </a:prstGeom>
          <a:ln w="19050">
            <a:solidFill>
              <a:srgbClr val="1B2A55"/>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80560" y="1143000"/>
            <a:ext cx="178308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1207008"/>
            <a:ext cx="1554480" cy="2286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Block 3</a:t>
            </a:r>
          </a:p>
        </p:txBody>
      </p:sp>
      <p:sp>
        <p:nvSpPr>
          <p:cNvPr id="18" name="TextBox 17"/>
          <p:cNvSpPr txBox="1"/>
          <p:nvPr/>
        </p:nvSpPr>
        <p:spPr>
          <a:xfrm>
            <a:off x="4590288" y="1481328"/>
            <a:ext cx="1600200" cy="457200"/>
          </a:xfrm>
          <a:prstGeom prst="rect">
            <a:avLst/>
          </a:prstGeom>
          <a:noFill/>
        </p:spPr>
        <p:txBody>
          <a:bodyPr wrap="square" anchor="t" lIns="0" rIns="0" tIns="0" bIns="0">
            <a:spAutoFit/>
          </a:bodyPr>
          <a:lstStyle/>
          <a:p>
            <a:pPr algn="l">
              <a:spcAft>
                <a:spcPts val="0"/>
              </a:spcAft>
            </a:pPr>
            <a:r>
              <a:rPr sz="750" b="0" i="0">
                <a:solidFill>
                  <a:srgbClr val="353B4A"/>
                </a:solidFill>
                <a:latin typeface="Consolas"/>
              </a:rPr>
              <a:t>ballot_token, vote_data_hash,</a:t>
            </a:r>
          </a:p>
          <a:p>
            <a:pPr algn="l">
              <a:spcAft>
                <a:spcPts val="0"/>
              </a:spcAft>
            </a:pPr>
            <a:r>
              <a:rPr sz="750" b="0" i="0">
                <a:solidFill>
                  <a:srgbClr val="353B4A"/>
                </a:solidFill>
                <a:latin typeface="Consolas"/>
              </a:rPr>
              <a:t>roster_hash, prev_hash</a:t>
            </a:r>
          </a:p>
        </p:txBody>
      </p:sp>
      <p:sp>
        <p:nvSpPr>
          <p:cNvPr id="19" name="Rounded Rectangle 18"/>
          <p:cNvSpPr/>
          <p:nvPr/>
        </p:nvSpPr>
        <p:spPr>
          <a:xfrm>
            <a:off x="4590288" y="2057400"/>
            <a:ext cx="1554480" cy="365760"/>
          </a:xfrm>
          <a:prstGeom prst="roundRect">
            <a:avLst>
              <a:gd name="adj" fmla="val 10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800" b="1" i="0">
                <a:solidFill>
                  <a:srgbClr val="1B2A55"/>
                </a:solidFill>
                <a:latin typeface="Inter"/>
              </a:rPr>
              <a:t>curr_hash = HMAC(key, block)</a:t>
            </a:r>
          </a:p>
        </p:txBody>
      </p:sp>
      <p:sp>
        <p:nvSpPr>
          <p:cNvPr id="20" name="TextBox 19"/>
          <p:cNvSpPr txBox="1"/>
          <p:nvPr/>
        </p:nvSpPr>
        <p:spPr>
          <a:xfrm>
            <a:off x="6583680" y="1188720"/>
            <a:ext cx="2103120" cy="1280160"/>
          </a:xfrm>
          <a:prstGeom prst="rect">
            <a:avLst/>
          </a:prstGeom>
          <a:noFill/>
        </p:spPr>
        <p:txBody>
          <a:bodyPr wrap="square" anchor="t" lIns="0" rIns="0" tIns="0" bIns="0">
            <a:spAutoFit/>
          </a:bodyPr>
          <a:lstStyle/>
          <a:p>
            <a:pPr algn="l">
              <a:spcAft>
                <a:spcPts val="0"/>
              </a:spcAft>
            </a:pPr>
            <a:r>
              <a:rPr sz="1000" b="1" i="0">
                <a:solidFill>
                  <a:srgbClr val="1B2A55"/>
                </a:solidFill>
                <a:latin typeface="Consolas"/>
              </a:rPr>
              <a:t>prev_hash</a:t>
            </a:r>
            <a:r>
              <a:rPr sz="1050" b="0" i="0">
                <a:solidFill>
                  <a:srgbClr val="353B4A"/>
                </a:solidFill>
                <a:latin typeface="Inter"/>
              </a:rPr>
              <a:t> links each block to the one before it.</a:t>
            </a:r>
          </a:p>
        </p:txBody>
      </p:sp>
      <p:sp>
        <p:nvSpPr>
          <p:cNvPr id="21" name="TextBox 20"/>
          <p:cNvSpPr txBox="1"/>
          <p:nvPr/>
        </p:nvSpPr>
        <p:spPr>
          <a:xfrm>
            <a:off x="457200" y="2743200"/>
            <a:ext cx="8229600" cy="201168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Review 2:</a:t>
            </a:r>
            <a:r>
              <a:rPr sz="1150" b="0" i="0">
                <a:solidFill>
                  <a:srgbClr val="353B4A"/>
                </a:solidFill>
                <a:latin typeface="Inter"/>
              </a:rPr>
              <a:t> curr_hash was plain SHA-256. An attacker who can write the store can edit a ballot and recompute every later hash.</a:t>
            </a:r>
          </a:p>
          <a:p>
            <a:pPr algn="l">
              <a:spcAft>
                <a:spcPts val="500"/>
              </a:spcAft>
            </a:pPr>
            <a:r>
              <a:rPr sz="1150" b="1" i="0">
                <a:solidFill>
                  <a:srgbClr val="1B2A55"/>
                </a:solidFill>
                <a:latin typeface="Inter"/>
              </a:rPr>
              <a:t>•  </a:t>
            </a:r>
            <a:r>
              <a:rPr sz="1150" b="1" i="0">
                <a:solidFill>
                  <a:srgbClr val="1B2A55"/>
                </a:solidFill>
                <a:latin typeface="Inter"/>
              </a:rPr>
              <a:t>Final:</a:t>
            </a:r>
            <a:r>
              <a:rPr sz="1150" b="0" i="0">
                <a:solidFill>
                  <a:srgbClr val="353B4A"/>
                </a:solidFill>
                <a:latin typeface="Inter"/>
              </a:rPr>
              <a:t> curr_hash is HMAC-SHA-256 under LEDGER_KEY, held outside the database and the ledger store. Without the key the rebuilt chain fails verification.</a:t>
            </a:r>
          </a:p>
          <a:p>
            <a:pPr algn="l">
              <a:spcAft>
                <a:spcPts val="500"/>
              </a:spcAft>
            </a:pPr>
            <a:r>
              <a:rPr sz="1150" b="1" i="0">
                <a:solidFill>
                  <a:srgbClr val="1B2A55"/>
                </a:solidFill>
                <a:latin typeface="Inter"/>
              </a:rPr>
              <a:t>•  </a:t>
            </a:r>
            <a:r>
              <a:rPr sz="1150" b="1" i="0">
                <a:solidFill>
                  <a:srgbClr val="1B2A55"/>
                </a:solidFill>
                <a:latin typeface="Inter"/>
              </a:rPr>
              <a:t>Roster hash:</a:t>
            </a:r>
            <a:r>
              <a:rPr sz="1150" b="0" i="0">
                <a:solidFill>
                  <a:srgbClr val="353B4A"/>
                </a:solidFill>
                <a:latin typeface="Inter"/>
              </a:rPr>
              <a:t> every block also seals the candidate list, so renaming candidates after voting is detected.</a:t>
            </a:r>
          </a:p>
          <a:p>
            <a:pPr algn="l">
              <a:spcAft>
                <a:spcPts val="500"/>
              </a:spcAft>
            </a:pPr>
            <a:r>
              <a:rPr sz="1150" b="1" i="0">
                <a:solidFill>
                  <a:srgbClr val="1B2A55"/>
                </a:solidFill>
                <a:latin typeface="Inter"/>
              </a:rPr>
              <a:t>•  </a:t>
            </a:r>
            <a:r>
              <a:rPr sz="1150" b="1" i="0">
                <a:solidFill>
                  <a:srgbClr val="1B2A55"/>
                </a:solidFill>
                <a:latin typeface="Inter"/>
              </a:rPr>
              <a:t>Backward compatible:</a:t>
            </a:r>
            <a:r>
              <a:rPr sz="1150" b="0" i="0">
                <a:solidFill>
                  <a:srgbClr val="353B4A"/>
                </a:solidFill>
                <a:latin typeface="Inter"/>
              </a:rPr>
              <a:t> blocks written before the key existed still verify (LEDGER_LEGACY_UNTIL).</a:t>
            </a:r>
          </a:p>
          <a:p>
            <a:pPr algn="l">
              <a:spcAft>
                <a:spcPts val="500"/>
              </a:spcAft>
            </a:pPr>
            <a:r>
              <a:rPr sz="1150" b="1" i="0">
                <a:solidFill>
                  <a:srgbClr val="1B2A55"/>
                </a:solidFill>
                <a:latin typeface="Inter"/>
              </a:rPr>
              <a:t>•  </a:t>
            </a:r>
            <a:r>
              <a:rPr sz="1150" b="1" i="0">
                <a:solidFill>
                  <a:srgbClr val="1B2A55"/>
                </a:solidFill>
                <a:latin typeface="Inter"/>
              </a:rPr>
              <a:t>Limit:</a:t>
            </a:r>
            <a:r>
              <a:rPr sz="1150" b="0" i="0">
                <a:solidFill>
                  <a:srgbClr val="353B4A"/>
                </a:solidFill>
                <a:latin typeface="Inter"/>
              </a:rPr>
              <a:t> whoever holds the key can still forge blocks; that needs an external witness (future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INTEGRITY SWEEP</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Five rules compare the database with the ledger</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13</a:t>
            </a:r>
          </a:p>
        </p:txBody>
      </p:sp>
      <p:graphicFrame>
        <p:nvGraphicFramePr>
          <p:cNvPr id="6" name="Table 5"/>
          <p:cNvGraphicFramePr>
            <a:graphicFrameLocks noGrp="1"/>
          </p:cNvGraphicFramePr>
          <p:nvPr/>
        </p:nvGraphicFramePr>
        <p:xfrm>
          <a:off x="457200" y="1097280"/>
          <a:ext cx="8229599" cy="2880360"/>
        </p:xfrm>
        <a:graphic>
          <a:graphicData uri="http://schemas.openxmlformats.org/drawingml/2006/table">
            <a:tbl>
              <a:tblPr firstRow="1" bandRow="1">
                <a:tableStyleId>{5C22544A-7EE6-4342-B048-85BDC9FD1C3A}</a:tableStyleId>
              </a:tblPr>
              <a:tblGrid>
                <a:gridCol w="1554480"/>
                <a:gridCol w="2468880"/>
                <a:gridCol w="3383280"/>
                <a:gridCol w="822959"/>
              </a:tblGrid>
              <a:tr h="365760">
                <a:tc>
                  <a:txBody>
                    <a:bodyPr wrap="square"/>
                    <a:lstStyle/>
                    <a:p>
                      <a:r>
                        <a:rPr sz="1000" b="1" i="0">
                          <a:solidFill>
                            <a:srgbClr val="FFFFFF"/>
                          </a:solidFill>
                          <a:latin typeface="Inter"/>
                        </a:rPr>
                        <a:t>Rule</a:t>
                      </a:r>
                    </a:p>
                  </a:txBody>
                  <a:tcPr marL="73152" marR="73152" marT="36576" marB="36576" anchor="ctr">
                    <a:solidFill>
                      <a:srgbClr val="1B2A55"/>
                    </a:solidFill>
                  </a:tcPr>
                </a:tc>
                <a:tc>
                  <a:txBody>
                    <a:bodyPr wrap="square"/>
                    <a:lstStyle/>
                    <a:p>
                      <a:r>
                        <a:rPr sz="1000" b="1" i="0">
                          <a:solidFill>
                            <a:srgbClr val="FFFFFF"/>
                          </a:solidFill>
                          <a:latin typeface="Inter"/>
                        </a:rPr>
                        <a:t>Detects</a:t>
                      </a:r>
                    </a:p>
                  </a:txBody>
                  <a:tcPr marL="73152" marR="73152" marT="36576" marB="36576" anchor="ctr">
                    <a:solidFill>
                      <a:srgbClr val="1B2A55"/>
                    </a:solidFill>
                  </a:tcPr>
                </a:tc>
                <a:tc>
                  <a:txBody>
                    <a:bodyPr wrap="square"/>
                    <a:lstStyle/>
                    <a:p>
                      <a:r>
                        <a:rPr sz="1000" b="1" i="0">
                          <a:solidFill>
                            <a:srgbClr val="FFFFFF"/>
                          </a:solidFill>
                          <a:latin typeface="Inter"/>
                        </a:rPr>
                        <a:t>How</a:t>
                      </a:r>
                    </a:p>
                  </a:txBody>
                  <a:tcPr marL="73152" marR="73152" marT="36576" marB="36576" anchor="ctr">
                    <a:solidFill>
                      <a:srgbClr val="1B2A55"/>
                    </a:solidFill>
                  </a:tcPr>
                </a:tc>
                <a:tc>
                  <a:txBody>
                    <a:bodyPr wrap="square"/>
                    <a:lstStyle/>
                    <a:p>
                      <a:r>
                        <a:rPr sz="1000" b="1" i="0">
                          <a:solidFill>
                            <a:srgbClr val="FFFFFF"/>
                          </a:solidFill>
                          <a:latin typeface="Inter"/>
                        </a:rPr>
                        <a:t>New?</a:t>
                      </a:r>
                    </a:p>
                  </a:txBody>
                  <a:tcPr marL="73152" marR="73152" marT="36576" marB="36576" anchor="ctr">
                    <a:solidFill>
                      <a:srgbClr val="1B2A55"/>
                    </a:solidFill>
                  </a:tcPr>
                </a:tc>
              </a:tr>
              <a:tr h="502920">
                <a:tc>
                  <a:txBody>
                    <a:bodyPr wrap="square"/>
                    <a:lstStyle/>
                    <a:p>
                      <a:r>
                        <a:rPr sz="1050" b="1" i="0">
                          <a:solidFill>
                            <a:srgbClr val="1B2A55"/>
                          </a:solidFill>
                          <a:latin typeface="Inter"/>
                        </a:rPr>
                        <a:t>1  Modified</a:t>
                      </a:r>
                    </a:p>
                  </a:txBody>
                  <a:tcPr marL="73152" marR="73152" marT="36576" marB="36576" anchor="ctr">
                    <a:solidFill>
                      <a:srgbClr val="FFFFFF"/>
                    </a:solidFill>
                  </a:tcPr>
                </a:tc>
                <a:tc>
                  <a:txBody>
                    <a:bodyPr wrap="square"/>
                    <a:lstStyle/>
                    <a:p>
                      <a:r>
                        <a:rPr sz="1050" b="0" i="0">
                          <a:solidFill>
                            <a:srgbClr val="353B4A"/>
                          </a:solidFill>
                          <a:latin typeface="Inter"/>
                        </a:rPr>
                        <a:t>A ballot whose ranks changed</a:t>
                      </a:r>
                    </a:p>
                  </a:txBody>
                  <a:tcPr marL="73152" marR="73152" marT="36576" marB="36576" anchor="ctr">
                    <a:solidFill>
                      <a:srgbClr val="FFFFFF"/>
                    </a:solidFill>
                  </a:tcPr>
                </a:tc>
                <a:tc>
                  <a:txBody>
                    <a:bodyPr wrap="square"/>
                    <a:lstStyle/>
                    <a:p>
                      <a:r>
                        <a:rPr sz="1050" b="0" i="0">
                          <a:solidFill>
                            <a:srgbClr val="353B4A"/>
                          </a:solidFill>
                          <a:latin typeface="Inter"/>
                        </a:rPr>
                        <a:t>Recompute ranks hash; compare with the receipt</a:t>
                      </a:r>
                    </a:p>
                  </a:txBody>
                  <a:tcPr marL="73152" marR="73152" marT="36576" marB="36576" anchor="ctr">
                    <a:solidFill>
                      <a:srgbClr val="FFFFFF"/>
                    </a:solidFill>
                  </a:tcPr>
                </a:tc>
                <a:tc>
                  <a:txBody>
                    <a:bodyPr wrap="square"/>
                    <a:lstStyle/>
                    <a:p>
                      <a:r>
                        <a:rPr sz="1050" b="0" i="0">
                          <a:solidFill>
                            <a:srgbClr val="353B4A"/>
                          </a:solidFill>
                          <a:latin typeface="Inter"/>
                        </a:rPr>
                        <a:t>Review 2</a:t>
                      </a:r>
                    </a:p>
                  </a:txBody>
                  <a:tcPr marL="73152" marR="73152" marT="36576" marB="36576" anchor="ctr">
                    <a:solidFill>
                      <a:srgbClr val="FFFFFF"/>
                    </a:solidFill>
                  </a:tcPr>
                </a:tc>
              </a:tr>
              <a:tr h="502920">
                <a:tc>
                  <a:txBody>
                    <a:bodyPr wrap="square"/>
                    <a:lstStyle/>
                    <a:p>
                      <a:r>
                        <a:rPr sz="1050" b="1" i="0">
                          <a:solidFill>
                            <a:srgbClr val="1B2A55"/>
                          </a:solidFill>
                          <a:latin typeface="Inter"/>
                        </a:rPr>
                        <a:t>2  Deleted</a:t>
                      </a:r>
                    </a:p>
                  </a:txBody>
                  <a:tcPr marL="73152" marR="73152" marT="36576" marB="36576" anchor="ctr">
                    <a:solidFill>
                      <a:srgbClr val="F1F0F6"/>
                    </a:solidFill>
                  </a:tcPr>
                </a:tc>
                <a:tc>
                  <a:txBody>
                    <a:bodyPr wrap="square"/>
                    <a:lstStyle/>
                    <a:p>
                      <a:r>
                        <a:rPr sz="1050" b="0" i="0">
                          <a:solidFill>
                            <a:srgbClr val="353B4A"/>
                          </a:solidFill>
                          <a:latin typeface="Inter"/>
                        </a:rPr>
                        <a:t>A sealed ballot missing from the database</a:t>
                      </a:r>
                    </a:p>
                  </a:txBody>
                  <a:tcPr marL="73152" marR="73152" marT="36576" marB="36576" anchor="ctr">
                    <a:solidFill>
                      <a:srgbClr val="F1F0F6"/>
                    </a:solidFill>
                  </a:tcPr>
                </a:tc>
                <a:tc>
                  <a:txBody>
                    <a:bodyPr wrap="square"/>
                    <a:lstStyle/>
                    <a:p>
                      <a:r>
                        <a:rPr sz="1050" b="0" i="0">
                          <a:solidFill>
                            <a:srgbClr val="353B4A"/>
                          </a:solidFill>
                          <a:latin typeface="Inter"/>
                        </a:rPr>
                        <a:t>Receipt exists with no ballot rows</a:t>
                      </a:r>
                    </a:p>
                  </a:txBody>
                  <a:tcPr marL="73152" marR="73152" marT="36576" marB="36576" anchor="ctr">
                    <a:solidFill>
                      <a:srgbClr val="F1F0F6"/>
                    </a:solidFill>
                  </a:tcPr>
                </a:tc>
                <a:tc>
                  <a:txBody>
                    <a:bodyPr wrap="square"/>
                    <a:lstStyle/>
                    <a:p>
                      <a:r>
                        <a:rPr sz="1050" b="0" i="0">
                          <a:solidFill>
                            <a:srgbClr val="353B4A"/>
                          </a:solidFill>
                          <a:latin typeface="Inter"/>
                        </a:rPr>
                        <a:t>Review 2</a:t>
                      </a:r>
                    </a:p>
                  </a:txBody>
                  <a:tcPr marL="73152" marR="73152" marT="36576" marB="36576" anchor="ctr">
                    <a:solidFill>
                      <a:srgbClr val="F1F0F6"/>
                    </a:solidFill>
                  </a:tcPr>
                </a:tc>
              </a:tr>
              <a:tr h="502920">
                <a:tc>
                  <a:txBody>
                    <a:bodyPr wrap="square"/>
                    <a:lstStyle/>
                    <a:p>
                      <a:r>
                        <a:rPr sz="1050" b="1" i="0">
                          <a:solidFill>
                            <a:srgbClr val="1B2A55"/>
                          </a:solidFill>
                          <a:latin typeface="Inter"/>
                        </a:rPr>
                        <a:t>3  Injected</a:t>
                      </a:r>
                    </a:p>
                  </a:txBody>
                  <a:tcPr marL="73152" marR="73152" marT="36576" marB="36576" anchor="ctr">
                    <a:solidFill>
                      <a:srgbClr val="FFFFFF"/>
                    </a:solidFill>
                  </a:tcPr>
                </a:tc>
                <a:tc>
                  <a:txBody>
                    <a:bodyPr wrap="square"/>
                    <a:lstStyle/>
                    <a:p>
                      <a:r>
                        <a:rPr sz="1050" b="0" i="0">
                          <a:solidFill>
                            <a:srgbClr val="353B4A"/>
                          </a:solidFill>
                          <a:latin typeface="Inter"/>
                        </a:rPr>
                        <a:t>A ballot with no receipt</a:t>
                      </a:r>
                    </a:p>
                  </a:txBody>
                  <a:tcPr marL="73152" marR="73152" marT="36576" marB="36576" anchor="ctr">
                    <a:solidFill>
                      <a:srgbClr val="FFFFFF"/>
                    </a:solidFill>
                  </a:tcPr>
                </a:tc>
                <a:tc>
                  <a:txBody>
                    <a:bodyPr wrap="square"/>
                    <a:lstStyle/>
                    <a:p>
                      <a:r>
                        <a:rPr sz="1050" b="0" i="0">
                          <a:solidFill>
                            <a:srgbClr val="353B4A"/>
                          </a:solidFill>
                          <a:latin typeface="Inter"/>
                        </a:rPr>
                        <a:t>Ballot rows exist with no block</a:t>
                      </a:r>
                    </a:p>
                  </a:txBody>
                  <a:tcPr marL="73152" marR="73152" marT="36576" marB="36576" anchor="ctr">
                    <a:solidFill>
                      <a:srgbClr val="FFFFFF"/>
                    </a:solidFill>
                  </a:tcPr>
                </a:tc>
                <a:tc>
                  <a:txBody>
                    <a:bodyPr wrap="square"/>
                    <a:lstStyle/>
                    <a:p>
                      <a:r>
                        <a:rPr sz="1050" b="0" i="0">
                          <a:solidFill>
                            <a:srgbClr val="353B4A"/>
                          </a:solidFill>
                          <a:latin typeface="Inter"/>
                        </a:rPr>
                        <a:t>New</a:t>
                      </a:r>
                    </a:p>
                  </a:txBody>
                  <a:tcPr marL="73152" marR="73152" marT="36576" marB="36576" anchor="ctr">
                    <a:solidFill>
                      <a:srgbClr val="FFFFFF"/>
                    </a:solidFill>
                  </a:tcPr>
                </a:tc>
              </a:tr>
              <a:tr h="502920">
                <a:tc>
                  <a:txBody>
                    <a:bodyPr wrap="square"/>
                    <a:lstStyle/>
                    <a:p>
                      <a:r>
                        <a:rPr sz="1050" b="1" i="0">
                          <a:solidFill>
                            <a:srgbClr val="1B2A55"/>
                          </a:solidFill>
                          <a:latin typeface="Inter"/>
                        </a:rPr>
                        <a:t>4  Roster changed</a:t>
                      </a:r>
                    </a:p>
                  </a:txBody>
                  <a:tcPr marL="73152" marR="73152" marT="36576" marB="36576" anchor="ctr">
                    <a:solidFill>
                      <a:srgbClr val="F1F0F6"/>
                    </a:solidFill>
                  </a:tcPr>
                </a:tc>
                <a:tc>
                  <a:txBody>
                    <a:bodyPr wrap="square"/>
                    <a:lstStyle/>
                    <a:p>
                      <a:r>
                        <a:rPr sz="1050" b="0" i="0">
                          <a:solidFill>
                            <a:srgbClr val="353B4A"/>
                          </a:solidFill>
                          <a:latin typeface="Inter"/>
                        </a:rPr>
                        <a:t>Candidate names altered after voting</a:t>
                      </a:r>
                    </a:p>
                  </a:txBody>
                  <a:tcPr marL="73152" marR="73152" marT="36576" marB="36576" anchor="ctr">
                    <a:solidFill>
                      <a:srgbClr val="F1F0F6"/>
                    </a:solidFill>
                  </a:tcPr>
                </a:tc>
                <a:tc>
                  <a:txBody>
                    <a:bodyPr wrap="square"/>
                    <a:lstStyle/>
                    <a:p>
                      <a:r>
                        <a:rPr sz="1050" b="0" i="0">
                          <a:solidFill>
                            <a:srgbClr val="353B4A"/>
                          </a:solidFill>
                          <a:latin typeface="Inter"/>
                        </a:rPr>
                        <a:t>Current roster hash differs from the sealed hash</a:t>
                      </a:r>
                    </a:p>
                  </a:txBody>
                  <a:tcPr marL="73152" marR="73152" marT="36576" marB="36576" anchor="ctr">
                    <a:solidFill>
                      <a:srgbClr val="F1F0F6"/>
                    </a:solidFill>
                  </a:tcPr>
                </a:tc>
                <a:tc>
                  <a:txBody>
                    <a:bodyPr wrap="square"/>
                    <a:lstStyle/>
                    <a:p>
                      <a:r>
                        <a:rPr sz="1050" b="0" i="0">
                          <a:solidFill>
                            <a:srgbClr val="353B4A"/>
                          </a:solidFill>
                          <a:latin typeface="Inter"/>
                        </a:rPr>
                        <a:t>New</a:t>
                      </a:r>
                    </a:p>
                  </a:txBody>
                  <a:tcPr marL="73152" marR="73152" marT="36576" marB="36576" anchor="ctr">
                    <a:solidFill>
                      <a:srgbClr val="F1F0F6"/>
                    </a:solidFill>
                  </a:tcPr>
                </a:tc>
              </a:tr>
              <a:tr h="502920">
                <a:tc>
                  <a:txBody>
                    <a:bodyPr wrap="square"/>
                    <a:lstStyle/>
                    <a:p>
                      <a:r>
                        <a:rPr sz="1050" b="1" i="0">
                          <a:solidFill>
                            <a:srgbClr val="1B2A55"/>
                          </a:solidFill>
                          <a:latin typeface="Inter"/>
                        </a:rPr>
                        <a:t>5  Count mismatch</a:t>
                      </a:r>
                    </a:p>
                  </a:txBody>
                  <a:tcPr marL="73152" marR="73152" marT="36576" marB="36576" anchor="ctr">
                    <a:solidFill>
                      <a:srgbClr val="FFFFFF"/>
                    </a:solidFill>
                  </a:tcPr>
                </a:tc>
                <a:tc>
                  <a:txBody>
                    <a:bodyPr wrap="square"/>
                    <a:lstStyle/>
                    <a:p>
                      <a:r>
                        <a:rPr sz="1050" b="0" i="0">
                          <a:solidFill>
                            <a:srgbClr val="353B4A"/>
                          </a:solidFill>
                          <a:latin typeface="Inter"/>
                        </a:rPr>
                        <a:t>Flags, ballots, receipts disagree</a:t>
                      </a:r>
                    </a:p>
                  </a:txBody>
                  <a:tcPr marL="73152" marR="73152" marT="36576" marB="36576" anchor="ctr">
                    <a:solidFill>
                      <a:srgbClr val="FFFFFF"/>
                    </a:solidFill>
                  </a:tcPr>
                </a:tc>
                <a:tc>
                  <a:txBody>
                    <a:bodyPr wrap="square"/>
                    <a:lstStyle/>
                    <a:p>
                      <a:r>
                        <a:rPr sz="1050" b="0" i="0">
                          <a:solidFill>
                            <a:srgbClr val="353B4A"/>
                          </a:solidFill>
                          <a:latin typeface="Inter"/>
                        </a:rPr>
                        <a:t>Compare the three counts for the election</a:t>
                      </a:r>
                    </a:p>
                  </a:txBody>
                  <a:tcPr marL="73152" marR="73152" marT="36576" marB="36576" anchor="ctr">
                    <a:solidFill>
                      <a:srgbClr val="FFFFFF"/>
                    </a:solidFill>
                  </a:tcPr>
                </a:tc>
                <a:tc>
                  <a:txBody>
                    <a:bodyPr wrap="square"/>
                    <a:lstStyle/>
                    <a:p>
                      <a:r>
                        <a:rPr sz="1050" b="0" i="0">
                          <a:solidFill>
                            <a:srgbClr val="353B4A"/>
                          </a:solidFill>
                          <a:latin typeface="Inter"/>
                        </a:rPr>
                        <a:t>New</a:t>
                      </a:r>
                    </a:p>
                  </a:txBody>
                  <a:tcPr marL="73152" marR="73152" marT="36576" marB="36576" anchor="ctr">
                    <a:solidFill>
                      <a:srgbClr val="FFFFFF"/>
                    </a:solidFill>
                  </a:tcPr>
                </a:tc>
              </a:tr>
            </a:tbl>
          </a:graphicData>
        </a:graphic>
      </p:graphicFrame>
      <p:sp>
        <p:nvSpPr>
          <p:cNvPr id="7" name="TextBox 6"/>
          <p:cNvSpPr txBox="1"/>
          <p:nvPr/>
        </p:nvSpPr>
        <p:spPr>
          <a:xfrm>
            <a:off x="457200" y="4114800"/>
            <a:ext cx="8229600" cy="640080"/>
          </a:xfrm>
          <a:prstGeom prst="rect">
            <a:avLst/>
          </a:prstGeom>
          <a:noFill/>
        </p:spPr>
        <p:txBody>
          <a:bodyPr wrap="square" anchor="t" lIns="0" rIns="0" tIns="0" bIns="0">
            <a:spAutoFit/>
          </a:bodyPr>
          <a:lstStyle/>
          <a:p>
            <a:pPr algn="l">
              <a:spcAft>
                <a:spcPts val="0"/>
              </a:spcAft>
            </a:pPr>
            <a:r>
              <a:rPr sz="1150" b="1" i="0">
                <a:solidFill>
                  <a:srgbClr val="1B2A55"/>
                </a:solidFill>
                <a:latin typeface="Inter"/>
              </a:rPr>
              <a:t>Plus the chain check: </a:t>
            </a:r>
            <a:r>
              <a:rPr sz="1150" b="0" i="0">
                <a:solidFill>
                  <a:srgbClr val="353B4A"/>
                </a:solidFill>
                <a:latin typeface="Inter"/>
              </a:rPr>
              <a:t>recompute every block's link and hash across the whole ledger. The chain check finds edits inside the ledger; the sweep finds edits to the 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MONGODB ATLAS LEDGER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real document store with its own concurrency control</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14</a:t>
            </a:r>
          </a:p>
        </p:txBody>
      </p:sp>
      <p:sp>
        <p:nvSpPr>
          <p:cNvPr id="6" name="TextBox 5"/>
          <p:cNvSpPr txBox="1"/>
          <p:nvPr/>
        </p:nvSpPr>
        <p:spPr>
          <a:xfrm>
            <a:off x="457200" y="1143000"/>
            <a:ext cx="4846320" cy="356616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Collection:</a:t>
            </a:r>
            <a:r>
              <a:rPr sz="1150" b="0" i="0">
                <a:solidFill>
                  <a:srgbClr val="353B4A"/>
                </a:solidFill>
                <a:latin typeface="Inter"/>
              </a:rPr>
              <a:t> each block is one document in polyvote.ledger.</a:t>
            </a:r>
          </a:p>
          <a:p>
            <a:pPr algn="l">
              <a:spcAft>
                <a:spcPts val="500"/>
              </a:spcAft>
            </a:pPr>
            <a:r>
              <a:rPr sz="1150" b="1" i="0">
                <a:solidFill>
                  <a:srgbClr val="1B2A55"/>
                </a:solidFill>
                <a:latin typeface="Inter"/>
              </a:rPr>
              <a:t>•  </a:t>
            </a:r>
            <a:r>
              <a:rPr sz="1150" b="1" i="0">
                <a:solidFill>
                  <a:srgbClr val="1B2A55"/>
                </a:solidFill>
                <a:latin typeface="Inter"/>
              </a:rPr>
              <a:t>Unique index on block index:</a:t>
            </a:r>
            <a:r>
              <a:rPr sz="1150" b="0" i="0">
                <a:solidFill>
                  <a:srgbClr val="353B4A"/>
                </a:solidFill>
                <a:latin typeface="Inter"/>
              </a:rPr>
              <a:t> two writers cannot both claim the next slot, so the chain cannot fork.</a:t>
            </a:r>
          </a:p>
          <a:p>
            <a:pPr algn="l">
              <a:spcAft>
                <a:spcPts val="500"/>
              </a:spcAft>
            </a:pPr>
            <a:r>
              <a:rPr sz="1150" b="1" i="0">
                <a:solidFill>
                  <a:srgbClr val="1B2A55"/>
                </a:solidFill>
                <a:latin typeface="Inter"/>
              </a:rPr>
              <a:t>•  </a:t>
            </a:r>
            <a:r>
              <a:rPr sz="1150" b="1" i="0">
                <a:solidFill>
                  <a:srgbClr val="1B2A55"/>
                </a:solidFill>
                <a:latin typeface="Inter"/>
              </a:rPr>
              <a:t>Append cost:</a:t>
            </a:r>
            <a:r>
              <a:rPr sz="1150" b="0" i="0">
                <a:solidFill>
                  <a:srgbClr val="353B4A"/>
                </a:solidFill>
                <a:latin typeface="Inter"/>
              </a:rPr>
              <a:t> reads only the last block and inserts one document, so it does not grow with the chain.</a:t>
            </a:r>
          </a:p>
          <a:p>
            <a:pPr algn="l">
              <a:spcAft>
                <a:spcPts val="500"/>
              </a:spcAft>
            </a:pPr>
            <a:r>
              <a:rPr sz="1150" b="1" i="0">
                <a:solidFill>
                  <a:srgbClr val="1B2A55"/>
                </a:solidFill>
                <a:latin typeface="Inter"/>
              </a:rPr>
              <a:t>•  </a:t>
            </a:r>
            <a:r>
              <a:rPr sz="1150" b="1" i="0">
                <a:solidFill>
                  <a:srgbClr val="1B2A55"/>
                </a:solidFill>
                <a:latin typeface="Inter"/>
              </a:rPr>
              <a:t>Fallback:</a:t>
            </a:r>
            <a:r>
              <a:rPr sz="1150" b="0" i="0">
                <a:solidFill>
                  <a:srgbClr val="353B4A"/>
                </a:solidFill>
                <a:latin typeface="Inter"/>
              </a:rPr>
              <a:t> no connection string, or Atlas unreachable, and it uses the local file; /api/health shows which.</a:t>
            </a:r>
          </a:p>
          <a:p>
            <a:pPr algn="l">
              <a:spcAft>
                <a:spcPts val="500"/>
              </a:spcAft>
            </a:pPr>
            <a:r>
              <a:rPr sz="1150" b="1" i="0">
                <a:solidFill>
                  <a:srgbClr val="1B2A55"/>
                </a:solidFill>
                <a:latin typeface="Inter"/>
              </a:rPr>
              <a:t>•  </a:t>
            </a:r>
            <a:r>
              <a:rPr sz="1150" b="1" i="0">
                <a:solidFill>
                  <a:srgbClr val="1B2A55"/>
                </a:solidFill>
                <a:latin typeface="Inter"/>
              </a:rPr>
              <a:t>Migration:</a:t>
            </a:r>
            <a:r>
              <a:rPr sz="1150" b="0" i="0">
                <a:solidFill>
                  <a:srgbClr val="353B4A"/>
                </a:solidFill>
                <a:latin typeface="Inter"/>
              </a:rPr>
              <a:t> a script copies the old blocks and verifies the chain; it refuses to overwrite a non-empty collection.</a:t>
            </a:r>
          </a:p>
          <a:p>
            <a:pPr algn="l">
              <a:spcAft>
                <a:spcPts val="500"/>
              </a:spcAft>
            </a:pPr>
            <a:r>
              <a:rPr sz="1150" b="1" i="0">
                <a:solidFill>
                  <a:srgbClr val="1B2A55"/>
                </a:solidFill>
                <a:latin typeface="Inter"/>
              </a:rPr>
              <a:t>•  </a:t>
            </a:r>
            <a:r>
              <a:rPr sz="1150" b="1" i="0">
                <a:solidFill>
                  <a:srgbClr val="1B2A55"/>
                </a:solidFill>
                <a:latin typeface="Inter"/>
              </a:rPr>
              <a:t>Secrets:</a:t>
            </a:r>
            <a:r>
              <a:rPr sz="1150" b="0" i="0">
                <a:solidFill>
                  <a:srgbClr val="353B4A"/>
                </a:solidFill>
                <a:latin typeface="Inter"/>
              </a:rPr>
              <a:t> the connection string lives in .env, never in the code or the repository.</a:t>
            </a:r>
          </a:p>
        </p:txBody>
      </p:sp>
      <p:sp>
        <p:nvSpPr>
          <p:cNvPr id="7" name="Rounded Rectangle 6"/>
          <p:cNvSpPr/>
          <p:nvPr/>
        </p:nvSpPr>
        <p:spPr>
          <a:xfrm>
            <a:off x="5577840" y="1188720"/>
            <a:ext cx="3108960" cy="3383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280160"/>
            <a:ext cx="2743200" cy="274320"/>
          </a:xfrm>
          <a:prstGeom prst="rect">
            <a:avLst/>
          </a:prstGeom>
          <a:noFill/>
        </p:spPr>
        <p:txBody>
          <a:bodyPr wrap="square" anchor="t" lIns="0" rIns="0" tIns="0" bIns="0">
            <a:spAutoFit/>
          </a:bodyPr>
          <a:lstStyle/>
          <a:p>
            <a:pPr algn="l">
              <a:spcAft>
                <a:spcPts val="0"/>
              </a:spcAft>
            </a:pPr>
            <a:r>
              <a:rPr sz="1200" b="1" i="0">
                <a:solidFill>
                  <a:srgbClr val="1B2A55"/>
                </a:solidFill>
                <a:latin typeface="Inter"/>
              </a:rPr>
              <a:t>Live health check</a:t>
            </a:r>
          </a:p>
        </p:txBody>
      </p:sp>
      <p:sp>
        <p:nvSpPr>
          <p:cNvPr id="9" name="TextBox 8"/>
          <p:cNvSpPr txBox="1"/>
          <p:nvPr/>
        </p:nvSpPr>
        <p:spPr>
          <a:xfrm>
            <a:off x="5760720" y="1645920"/>
            <a:ext cx="2743200" cy="914400"/>
          </a:xfrm>
          <a:prstGeom prst="rect">
            <a:avLst/>
          </a:prstGeom>
          <a:noFill/>
        </p:spPr>
        <p:txBody>
          <a:bodyPr wrap="square" anchor="t" lIns="0" rIns="0" tIns="0" bIns="0">
            <a:spAutoFit/>
          </a:bodyPr>
          <a:lstStyle/>
          <a:p>
            <a:pPr algn="l">
              <a:spcAft>
                <a:spcPts val="0"/>
              </a:spcAft>
            </a:pPr>
            <a:r>
              <a:rPr sz="900" b="0" i="0">
                <a:solidFill>
                  <a:srgbClr val="353B4A"/>
                </a:solidFill>
                <a:latin typeface="Consolas"/>
              </a:rPr>
              <a:t>{"backend":"mongodb",</a:t>
            </a:r>
          </a:p>
          <a:p>
            <a:pPr algn="l">
              <a:spcAft>
                <a:spcPts val="0"/>
              </a:spcAft>
            </a:pPr>
            <a:r>
              <a:rPr sz="900" b="0" i="0">
                <a:solidFill>
                  <a:srgbClr val="353B4A"/>
                </a:solidFill>
                <a:latin typeface="Consolas"/>
              </a:rPr>
              <a:t> "detail":"mongodb</a:t>
            </a:r>
          </a:p>
          <a:p>
            <a:pPr algn="l">
              <a:spcAft>
                <a:spcPts val="0"/>
              </a:spcAft>
            </a:pPr>
            <a:r>
              <a:rPr sz="900" b="0" i="0">
                <a:solidFill>
                  <a:srgbClr val="353B4A"/>
                </a:solidFill>
                <a:latin typeface="Consolas"/>
              </a:rPr>
              <a:t>   (polyvote.ledger)",</a:t>
            </a:r>
          </a:p>
          <a:p>
            <a:pPr algn="l">
              <a:spcAft>
                <a:spcPts val="0"/>
              </a:spcAft>
            </a:pPr>
            <a:r>
              <a:rPr sz="900" b="0" i="0">
                <a:solidFill>
                  <a:srgbClr val="353B4A"/>
                </a:solidFill>
                <a:latin typeface="Consolas"/>
              </a:rPr>
              <a:t> "sealing":"hmac-sha256"}</a:t>
            </a:r>
          </a:p>
        </p:txBody>
      </p:sp>
      <p:sp>
        <p:nvSpPr>
          <p:cNvPr id="10" name="TextBox 9"/>
          <p:cNvSpPr txBox="1"/>
          <p:nvPr/>
        </p:nvSpPr>
        <p:spPr>
          <a:xfrm>
            <a:off x="5760720" y="2743200"/>
            <a:ext cx="2743200" cy="173736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Editing any block in Atlas (for example a vote_data_hash) makes the Audit ledger page show "Data tampered at block 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EMAIL ONE-TIME CODE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correct password no longer opens a ballot on its own</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15</a:t>
            </a:r>
          </a:p>
        </p:txBody>
      </p:sp>
      <p:pic>
        <p:nvPicPr>
          <p:cNvPr id="6" name="Picture 5" descr="otp_sequence.png"/>
          <p:cNvPicPr>
            <a:picLocks noChangeAspect="1"/>
          </p:cNvPicPr>
          <p:nvPr/>
        </p:nvPicPr>
        <p:blipFill>
          <a:blip r:embed="rId2"/>
          <a:stretch>
            <a:fillRect/>
          </a:stretch>
        </p:blipFill>
        <p:spPr>
          <a:xfrm>
            <a:off x="1905609" y="1051560"/>
            <a:ext cx="5332780" cy="3703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EMAIL ONE-TIME CODE · DESIGN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Small choices that make it hold up</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16</a:t>
            </a:r>
          </a:p>
        </p:txBody>
      </p:sp>
      <p:graphicFrame>
        <p:nvGraphicFramePr>
          <p:cNvPr id="6" name="Table 5"/>
          <p:cNvGraphicFramePr>
            <a:graphicFrameLocks noGrp="1"/>
          </p:cNvGraphicFramePr>
          <p:nvPr/>
        </p:nvGraphicFramePr>
        <p:xfrm>
          <a:off x="457200" y="1097280"/>
          <a:ext cx="5120640" cy="3291840"/>
        </p:xfrm>
        <a:graphic>
          <a:graphicData uri="http://schemas.openxmlformats.org/drawingml/2006/table">
            <a:tbl>
              <a:tblPr firstRow="1" bandRow="1">
                <a:tableStyleId>{5C22544A-7EE6-4342-B048-85BDC9FD1C3A}</a:tableStyleId>
              </a:tblPr>
              <a:tblGrid>
                <a:gridCol w="1554480"/>
                <a:gridCol w="3566160"/>
              </a:tblGrid>
              <a:tr h="365760">
                <a:tc>
                  <a:txBody>
                    <a:bodyPr wrap="square"/>
                    <a:lstStyle/>
                    <a:p>
                      <a:r>
                        <a:rPr sz="1000" b="1" i="0">
                          <a:solidFill>
                            <a:srgbClr val="FFFFFF"/>
                          </a:solidFill>
                          <a:latin typeface="Inter"/>
                        </a:rPr>
                        <a:t>Choice</a:t>
                      </a:r>
                    </a:p>
                  </a:txBody>
                  <a:tcPr marL="73152" marR="73152" marT="36576" marB="36576" anchor="ctr">
                    <a:solidFill>
                      <a:srgbClr val="1B2A55"/>
                    </a:solidFill>
                  </a:tcPr>
                </a:tc>
                <a:tc>
                  <a:txBody>
                    <a:bodyPr wrap="square"/>
                    <a:lstStyle/>
                    <a:p>
                      <a:r>
                        <a:rPr sz="1000" b="1" i="0">
                          <a:solidFill>
                            <a:srgbClr val="FFFFFF"/>
                          </a:solidFill>
                          <a:latin typeface="Inter"/>
                        </a:rPr>
                        <a:t>Value</a:t>
                      </a:r>
                    </a:p>
                  </a:txBody>
                  <a:tcPr marL="73152" marR="73152" marT="36576" marB="36576" anchor="ctr">
                    <a:solidFill>
                      <a:srgbClr val="1B2A55"/>
                    </a:solidFill>
                  </a:tcPr>
                </a:tc>
              </a:tr>
              <a:tr h="365760">
                <a:tc>
                  <a:txBody>
                    <a:bodyPr wrap="square"/>
                    <a:lstStyle/>
                    <a:p>
                      <a:r>
                        <a:rPr sz="1000" b="1" i="0">
                          <a:solidFill>
                            <a:srgbClr val="1B2A55"/>
                          </a:solidFill>
                          <a:latin typeface="Inter"/>
                        </a:rPr>
                        <a:t>Code</a:t>
                      </a:r>
                    </a:p>
                  </a:txBody>
                  <a:tcPr marL="73152" marR="73152" marT="36576" marB="36576" anchor="ctr">
                    <a:solidFill>
                      <a:srgbClr val="FFFFFF"/>
                    </a:solidFill>
                  </a:tcPr>
                </a:tc>
                <a:tc>
                  <a:txBody>
                    <a:bodyPr wrap="square"/>
                    <a:lstStyle/>
                    <a:p>
                      <a:r>
                        <a:rPr sz="1000" b="0" i="0">
                          <a:solidFill>
                            <a:srgbClr val="353B4A"/>
                          </a:solidFill>
                          <a:latin typeface="Inter"/>
                        </a:rPr>
                        <a:t>6 digits from a secure generator</a:t>
                      </a:r>
                    </a:p>
                  </a:txBody>
                  <a:tcPr marL="73152" marR="73152" marT="36576" marB="36576" anchor="ctr">
                    <a:solidFill>
                      <a:srgbClr val="FFFFFF"/>
                    </a:solidFill>
                  </a:tcPr>
                </a:tc>
              </a:tr>
              <a:tr h="365760">
                <a:tc>
                  <a:txBody>
                    <a:bodyPr wrap="square"/>
                    <a:lstStyle/>
                    <a:p>
                      <a:r>
                        <a:rPr sz="1000" b="1" i="0">
                          <a:solidFill>
                            <a:srgbClr val="1B2A55"/>
                          </a:solidFill>
                          <a:latin typeface="Inter"/>
                        </a:rPr>
                        <a:t>Stored as</a:t>
                      </a:r>
                    </a:p>
                  </a:txBody>
                  <a:tcPr marL="73152" marR="73152" marT="36576" marB="36576" anchor="ctr">
                    <a:solidFill>
                      <a:srgbClr val="F1F0F6"/>
                    </a:solidFill>
                  </a:tcPr>
                </a:tc>
                <a:tc>
                  <a:txBody>
                    <a:bodyPr wrap="square"/>
                    <a:lstStyle/>
                    <a:p>
                      <a:r>
                        <a:rPr sz="1000" b="0" i="0">
                          <a:solidFill>
                            <a:srgbClr val="353B4A"/>
                          </a:solidFill>
                          <a:latin typeface="Inter"/>
                        </a:rPr>
                        <a:t>HMAC of challenge and code</a:t>
                      </a:r>
                    </a:p>
                  </a:txBody>
                  <a:tcPr marL="73152" marR="73152" marT="36576" marB="36576" anchor="ctr">
                    <a:solidFill>
                      <a:srgbClr val="F1F0F6"/>
                    </a:solidFill>
                  </a:tcPr>
                </a:tc>
              </a:tr>
              <a:tr h="365760">
                <a:tc>
                  <a:txBody>
                    <a:bodyPr wrap="square"/>
                    <a:lstStyle/>
                    <a:p>
                      <a:r>
                        <a:rPr sz="1000" b="1" i="0">
                          <a:solidFill>
                            <a:srgbClr val="1B2A55"/>
                          </a:solidFill>
                          <a:latin typeface="Inter"/>
                        </a:rPr>
                        <a:t>Valid for</a:t>
                      </a:r>
                    </a:p>
                  </a:txBody>
                  <a:tcPr marL="73152" marR="73152" marT="36576" marB="36576" anchor="ctr">
                    <a:solidFill>
                      <a:srgbClr val="FFFFFF"/>
                    </a:solidFill>
                  </a:tcPr>
                </a:tc>
                <a:tc>
                  <a:txBody>
                    <a:bodyPr wrap="square"/>
                    <a:lstStyle/>
                    <a:p>
                      <a:r>
                        <a:rPr sz="1000" b="0" i="0">
                          <a:solidFill>
                            <a:srgbClr val="353B4A"/>
                          </a:solidFill>
                          <a:latin typeface="Inter"/>
                        </a:rPr>
                        <a:t>5 minutes, single use</a:t>
                      </a:r>
                    </a:p>
                  </a:txBody>
                  <a:tcPr marL="73152" marR="73152" marT="36576" marB="36576" anchor="ctr">
                    <a:solidFill>
                      <a:srgbClr val="FFFFFF"/>
                    </a:solidFill>
                  </a:tcPr>
                </a:tc>
              </a:tr>
              <a:tr h="365760">
                <a:tc>
                  <a:txBody>
                    <a:bodyPr wrap="square"/>
                    <a:lstStyle/>
                    <a:p>
                      <a:r>
                        <a:rPr sz="1000" b="1" i="0">
                          <a:solidFill>
                            <a:srgbClr val="1B2A55"/>
                          </a:solidFill>
                          <a:latin typeface="Inter"/>
                        </a:rPr>
                        <a:t>Guesses</a:t>
                      </a:r>
                    </a:p>
                  </a:txBody>
                  <a:tcPr marL="73152" marR="73152" marT="36576" marB="36576" anchor="ctr">
                    <a:solidFill>
                      <a:srgbClr val="F1F0F6"/>
                    </a:solidFill>
                  </a:tcPr>
                </a:tc>
                <a:tc>
                  <a:txBody>
                    <a:bodyPr wrap="square"/>
                    <a:lstStyle/>
                    <a:p>
                      <a:r>
                        <a:rPr sz="1000" b="0" i="0">
                          <a:solidFill>
                            <a:srgbClr val="353B4A"/>
                          </a:solidFill>
                          <a:latin typeface="Inter"/>
                        </a:rPr>
                        <a:t>3 per code, then locked</a:t>
                      </a:r>
                    </a:p>
                  </a:txBody>
                  <a:tcPr marL="73152" marR="73152" marT="36576" marB="36576" anchor="ctr">
                    <a:solidFill>
                      <a:srgbClr val="F1F0F6"/>
                    </a:solidFill>
                  </a:tcPr>
                </a:tc>
              </a:tr>
              <a:tr h="365760">
                <a:tc>
                  <a:txBody>
                    <a:bodyPr wrap="square"/>
                    <a:lstStyle/>
                    <a:p>
                      <a:r>
                        <a:rPr sz="1000" b="1" i="0">
                          <a:solidFill>
                            <a:srgbClr val="1B2A55"/>
                          </a:solidFill>
                          <a:latin typeface="Inter"/>
                        </a:rPr>
                        <a:t>Resend</a:t>
                      </a:r>
                    </a:p>
                  </a:txBody>
                  <a:tcPr marL="73152" marR="73152" marT="36576" marB="36576" anchor="ctr">
                    <a:solidFill>
                      <a:srgbClr val="FFFFFF"/>
                    </a:solidFill>
                  </a:tcPr>
                </a:tc>
                <a:tc>
                  <a:txBody>
                    <a:bodyPr wrap="square"/>
                    <a:lstStyle/>
                    <a:p>
                      <a:r>
                        <a:rPr sz="1000" b="0" i="0">
                          <a:solidFill>
                            <a:srgbClr val="353B4A"/>
                          </a:solidFill>
                          <a:latin typeface="Inter"/>
                        </a:rPr>
                        <a:t>1 per 30 s, 5 per challenge</a:t>
                      </a:r>
                    </a:p>
                  </a:txBody>
                  <a:tcPr marL="73152" marR="73152" marT="36576" marB="36576" anchor="ctr">
                    <a:solidFill>
                      <a:srgbClr val="FFFFFF"/>
                    </a:solidFill>
                  </a:tcPr>
                </a:tc>
              </a:tr>
              <a:tr h="365760">
                <a:tc>
                  <a:txBody>
                    <a:bodyPr wrap="square"/>
                    <a:lstStyle/>
                    <a:p>
                      <a:r>
                        <a:rPr sz="1000" b="1" i="0">
                          <a:solidFill>
                            <a:srgbClr val="1B2A55"/>
                          </a:solidFill>
                          <a:latin typeface="Inter"/>
                        </a:rPr>
                        <a:t>Challenges</a:t>
                      </a:r>
                    </a:p>
                  </a:txBody>
                  <a:tcPr marL="73152" marR="73152" marT="36576" marB="36576" anchor="ctr">
                    <a:solidFill>
                      <a:srgbClr val="F1F0F6"/>
                    </a:solidFill>
                  </a:tcPr>
                </a:tc>
                <a:tc>
                  <a:txBody>
                    <a:bodyPr wrap="square"/>
                    <a:lstStyle/>
                    <a:p>
                      <a:r>
                        <a:rPr sz="1000" b="0" i="0">
                          <a:solidFill>
                            <a:srgbClr val="353B4A"/>
                          </a:solidFill>
                          <a:latin typeface="Inter"/>
                        </a:rPr>
                        <a:t>5 per voter per 15 min</a:t>
                      </a:r>
                    </a:p>
                  </a:txBody>
                  <a:tcPr marL="73152" marR="73152" marT="36576" marB="36576" anchor="ctr">
                    <a:solidFill>
                      <a:srgbClr val="F1F0F6"/>
                    </a:solidFill>
                  </a:tcPr>
                </a:tc>
              </a:tr>
              <a:tr h="365760">
                <a:tc>
                  <a:txBody>
                    <a:bodyPr wrap="square"/>
                    <a:lstStyle/>
                    <a:p>
                      <a:r>
                        <a:rPr sz="1000" b="1" i="0">
                          <a:solidFill>
                            <a:srgbClr val="1B2A55"/>
                          </a:solidFill>
                          <a:latin typeface="Inter"/>
                        </a:rPr>
                        <a:t>Delivery</a:t>
                      </a:r>
                    </a:p>
                  </a:txBody>
                  <a:tcPr marL="73152" marR="73152" marT="36576" marB="36576" anchor="ctr">
                    <a:solidFill>
                      <a:srgbClr val="FFFFFF"/>
                    </a:solidFill>
                  </a:tcPr>
                </a:tc>
                <a:tc>
                  <a:txBody>
                    <a:bodyPr wrap="square"/>
                    <a:lstStyle/>
                    <a:p>
                      <a:r>
                        <a:rPr sz="1000" b="0" i="0">
                          <a:solidFill>
                            <a:srgbClr val="353B4A"/>
                          </a:solidFill>
                          <a:latin typeface="Inter"/>
                        </a:rPr>
                        <a:t>SMTP; failure never blocks sign-in</a:t>
                      </a:r>
                    </a:p>
                  </a:txBody>
                  <a:tcPr marL="73152" marR="73152" marT="36576" marB="36576" anchor="ctr">
                    <a:solidFill>
                      <a:srgbClr val="FFFFFF"/>
                    </a:solidFill>
                  </a:tcPr>
                </a:tc>
              </a:tr>
              <a:tr h="365760">
                <a:tc>
                  <a:txBody>
                    <a:bodyPr wrap="square"/>
                    <a:lstStyle/>
                    <a:p>
                      <a:r>
                        <a:rPr sz="1000" b="1" i="0">
                          <a:solidFill>
                            <a:srgbClr val="1B2A55"/>
                          </a:solidFill>
                          <a:latin typeface="Inter"/>
                        </a:rPr>
                        <a:t>Where emails live</a:t>
                      </a:r>
                    </a:p>
                  </a:txBody>
                  <a:tcPr marL="73152" marR="73152" marT="36576" marB="36576" anchor="ctr">
                    <a:solidFill>
                      <a:srgbClr val="F1F0F6"/>
                    </a:solidFill>
                  </a:tcPr>
                </a:tc>
                <a:tc>
                  <a:txBody>
                    <a:bodyPr wrap="square"/>
                    <a:lstStyle/>
                    <a:p>
                      <a:r>
                        <a:rPr sz="1000" b="0" i="0">
                          <a:solidFill>
                            <a:srgbClr val="353B4A"/>
                          </a:solidFill>
                          <a:latin typeface="Inter"/>
                        </a:rPr>
                        <a:t>Separate database</a:t>
                      </a:r>
                    </a:p>
                  </a:txBody>
                  <a:tcPr marL="73152" marR="73152" marT="36576" marB="36576" anchor="ctr">
                    <a:solidFill>
                      <a:srgbClr val="F1F0F6"/>
                    </a:solidFill>
                  </a:tcPr>
                </a:tc>
              </a:tr>
            </a:tbl>
          </a:graphicData>
        </a:graphic>
      </p:graphicFrame>
      <p:pic>
        <p:nvPicPr>
          <p:cNvPr id="7" name="Picture 6" descr="voter_otp.png"/>
          <p:cNvPicPr>
            <a:picLocks noChangeAspect="1"/>
          </p:cNvPicPr>
          <p:nvPr/>
        </p:nvPicPr>
        <p:blipFill>
          <a:blip r:embed="rId2"/>
          <a:stretch>
            <a:fillRect/>
          </a:stretch>
        </p:blipFill>
        <p:spPr>
          <a:xfrm>
            <a:off x="5806440" y="1162189"/>
            <a:ext cx="2880360" cy="2887701"/>
          </a:xfrm>
          <a:prstGeom prst="rect">
            <a:avLst/>
          </a:prstGeom>
          <a:ln w="12700">
            <a:solidFill>
              <a:srgbClr val="D9D9E4"/>
            </a:solidFill>
          </a:ln>
        </p:spPr>
      </p:pic>
      <p:sp>
        <p:nvSpPr>
          <p:cNvPr id="8" name="TextBox 7"/>
          <p:cNvSpPr txBox="1"/>
          <p:nvPr/>
        </p:nvSpPr>
        <p:spPr>
          <a:xfrm>
            <a:off x="5806440" y="4160520"/>
            <a:ext cx="2880360" cy="457200"/>
          </a:xfrm>
          <a:prstGeom prst="rect">
            <a:avLst/>
          </a:prstGeom>
          <a:noFill/>
        </p:spPr>
        <p:txBody>
          <a:bodyPr wrap="square" anchor="t" lIns="0" rIns="0" tIns="0" bIns="0">
            <a:spAutoFit/>
          </a:bodyPr>
          <a:lstStyle/>
          <a:p>
            <a:pPr algn="ctr">
              <a:spcAft>
                <a:spcPts val="0"/>
              </a:spcAft>
            </a:pPr>
            <a:r>
              <a:rPr sz="1000" b="0" i="1">
                <a:solidFill>
                  <a:srgbClr val="666A78"/>
                </a:solidFill>
                <a:latin typeface="Inter"/>
              </a:rPr>
              <a:t>The voter sees only a masked address.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THE VOTER EXPERIENCE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Sign in, confirm by code, rank, and keep a receipt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17</a:t>
            </a:r>
          </a:p>
        </p:txBody>
      </p:sp>
      <p:pic>
        <p:nvPicPr>
          <p:cNvPr id="6" name="Picture 5" descr="voter_signin_qr.png"/>
          <p:cNvPicPr>
            <a:picLocks noChangeAspect="1"/>
          </p:cNvPicPr>
          <p:nvPr/>
        </p:nvPicPr>
        <p:blipFill>
          <a:blip r:embed="rId2"/>
          <a:stretch>
            <a:fillRect/>
          </a:stretch>
        </p:blipFill>
        <p:spPr>
          <a:xfrm>
            <a:off x="411480" y="1315508"/>
            <a:ext cx="1965960" cy="2672502"/>
          </a:xfrm>
          <a:prstGeom prst="rect">
            <a:avLst/>
          </a:prstGeom>
          <a:ln w="12700">
            <a:solidFill>
              <a:srgbClr val="D9D9E4"/>
            </a:solidFill>
          </a:ln>
        </p:spPr>
      </p:pic>
      <p:sp>
        <p:nvSpPr>
          <p:cNvPr id="7" name="TextBox 6"/>
          <p:cNvSpPr txBox="1"/>
          <p:nvPr/>
        </p:nvSpPr>
        <p:spPr>
          <a:xfrm>
            <a:off x="411480"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1  Sign in (QR for phones)</a:t>
            </a:r>
          </a:p>
        </p:txBody>
      </p:sp>
      <p:pic>
        <p:nvPicPr>
          <p:cNvPr id="8" name="Picture 7" descr="voter_otp.png"/>
          <p:cNvPicPr>
            <a:picLocks noChangeAspect="1"/>
          </p:cNvPicPr>
          <p:nvPr/>
        </p:nvPicPr>
        <p:blipFill>
          <a:blip r:embed="rId3"/>
          <a:stretch>
            <a:fillRect/>
          </a:stretch>
        </p:blipFill>
        <p:spPr>
          <a:xfrm>
            <a:off x="2496312" y="1666274"/>
            <a:ext cx="1965960" cy="1970970"/>
          </a:xfrm>
          <a:prstGeom prst="rect">
            <a:avLst/>
          </a:prstGeom>
          <a:ln w="12700">
            <a:solidFill>
              <a:srgbClr val="D9D9E4"/>
            </a:solidFill>
          </a:ln>
        </p:spPr>
      </p:pic>
      <p:sp>
        <p:nvSpPr>
          <p:cNvPr id="9" name="TextBox 8"/>
          <p:cNvSpPr txBox="1"/>
          <p:nvPr/>
        </p:nvSpPr>
        <p:spPr>
          <a:xfrm>
            <a:off x="2496312"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2  Enter the emailed code</a:t>
            </a:r>
          </a:p>
        </p:txBody>
      </p:sp>
      <p:pic>
        <p:nvPicPr>
          <p:cNvPr id="10" name="Picture 9" descr="voter_ballot_desktop.png"/>
          <p:cNvPicPr>
            <a:picLocks noChangeAspect="1"/>
          </p:cNvPicPr>
          <p:nvPr/>
        </p:nvPicPr>
        <p:blipFill>
          <a:blip r:embed="rId4"/>
          <a:stretch>
            <a:fillRect/>
          </a:stretch>
        </p:blipFill>
        <p:spPr>
          <a:xfrm>
            <a:off x="4581144" y="2167949"/>
            <a:ext cx="1965960" cy="967620"/>
          </a:xfrm>
          <a:prstGeom prst="rect">
            <a:avLst/>
          </a:prstGeom>
          <a:ln w="12700">
            <a:solidFill>
              <a:srgbClr val="D9D9E4"/>
            </a:solidFill>
          </a:ln>
        </p:spPr>
      </p:pic>
      <p:sp>
        <p:nvSpPr>
          <p:cNvPr id="11" name="TextBox 10"/>
          <p:cNvSpPr txBox="1"/>
          <p:nvPr/>
        </p:nvSpPr>
        <p:spPr>
          <a:xfrm>
            <a:off x="4581144"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3  Rank three choices</a:t>
            </a:r>
          </a:p>
        </p:txBody>
      </p:sp>
      <p:pic>
        <p:nvPicPr>
          <p:cNvPr id="12" name="Picture 11" descr="voter_receipt.png"/>
          <p:cNvPicPr>
            <a:picLocks noChangeAspect="1"/>
          </p:cNvPicPr>
          <p:nvPr/>
        </p:nvPicPr>
        <p:blipFill>
          <a:blip r:embed="rId5"/>
          <a:stretch>
            <a:fillRect/>
          </a:stretch>
        </p:blipFill>
        <p:spPr>
          <a:xfrm>
            <a:off x="6665976" y="1749790"/>
            <a:ext cx="1965960" cy="1803939"/>
          </a:xfrm>
          <a:prstGeom prst="rect">
            <a:avLst/>
          </a:prstGeom>
          <a:ln w="12700">
            <a:solidFill>
              <a:srgbClr val="D9D9E4"/>
            </a:solidFill>
          </a:ln>
        </p:spPr>
      </p:pic>
      <p:sp>
        <p:nvSpPr>
          <p:cNvPr id="13" name="TextBox 12"/>
          <p:cNvSpPr txBox="1"/>
          <p:nvPr/>
        </p:nvSpPr>
        <p:spPr>
          <a:xfrm>
            <a:off x="6665976" y="4224528"/>
            <a:ext cx="1965960" cy="365760"/>
          </a:xfrm>
          <a:prstGeom prst="rect">
            <a:avLst/>
          </a:prstGeom>
          <a:noFill/>
        </p:spPr>
        <p:txBody>
          <a:bodyPr wrap="square" anchor="t" lIns="0" rIns="0" tIns="0" bIns="0">
            <a:spAutoFit/>
          </a:bodyPr>
          <a:lstStyle/>
          <a:p>
            <a:pPr algn="ctr">
              <a:spcAft>
                <a:spcPts val="0"/>
              </a:spcAft>
            </a:pPr>
            <a:r>
              <a:rPr sz="1000" b="1" i="0">
                <a:solidFill>
                  <a:srgbClr val="1B2A55"/>
                </a:solidFill>
                <a:latin typeface="Inter"/>
              </a:rPr>
              <a:t>4  Receipt token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PHONE VOTING AND HOSTING</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Phone voting, a public link, and an honest account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18</a:t>
            </a:r>
          </a:p>
        </p:txBody>
      </p:sp>
      <p:pic>
        <p:nvPicPr>
          <p:cNvPr id="6" name="Picture 5" descr="voter_signin_mobile.png"/>
          <p:cNvPicPr>
            <a:picLocks noChangeAspect="1"/>
          </p:cNvPicPr>
          <p:nvPr/>
        </p:nvPicPr>
        <p:blipFill>
          <a:blip r:embed="rId2"/>
          <a:stretch>
            <a:fillRect/>
          </a:stretch>
        </p:blipFill>
        <p:spPr>
          <a:xfrm>
            <a:off x="457200" y="1547446"/>
            <a:ext cx="1554480" cy="2391507"/>
          </a:xfrm>
          <a:prstGeom prst="rect">
            <a:avLst/>
          </a:prstGeom>
          <a:ln w="12700">
            <a:solidFill>
              <a:srgbClr val="D9D9E4"/>
            </a:solidFill>
          </a:ln>
        </p:spPr>
      </p:pic>
      <p:pic>
        <p:nvPicPr>
          <p:cNvPr id="7" name="Picture 6" descr="voter_ballot_mobile.png"/>
          <p:cNvPicPr>
            <a:picLocks noChangeAspect="1"/>
          </p:cNvPicPr>
          <p:nvPr/>
        </p:nvPicPr>
        <p:blipFill>
          <a:blip r:embed="rId3"/>
          <a:stretch>
            <a:fillRect/>
          </a:stretch>
        </p:blipFill>
        <p:spPr>
          <a:xfrm>
            <a:off x="2119804" y="1097280"/>
            <a:ext cx="1521110" cy="3291839"/>
          </a:xfrm>
          <a:prstGeom prst="rect">
            <a:avLst/>
          </a:prstGeom>
          <a:ln w="12700">
            <a:solidFill>
              <a:srgbClr val="D9D9E4"/>
            </a:solidFill>
          </a:ln>
        </p:spPr>
      </p:pic>
      <p:sp>
        <p:nvSpPr>
          <p:cNvPr id="8" name="TextBox 7"/>
          <p:cNvSpPr txBox="1"/>
          <p:nvPr/>
        </p:nvSpPr>
        <p:spPr>
          <a:xfrm>
            <a:off x="3931920" y="1188720"/>
            <a:ext cx="4754880" cy="347472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1" i="0">
                <a:solidFill>
                  <a:srgbClr val="1B2A55"/>
                </a:solidFill>
                <a:latin typeface="Inter"/>
              </a:rPr>
              <a:t>How:</a:t>
            </a:r>
            <a:r>
              <a:rPr sz="1150" b="0" i="0">
                <a:solidFill>
                  <a:srgbClr val="353B4A"/>
                </a:solidFill>
                <a:latin typeface="Inter"/>
              </a:rPr>
              <a:t> a Cloudflare quick tunnel gives a temporary public HTTPS address; the vote page shows a QR code for it.</a:t>
            </a:r>
          </a:p>
          <a:p>
            <a:pPr algn="l">
              <a:spcAft>
                <a:spcPts val="500"/>
              </a:spcAft>
            </a:pPr>
            <a:r>
              <a:rPr sz="1150" b="1" i="0">
                <a:solidFill>
                  <a:srgbClr val="1B2A55"/>
                </a:solidFill>
                <a:latin typeface="Inter"/>
              </a:rPr>
              <a:t>•  </a:t>
            </a:r>
            <a:r>
              <a:rPr sz="1150" b="1" i="0">
                <a:solidFill>
                  <a:srgbClr val="1B2A55"/>
                </a:solidFill>
                <a:latin typeface="Inter"/>
              </a:rPr>
              <a:t>Works from any network;</a:t>
            </a:r>
            <a:r>
              <a:rPr sz="1150" b="0" i="0">
                <a:solidFill>
                  <a:srgbClr val="353B4A"/>
                </a:solidFill>
                <a:latin typeface="Inter"/>
              </a:rPr>
              <a:t> tested casting a real ballot from a phone.</a:t>
            </a:r>
          </a:p>
          <a:p>
            <a:pPr algn="l">
              <a:spcAft>
                <a:spcPts val="500"/>
              </a:spcAft>
            </a:pPr>
            <a:r>
              <a:rPr sz="1150" b="1" i="0">
                <a:solidFill>
                  <a:srgbClr val="1B2A55"/>
                </a:solidFill>
                <a:latin typeface="Inter"/>
              </a:rPr>
              <a:t>•  </a:t>
            </a:r>
            <a:r>
              <a:rPr sz="1150" b="1" i="0">
                <a:solidFill>
                  <a:srgbClr val="1B2A55"/>
                </a:solidFill>
                <a:latin typeface="Inter"/>
              </a:rPr>
              <a:t>What it is not:</a:t>
            </a:r>
            <a:r>
              <a:rPr sz="1150" b="0" i="0">
                <a:solidFill>
                  <a:srgbClr val="353B4A"/>
                </a:solidFill>
                <a:latin typeface="Inter"/>
              </a:rPr>
              <a:t> cloud deployment. The laptop must stay on, and the address changes when the tunnel restarts.</a:t>
            </a:r>
          </a:p>
          <a:p>
            <a:pPr algn="l">
              <a:spcAft>
                <a:spcPts val="500"/>
              </a:spcAft>
            </a:pPr>
            <a:r>
              <a:rPr sz="1150" b="1" i="0">
                <a:solidFill>
                  <a:srgbClr val="1B2A55"/>
                </a:solidFill>
                <a:latin typeface="Inter"/>
              </a:rPr>
              <a:t>•  </a:t>
            </a:r>
            <a:r>
              <a:rPr sz="1150" b="1" i="0">
                <a:solidFill>
                  <a:srgbClr val="1B2A55"/>
                </a:solidFill>
                <a:latin typeface="Inter"/>
              </a:rPr>
              <a:t>Why we say so:</a:t>
            </a:r>
            <a:r>
              <a:rPr sz="1150" b="0" i="0">
                <a:solidFill>
                  <a:srgbClr val="353B4A"/>
                </a:solidFill>
                <a:latin typeface="Inter"/>
              </a:rPr>
              <a:t> a true cloud platform with Oracle is the next step.</a:t>
            </a:r>
          </a:p>
          <a:p>
            <a:pPr algn="l">
              <a:spcAft>
                <a:spcPts val="500"/>
              </a:spcAft>
            </a:pPr>
            <a:r>
              <a:rPr sz="1150" b="1" i="0">
                <a:solidFill>
                  <a:srgbClr val="1B2A55"/>
                </a:solidFill>
                <a:latin typeface="Inter"/>
              </a:rPr>
              <a:t>•  </a:t>
            </a:r>
            <a:r>
              <a:rPr sz="1150" b="1" i="0">
                <a:solidFill>
                  <a:srgbClr val="1B2A55"/>
                </a:solidFill>
                <a:latin typeface="Inter"/>
              </a:rPr>
              <a:t>Safe by default:</a:t>
            </a:r>
            <a:r>
              <a:rPr sz="1150" b="0" i="0">
                <a:solidFill>
                  <a:srgbClr val="353B4A"/>
                </a:solidFill>
                <a:latin typeface="Inter"/>
              </a:rPr>
              <a:t> secrets stay in .env; the repository holds only .env.example.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LIVE DEMO · SAMPLE POLYVOTE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same system with email verification switched on</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19</a:t>
            </a:r>
          </a:p>
        </p:txBody>
      </p:sp>
      <p:sp>
        <p:nvSpPr>
          <p:cNvPr id="6" name="Rounded Rectangle 5"/>
          <p:cNvSpPr/>
          <p:nvPr/>
        </p:nvSpPr>
        <p:spPr>
          <a:xfrm>
            <a:off x="457200"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1</a:t>
            </a:r>
          </a:p>
        </p:txBody>
      </p:sp>
      <p:sp>
        <p:nvSpPr>
          <p:cNvPr id="8" name="TextBox 7"/>
          <p:cNvSpPr txBox="1"/>
          <p:nvPr/>
        </p:nvSpPr>
        <p:spPr>
          <a:xfrm>
            <a:off x="594360"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Admin</a:t>
            </a:r>
          </a:p>
        </p:txBody>
      </p:sp>
      <p:sp>
        <p:nvSpPr>
          <p:cNvPr id="9" name="TextBox 8"/>
          <p:cNvSpPr txBox="1"/>
          <p:nvPr/>
        </p:nvSpPr>
        <p:spPr>
          <a:xfrm>
            <a:off x="594360"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Voters have emails; Mail outbox open</a:t>
            </a:r>
          </a:p>
        </p:txBody>
      </p:sp>
      <p:sp>
        <p:nvSpPr>
          <p:cNvPr id="10" name="Rounded Rectangle 9"/>
          <p:cNvSpPr/>
          <p:nvPr/>
        </p:nvSpPr>
        <p:spPr>
          <a:xfrm>
            <a:off x="2532888"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670048"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2</a:t>
            </a:r>
          </a:p>
        </p:txBody>
      </p:sp>
      <p:sp>
        <p:nvSpPr>
          <p:cNvPr id="12" name="TextBox 11"/>
          <p:cNvSpPr txBox="1"/>
          <p:nvPr/>
        </p:nvSpPr>
        <p:spPr>
          <a:xfrm>
            <a:off x="2670048"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Sign in</a:t>
            </a:r>
          </a:p>
        </p:txBody>
      </p:sp>
      <p:sp>
        <p:nvSpPr>
          <p:cNvPr id="13" name="TextBox 12"/>
          <p:cNvSpPr txBox="1"/>
          <p:nvPr/>
        </p:nvSpPr>
        <p:spPr>
          <a:xfrm>
            <a:off x="2670048"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Password right, still no ballot</a:t>
            </a:r>
          </a:p>
        </p:txBody>
      </p:sp>
      <p:sp>
        <p:nvSpPr>
          <p:cNvPr id="14" name="Rounded Rectangle 13"/>
          <p:cNvSpPr/>
          <p:nvPr/>
        </p:nvSpPr>
        <p:spPr>
          <a:xfrm>
            <a:off x="4608576"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45736"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3</a:t>
            </a:r>
          </a:p>
        </p:txBody>
      </p:sp>
      <p:sp>
        <p:nvSpPr>
          <p:cNvPr id="16" name="TextBox 15"/>
          <p:cNvSpPr txBox="1"/>
          <p:nvPr/>
        </p:nvSpPr>
        <p:spPr>
          <a:xfrm>
            <a:off x="4745736"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Code</a:t>
            </a:r>
          </a:p>
        </p:txBody>
      </p:sp>
      <p:sp>
        <p:nvSpPr>
          <p:cNvPr id="17" name="TextBox 16"/>
          <p:cNvSpPr txBox="1"/>
          <p:nvPr/>
        </p:nvSpPr>
        <p:spPr>
          <a:xfrm>
            <a:off x="4745736"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Read it from the outbox or inbox</a:t>
            </a:r>
          </a:p>
        </p:txBody>
      </p:sp>
      <p:sp>
        <p:nvSpPr>
          <p:cNvPr id="18" name="Rounded Rectangle 17"/>
          <p:cNvSpPr/>
          <p:nvPr/>
        </p:nvSpPr>
        <p:spPr>
          <a:xfrm>
            <a:off x="6684264" y="114300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21424" y="125272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4</a:t>
            </a:r>
          </a:p>
        </p:txBody>
      </p:sp>
      <p:sp>
        <p:nvSpPr>
          <p:cNvPr id="20" name="TextBox 19"/>
          <p:cNvSpPr txBox="1"/>
          <p:nvPr/>
        </p:nvSpPr>
        <p:spPr>
          <a:xfrm>
            <a:off x="6821424" y="160020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Vote</a:t>
            </a:r>
          </a:p>
        </p:txBody>
      </p:sp>
      <p:sp>
        <p:nvSpPr>
          <p:cNvPr id="21" name="TextBox 20"/>
          <p:cNvSpPr txBox="1"/>
          <p:nvPr/>
        </p:nvSpPr>
        <p:spPr>
          <a:xfrm>
            <a:off x="6821424" y="192024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Rank, cast, get the receipt</a:t>
            </a:r>
          </a:p>
        </p:txBody>
      </p:sp>
      <p:sp>
        <p:nvSpPr>
          <p:cNvPr id="22" name="Rounded Rectangle 21"/>
          <p:cNvSpPr/>
          <p:nvPr/>
        </p:nvSpPr>
        <p:spPr>
          <a:xfrm>
            <a:off x="457200" y="269748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280720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5</a:t>
            </a:r>
          </a:p>
        </p:txBody>
      </p:sp>
      <p:sp>
        <p:nvSpPr>
          <p:cNvPr id="24" name="TextBox 23"/>
          <p:cNvSpPr txBox="1"/>
          <p:nvPr/>
        </p:nvSpPr>
        <p:spPr>
          <a:xfrm>
            <a:off x="594360" y="315468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Seal</a:t>
            </a:r>
          </a:p>
        </p:txBody>
      </p:sp>
      <p:sp>
        <p:nvSpPr>
          <p:cNvPr id="25" name="TextBox 24"/>
          <p:cNvSpPr txBox="1"/>
          <p:nvPr/>
        </p:nvSpPr>
        <p:spPr>
          <a:xfrm>
            <a:off x="594360" y="347472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Receipt check; new block in Atlas</a:t>
            </a:r>
          </a:p>
        </p:txBody>
      </p:sp>
      <p:sp>
        <p:nvSpPr>
          <p:cNvPr id="26" name="Rounded Rectangle 25"/>
          <p:cNvSpPr/>
          <p:nvPr/>
        </p:nvSpPr>
        <p:spPr>
          <a:xfrm>
            <a:off x="2532888" y="269748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670048" y="280720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6</a:t>
            </a:r>
          </a:p>
        </p:txBody>
      </p:sp>
      <p:sp>
        <p:nvSpPr>
          <p:cNvPr id="28" name="TextBox 27"/>
          <p:cNvSpPr txBox="1"/>
          <p:nvPr/>
        </p:nvSpPr>
        <p:spPr>
          <a:xfrm>
            <a:off x="2670048" y="315468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Tamper</a:t>
            </a:r>
          </a:p>
        </p:txBody>
      </p:sp>
      <p:sp>
        <p:nvSpPr>
          <p:cNvPr id="29" name="TextBox 28"/>
          <p:cNvSpPr txBox="1"/>
          <p:nvPr/>
        </p:nvSpPr>
        <p:spPr>
          <a:xfrm>
            <a:off x="2670048" y="347472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DB Studio edit; sweep names it</a:t>
            </a:r>
          </a:p>
        </p:txBody>
      </p:sp>
      <p:sp>
        <p:nvSpPr>
          <p:cNvPr id="30" name="Rounded Rectangle 29"/>
          <p:cNvSpPr/>
          <p:nvPr/>
        </p:nvSpPr>
        <p:spPr>
          <a:xfrm>
            <a:off x="4608576" y="2697480"/>
            <a:ext cx="1920240" cy="137160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745736" y="280720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7</a:t>
            </a:r>
          </a:p>
        </p:txBody>
      </p:sp>
      <p:sp>
        <p:nvSpPr>
          <p:cNvPr id="32" name="TextBox 31"/>
          <p:cNvSpPr txBox="1"/>
          <p:nvPr/>
        </p:nvSpPr>
        <p:spPr>
          <a:xfrm>
            <a:off x="4745736" y="3154680"/>
            <a:ext cx="164592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Ledger</a:t>
            </a:r>
          </a:p>
        </p:txBody>
      </p:sp>
      <p:sp>
        <p:nvSpPr>
          <p:cNvPr id="33" name="TextBox 32"/>
          <p:cNvSpPr txBox="1"/>
          <p:nvPr/>
        </p:nvSpPr>
        <p:spPr>
          <a:xfrm>
            <a:off x="4745736" y="3474720"/>
            <a:ext cx="1645920" cy="548640"/>
          </a:xfrm>
          <a:prstGeom prst="rect">
            <a:avLst/>
          </a:prstGeom>
          <a:noFill/>
        </p:spPr>
        <p:txBody>
          <a:bodyPr wrap="square" anchor="t" lIns="0" rIns="0" tIns="0" bIns="0">
            <a:spAutoFit/>
          </a:bodyPr>
          <a:lstStyle/>
          <a:p>
            <a:pPr algn="l">
              <a:spcAft>
                <a:spcPts val="0"/>
              </a:spcAft>
            </a:pPr>
            <a:r>
              <a:rPr sz="1050" b="0" i="0">
                <a:solidFill>
                  <a:srgbClr val="353B4A"/>
                </a:solidFill>
                <a:latin typeface="Inter"/>
              </a:rPr>
              <a:t>Edit a block in Atlas; chain breaks</a:t>
            </a:r>
          </a:p>
        </p:txBody>
      </p:sp>
      <p:sp>
        <p:nvSpPr>
          <p:cNvPr id="34" name="Rounded Rectangle 33"/>
          <p:cNvSpPr/>
          <p:nvPr/>
        </p:nvSpPr>
        <p:spPr>
          <a:xfrm>
            <a:off x="6675120" y="2697480"/>
            <a:ext cx="1920240" cy="137160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12280" y="2788920"/>
            <a:ext cx="1691640" cy="1234440"/>
          </a:xfrm>
          <a:prstGeom prst="rect">
            <a:avLst/>
          </a:prstGeom>
          <a:noFill/>
        </p:spPr>
        <p:txBody>
          <a:bodyPr wrap="square" anchor="t" lIns="0" rIns="0" tIns="0" bIns="0">
            <a:spAutoFit/>
          </a:bodyPr>
          <a:lstStyle/>
          <a:p>
            <a:pPr algn="l">
              <a:spcAft>
                <a:spcPts val="300"/>
              </a:spcAft>
            </a:pPr>
            <a:r>
              <a:rPr sz="1100" b="1" i="0">
                <a:solidFill>
                  <a:srgbClr val="1B2A55"/>
                </a:solidFill>
                <a:latin typeface="Inter"/>
              </a:rPr>
              <a:t>Safety net</a:t>
            </a:r>
          </a:p>
          <a:p>
            <a:pPr algn="l">
              <a:spcAft>
                <a:spcPts val="300"/>
              </a:spcAft>
            </a:pPr>
            <a:r>
              <a:rPr sz="1000" b="0" i="0">
                <a:solidFill>
                  <a:srgbClr val="353B4A"/>
                </a:solidFill>
                <a:latin typeface="Inter"/>
              </a:rPr>
              <a:t>Every code also appears in the outbox, so a slow email cannot stall the demo.</a:t>
            </a:r>
          </a:p>
        </p:txBody>
      </p:sp>
      <p:sp>
        <p:nvSpPr>
          <p:cNvPr id="36" name="TextBox 35"/>
          <p:cNvSpPr txBox="1"/>
          <p:nvPr/>
        </p:nvSpPr>
        <p:spPr>
          <a:xfrm>
            <a:off x="457200" y="4389120"/>
            <a:ext cx="8229600" cy="365760"/>
          </a:xfrm>
          <a:prstGeom prst="rect">
            <a:avLst/>
          </a:prstGeom>
          <a:noFill/>
        </p:spPr>
        <p:txBody>
          <a:bodyPr wrap="square" anchor="t" lIns="0" rIns="0" tIns="0" bIns="0">
            <a:spAutoFit/>
          </a:bodyPr>
          <a:lstStyle/>
          <a:p>
            <a:pPr algn="l">
              <a:spcAft>
                <a:spcPts val="0"/>
              </a:spcAft>
            </a:pPr>
            <a:r>
              <a:rPr sz="1050" b="0" i="1">
                <a:solidFill>
                  <a:srgbClr val="666A78"/>
                </a:solidFill>
                <a:latin typeface="Inter"/>
              </a:rPr>
              <a:t>Separate copy: its own database, its own Atlas collection, port 8001; START_DEMO resets it in about 20 seconds.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HOW WE EVALUATED</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47 executable scenarios, old design versus final</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20</a:t>
            </a:r>
          </a:p>
        </p:txBody>
      </p:sp>
      <p:sp>
        <p:nvSpPr>
          <p:cNvPr id="6" name="Rounded Rectangle 5"/>
          <p:cNvSpPr/>
          <p:nvPr/>
        </p:nvSpPr>
        <p:spPr>
          <a:xfrm>
            <a:off x="457200"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7</a:t>
            </a:r>
          </a:p>
        </p:txBody>
      </p:sp>
      <p:sp>
        <p:nvSpPr>
          <p:cNvPr id="8" name="TextBox 7"/>
          <p:cNvSpPr txBox="1"/>
          <p:nvPr/>
        </p:nvSpPr>
        <p:spPr>
          <a:xfrm>
            <a:off x="548640"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DB prevention</a:t>
            </a:r>
          </a:p>
        </p:txBody>
      </p:sp>
      <p:sp>
        <p:nvSpPr>
          <p:cNvPr id="9" name="TextBox 8"/>
          <p:cNvSpPr txBox="1"/>
          <p:nvPr/>
        </p:nvSpPr>
        <p:spPr>
          <a:xfrm>
            <a:off x="548640"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Statements the schema should reject</a:t>
            </a:r>
          </a:p>
        </p:txBody>
      </p:sp>
      <p:sp>
        <p:nvSpPr>
          <p:cNvPr id="10" name="Rounded Rectangle 9"/>
          <p:cNvSpPr/>
          <p:nvPr/>
        </p:nvSpPr>
        <p:spPr>
          <a:xfrm>
            <a:off x="2121408"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12848"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13</a:t>
            </a:r>
          </a:p>
        </p:txBody>
      </p:sp>
      <p:sp>
        <p:nvSpPr>
          <p:cNvPr id="12" name="TextBox 11"/>
          <p:cNvSpPr txBox="1"/>
          <p:nvPr/>
        </p:nvSpPr>
        <p:spPr>
          <a:xfrm>
            <a:off x="2212848"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API abuse</a:t>
            </a:r>
          </a:p>
        </p:txBody>
      </p:sp>
      <p:sp>
        <p:nvSpPr>
          <p:cNvPr id="13" name="TextBox 12"/>
          <p:cNvSpPr txBox="1"/>
          <p:nvPr/>
        </p:nvSpPr>
        <p:spPr>
          <a:xfrm>
            <a:off x="2212848"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Wrong password, injection, replay, races</a:t>
            </a:r>
          </a:p>
        </p:txBody>
      </p:sp>
      <p:sp>
        <p:nvSpPr>
          <p:cNvPr id="14" name="Rounded Rectangle 13"/>
          <p:cNvSpPr/>
          <p:nvPr/>
        </p:nvSpPr>
        <p:spPr>
          <a:xfrm>
            <a:off x="3785616"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77056"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13</a:t>
            </a:r>
          </a:p>
        </p:txBody>
      </p:sp>
      <p:sp>
        <p:nvSpPr>
          <p:cNvPr id="16" name="TextBox 15"/>
          <p:cNvSpPr txBox="1"/>
          <p:nvPr/>
        </p:nvSpPr>
        <p:spPr>
          <a:xfrm>
            <a:off x="3877056"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Tampering</a:t>
            </a:r>
          </a:p>
        </p:txBody>
      </p:sp>
      <p:sp>
        <p:nvSpPr>
          <p:cNvPr id="17" name="TextBox 16"/>
          <p:cNvSpPr txBox="1"/>
          <p:nvPr/>
        </p:nvSpPr>
        <p:spPr>
          <a:xfrm>
            <a:off x="3877056"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Edits by someone with storage access</a:t>
            </a:r>
          </a:p>
        </p:txBody>
      </p:sp>
      <p:sp>
        <p:nvSpPr>
          <p:cNvPr id="18" name="Rounded Rectangle 17"/>
          <p:cNvSpPr/>
          <p:nvPr/>
        </p:nvSpPr>
        <p:spPr>
          <a:xfrm>
            <a:off x="5449824"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1264"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14</a:t>
            </a:r>
          </a:p>
        </p:txBody>
      </p:sp>
      <p:sp>
        <p:nvSpPr>
          <p:cNvPr id="20" name="TextBox 19"/>
          <p:cNvSpPr txBox="1"/>
          <p:nvPr/>
        </p:nvSpPr>
        <p:spPr>
          <a:xfrm>
            <a:off x="5541264"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One-time code</a:t>
            </a:r>
          </a:p>
        </p:txBody>
      </p:sp>
      <p:sp>
        <p:nvSpPr>
          <p:cNvPr id="21" name="TextBox 20"/>
          <p:cNvSpPr txBox="1"/>
          <p:nvPr/>
        </p:nvSpPr>
        <p:spPr>
          <a:xfrm>
            <a:off x="5541264"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Replay, expiry, limits, failure</a:t>
            </a:r>
          </a:p>
        </p:txBody>
      </p:sp>
      <p:sp>
        <p:nvSpPr>
          <p:cNvPr id="22" name="Rounded Rectangle 21"/>
          <p:cNvSpPr/>
          <p:nvPr/>
        </p:nvSpPr>
        <p:spPr>
          <a:xfrm>
            <a:off x="7114032" y="1143000"/>
            <a:ext cx="1536192" cy="173736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5472" y="1234440"/>
            <a:ext cx="1371600" cy="548640"/>
          </a:xfrm>
          <a:prstGeom prst="rect">
            <a:avLst/>
          </a:prstGeom>
          <a:noFill/>
        </p:spPr>
        <p:txBody>
          <a:bodyPr wrap="square" anchor="t" lIns="0" rIns="0" tIns="0" bIns="0">
            <a:spAutoFit/>
          </a:bodyPr>
          <a:lstStyle/>
          <a:p>
            <a:pPr algn="l">
              <a:spcAft>
                <a:spcPts val="0"/>
              </a:spcAft>
            </a:pPr>
            <a:r>
              <a:rPr sz="3000" b="1" i="0">
                <a:solidFill>
                  <a:srgbClr val="1B2A55"/>
                </a:solidFill>
                <a:latin typeface="Inter"/>
              </a:rPr>
              <a:t>3</a:t>
            </a:r>
          </a:p>
        </p:txBody>
      </p:sp>
      <p:sp>
        <p:nvSpPr>
          <p:cNvPr id="24" name="TextBox 23"/>
          <p:cNvSpPr txBox="1"/>
          <p:nvPr/>
        </p:nvSpPr>
        <p:spPr>
          <a:xfrm>
            <a:off x="7205472" y="1810512"/>
            <a:ext cx="1371600" cy="27432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Benchmark sizes</a:t>
            </a:r>
          </a:p>
        </p:txBody>
      </p:sp>
      <p:sp>
        <p:nvSpPr>
          <p:cNvPr id="25" name="TextBox 24"/>
          <p:cNvSpPr txBox="1"/>
          <p:nvPr/>
        </p:nvSpPr>
        <p:spPr>
          <a:xfrm>
            <a:off x="7205472" y="2103120"/>
            <a:ext cx="1371600" cy="731520"/>
          </a:xfrm>
          <a:prstGeom prst="rect">
            <a:avLst/>
          </a:prstGeom>
          <a:noFill/>
        </p:spPr>
        <p:txBody>
          <a:bodyPr wrap="square" anchor="t" lIns="0" rIns="0" tIns="0" bIns="0">
            <a:spAutoFit/>
          </a:bodyPr>
          <a:lstStyle/>
          <a:p>
            <a:pPr algn="l">
              <a:spcAft>
                <a:spcPts val="0"/>
              </a:spcAft>
            </a:pPr>
            <a:r>
              <a:rPr sz="950" b="0" i="0">
                <a:solidFill>
                  <a:srgbClr val="353B4A"/>
                </a:solidFill>
                <a:latin typeface="Inter"/>
              </a:rPr>
              <a:t>100, 1,000, 10,000 ballots</a:t>
            </a:r>
          </a:p>
        </p:txBody>
      </p:sp>
      <p:sp>
        <p:nvSpPr>
          <p:cNvPr id="26" name="TextBox 25"/>
          <p:cNvSpPr txBox="1"/>
          <p:nvPr/>
        </p:nvSpPr>
        <p:spPr>
          <a:xfrm>
            <a:off x="457200" y="3108960"/>
            <a:ext cx="8229600" cy="1645920"/>
          </a:xfrm>
          <a:prstGeom prst="rect">
            <a:avLst/>
          </a:prstGeom>
          <a:noFill/>
        </p:spPr>
        <p:txBody>
          <a:bodyPr wrap="square" anchor="t" lIns="0" rIns="0" tIns="0" bIns="0">
            <a:spAutoFit/>
          </a:bodyPr>
          <a:lstStyle/>
          <a:p>
            <a:pPr algn="l">
              <a:spcAft>
                <a:spcPts val="500"/>
              </a:spcAft>
            </a:pPr>
            <a:r>
              <a:rPr sz="1150" b="1" i="0">
                <a:solidFill>
                  <a:srgbClr val="1B2A55"/>
                </a:solidFill>
                <a:latin typeface="Inter"/>
              </a:rPr>
              <a:t>•  </a:t>
            </a:r>
            <a:r>
              <a:rPr sz="1150" b="0" i="0">
                <a:solidFill>
                  <a:srgbClr val="353B4A"/>
                </a:solidFill>
                <a:latin typeface="Inter"/>
              </a:rPr>
              <a:t>A throwaway copy of the app is driven through the real API; a "rogue administrator" edits the database and ledger files directly.</a:t>
            </a:r>
          </a:p>
          <a:p>
            <a:pPr algn="l">
              <a:spcAft>
                <a:spcPts val="500"/>
              </a:spcAft>
            </a:pPr>
            <a:r>
              <a:rPr sz="1150" b="1" i="0">
                <a:solidFill>
                  <a:srgbClr val="1B2A55"/>
                </a:solidFill>
                <a:latin typeface="Inter"/>
              </a:rPr>
              <a:t>•  </a:t>
            </a:r>
            <a:r>
              <a:rPr sz="1150" b="0" i="0">
                <a:solidFill>
                  <a:srgbClr val="353B4A"/>
                </a:solidFill>
                <a:latin typeface="Inter"/>
              </a:rPr>
              <a:t>Baseline: the Review 2 design, checked out and run unchanged. Attacker scripts never receive the ledger key.</a:t>
            </a:r>
          </a:p>
          <a:p>
            <a:pPr algn="l">
              <a:spcAft>
                <a:spcPts val="500"/>
              </a:spcAft>
            </a:pPr>
            <a:r>
              <a:rPr sz="1150" b="1" i="0">
                <a:solidFill>
                  <a:srgbClr val="1B2A55"/>
                </a:solidFill>
                <a:latin typeface="Inter"/>
              </a:rPr>
              <a:t>•  </a:t>
            </a:r>
            <a:r>
              <a:rPr sz="1150" b="0" i="0">
                <a:solidFill>
                  <a:srgbClr val="353B4A"/>
                </a:solidFill>
                <a:latin typeface="Inter"/>
              </a:rPr>
              <a:t>Outcome per attack: detected by the sweep or chain, visible only in counters, or not detected. Benchmarks are medians of three runs.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PREVENTION RESULTS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Prevention results: one gap taught us something</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21</a:t>
            </a:r>
          </a:p>
        </p:txBody>
      </p:sp>
      <p:graphicFrame>
        <p:nvGraphicFramePr>
          <p:cNvPr id="6" name="Table 5"/>
          <p:cNvGraphicFramePr>
            <a:graphicFrameLocks noGrp="1"/>
          </p:cNvGraphicFramePr>
          <p:nvPr/>
        </p:nvGraphicFramePr>
        <p:xfrm>
          <a:off x="457200" y="1097280"/>
          <a:ext cx="8229599" cy="2734056"/>
        </p:xfrm>
        <a:graphic>
          <a:graphicData uri="http://schemas.openxmlformats.org/drawingml/2006/table">
            <a:tbl>
              <a:tblPr firstRow="1" bandRow="1">
                <a:tableStyleId>{5C22544A-7EE6-4342-B048-85BDC9FD1C3A}</a:tableStyleId>
              </a:tblPr>
              <a:tblGrid>
                <a:gridCol w="4206240"/>
                <a:gridCol w="2377440"/>
                <a:gridCol w="1645919"/>
              </a:tblGrid>
              <a:tr h="365760">
                <a:tc>
                  <a:txBody>
                    <a:bodyPr wrap="square"/>
                    <a:lstStyle/>
                    <a:p>
                      <a:r>
                        <a:rPr sz="1000" b="1" i="0">
                          <a:solidFill>
                            <a:srgbClr val="FFFFFF"/>
                          </a:solidFill>
                          <a:latin typeface="Inter"/>
                        </a:rPr>
                        <a:t>Attempt</a:t>
                      </a:r>
                    </a:p>
                  </a:txBody>
                  <a:tcPr marL="73152" marR="73152" marT="36576" marB="36576" anchor="ctr">
                    <a:solidFill>
                      <a:srgbClr val="1B2A55"/>
                    </a:solidFill>
                  </a:tcPr>
                </a:tc>
                <a:tc>
                  <a:txBody>
                    <a:bodyPr wrap="square"/>
                    <a:lstStyle/>
                    <a:p>
                      <a:r>
                        <a:rPr sz="1000" b="1" i="0">
                          <a:solidFill>
                            <a:srgbClr val="FFFFFF"/>
                          </a:solidFill>
                          <a:latin typeface="Inter"/>
                        </a:rPr>
                        <a:t>Stopped by</a:t>
                      </a:r>
                    </a:p>
                  </a:txBody>
                  <a:tcPr marL="73152" marR="73152" marT="36576" marB="36576" anchor="ctr">
                    <a:solidFill>
                      <a:srgbClr val="1B2A55"/>
                    </a:solidFill>
                  </a:tcPr>
                </a:tc>
                <a:tc>
                  <a:txBody>
                    <a:bodyPr wrap="square"/>
                    <a:lstStyle/>
                    <a:p>
                      <a:r>
                        <a:rPr sz="1000" b="1" i="0">
                          <a:solidFill>
                            <a:srgbClr val="FFFFFF"/>
                          </a:solidFill>
                          <a:latin typeface="Inter"/>
                        </a:rPr>
                        <a:t>Result</a:t>
                      </a:r>
                    </a:p>
                  </a:txBody>
                  <a:tcPr marL="73152" marR="73152" marT="36576" marB="36576" anchor="ctr">
                    <a:solidFill>
                      <a:srgbClr val="1B2A55"/>
                    </a:solidFill>
                  </a:tcPr>
                </a:tc>
              </a:tr>
              <a:tr h="338328">
                <a:tc>
                  <a:txBody>
                    <a:bodyPr wrap="square"/>
                    <a:lstStyle/>
                    <a:p>
                      <a:r>
                        <a:rPr sz="1050" b="1" i="0">
                          <a:solidFill>
                            <a:srgbClr val="1B2A55"/>
                          </a:solidFill>
                          <a:latin typeface="Inter"/>
                        </a:rPr>
                        <a:t>Second vote by the same voter</a:t>
                      </a:r>
                    </a:p>
                  </a:txBody>
                  <a:tcPr marL="73152" marR="73152" marT="36576" marB="36576" anchor="ctr">
                    <a:solidFill>
                      <a:srgbClr val="FFFFFF"/>
                    </a:solidFill>
                  </a:tcPr>
                </a:tc>
                <a:tc>
                  <a:txBody>
                    <a:bodyPr wrap="square"/>
                    <a:lstStyle/>
                    <a:p>
                      <a:r>
                        <a:rPr sz="1050" b="0" i="0">
                          <a:solidFill>
                            <a:srgbClr val="353B4A"/>
                          </a:solidFill>
                          <a:latin typeface="Inter"/>
                        </a:rPr>
                        <a:t>Trigger</a:t>
                      </a:r>
                    </a:p>
                  </a:txBody>
                  <a:tcPr marL="73152" marR="73152" marT="36576" marB="36576" anchor="ctr">
                    <a:solidFill>
                      <a:srgbClr val="FFFFFF"/>
                    </a:solidFill>
                  </a:tcPr>
                </a:tc>
                <a:tc>
                  <a:txBody>
                    <a:bodyPr wrap="square"/>
                    <a:lstStyle/>
                    <a:p>
                      <a:r>
                        <a:rPr sz="1050" b="0" i="0">
                          <a:solidFill>
                            <a:srgbClr val="353B4A"/>
                          </a:solidFill>
                          <a:latin typeface="Inter"/>
                        </a:rPr>
                        <a:t>Prevented</a:t>
                      </a:r>
                    </a:p>
                  </a:txBody>
                  <a:tcPr marL="73152" marR="73152" marT="36576" marB="36576" anchor="ctr">
                    <a:solidFill>
                      <a:srgbClr val="FFFFFF"/>
                    </a:solidFill>
                  </a:tcPr>
                </a:tc>
              </a:tr>
              <a:tr h="338328">
                <a:tc>
                  <a:txBody>
                    <a:bodyPr wrap="square"/>
                    <a:lstStyle/>
                    <a:p>
                      <a:r>
                        <a:rPr sz="1050" b="1" i="0">
                          <a:solidFill>
                            <a:srgbClr val="1B2A55"/>
                          </a:solidFill>
                          <a:latin typeface="Inter"/>
                        </a:rPr>
                        <a:t>Rank 4 on a 1–3 ballot</a:t>
                      </a:r>
                    </a:p>
                  </a:txBody>
                  <a:tcPr marL="73152" marR="73152" marT="36576" marB="36576" anchor="ctr">
                    <a:solidFill>
                      <a:srgbClr val="F1F0F6"/>
                    </a:solidFill>
                  </a:tcPr>
                </a:tc>
                <a:tc>
                  <a:txBody>
                    <a:bodyPr wrap="square"/>
                    <a:lstStyle/>
                    <a:p>
                      <a:r>
                        <a:rPr sz="1050" b="0" i="0">
                          <a:solidFill>
                            <a:srgbClr val="353B4A"/>
                          </a:solidFill>
                          <a:latin typeface="Inter"/>
                        </a:rPr>
                        <a:t>CHECK</a:t>
                      </a:r>
                    </a:p>
                  </a:txBody>
                  <a:tcPr marL="73152" marR="73152" marT="36576" marB="36576" anchor="ctr">
                    <a:solidFill>
                      <a:srgbClr val="F1F0F6"/>
                    </a:solidFill>
                  </a:tcPr>
                </a:tc>
                <a:tc>
                  <a:txBody>
                    <a:bodyPr wrap="square"/>
                    <a:lstStyle/>
                    <a:p>
                      <a:r>
                        <a:rPr sz="1050" b="0" i="0">
                          <a:solidFill>
                            <a:srgbClr val="353B4A"/>
                          </a:solidFill>
                          <a:latin typeface="Inter"/>
                        </a:rPr>
                        <a:t>Prevented</a:t>
                      </a:r>
                    </a:p>
                  </a:txBody>
                  <a:tcPr marL="73152" marR="73152" marT="36576" marB="36576" anchor="ctr">
                    <a:solidFill>
                      <a:srgbClr val="F1F0F6"/>
                    </a:solidFill>
                  </a:tcPr>
                </a:tc>
              </a:tr>
              <a:tr h="338328">
                <a:tc>
                  <a:txBody>
                    <a:bodyPr wrap="square"/>
                    <a:lstStyle/>
                    <a:p>
                      <a:r>
                        <a:rPr sz="1050" b="1" i="0">
                          <a:solidFill>
                            <a:srgbClr val="1B2A55"/>
                          </a:solidFill>
                          <a:latin typeface="Inter"/>
                        </a:rPr>
                        <a:t>Same candidate ranked twice</a:t>
                      </a:r>
                    </a:p>
                  </a:txBody>
                  <a:tcPr marL="73152" marR="73152" marT="36576" marB="36576" anchor="ctr">
                    <a:solidFill>
                      <a:srgbClr val="FFFFFF"/>
                    </a:solidFill>
                  </a:tcPr>
                </a:tc>
                <a:tc>
                  <a:txBody>
                    <a:bodyPr wrap="square"/>
                    <a:lstStyle/>
                    <a:p>
                      <a:r>
                        <a:rPr sz="1050" b="0" i="0">
                          <a:solidFill>
                            <a:srgbClr val="353B4A"/>
                          </a:solidFill>
                          <a:latin typeface="Inter"/>
                        </a:rPr>
                        <a:t>Composite key</a:t>
                      </a:r>
                    </a:p>
                  </a:txBody>
                  <a:tcPr marL="73152" marR="73152" marT="36576" marB="36576" anchor="ctr">
                    <a:solidFill>
                      <a:srgbClr val="FFFFFF"/>
                    </a:solidFill>
                  </a:tcPr>
                </a:tc>
                <a:tc>
                  <a:txBody>
                    <a:bodyPr wrap="square"/>
                    <a:lstStyle/>
                    <a:p>
                      <a:r>
                        <a:rPr sz="1050" b="0" i="0">
                          <a:solidFill>
                            <a:srgbClr val="353B4A"/>
                          </a:solidFill>
                          <a:latin typeface="Inter"/>
                        </a:rPr>
                        <a:t>Prevented</a:t>
                      </a:r>
                    </a:p>
                  </a:txBody>
                  <a:tcPr marL="73152" marR="73152" marT="36576" marB="36576" anchor="ctr">
                    <a:solidFill>
                      <a:srgbClr val="FFFFFF"/>
                    </a:solidFill>
                  </a:tcPr>
                </a:tc>
              </a:tr>
              <a:tr h="338328">
                <a:tc>
                  <a:txBody>
                    <a:bodyPr wrap="square"/>
                    <a:lstStyle/>
                    <a:p>
                      <a:r>
                        <a:rPr sz="1050" b="1" i="0">
                          <a:solidFill>
                            <a:srgbClr val="1B2A55"/>
                          </a:solidFill>
                          <a:latin typeface="Inter"/>
                        </a:rPr>
                        <a:t>Duplicate roster entry</a:t>
                      </a:r>
                    </a:p>
                  </a:txBody>
                  <a:tcPr marL="73152" marR="73152" marT="36576" marB="36576" anchor="ctr">
                    <a:solidFill>
                      <a:srgbClr val="F1F0F6"/>
                    </a:solidFill>
                  </a:tcPr>
                </a:tc>
                <a:tc>
                  <a:txBody>
                    <a:bodyPr wrap="square"/>
                    <a:lstStyle/>
                    <a:p>
                      <a:r>
                        <a:rPr sz="1050" b="0" i="0">
                          <a:solidFill>
                            <a:srgbClr val="353B4A"/>
                          </a:solidFill>
                          <a:latin typeface="Inter"/>
                        </a:rPr>
                        <a:t>UNIQUE</a:t>
                      </a:r>
                    </a:p>
                  </a:txBody>
                  <a:tcPr marL="73152" marR="73152" marT="36576" marB="36576" anchor="ctr">
                    <a:solidFill>
                      <a:srgbClr val="F1F0F6"/>
                    </a:solidFill>
                  </a:tcPr>
                </a:tc>
                <a:tc>
                  <a:txBody>
                    <a:bodyPr wrap="square"/>
                    <a:lstStyle/>
                    <a:p>
                      <a:r>
                        <a:rPr sz="1050" b="0" i="0">
                          <a:solidFill>
                            <a:srgbClr val="353B4A"/>
                          </a:solidFill>
                          <a:latin typeface="Inter"/>
                        </a:rPr>
                        <a:t>Prevented</a:t>
                      </a:r>
                    </a:p>
                  </a:txBody>
                  <a:tcPr marL="73152" marR="73152" marT="36576" marB="36576" anchor="ctr">
                    <a:solidFill>
                      <a:srgbClr val="F1F0F6"/>
                    </a:solidFill>
                  </a:tcPr>
                </a:tc>
              </a:tr>
              <a:tr h="338328">
                <a:tc>
                  <a:txBody>
                    <a:bodyPr wrap="square"/>
                    <a:lstStyle/>
                    <a:p>
                      <a:r>
                        <a:rPr sz="1050" b="1" i="0">
                          <a:solidFill>
                            <a:srgbClr val="1B2A55"/>
                          </a:solidFill>
                          <a:latin typeface="Inter"/>
                        </a:rPr>
                        <a:t>Wrong password, SQL injection, replayed session</a:t>
                      </a:r>
                    </a:p>
                  </a:txBody>
                  <a:tcPr marL="73152" marR="73152" marT="36576" marB="36576" anchor="ctr">
                    <a:solidFill>
                      <a:srgbClr val="FFFFFF"/>
                    </a:solidFill>
                  </a:tcPr>
                </a:tc>
                <a:tc>
                  <a:txBody>
                    <a:bodyPr wrap="square"/>
                    <a:lstStyle/>
                    <a:p>
                      <a:r>
                        <a:rPr sz="1050" b="0" i="0">
                          <a:solidFill>
                            <a:srgbClr val="353B4A"/>
                          </a:solidFill>
                          <a:latin typeface="Inter"/>
                        </a:rPr>
                        <a:t>API</a:t>
                      </a:r>
                    </a:p>
                  </a:txBody>
                  <a:tcPr marL="73152" marR="73152" marT="36576" marB="36576" anchor="ctr">
                    <a:solidFill>
                      <a:srgbClr val="FFFFFF"/>
                    </a:solidFill>
                  </a:tcPr>
                </a:tc>
                <a:tc>
                  <a:txBody>
                    <a:bodyPr wrap="square"/>
                    <a:lstStyle/>
                    <a:p>
                      <a:r>
                        <a:rPr sz="1050" b="0" i="0">
                          <a:solidFill>
                            <a:srgbClr val="353B4A"/>
                          </a:solidFill>
                          <a:latin typeface="Inter"/>
                        </a:rPr>
                        <a:t>Prevented</a:t>
                      </a:r>
                    </a:p>
                  </a:txBody>
                  <a:tcPr marL="73152" marR="73152" marT="36576" marB="36576" anchor="ctr">
                    <a:solidFill>
                      <a:srgbClr val="FFFFFF"/>
                    </a:solidFill>
                  </a:tcPr>
                </a:tc>
              </a:tr>
              <a:tr h="338328">
                <a:tc>
                  <a:txBody>
                    <a:bodyPr wrap="square"/>
                    <a:lstStyle/>
                    <a:p>
                      <a:r>
                        <a:rPr sz="1050" b="1" i="0">
                          <a:solidFill>
                            <a:srgbClr val="1B2A55"/>
                          </a:solidFill>
                          <a:latin typeface="Inter"/>
                        </a:rPr>
                        <a:t>20 simultaneous casts by one voter</a:t>
                      </a:r>
                    </a:p>
                  </a:txBody>
                  <a:tcPr marL="73152" marR="73152" marT="36576" marB="36576" anchor="ctr">
                    <a:solidFill>
                      <a:srgbClr val="F1F0F6"/>
                    </a:solidFill>
                  </a:tcPr>
                </a:tc>
                <a:tc>
                  <a:txBody>
                    <a:bodyPr wrap="square"/>
                    <a:lstStyle/>
                    <a:p>
                      <a:r>
                        <a:rPr sz="1050" b="0" i="0">
                          <a:solidFill>
                            <a:srgbClr val="353B4A"/>
                          </a:solidFill>
                          <a:latin typeface="Inter"/>
                        </a:rPr>
                        <a:t>Lock + transaction</a:t>
                      </a:r>
                    </a:p>
                  </a:txBody>
                  <a:tcPr marL="73152" marR="73152" marT="36576" marB="36576" anchor="ctr">
                    <a:solidFill>
                      <a:srgbClr val="F1F0F6"/>
                    </a:solidFill>
                  </a:tcPr>
                </a:tc>
                <a:tc>
                  <a:txBody>
                    <a:bodyPr wrap="square"/>
                    <a:lstStyle/>
                    <a:p>
                      <a:r>
                        <a:rPr sz="1050" b="0" i="0">
                          <a:solidFill>
                            <a:srgbClr val="353B4A"/>
                          </a:solidFill>
                          <a:latin typeface="Inter"/>
                        </a:rPr>
                        <a:t>Exactly one accepted</a:t>
                      </a:r>
                    </a:p>
                  </a:txBody>
                  <a:tcPr marL="73152" marR="73152" marT="36576" marB="36576" anchor="ctr">
                    <a:solidFill>
                      <a:srgbClr val="F1F0F6"/>
                    </a:solidFill>
                  </a:tcPr>
                </a:tc>
              </a:tr>
              <a:tr h="338328">
                <a:tc>
                  <a:txBody>
                    <a:bodyPr wrap="square"/>
                    <a:lstStyle/>
                    <a:p>
                      <a:r>
                        <a:rPr sz="1050" b="1" i="0">
                          <a:solidFill>
                            <a:srgbClr val="1B2A55"/>
                          </a:solidFill>
                          <a:latin typeface="Inter"/>
                        </a:rPr>
                        <a:t>Nonexistent candidate from a default console</a:t>
                      </a:r>
                    </a:p>
                  </a:txBody>
                  <a:tcPr marL="73152" marR="73152" marT="36576" marB="36576" anchor="ctr">
                    <a:solidFill>
                      <a:srgbClr val="FFFFFF"/>
                    </a:solidFill>
                  </a:tcPr>
                </a:tc>
                <a:tc>
                  <a:txBody>
                    <a:bodyPr wrap="square"/>
                    <a:lstStyle/>
                    <a:p>
                      <a:r>
                        <a:rPr sz="1050" b="0" i="0">
                          <a:solidFill>
                            <a:srgbClr val="353B4A"/>
                          </a:solidFill>
                          <a:latin typeface="Inter"/>
                        </a:rPr>
                        <a:t>FK (off by default in SQLite)</a:t>
                      </a:r>
                    </a:p>
                  </a:txBody>
                  <a:tcPr marL="73152" marR="73152" marT="36576" marB="36576" anchor="ctr">
                    <a:solidFill>
                      <a:srgbClr val="FFFFFF"/>
                    </a:solidFill>
                  </a:tcPr>
                </a:tc>
                <a:tc>
                  <a:txBody>
                    <a:bodyPr wrap="square"/>
                    <a:lstStyle/>
                    <a:p>
                      <a:r>
                        <a:rPr sz="1050" b="0" i="0">
                          <a:solidFill>
                            <a:srgbClr val="353B4A"/>
                          </a:solidFill>
                          <a:latin typeface="Inter"/>
                        </a:rPr>
                        <a:t>Not prevented</a:t>
                      </a:r>
                    </a:p>
                  </a:txBody>
                  <a:tcPr marL="73152" marR="73152" marT="36576" marB="36576" anchor="ctr">
                    <a:solidFill>
                      <a:srgbClr val="FFFFFF"/>
                    </a:solidFill>
                  </a:tcPr>
                </a:tc>
              </a:tr>
            </a:tbl>
          </a:graphicData>
        </a:graphic>
      </p:graphicFrame>
      <p:sp>
        <p:nvSpPr>
          <p:cNvPr id="7" name="TextBox 6"/>
          <p:cNvSpPr txBox="1"/>
          <p:nvPr/>
        </p:nvSpPr>
        <p:spPr>
          <a:xfrm>
            <a:off x="457200" y="4160520"/>
            <a:ext cx="8229600" cy="640080"/>
          </a:xfrm>
          <a:prstGeom prst="rect">
            <a:avLst/>
          </a:prstGeom>
          <a:noFill/>
        </p:spPr>
        <p:txBody>
          <a:bodyPr wrap="square" anchor="t" lIns="0" rIns="0" tIns="0" bIns="0">
            <a:spAutoFit/>
          </a:bodyPr>
          <a:lstStyle/>
          <a:p>
            <a:pPr algn="l">
              <a:spcAft>
                <a:spcPts val="0"/>
              </a:spcAft>
            </a:pPr>
            <a:r>
              <a:rPr sz="1100" b="1" i="0">
                <a:solidFill>
                  <a:srgbClr val="C0392B"/>
                </a:solidFill>
                <a:latin typeface="Inter"/>
              </a:rPr>
              <a:t>The gap: </a:t>
            </a:r>
            <a:r>
              <a:rPr sz="1100" b="0" i="0">
                <a:solidFill>
                  <a:srgbClr val="353B4A"/>
                </a:solidFill>
                <a:latin typeface="Inter"/>
              </a:rPr>
              <a:t>SQLite enforces foreign keys only on connections that enable it. The application does; a console with default settings does not. A server database removes this, which is part of the Oracle move.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TAMPERING RESULTS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Automatic detection rises from 6 of 13 to 12 of 13</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22</a:t>
            </a:r>
          </a:p>
        </p:txBody>
      </p:sp>
      <p:pic>
        <p:nvPicPr>
          <p:cNvPr id="6" name="Picture 5" descr="detection.png"/>
          <p:cNvPicPr>
            <a:picLocks noChangeAspect="1"/>
          </p:cNvPicPr>
          <p:nvPr/>
        </p:nvPicPr>
        <p:blipFill>
          <a:blip r:embed="rId2"/>
          <a:stretch>
            <a:fillRect/>
          </a:stretch>
        </p:blipFill>
        <p:spPr>
          <a:xfrm>
            <a:off x="1470073" y="1097280"/>
            <a:ext cx="6203852" cy="2240280"/>
          </a:xfrm>
          <a:prstGeom prst="rect">
            <a:avLst/>
          </a:prstGeom>
        </p:spPr>
      </p:pic>
      <p:sp>
        <p:nvSpPr>
          <p:cNvPr id="7" name="Rounded Rectangle 6"/>
          <p:cNvSpPr/>
          <p:nvPr/>
        </p:nvSpPr>
        <p:spPr>
          <a:xfrm>
            <a:off x="457200"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566160"/>
            <a:ext cx="1188720" cy="731520"/>
          </a:xfrm>
          <a:prstGeom prst="rect">
            <a:avLst/>
          </a:prstGeom>
          <a:noFill/>
        </p:spPr>
        <p:txBody>
          <a:bodyPr wrap="square" anchor="ctr" lIns="0" rIns="0" tIns="0" bIns="0">
            <a:spAutoFit/>
          </a:bodyPr>
          <a:lstStyle/>
          <a:p>
            <a:pPr algn="l">
              <a:spcAft>
                <a:spcPts val="0"/>
              </a:spcAft>
            </a:pPr>
            <a:r>
              <a:rPr sz="2800" b="1" i="0">
                <a:solidFill>
                  <a:srgbClr val="C0392B"/>
                </a:solidFill>
                <a:latin typeface="Inter"/>
              </a:rPr>
              <a:t>6/13</a:t>
            </a:r>
          </a:p>
        </p:txBody>
      </p:sp>
      <p:sp>
        <p:nvSpPr>
          <p:cNvPr id="9" name="TextBox 8"/>
          <p:cNvSpPr txBox="1"/>
          <p:nvPr/>
        </p:nvSpPr>
        <p:spPr>
          <a:xfrm>
            <a:off x="1828800" y="3611880"/>
            <a:ext cx="114300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Review 2 design: detected automatically</a:t>
            </a:r>
          </a:p>
        </p:txBody>
      </p:sp>
      <p:sp>
        <p:nvSpPr>
          <p:cNvPr id="10" name="Rounded Rectangle 9"/>
          <p:cNvSpPr/>
          <p:nvPr/>
        </p:nvSpPr>
        <p:spPr>
          <a:xfrm>
            <a:off x="3282696"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19856" y="3566160"/>
            <a:ext cx="1188720" cy="731520"/>
          </a:xfrm>
          <a:prstGeom prst="rect">
            <a:avLst/>
          </a:prstGeom>
          <a:noFill/>
        </p:spPr>
        <p:txBody>
          <a:bodyPr wrap="square" anchor="ctr" lIns="0" rIns="0" tIns="0" bIns="0">
            <a:spAutoFit/>
          </a:bodyPr>
          <a:lstStyle/>
          <a:p>
            <a:pPr algn="l">
              <a:spcAft>
                <a:spcPts val="0"/>
              </a:spcAft>
            </a:pPr>
            <a:r>
              <a:rPr sz="2800" b="1" i="0">
                <a:solidFill>
                  <a:srgbClr val="1A7F37"/>
                </a:solidFill>
                <a:latin typeface="Inter"/>
              </a:rPr>
              <a:t>12/13</a:t>
            </a:r>
          </a:p>
        </p:txBody>
      </p:sp>
      <p:sp>
        <p:nvSpPr>
          <p:cNvPr id="12" name="TextBox 11"/>
          <p:cNvSpPr txBox="1"/>
          <p:nvPr/>
        </p:nvSpPr>
        <p:spPr>
          <a:xfrm>
            <a:off x="4654296" y="3611880"/>
            <a:ext cx="114300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Final design: detected automatically</a:t>
            </a:r>
          </a:p>
        </p:txBody>
      </p:sp>
      <p:sp>
        <p:nvSpPr>
          <p:cNvPr id="13" name="Rounded Rectangle 12"/>
          <p:cNvSpPr/>
          <p:nvPr/>
        </p:nvSpPr>
        <p:spPr>
          <a:xfrm>
            <a:off x="6108192" y="3520440"/>
            <a:ext cx="2587752" cy="109728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3566160"/>
            <a:ext cx="1188720" cy="731520"/>
          </a:xfrm>
          <a:prstGeom prst="rect">
            <a:avLst/>
          </a:prstGeom>
          <a:noFill/>
        </p:spPr>
        <p:txBody>
          <a:bodyPr wrap="square" anchor="ctr" lIns="0" rIns="0" tIns="0" bIns="0">
            <a:spAutoFit/>
          </a:bodyPr>
          <a:lstStyle/>
          <a:p>
            <a:pPr algn="l">
              <a:spcAft>
                <a:spcPts val="0"/>
              </a:spcAft>
            </a:pPr>
            <a:r>
              <a:rPr sz="2800" b="1" i="0">
                <a:solidFill>
                  <a:srgbClr val="9A6700"/>
                </a:solidFill>
                <a:latin typeface="Inter"/>
              </a:rPr>
              <a:t>1</a:t>
            </a:r>
          </a:p>
        </p:txBody>
      </p:sp>
      <p:sp>
        <p:nvSpPr>
          <p:cNvPr id="15" name="TextBox 14"/>
          <p:cNvSpPr txBox="1"/>
          <p:nvPr/>
        </p:nvSpPr>
        <p:spPr>
          <a:xfrm>
            <a:off x="7479792" y="3611880"/>
            <a:ext cx="1143000" cy="914400"/>
          </a:xfrm>
          <a:prstGeom prst="rect">
            <a:avLst/>
          </a:prstGeom>
          <a:noFill/>
        </p:spPr>
        <p:txBody>
          <a:bodyPr wrap="square" anchor="ctr" lIns="0" rIns="0" tIns="0" bIns="0">
            <a:spAutoFit/>
          </a:bodyPr>
          <a:lstStyle/>
          <a:p>
            <a:pPr algn="l">
              <a:spcAft>
                <a:spcPts val="0"/>
              </a:spcAft>
            </a:pPr>
            <a:r>
              <a:rPr sz="1000" b="0" i="0">
                <a:solidFill>
                  <a:srgbClr val="353B4A"/>
                </a:solidFill>
                <a:latin typeface="Inter"/>
              </a:rPr>
              <a:t>Still undetected: roster injection (C13)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SWEEP IN ACTION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A deletion and an injection hide in the counts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23</a:t>
            </a:r>
          </a:p>
        </p:txBody>
      </p:sp>
      <p:pic>
        <p:nvPicPr>
          <p:cNvPr id="6" name="Picture 5" descr="admin_sweep_tamper.png"/>
          <p:cNvPicPr>
            <a:picLocks noChangeAspect="1"/>
          </p:cNvPicPr>
          <p:nvPr/>
        </p:nvPicPr>
        <p:blipFill>
          <a:blip r:embed="rId2"/>
          <a:stretch>
            <a:fillRect/>
          </a:stretch>
        </p:blipFill>
        <p:spPr>
          <a:xfrm>
            <a:off x="457200" y="1598056"/>
            <a:ext cx="5120640" cy="2290286"/>
          </a:xfrm>
          <a:prstGeom prst="rect">
            <a:avLst/>
          </a:prstGeom>
          <a:ln w="12700">
            <a:solidFill>
              <a:srgbClr val="D9D9E4"/>
            </a:solidFill>
          </a:ln>
        </p:spPr>
      </p:pic>
      <p:pic>
        <p:nvPicPr>
          <p:cNvPr id="7" name="Picture 6" descr="admin_ledger_tampered.png"/>
          <p:cNvPicPr>
            <a:picLocks noChangeAspect="1"/>
          </p:cNvPicPr>
          <p:nvPr/>
        </p:nvPicPr>
        <p:blipFill>
          <a:blip r:embed="rId3"/>
          <a:stretch>
            <a:fillRect/>
          </a:stretch>
        </p:blipFill>
        <p:spPr>
          <a:xfrm>
            <a:off x="5760720" y="1314450"/>
            <a:ext cx="2926080" cy="1485900"/>
          </a:xfrm>
          <a:prstGeom prst="rect">
            <a:avLst/>
          </a:prstGeom>
          <a:ln w="12700">
            <a:solidFill>
              <a:srgbClr val="D9D9E4"/>
            </a:solidFill>
          </a:ln>
        </p:spPr>
      </p:pic>
      <p:sp>
        <p:nvSpPr>
          <p:cNvPr id="8" name="TextBox 7"/>
          <p:cNvSpPr txBox="1"/>
          <p:nvPr/>
        </p:nvSpPr>
        <p:spPr>
          <a:xfrm>
            <a:off x="5760720" y="3108960"/>
            <a:ext cx="2926080" cy="173736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0" i="0">
                <a:solidFill>
                  <a:srgbClr val="353B4A"/>
                </a:solidFill>
                <a:latin typeface="Inter"/>
              </a:rPr>
              <a:t>Left: counters read 46 / 46 / 46, yet the sweep reports 1 deleted and 1 without a receipt.</a:t>
            </a:r>
          </a:p>
          <a:p>
            <a:pPr algn="l">
              <a:spcAft>
                <a:spcPts val="500"/>
              </a:spcAft>
            </a:pPr>
            <a:r>
              <a:rPr sz="1050" b="1" i="0">
                <a:solidFill>
                  <a:srgbClr val="1B2A55"/>
                </a:solidFill>
                <a:latin typeface="Inter"/>
              </a:rPr>
              <a:t>•  </a:t>
            </a:r>
            <a:r>
              <a:rPr sz="1050" b="0" i="0">
                <a:solidFill>
                  <a:srgbClr val="353B4A"/>
                </a:solidFill>
                <a:latin typeface="Inter"/>
              </a:rPr>
              <a:t>Above: one edited block breaks the chain.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WHY THE KEY MATTERS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Six scenarios the Review 2 design missed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24</a:t>
            </a:r>
          </a:p>
        </p:txBody>
      </p:sp>
      <p:graphicFrame>
        <p:nvGraphicFramePr>
          <p:cNvPr id="6" name="Table 5"/>
          <p:cNvGraphicFramePr>
            <a:graphicFrameLocks noGrp="1"/>
          </p:cNvGraphicFramePr>
          <p:nvPr/>
        </p:nvGraphicFramePr>
        <p:xfrm>
          <a:off x="457200" y="1097280"/>
          <a:ext cx="8229599" cy="2670048"/>
        </p:xfrm>
        <a:graphic>
          <a:graphicData uri="http://schemas.openxmlformats.org/drawingml/2006/table">
            <a:tbl>
              <a:tblPr firstRow="1" bandRow="1">
                <a:tableStyleId>{5C22544A-7EE6-4342-B048-85BDC9FD1C3A}</a:tableStyleId>
              </a:tblPr>
              <a:tblGrid>
                <a:gridCol w="548640"/>
                <a:gridCol w="3566160"/>
                <a:gridCol w="1280160"/>
                <a:gridCol w="1097280"/>
                <a:gridCol w="1737359"/>
              </a:tblGrid>
              <a:tr h="365760">
                <a:tc>
                  <a:txBody>
                    <a:bodyPr wrap="square"/>
                    <a:lstStyle/>
                    <a:p>
                      <a:r>
                        <a:rPr sz="1000" b="1" i="0">
                          <a:solidFill>
                            <a:srgbClr val="FFFFFF"/>
                          </a:solidFill>
                          <a:latin typeface="Inter"/>
                        </a:rPr>
                        <a:t>ID</a:t>
                      </a:r>
                    </a:p>
                  </a:txBody>
                  <a:tcPr marL="73152" marR="73152" marT="36576" marB="36576" anchor="ctr">
                    <a:solidFill>
                      <a:srgbClr val="1B2A55"/>
                    </a:solidFill>
                  </a:tcPr>
                </a:tc>
                <a:tc>
                  <a:txBody>
                    <a:bodyPr wrap="square"/>
                    <a:lstStyle/>
                    <a:p>
                      <a:r>
                        <a:rPr sz="1000" b="1" i="0">
                          <a:solidFill>
                            <a:srgbClr val="FFFFFF"/>
                          </a:solidFill>
                          <a:latin typeface="Inter"/>
                        </a:rPr>
                        <a:t>Scenario</a:t>
                      </a:r>
                    </a:p>
                  </a:txBody>
                  <a:tcPr marL="73152" marR="73152" marT="36576" marB="36576" anchor="ctr">
                    <a:solidFill>
                      <a:srgbClr val="1B2A55"/>
                    </a:solidFill>
                  </a:tcPr>
                </a:tc>
                <a:tc>
                  <a:txBody>
                    <a:bodyPr wrap="square"/>
                    <a:lstStyle/>
                    <a:p>
                      <a:r>
                        <a:rPr sz="1000" b="1" i="0">
                          <a:solidFill>
                            <a:srgbClr val="FFFFFF"/>
                          </a:solidFill>
                          <a:latin typeface="Inter"/>
                        </a:rPr>
                        <a:t>Review 2</a:t>
                      </a:r>
                    </a:p>
                  </a:txBody>
                  <a:tcPr marL="73152" marR="73152" marT="36576" marB="36576" anchor="ctr">
                    <a:solidFill>
                      <a:srgbClr val="1B2A55"/>
                    </a:solidFill>
                  </a:tcPr>
                </a:tc>
                <a:tc>
                  <a:txBody>
                    <a:bodyPr wrap="square"/>
                    <a:lstStyle/>
                    <a:p>
                      <a:r>
                        <a:rPr sz="1000" b="1" i="0">
                          <a:solidFill>
                            <a:srgbClr val="FFFFFF"/>
                          </a:solidFill>
                          <a:latin typeface="Inter"/>
                        </a:rPr>
                        <a:t>Final</a:t>
                      </a:r>
                    </a:p>
                  </a:txBody>
                  <a:tcPr marL="73152" marR="73152" marT="36576" marB="36576" anchor="ctr">
                    <a:solidFill>
                      <a:srgbClr val="1B2A55"/>
                    </a:solidFill>
                  </a:tcPr>
                </a:tc>
                <a:tc>
                  <a:txBody>
                    <a:bodyPr wrap="square"/>
                    <a:lstStyle/>
                    <a:p>
                      <a:r>
                        <a:rPr sz="1000" b="1" i="0">
                          <a:solidFill>
                            <a:srgbClr val="FFFFFF"/>
                          </a:solidFill>
                          <a:latin typeface="Inter"/>
                        </a:rPr>
                        <a:t>What closed it</a:t>
                      </a:r>
                    </a:p>
                  </a:txBody>
                  <a:tcPr marL="73152" marR="73152" marT="36576" marB="36576" anchor="ctr">
                    <a:solidFill>
                      <a:srgbClr val="1B2A55"/>
                    </a:solidFill>
                  </a:tcPr>
                </a:tc>
              </a:tr>
              <a:tr h="384048">
                <a:tc>
                  <a:txBody>
                    <a:bodyPr wrap="square"/>
                    <a:lstStyle/>
                    <a:p>
                      <a:r>
                        <a:rPr sz="1050" b="1" i="0">
                          <a:solidFill>
                            <a:srgbClr val="1B2A55"/>
                          </a:solidFill>
                          <a:latin typeface="Inter"/>
                        </a:rPr>
                        <a:t>C5</a:t>
                      </a:r>
                    </a:p>
                  </a:txBody>
                  <a:tcPr marL="73152" marR="73152" marT="36576" marB="36576" anchor="ctr">
                    <a:solidFill>
                      <a:srgbClr val="FFFFFF"/>
                    </a:solidFill>
                  </a:tcPr>
                </a:tc>
                <a:tc>
                  <a:txBody>
                    <a:bodyPr wrap="square"/>
                    <a:lstStyle/>
                    <a:p>
                      <a:r>
                        <a:rPr sz="1050" b="0" i="0">
                          <a:solidFill>
                            <a:srgbClr val="353B4A"/>
                          </a:solidFill>
                          <a:latin typeface="Inter"/>
                        </a:rPr>
                        <a:t>Inject a ballot with no receipt</a:t>
                      </a:r>
                    </a:p>
                  </a:txBody>
                  <a:tcPr marL="73152" marR="73152" marT="36576" marB="36576" anchor="ctr">
                    <a:solidFill>
                      <a:srgbClr val="FFFFFF"/>
                    </a:solidFill>
                  </a:tcPr>
                </a:tc>
                <a:tc>
                  <a:txBody>
                    <a:bodyPr wrap="square"/>
                    <a:lstStyle/>
                    <a:p>
                      <a:r>
                        <a:rPr sz="1050" b="0" i="0">
                          <a:solidFill>
                            <a:srgbClr val="353B4A"/>
                          </a:solidFill>
                          <a:latin typeface="Inter"/>
                        </a:rPr>
                        <a:t>Counters only</a:t>
                      </a:r>
                    </a:p>
                  </a:txBody>
                  <a:tcPr marL="73152" marR="73152" marT="36576" marB="36576" anchor="ctr">
                    <a:solidFill>
                      <a:srgbClr val="FFFFFF"/>
                    </a:solidFill>
                  </a:tcPr>
                </a:tc>
                <a:tc>
                  <a:txBody>
                    <a:bodyPr wrap="square"/>
                    <a:lstStyle/>
                    <a:p>
                      <a:r>
                        <a:rPr sz="1050" b="0" i="0">
                          <a:solidFill>
                            <a:srgbClr val="353B4A"/>
                          </a:solidFill>
                          <a:latin typeface="Inter"/>
                        </a:rPr>
                        <a:t>Detected</a:t>
                      </a:r>
                    </a:p>
                  </a:txBody>
                  <a:tcPr marL="73152" marR="73152" marT="36576" marB="36576" anchor="ctr">
                    <a:solidFill>
                      <a:srgbClr val="FFFFFF"/>
                    </a:solidFill>
                  </a:tcPr>
                </a:tc>
                <a:tc>
                  <a:txBody>
                    <a:bodyPr wrap="square"/>
                    <a:lstStyle/>
                    <a:p>
                      <a:r>
                        <a:rPr sz="1050" b="0" i="0">
                          <a:solidFill>
                            <a:srgbClr val="353B4A"/>
                          </a:solidFill>
                          <a:latin typeface="Inter"/>
                        </a:rPr>
                        <a:t>Injected-ballot rule</a:t>
                      </a:r>
                    </a:p>
                  </a:txBody>
                  <a:tcPr marL="73152" marR="73152" marT="36576" marB="36576" anchor="ctr">
                    <a:solidFill>
                      <a:srgbClr val="FFFFFF"/>
                    </a:solidFill>
                  </a:tcPr>
                </a:tc>
              </a:tr>
              <a:tr h="384048">
                <a:tc>
                  <a:txBody>
                    <a:bodyPr wrap="square"/>
                    <a:lstStyle/>
                    <a:p>
                      <a:r>
                        <a:rPr sz="1050" b="1" i="0">
                          <a:solidFill>
                            <a:srgbClr val="1B2A55"/>
                          </a:solidFill>
                          <a:latin typeface="Inter"/>
                        </a:rPr>
                        <a:t>C6</a:t>
                      </a:r>
                    </a:p>
                  </a:txBody>
                  <a:tcPr marL="73152" marR="73152" marT="36576" marB="36576" anchor="ctr">
                    <a:solidFill>
                      <a:srgbClr val="F1F0F6"/>
                    </a:solidFill>
                  </a:tcPr>
                </a:tc>
                <a:tc>
                  <a:txBody>
                    <a:bodyPr wrap="square"/>
                    <a:lstStyle/>
                    <a:p>
                      <a:r>
                        <a:rPr sz="1050" b="0" i="0">
                          <a:solidFill>
                            <a:srgbClr val="353B4A"/>
                          </a:solidFill>
                          <a:latin typeface="Inter"/>
                        </a:rPr>
                        <a:t>Ballot stuffing: inject, forge receipt, set a flag</a:t>
                      </a:r>
                    </a:p>
                  </a:txBody>
                  <a:tcPr marL="73152" marR="73152" marT="36576" marB="36576" anchor="ctr">
                    <a:solidFill>
                      <a:srgbClr val="F1F0F6"/>
                    </a:solidFill>
                  </a:tcPr>
                </a:tc>
                <a:tc>
                  <a:txBody>
                    <a:bodyPr wrap="square"/>
                    <a:lstStyle/>
                    <a:p>
                      <a:r>
                        <a:rPr sz="1050" b="0" i="0">
                          <a:solidFill>
                            <a:srgbClr val="353B4A"/>
                          </a:solidFill>
                          <a:latin typeface="Inter"/>
                        </a:rPr>
                        <a:t>Not detected</a:t>
                      </a:r>
                    </a:p>
                  </a:txBody>
                  <a:tcPr marL="73152" marR="73152" marT="36576" marB="36576" anchor="ctr">
                    <a:solidFill>
                      <a:srgbClr val="F1F0F6"/>
                    </a:solidFill>
                  </a:tcPr>
                </a:tc>
                <a:tc>
                  <a:txBody>
                    <a:bodyPr wrap="square"/>
                    <a:lstStyle/>
                    <a:p>
                      <a:r>
                        <a:rPr sz="1050" b="0" i="0">
                          <a:solidFill>
                            <a:srgbClr val="353B4A"/>
                          </a:solidFill>
                          <a:latin typeface="Inter"/>
                        </a:rPr>
                        <a:t>Detected</a:t>
                      </a:r>
                    </a:p>
                  </a:txBody>
                  <a:tcPr marL="73152" marR="73152" marT="36576" marB="36576" anchor="ctr">
                    <a:solidFill>
                      <a:srgbClr val="F1F0F6"/>
                    </a:solidFill>
                  </a:tcPr>
                </a:tc>
                <a:tc>
                  <a:txBody>
                    <a:bodyPr wrap="square"/>
                    <a:lstStyle/>
                    <a:p>
                      <a:r>
                        <a:rPr sz="1050" b="0" i="0">
                          <a:solidFill>
                            <a:srgbClr val="353B4A"/>
                          </a:solidFill>
                          <a:latin typeface="Inter"/>
                        </a:rPr>
                        <a:t>Keyed chain</a:t>
                      </a:r>
                    </a:p>
                  </a:txBody>
                  <a:tcPr marL="73152" marR="73152" marT="36576" marB="36576" anchor="ctr">
                    <a:solidFill>
                      <a:srgbClr val="F1F0F6"/>
                    </a:solidFill>
                  </a:tcPr>
                </a:tc>
              </a:tr>
              <a:tr h="384048">
                <a:tc>
                  <a:txBody>
                    <a:bodyPr wrap="square"/>
                    <a:lstStyle/>
                    <a:p>
                      <a:r>
                        <a:rPr sz="1050" b="1" i="0">
                          <a:solidFill>
                            <a:srgbClr val="1B2A55"/>
                          </a:solidFill>
                          <a:latin typeface="Inter"/>
                        </a:rPr>
                        <a:t>C9</a:t>
                      </a:r>
                    </a:p>
                  </a:txBody>
                  <a:tcPr marL="73152" marR="73152" marT="36576" marB="36576" anchor="ctr">
                    <a:solidFill>
                      <a:srgbClr val="FFFFFF"/>
                    </a:solidFill>
                  </a:tcPr>
                </a:tc>
                <a:tc>
                  <a:txBody>
                    <a:bodyPr wrap="square"/>
                    <a:lstStyle/>
                    <a:p>
                      <a:r>
                        <a:rPr sz="1050" b="0" i="0">
                          <a:solidFill>
                            <a:srgbClr val="353B4A"/>
                          </a:solidFill>
                          <a:latin typeface="Inter"/>
                        </a:rPr>
                        <a:t>Truncate the last ledger block</a:t>
                      </a:r>
                    </a:p>
                  </a:txBody>
                  <a:tcPr marL="73152" marR="73152" marT="36576" marB="36576" anchor="ctr">
                    <a:solidFill>
                      <a:srgbClr val="FFFFFF"/>
                    </a:solidFill>
                  </a:tcPr>
                </a:tc>
                <a:tc>
                  <a:txBody>
                    <a:bodyPr wrap="square"/>
                    <a:lstStyle/>
                    <a:p>
                      <a:r>
                        <a:rPr sz="1050" b="0" i="0">
                          <a:solidFill>
                            <a:srgbClr val="353B4A"/>
                          </a:solidFill>
                          <a:latin typeface="Inter"/>
                        </a:rPr>
                        <a:t>Counters only</a:t>
                      </a:r>
                    </a:p>
                  </a:txBody>
                  <a:tcPr marL="73152" marR="73152" marT="36576" marB="36576" anchor="ctr">
                    <a:solidFill>
                      <a:srgbClr val="FFFFFF"/>
                    </a:solidFill>
                  </a:tcPr>
                </a:tc>
                <a:tc>
                  <a:txBody>
                    <a:bodyPr wrap="square"/>
                    <a:lstStyle/>
                    <a:p>
                      <a:r>
                        <a:rPr sz="1050" b="0" i="0">
                          <a:solidFill>
                            <a:srgbClr val="353B4A"/>
                          </a:solidFill>
                          <a:latin typeface="Inter"/>
                        </a:rPr>
                        <a:t>Detected</a:t>
                      </a:r>
                    </a:p>
                  </a:txBody>
                  <a:tcPr marL="73152" marR="73152" marT="36576" marB="36576" anchor="ctr">
                    <a:solidFill>
                      <a:srgbClr val="FFFFFF"/>
                    </a:solidFill>
                  </a:tcPr>
                </a:tc>
                <a:tc>
                  <a:txBody>
                    <a:bodyPr wrap="square"/>
                    <a:lstStyle/>
                    <a:p>
                      <a:r>
                        <a:rPr sz="1050" b="0" i="0">
                          <a:solidFill>
                            <a:srgbClr val="353B4A"/>
                          </a:solidFill>
                          <a:latin typeface="Inter"/>
                        </a:rPr>
                        <a:t>Reconciliation rule</a:t>
                      </a:r>
                    </a:p>
                  </a:txBody>
                  <a:tcPr marL="73152" marR="73152" marT="36576" marB="36576" anchor="ctr">
                    <a:solidFill>
                      <a:srgbClr val="FFFFFF"/>
                    </a:solidFill>
                  </a:tcPr>
                </a:tc>
              </a:tr>
              <a:tr h="384048">
                <a:tc>
                  <a:txBody>
                    <a:bodyPr wrap="square"/>
                    <a:lstStyle/>
                    <a:p>
                      <a:r>
                        <a:rPr sz="1050" b="1" i="0">
                          <a:solidFill>
                            <a:srgbClr val="1B2A55"/>
                          </a:solidFill>
                          <a:latin typeface="Inter"/>
                        </a:rPr>
                        <a:t>C10</a:t>
                      </a:r>
                    </a:p>
                  </a:txBody>
                  <a:tcPr marL="73152" marR="73152" marT="36576" marB="36576" anchor="ctr">
                    <a:solidFill>
                      <a:srgbClr val="F1F0F6"/>
                    </a:solidFill>
                  </a:tcPr>
                </a:tc>
                <a:tc>
                  <a:txBody>
                    <a:bodyPr wrap="square"/>
                    <a:lstStyle/>
                    <a:p>
                      <a:r>
                        <a:rPr sz="1050" b="0" i="0">
                          <a:solidFill>
                            <a:srgbClr val="353B4A"/>
                          </a:solidFill>
                          <a:latin typeface="Inter"/>
                        </a:rPr>
                        <a:t>Alter a ballot and rebuild the whole chain</a:t>
                      </a:r>
                    </a:p>
                  </a:txBody>
                  <a:tcPr marL="73152" marR="73152" marT="36576" marB="36576" anchor="ctr">
                    <a:solidFill>
                      <a:srgbClr val="F1F0F6"/>
                    </a:solidFill>
                  </a:tcPr>
                </a:tc>
                <a:tc>
                  <a:txBody>
                    <a:bodyPr wrap="square"/>
                    <a:lstStyle/>
                    <a:p>
                      <a:r>
                        <a:rPr sz="1050" b="0" i="0">
                          <a:solidFill>
                            <a:srgbClr val="353B4A"/>
                          </a:solidFill>
                          <a:latin typeface="Inter"/>
                        </a:rPr>
                        <a:t>Not detected</a:t>
                      </a:r>
                    </a:p>
                  </a:txBody>
                  <a:tcPr marL="73152" marR="73152" marT="36576" marB="36576" anchor="ctr">
                    <a:solidFill>
                      <a:srgbClr val="F1F0F6"/>
                    </a:solidFill>
                  </a:tcPr>
                </a:tc>
                <a:tc>
                  <a:txBody>
                    <a:bodyPr wrap="square"/>
                    <a:lstStyle/>
                    <a:p>
                      <a:r>
                        <a:rPr sz="1050" b="0" i="0">
                          <a:solidFill>
                            <a:srgbClr val="353B4A"/>
                          </a:solidFill>
                          <a:latin typeface="Inter"/>
                        </a:rPr>
                        <a:t>Detected</a:t>
                      </a:r>
                    </a:p>
                  </a:txBody>
                  <a:tcPr marL="73152" marR="73152" marT="36576" marB="36576" anchor="ctr">
                    <a:solidFill>
                      <a:srgbClr val="F1F0F6"/>
                    </a:solidFill>
                  </a:tcPr>
                </a:tc>
                <a:tc>
                  <a:txBody>
                    <a:bodyPr wrap="square"/>
                    <a:lstStyle/>
                    <a:p>
                      <a:r>
                        <a:rPr sz="1050" b="0" i="0">
                          <a:solidFill>
                            <a:srgbClr val="353B4A"/>
                          </a:solidFill>
                          <a:latin typeface="Inter"/>
                        </a:rPr>
                        <a:t>Keyed chain</a:t>
                      </a:r>
                    </a:p>
                  </a:txBody>
                  <a:tcPr marL="73152" marR="73152" marT="36576" marB="36576" anchor="ctr">
                    <a:solidFill>
                      <a:srgbClr val="F1F0F6"/>
                    </a:solidFill>
                  </a:tcPr>
                </a:tc>
              </a:tr>
              <a:tr h="384048">
                <a:tc>
                  <a:txBody>
                    <a:bodyPr wrap="square"/>
                    <a:lstStyle/>
                    <a:p>
                      <a:r>
                        <a:rPr sz="1050" b="1" i="0">
                          <a:solidFill>
                            <a:srgbClr val="1B2A55"/>
                          </a:solidFill>
                          <a:latin typeface="Inter"/>
                        </a:rPr>
                        <a:t>C11</a:t>
                      </a:r>
                    </a:p>
                  </a:txBody>
                  <a:tcPr marL="73152" marR="73152" marT="36576" marB="36576" anchor="ctr">
                    <a:solidFill>
                      <a:srgbClr val="FFFFFF"/>
                    </a:solidFill>
                  </a:tcPr>
                </a:tc>
                <a:tc>
                  <a:txBody>
                    <a:bodyPr wrap="square"/>
                    <a:lstStyle/>
                    <a:p>
                      <a:r>
                        <a:rPr sz="1050" b="0" i="0">
                          <a:solidFill>
                            <a:srgbClr val="353B4A"/>
                          </a:solidFill>
                          <a:latin typeface="Inter"/>
                        </a:rPr>
                        <a:t>Swap two candidates' names after voting</a:t>
                      </a:r>
                    </a:p>
                  </a:txBody>
                  <a:tcPr marL="73152" marR="73152" marT="36576" marB="36576" anchor="ctr">
                    <a:solidFill>
                      <a:srgbClr val="FFFFFF"/>
                    </a:solidFill>
                  </a:tcPr>
                </a:tc>
                <a:tc>
                  <a:txBody>
                    <a:bodyPr wrap="square"/>
                    <a:lstStyle/>
                    <a:p>
                      <a:r>
                        <a:rPr sz="1050" b="0" i="0">
                          <a:solidFill>
                            <a:srgbClr val="353B4A"/>
                          </a:solidFill>
                          <a:latin typeface="Inter"/>
                        </a:rPr>
                        <a:t>Not detected</a:t>
                      </a:r>
                    </a:p>
                  </a:txBody>
                  <a:tcPr marL="73152" marR="73152" marT="36576" marB="36576" anchor="ctr">
                    <a:solidFill>
                      <a:srgbClr val="FFFFFF"/>
                    </a:solidFill>
                  </a:tcPr>
                </a:tc>
                <a:tc>
                  <a:txBody>
                    <a:bodyPr wrap="square"/>
                    <a:lstStyle/>
                    <a:p>
                      <a:r>
                        <a:rPr sz="1050" b="0" i="0">
                          <a:solidFill>
                            <a:srgbClr val="353B4A"/>
                          </a:solidFill>
                          <a:latin typeface="Inter"/>
                        </a:rPr>
                        <a:t>Detected</a:t>
                      </a:r>
                    </a:p>
                  </a:txBody>
                  <a:tcPr marL="73152" marR="73152" marT="36576" marB="36576" anchor="ctr">
                    <a:solidFill>
                      <a:srgbClr val="FFFFFF"/>
                    </a:solidFill>
                  </a:tcPr>
                </a:tc>
                <a:tc>
                  <a:txBody>
                    <a:bodyPr wrap="square"/>
                    <a:lstStyle/>
                    <a:p>
                      <a:r>
                        <a:rPr sz="1050" b="0" i="0">
                          <a:solidFill>
                            <a:srgbClr val="353B4A"/>
                          </a:solidFill>
                          <a:latin typeface="Inter"/>
                        </a:rPr>
                        <a:t>Sealed roster hash</a:t>
                      </a:r>
                    </a:p>
                  </a:txBody>
                  <a:tcPr marL="73152" marR="73152" marT="36576" marB="36576" anchor="ctr">
                    <a:solidFill>
                      <a:srgbClr val="FFFFFF"/>
                    </a:solidFill>
                  </a:tcPr>
                </a:tc>
              </a:tr>
              <a:tr h="384048">
                <a:tc>
                  <a:txBody>
                    <a:bodyPr wrap="square"/>
                    <a:lstStyle/>
                    <a:p>
                      <a:r>
                        <a:rPr sz="1050" b="1" i="0">
                          <a:solidFill>
                            <a:srgbClr val="1B2A55"/>
                          </a:solidFill>
                          <a:latin typeface="Inter"/>
                        </a:rPr>
                        <a:t>C12</a:t>
                      </a:r>
                    </a:p>
                  </a:txBody>
                  <a:tcPr marL="73152" marR="73152" marT="36576" marB="36576" anchor="ctr">
                    <a:solidFill>
                      <a:srgbClr val="F1F0F6"/>
                    </a:solidFill>
                  </a:tcPr>
                </a:tc>
                <a:tc>
                  <a:txBody>
                    <a:bodyPr wrap="square"/>
                    <a:lstStyle/>
                    <a:p>
                      <a:r>
                        <a:rPr sz="1050" b="0" i="0">
                          <a:solidFill>
                            <a:srgbClr val="353B4A"/>
                          </a:solidFill>
                          <a:latin typeface="Inter"/>
                        </a:rPr>
                        <a:t>Reset a voted flag, vote again</a:t>
                      </a:r>
                    </a:p>
                  </a:txBody>
                  <a:tcPr marL="73152" marR="73152" marT="36576" marB="36576" anchor="ctr">
                    <a:solidFill>
                      <a:srgbClr val="F1F0F6"/>
                    </a:solidFill>
                  </a:tcPr>
                </a:tc>
                <a:tc>
                  <a:txBody>
                    <a:bodyPr wrap="square"/>
                    <a:lstStyle/>
                    <a:p>
                      <a:r>
                        <a:rPr sz="1050" b="0" i="0">
                          <a:solidFill>
                            <a:srgbClr val="353B4A"/>
                          </a:solidFill>
                          <a:latin typeface="Inter"/>
                        </a:rPr>
                        <a:t>Counters only</a:t>
                      </a:r>
                    </a:p>
                  </a:txBody>
                  <a:tcPr marL="73152" marR="73152" marT="36576" marB="36576" anchor="ctr">
                    <a:solidFill>
                      <a:srgbClr val="F1F0F6"/>
                    </a:solidFill>
                  </a:tcPr>
                </a:tc>
                <a:tc>
                  <a:txBody>
                    <a:bodyPr wrap="square"/>
                    <a:lstStyle/>
                    <a:p>
                      <a:r>
                        <a:rPr sz="1050" b="0" i="0">
                          <a:solidFill>
                            <a:srgbClr val="353B4A"/>
                          </a:solidFill>
                          <a:latin typeface="Inter"/>
                        </a:rPr>
                        <a:t>Detected</a:t>
                      </a:r>
                    </a:p>
                  </a:txBody>
                  <a:tcPr marL="73152" marR="73152" marT="36576" marB="36576" anchor="ctr">
                    <a:solidFill>
                      <a:srgbClr val="F1F0F6"/>
                    </a:solidFill>
                  </a:tcPr>
                </a:tc>
                <a:tc>
                  <a:txBody>
                    <a:bodyPr wrap="square"/>
                    <a:lstStyle/>
                    <a:p>
                      <a:r>
                        <a:rPr sz="1050" b="0" i="0">
                          <a:solidFill>
                            <a:srgbClr val="353B4A"/>
                          </a:solidFill>
                          <a:latin typeface="Inter"/>
                        </a:rPr>
                        <a:t>Reconciliation rule</a:t>
                      </a:r>
                    </a:p>
                  </a:txBody>
                  <a:tcPr marL="73152" marR="73152" marT="36576" marB="36576" anchor="ctr">
                    <a:solidFill>
                      <a:srgbClr val="F1F0F6"/>
                    </a:solidFill>
                  </a:tcPr>
                </a:tc>
              </a:tr>
            </a:tbl>
          </a:graphicData>
        </a:graphic>
      </p:graphicFrame>
      <p:sp>
        <p:nvSpPr>
          <p:cNvPr id="7" name="TextBox 6"/>
          <p:cNvSpPr txBox="1"/>
          <p:nvPr/>
        </p:nvSpPr>
        <p:spPr>
          <a:xfrm>
            <a:off x="457200" y="4206240"/>
            <a:ext cx="8229600" cy="548640"/>
          </a:xfrm>
          <a:prstGeom prst="rect">
            <a:avLst/>
          </a:prstGeom>
          <a:noFill/>
        </p:spPr>
        <p:txBody>
          <a:bodyPr wrap="square" anchor="t" lIns="0" rIns="0" tIns="0" bIns="0">
            <a:spAutoFit/>
          </a:bodyPr>
          <a:lstStyle/>
          <a:p>
            <a:pPr algn="l">
              <a:spcAft>
                <a:spcPts val="0"/>
              </a:spcAft>
            </a:pPr>
            <a:r>
              <a:rPr sz="1150" b="1" i="0">
                <a:solidFill>
                  <a:srgbClr val="1B2A55"/>
                </a:solidFill>
                <a:latin typeface="Inter"/>
              </a:rPr>
              <a:t>Key point: </a:t>
            </a:r>
            <a:r>
              <a:rPr sz="1150" b="0" i="0">
                <a:solidFill>
                  <a:srgbClr val="353B4A"/>
                </a:solidFill>
                <a:latin typeface="Inter"/>
              </a:rPr>
              <a:t>C6 and C10 defeat any chain that is only hashed, because the attacker recomputes the hashes. With the HMAC key they fail at the first block the attacker cannot compute.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ONE-TIME CODE TESTS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14 of 14 pass, and the suite caught a real defect on the way</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25</a:t>
            </a:r>
          </a:p>
        </p:txBody>
      </p:sp>
      <p:sp>
        <p:nvSpPr>
          <p:cNvPr id="6" name="TextBox 5"/>
          <p:cNvSpPr txBox="1"/>
          <p:nvPr/>
        </p:nvSpPr>
        <p:spPr>
          <a:xfrm>
            <a:off x="457200" y="1143000"/>
            <a:ext cx="4206240" cy="356616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Password alone gives no session; the challenge id is not a token.</a:t>
            </a:r>
          </a:p>
          <a:p>
            <a:pPr algn="l">
              <a:spcAft>
                <a:spcPts val="500"/>
              </a:spcAft>
            </a:pPr>
            <a:r>
              <a:rPr sz="1100" b="1" i="0">
                <a:solidFill>
                  <a:srgbClr val="1B2A55"/>
                </a:solidFill>
                <a:latin typeface="Inter"/>
              </a:rPr>
              <a:t>•  </a:t>
            </a:r>
            <a:r>
              <a:rPr sz="1100" b="0" i="0">
                <a:solidFill>
                  <a:srgbClr val="353B4A"/>
                </a:solidFill>
                <a:latin typeface="Inter"/>
              </a:rPr>
              <a:t>Right code opens the ballot; a used code cannot be replayed.</a:t>
            </a:r>
          </a:p>
          <a:p>
            <a:pPr algn="l">
              <a:spcAft>
                <a:spcPts val="500"/>
              </a:spcAft>
            </a:pPr>
            <a:r>
              <a:rPr sz="1100" b="1" i="0">
                <a:solidFill>
                  <a:srgbClr val="1B2A55"/>
                </a:solidFill>
                <a:latin typeface="Inter"/>
              </a:rPr>
              <a:t>•  </a:t>
            </a:r>
            <a:r>
              <a:rPr sz="1100" b="0" i="0">
                <a:solidFill>
                  <a:srgbClr val="353B4A"/>
                </a:solidFill>
                <a:latin typeface="Inter"/>
              </a:rPr>
              <a:t>Three wrong codes lock the challenge, even if the right code follows.</a:t>
            </a:r>
          </a:p>
          <a:p>
            <a:pPr algn="l">
              <a:spcAft>
                <a:spcPts val="500"/>
              </a:spcAft>
            </a:pPr>
            <a:r>
              <a:rPr sz="1100" b="1" i="0">
                <a:solidFill>
                  <a:srgbClr val="1B2A55"/>
                </a:solidFill>
                <a:latin typeface="Inter"/>
              </a:rPr>
              <a:t>•  </a:t>
            </a:r>
            <a:r>
              <a:rPr sz="1100" b="0" i="0">
                <a:solidFill>
                  <a:srgbClr val="353B4A"/>
                </a:solidFill>
                <a:latin typeface="Inter"/>
              </a:rPr>
              <a:t>Expired codes, rapid resends and a sixth code are refused.</a:t>
            </a:r>
          </a:p>
          <a:p>
            <a:pPr algn="l">
              <a:spcAft>
                <a:spcPts val="500"/>
              </a:spcAft>
            </a:pPr>
            <a:r>
              <a:rPr sz="1100" b="1" i="0">
                <a:solidFill>
                  <a:srgbClr val="1B2A55"/>
                </a:solidFill>
                <a:latin typeface="Inter"/>
              </a:rPr>
              <a:t>•  </a:t>
            </a:r>
            <a:r>
              <a:rPr sz="1100" b="0" i="0">
                <a:solidFill>
                  <a:srgbClr val="353B4A"/>
                </a:solidFill>
                <a:latin typeface="Inter"/>
              </a:rPr>
              <a:t>No email on file: clear refusal.</a:t>
            </a:r>
          </a:p>
          <a:p>
            <a:pPr algn="l">
              <a:spcAft>
                <a:spcPts val="500"/>
              </a:spcAft>
            </a:pPr>
            <a:r>
              <a:rPr sz="1100" b="1" i="0">
                <a:solidFill>
                  <a:srgbClr val="1B2A55"/>
                </a:solidFill>
                <a:latin typeface="Inter"/>
              </a:rPr>
              <a:t>•  </a:t>
            </a:r>
            <a:r>
              <a:rPr sz="1100" b="0" i="0">
                <a:solidFill>
                  <a:srgbClr val="353B4A"/>
                </a:solidFill>
                <a:latin typeface="Inter"/>
              </a:rPr>
              <a:t>Plaintext codes are absent from the database.</a:t>
            </a:r>
          </a:p>
          <a:p>
            <a:pPr algn="l">
              <a:spcAft>
                <a:spcPts val="500"/>
              </a:spcAft>
            </a:pPr>
            <a:r>
              <a:rPr sz="1100" b="1" i="0">
                <a:solidFill>
                  <a:srgbClr val="1B2A55"/>
                </a:solidFill>
                <a:latin typeface="Inter"/>
              </a:rPr>
              <a:t>•  </a:t>
            </a:r>
            <a:r>
              <a:rPr sz="1100" b="0" i="0">
                <a:solidFill>
                  <a:srgbClr val="353B4A"/>
                </a:solidFill>
                <a:latin typeface="Inter"/>
              </a:rPr>
              <a:t>A failed mail server does not block sign-in.</a:t>
            </a:r>
          </a:p>
          <a:p>
            <a:pPr algn="l">
              <a:spcAft>
                <a:spcPts val="500"/>
              </a:spcAft>
            </a:pPr>
            <a:r>
              <a:rPr sz="1100" b="1" i="0">
                <a:solidFill>
                  <a:srgbClr val="1B2A55"/>
                </a:solidFill>
                <a:latin typeface="Inter"/>
              </a:rPr>
              <a:t>•  </a:t>
            </a:r>
            <a:r>
              <a:rPr sz="1100" b="0" i="0">
                <a:solidFill>
                  <a:srgbClr val="353B4A"/>
                </a:solidFill>
                <a:latin typeface="Inter"/>
              </a:rPr>
              <a:t>No email column exists in the election database.</a:t>
            </a:r>
          </a:p>
        </p:txBody>
      </p:sp>
      <p:sp>
        <p:nvSpPr>
          <p:cNvPr id="7" name="Rounded Rectangle 6"/>
          <p:cNvSpPr/>
          <p:nvPr/>
        </p:nvSpPr>
        <p:spPr>
          <a:xfrm>
            <a:off x="4846320" y="1188720"/>
            <a:ext cx="3840480" cy="329184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1280160"/>
            <a:ext cx="3474720" cy="274320"/>
          </a:xfrm>
          <a:prstGeom prst="rect">
            <a:avLst/>
          </a:prstGeom>
          <a:noFill/>
        </p:spPr>
        <p:txBody>
          <a:bodyPr wrap="square" anchor="t" lIns="0" rIns="0" tIns="0" bIns="0">
            <a:spAutoFit/>
          </a:bodyPr>
          <a:lstStyle/>
          <a:p>
            <a:pPr algn="l">
              <a:spcAft>
                <a:spcPts val="0"/>
              </a:spcAft>
            </a:pPr>
            <a:r>
              <a:rPr sz="1300" b="1" i="0">
                <a:solidFill>
                  <a:srgbClr val="C0392B"/>
                </a:solidFill>
                <a:latin typeface="Inter"/>
              </a:rPr>
              <a:t>The defect</a:t>
            </a:r>
          </a:p>
        </p:txBody>
      </p:sp>
      <p:sp>
        <p:nvSpPr>
          <p:cNvPr id="9" name="TextBox 8"/>
          <p:cNvSpPr txBox="1"/>
          <p:nvPr/>
        </p:nvSpPr>
        <p:spPr>
          <a:xfrm>
            <a:off x="5029200" y="1645920"/>
            <a:ext cx="3474720" cy="2743200"/>
          </a:xfrm>
          <a:prstGeom prst="rect">
            <a:avLst/>
          </a:prstGeom>
          <a:noFill/>
        </p:spPr>
        <p:txBody>
          <a:bodyPr wrap="square" anchor="t" lIns="0" rIns="0" tIns="0" bIns="0">
            <a:spAutoFit/>
          </a:bodyPr>
          <a:lstStyle/>
          <a:p>
            <a:pPr algn="l">
              <a:spcAft>
                <a:spcPts val="0"/>
              </a:spcAft>
            </a:pPr>
            <a:r>
              <a:rPr sz="1100" b="0" i="0">
                <a:solidFill>
                  <a:srgbClr val="353B4A"/>
                </a:solidFill>
                <a:latin typeface="Inter"/>
              </a:rPr>
              <a:t>Test F4 first failed. The wrong-guess counter was saved inside a database context, and the request then raised an error. SQLite rolls back when an exception leaves the context, so every failed guess was recorded and then undone: unlimited guessing. The fix commits state before the error propagates. Review would not have found it; the test did.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PERFORMANCE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Checks are cheap; the file ledger is the one that grows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26</a:t>
            </a:r>
          </a:p>
        </p:txBody>
      </p:sp>
      <p:pic>
        <p:nvPicPr>
          <p:cNvPr id="6" name="Picture 5" descr="bench.png"/>
          <p:cNvPicPr>
            <a:picLocks noChangeAspect="1"/>
          </p:cNvPicPr>
          <p:nvPr/>
        </p:nvPicPr>
        <p:blipFill>
          <a:blip r:embed="rId2"/>
          <a:stretch>
            <a:fillRect/>
          </a:stretch>
        </p:blipFill>
        <p:spPr>
          <a:xfrm>
            <a:off x="457200" y="1143000"/>
            <a:ext cx="4937760" cy="1920240"/>
          </a:xfrm>
          <a:prstGeom prst="rect">
            <a:avLst/>
          </a:prstGeom>
        </p:spPr>
      </p:pic>
      <p:graphicFrame>
        <p:nvGraphicFramePr>
          <p:cNvPr id="7" name="Table 6"/>
          <p:cNvGraphicFramePr>
            <a:graphicFrameLocks noGrp="1"/>
          </p:cNvGraphicFramePr>
          <p:nvPr/>
        </p:nvGraphicFramePr>
        <p:xfrm>
          <a:off x="457200" y="3246120"/>
          <a:ext cx="4937760" cy="1353312"/>
        </p:xfrm>
        <a:graphic>
          <a:graphicData uri="http://schemas.openxmlformats.org/drawingml/2006/table">
            <a:tbl>
              <a:tblPr firstRow="1" bandRow="1">
                <a:tableStyleId>{5C22544A-7EE6-4342-B048-85BDC9FD1C3A}</a:tableStyleId>
              </a:tblPr>
              <a:tblGrid>
                <a:gridCol w="1005840"/>
                <a:gridCol w="1371600"/>
                <a:gridCol w="1097280"/>
                <a:gridCol w="1463040"/>
              </a:tblGrid>
              <a:tr h="365760">
                <a:tc>
                  <a:txBody>
                    <a:bodyPr wrap="square"/>
                    <a:lstStyle/>
                    <a:p>
                      <a:r>
                        <a:rPr sz="1000" b="1" i="0">
                          <a:solidFill>
                            <a:srgbClr val="FFFFFF"/>
                          </a:solidFill>
                          <a:latin typeface="Inter"/>
                        </a:rPr>
                        <a:t>Ballots</a:t>
                      </a:r>
                    </a:p>
                  </a:txBody>
                  <a:tcPr marL="73152" marR="73152" marT="36576" marB="36576" anchor="ctr">
                    <a:solidFill>
                      <a:srgbClr val="1B2A55"/>
                    </a:solidFill>
                  </a:tcPr>
                </a:tc>
                <a:tc>
                  <a:txBody>
                    <a:bodyPr wrap="square"/>
                    <a:lstStyle/>
                    <a:p>
                      <a:r>
                        <a:rPr sz="1000" b="1" i="0">
                          <a:solidFill>
                            <a:srgbClr val="FFFFFF"/>
                          </a:solidFill>
                          <a:latin typeface="Inter"/>
                        </a:rPr>
                        <a:t>Cast ms (file)</a:t>
                      </a:r>
                    </a:p>
                  </a:txBody>
                  <a:tcPr marL="73152" marR="73152" marT="36576" marB="36576" anchor="ctr">
                    <a:solidFill>
                      <a:srgbClr val="1B2A55"/>
                    </a:solidFill>
                  </a:tcPr>
                </a:tc>
                <a:tc>
                  <a:txBody>
                    <a:bodyPr wrap="square"/>
                    <a:lstStyle/>
                    <a:p>
                      <a:r>
                        <a:rPr sz="1000" b="1" i="0">
                          <a:solidFill>
                            <a:srgbClr val="FFFFFF"/>
                          </a:solidFill>
                          <a:latin typeface="Inter"/>
                        </a:rPr>
                        <a:t>Sweep ms</a:t>
                      </a:r>
                    </a:p>
                  </a:txBody>
                  <a:tcPr marL="73152" marR="73152" marT="36576" marB="36576" anchor="ctr">
                    <a:solidFill>
                      <a:srgbClr val="1B2A55"/>
                    </a:solidFill>
                  </a:tcPr>
                </a:tc>
                <a:tc>
                  <a:txBody>
                    <a:bodyPr wrap="square"/>
                    <a:lstStyle/>
                    <a:p>
                      <a:r>
                        <a:rPr sz="1000" b="1" i="0">
                          <a:solidFill>
                            <a:srgbClr val="FFFFFF"/>
                          </a:solidFill>
                          <a:latin typeface="Inter"/>
                        </a:rPr>
                        <a:t>Atlas append ms</a:t>
                      </a:r>
                    </a:p>
                  </a:txBody>
                  <a:tcPr marL="73152" marR="73152" marT="36576" marB="36576" anchor="ctr">
                    <a:solidFill>
                      <a:srgbClr val="1B2A55"/>
                    </a:solidFill>
                  </a:tcPr>
                </a:tc>
              </a:tr>
              <a:tr h="329184">
                <a:tc>
                  <a:txBody>
                    <a:bodyPr wrap="square"/>
                    <a:lstStyle/>
                    <a:p>
                      <a:r>
                        <a:rPr sz="1000" b="1" i="0">
                          <a:solidFill>
                            <a:srgbClr val="1B2A55"/>
                          </a:solidFill>
                          <a:latin typeface="Inter"/>
                        </a:rPr>
                        <a:t>100</a:t>
                      </a:r>
                    </a:p>
                  </a:txBody>
                  <a:tcPr marL="73152" marR="73152" marT="36576" marB="36576" anchor="ctr">
                    <a:solidFill>
                      <a:srgbClr val="FFFFFF"/>
                    </a:solidFill>
                  </a:tcPr>
                </a:tc>
                <a:tc>
                  <a:txBody>
                    <a:bodyPr wrap="square"/>
                    <a:lstStyle/>
                    <a:p>
                      <a:r>
                        <a:rPr sz="1000" b="0" i="0">
                          <a:solidFill>
                            <a:srgbClr val="353B4A"/>
                          </a:solidFill>
                          <a:latin typeface="Inter"/>
                        </a:rPr>
                        <a:t>9</a:t>
                      </a:r>
                    </a:p>
                  </a:txBody>
                  <a:tcPr marL="73152" marR="73152" marT="36576" marB="36576" anchor="ctr">
                    <a:solidFill>
                      <a:srgbClr val="FFFFFF"/>
                    </a:solidFill>
                  </a:tcPr>
                </a:tc>
                <a:tc>
                  <a:txBody>
                    <a:bodyPr wrap="square"/>
                    <a:lstStyle/>
                    <a:p>
                      <a:r>
                        <a:rPr sz="1000" b="0" i="0">
                          <a:solidFill>
                            <a:srgbClr val="353B4A"/>
                          </a:solidFill>
                          <a:latin typeface="Inter"/>
                        </a:rPr>
                        <a:t>4</a:t>
                      </a:r>
                    </a:p>
                  </a:txBody>
                  <a:tcPr marL="73152" marR="73152" marT="36576" marB="36576" anchor="ctr">
                    <a:solidFill>
                      <a:srgbClr val="FFFFFF"/>
                    </a:solidFill>
                  </a:tcPr>
                </a:tc>
                <a:tc>
                  <a:txBody>
                    <a:bodyPr wrap="square"/>
                    <a:lstStyle/>
                    <a:p>
                      <a:r>
                        <a:rPr sz="1000" b="0" i="0">
                          <a:solidFill>
                            <a:srgbClr val="353B4A"/>
                          </a:solidFill>
                          <a:latin typeface="Inter"/>
                        </a:rPr>
                        <a:t>136</a:t>
                      </a:r>
                    </a:p>
                  </a:txBody>
                  <a:tcPr marL="73152" marR="73152" marT="36576" marB="36576" anchor="ctr">
                    <a:solidFill>
                      <a:srgbClr val="FFFFFF"/>
                    </a:solidFill>
                  </a:tcPr>
                </a:tc>
              </a:tr>
              <a:tr h="329184">
                <a:tc>
                  <a:txBody>
                    <a:bodyPr wrap="square"/>
                    <a:lstStyle/>
                    <a:p>
                      <a:r>
                        <a:rPr sz="1000" b="1" i="0">
                          <a:solidFill>
                            <a:srgbClr val="1B2A55"/>
                          </a:solidFill>
                          <a:latin typeface="Inter"/>
                        </a:rPr>
                        <a:t>1,000</a:t>
                      </a:r>
                    </a:p>
                  </a:txBody>
                  <a:tcPr marL="73152" marR="73152" marT="36576" marB="36576" anchor="ctr">
                    <a:solidFill>
                      <a:srgbClr val="F1F0F6"/>
                    </a:solidFill>
                  </a:tcPr>
                </a:tc>
                <a:tc>
                  <a:txBody>
                    <a:bodyPr wrap="square"/>
                    <a:lstStyle/>
                    <a:p>
                      <a:r>
                        <a:rPr sz="1000" b="0" i="0">
                          <a:solidFill>
                            <a:srgbClr val="353B4A"/>
                          </a:solidFill>
                          <a:latin typeface="Inter"/>
                        </a:rPr>
                        <a:t>33</a:t>
                      </a:r>
                    </a:p>
                  </a:txBody>
                  <a:tcPr marL="73152" marR="73152" marT="36576" marB="36576" anchor="ctr">
                    <a:solidFill>
                      <a:srgbClr val="F1F0F6"/>
                    </a:solidFill>
                  </a:tcPr>
                </a:tc>
                <a:tc>
                  <a:txBody>
                    <a:bodyPr wrap="square"/>
                    <a:lstStyle/>
                    <a:p>
                      <a:r>
                        <a:rPr sz="1000" b="0" i="0">
                          <a:solidFill>
                            <a:srgbClr val="353B4A"/>
                          </a:solidFill>
                          <a:latin typeface="Inter"/>
                        </a:rPr>
                        <a:t>12</a:t>
                      </a:r>
                    </a:p>
                  </a:txBody>
                  <a:tcPr marL="73152" marR="73152" marT="36576" marB="36576" anchor="ctr">
                    <a:solidFill>
                      <a:srgbClr val="F1F0F6"/>
                    </a:solidFill>
                  </a:tcPr>
                </a:tc>
                <a:tc>
                  <a:txBody>
                    <a:bodyPr wrap="square"/>
                    <a:lstStyle/>
                    <a:p>
                      <a:r>
                        <a:rPr sz="1000" b="0" i="0">
                          <a:solidFill>
                            <a:srgbClr val="353B4A"/>
                          </a:solidFill>
                          <a:latin typeface="Inter"/>
                        </a:rPr>
                        <a:t>147</a:t>
                      </a:r>
                    </a:p>
                  </a:txBody>
                  <a:tcPr marL="73152" marR="73152" marT="36576" marB="36576" anchor="ctr">
                    <a:solidFill>
                      <a:srgbClr val="F1F0F6"/>
                    </a:solidFill>
                  </a:tcPr>
                </a:tc>
              </a:tr>
              <a:tr h="329184">
                <a:tc>
                  <a:txBody>
                    <a:bodyPr wrap="square"/>
                    <a:lstStyle/>
                    <a:p>
                      <a:r>
                        <a:rPr sz="1000" b="1" i="0">
                          <a:solidFill>
                            <a:srgbClr val="1B2A55"/>
                          </a:solidFill>
                          <a:latin typeface="Inter"/>
                        </a:rPr>
                        <a:t>10,000</a:t>
                      </a:r>
                    </a:p>
                  </a:txBody>
                  <a:tcPr marL="73152" marR="73152" marT="36576" marB="36576" anchor="ctr">
                    <a:solidFill>
                      <a:srgbClr val="FFFFFF"/>
                    </a:solidFill>
                  </a:tcPr>
                </a:tc>
                <a:tc>
                  <a:txBody>
                    <a:bodyPr wrap="square"/>
                    <a:lstStyle/>
                    <a:p>
                      <a:r>
                        <a:rPr sz="1000" b="0" i="0">
                          <a:solidFill>
                            <a:srgbClr val="353B4A"/>
                          </a:solidFill>
                          <a:latin typeface="Inter"/>
                        </a:rPr>
                        <a:t>205</a:t>
                      </a:r>
                    </a:p>
                  </a:txBody>
                  <a:tcPr marL="73152" marR="73152" marT="36576" marB="36576" anchor="ctr">
                    <a:solidFill>
                      <a:srgbClr val="FFFFFF"/>
                    </a:solidFill>
                  </a:tcPr>
                </a:tc>
                <a:tc>
                  <a:txBody>
                    <a:bodyPr wrap="square"/>
                    <a:lstStyle/>
                    <a:p>
                      <a:r>
                        <a:rPr sz="1000" b="0" i="0">
                          <a:solidFill>
                            <a:srgbClr val="353B4A"/>
                          </a:solidFill>
                          <a:latin typeface="Inter"/>
                        </a:rPr>
                        <a:t>147</a:t>
                      </a:r>
                    </a:p>
                  </a:txBody>
                  <a:tcPr marL="73152" marR="73152" marT="36576" marB="36576" anchor="ctr">
                    <a:solidFill>
                      <a:srgbClr val="FFFFFF"/>
                    </a:solidFill>
                  </a:tcPr>
                </a:tc>
                <a:tc>
                  <a:txBody>
                    <a:bodyPr wrap="square"/>
                    <a:lstStyle/>
                    <a:p>
                      <a:r>
                        <a:rPr sz="1000" b="0" i="0">
                          <a:solidFill>
                            <a:srgbClr val="353B4A"/>
                          </a:solidFill>
                          <a:latin typeface="Inter"/>
                        </a:rPr>
                        <a:t>139</a:t>
                      </a:r>
                    </a:p>
                  </a:txBody>
                  <a:tcPr marL="73152" marR="73152" marT="36576" marB="36576" anchor="ctr">
                    <a:solidFill>
                      <a:srgbClr val="FFFFFF"/>
                    </a:solidFill>
                  </a:tcPr>
                </a:tc>
              </a:tr>
            </a:tbl>
          </a:graphicData>
        </a:graphic>
      </p:graphicFrame>
      <p:sp>
        <p:nvSpPr>
          <p:cNvPr id="8" name="TextBox 7"/>
          <p:cNvSpPr txBox="1"/>
          <p:nvPr/>
        </p:nvSpPr>
        <p:spPr>
          <a:xfrm>
            <a:off x="5669280" y="1188720"/>
            <a:ext cx="3017520" cy="347472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0" i="0">
                <a:solidFill>
                  <a:srgbClr val="353B4A"/>
                </a:solidFill>
                <a:latin typeface="Inter"/>
              </a:rPr>
              <a:t>Sweep at 10,000 ballots: 147 ms, about 15% slower than before.</a:t>
            </a:r>
          </a:p>
          <a:p>
            <a:pPr algn="l">
              <a:spcAft>
                <a:spcPts val="500"/>
              </a:spcAft>
            </a:pPr>
            <a:r>
              <a:rPr sz="1050" b="1" i="0">
                <a:solidFill>
                  <a:srgbClr val="1B2A55"/>
                </a:solidFill>
                <a:latin typeface="Inter"/>
              </a:rPr>
              <a:t>•  </a:t>
            </a:r>
            <a:r>
              <a:rPr sz="1050" b="0" i="0">
                <a:solidFill>
                  <a:srgbClr val="353B4A"/>
                </a:solidFill>
                <a:latin typeface="Inter"/>
              </a:rPr>
              <a:t>File ledger: a cast grows from 9 to 205 ms because each append rewrites the file.</a:t>
            </a:r>
          </a:p>
          <a:p>
            <a:pPr algn="l">
              <a:spcAft>
                <a:spcPts val="500"/>
              </a:spcAft>
            </a:pPr>
            <a:r>
              <a:rPr sz="1050" b="1" i="0">
                <a:solidFill>
                  <a:srgbClr val="1B2A55"/>
                </a:solidFill>
                <a:latin typeface="Inter"/>
              </a:rPr>
              <a:t>•  </a:t>
            </a:r>
            <a:r>
              <a:rPr sz="1050" b="0" i="0">
                <a:solidFill>
                  <a:srgbClr val="353B4A"/>
                </a:solidFill>
                <a:latin typeface="Inter"/>
              </a:rPr>
              <a:t>Atlas: about 147 ms at any size (network round trip).</a:t>
            </a:r>
          </a:p>
          <a:p>
            <a:pPr algn="l">
              <a:spcAft>
                <a:spcPts val="500"/>
              </a:spcAft>
            </a:pPr>
            <a:r>
              <a:rPr sz="1050" b="1" i="0">
                <a:solidFill>
                  <a:srgbClr val="1B2A55"/>
                </a:solidFill>
                <a:latin typeface="Inter"/>
              </a:rPr>
              <a:t>•  </a:t>
            </a:r>
            <a:r>
              <a:rPr sz="1050" b="0" i="0">
                <a:solidFill>
                  <a:srgbClr val="353B4A"/>
                </a:solidFill>
                <a:latin typeface="Inter"/>
              </a:rPr>
              <a:t>The file is faster when small; Atlas wins on flat growth, concurrency control and living off-machine.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COMPARISON WITH EXISTING SYSTEMS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Different design points, different guarantees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27</a:t>
            </a:r>
          </a:p>
        </p:txBody>
      </p:sp>
      <p:graphicFrame>
        <p:nvGraphicFramePr>
          <p:cNvPr id="6" name="Table 5"/>
          <p:cNvGraphicFramePr>
            <a:graphicFrameLocks noGrp="1"/>
          </p:cNvGraphicFramePr>
          <p:nvPr/>
        </p:nvGraphicFramePr>
        <p:xfrm>
          <a:off x="457200" y="1097280"/>
          <a:ext cx="8229599" cy="2743200"/>
        </p:xfrm>
        <a:graphic>
          <a:graphicData uri="http://schemas.openxmlformats.org/drawingml/2006/table">
            <a:tbl>
              <a:tblPr firstRow="1" bandRow="1">
                <a:tableStyleId>{5C22544A-7EE6-4342-B048-85BDC9FD1C3A}</a:tableStyleId>
              </a:tblPr>
              <a:tblGrid>
                <a:gridCol w="2377440"/>
                <a:gridCol w="3108960"/>
                <a:gridCol w="1737359"/>
                <a:gridCol w="1005840"/>
              </a:tblGrid>
              <a:tr h="365760">
                <a:tc>
                  <a:txBody>
                    <a:bodyPr wrap="square"/>
                    <a:lstStyle/>
                    <a:p>
                      <a:r>
                        <a:rPr sz="1000" b="1" i="0">
                          <a:solidFill>
                            <a:srgbClr val="FFFFFF"/>
                          </a:solidFill>
                          <a:latin typeface="Inter"/>
                        </a:rPr>
                        <a:t>System</a:t>
                      </a:r>
                    </a:p>
                  </a:txBody>
                  <a:tcPr marL="73152" marR="73152" marT="36576" marB="36576" anchor="ctr">
                    <a:solidFill>
                      <a:srgbClr val="1B2A55"/>
                    </a:solidFill>
                  </a:tcPr>
                </a:tc>
                <a:tc>
                  <a:txBody>
                    <a:bodyPr wrap="square"/>
                    <a:lstStyle/>
                    <a:p>
                      <a:r>
                        <a:rPr sz="1000" b="1" i="0">
                          <a:solidFill>
                            <a:srgbClr val="FFFFFF"/>
                          </a:solidFill>
                          <a:latin typeface="Inter"/>
                        </a:rPr>
                        <a:t>Main assurance</a:t>
                      </a:r>
                    </a:p>
                  </a:txBody>
                  <a:tcPr marL="73152" marR="73152" marT="36576" marB="36576" anchor="ctr">
                    <a:solidFill>
                      <a:srgbClr val="1B2A55"/>
                    </a:solidFill>
                  </a:tcPr>
                </a:tc>
                <a:tc>
                  <a:txBody>
                    <a:bodyPr wrap="square"/>
                    <a:lstStyle/>
                    <a:p>
                      <a:r>
                        <a:rPr sz="1000" b="1" i="0">
                          <a:solidFill>
                            <a:srgbClr val="FFFFFF"/>
                          </a:solidFill>
                          <a:latin typeface="Inter"/>
                        </a:rPr>
                        <a:t>Voter verifies</a:t>
                      </a:r>
                    </a:p>
                  </a:txBody>
                  <a:tcPr marL="73152" marR="73152" marT="36576" marB="36576" anchor="ctr">
                    <a:solidFill>
                      <a:srgbClr val="1B2A55"/>
                    </a:solidFill>
                  </a:tcPr>
                </a:tc>
                <a:tc>
                  <a:txBody>
                    <a:bodyPr wrap="square"/>
                    <a:lstStyle/>
                    <a:p>
                      <a:r>
                        <a:rPr sz="1000" b="1" i="0">
                          <a:solidFill>
                            <a:srgbClr val="FFFFFF"/>
                          </a:solidFill>
                          <a:latin typeface="Inter"/>
                        </a:rPr>
                        <a:t>Burden</a:t>
                      </a:r>
                    </a:p>
                  </a:txBody>
                  <a:tcPr marL="73152" marR="73152" marT="36576" marB="36576" anchor="ctr">
                    <a:solidFill>
                      <a:srgbClr val="1B2A55"/>
                    </a:solidFill>
                  </a:tcPr>
                </a:tc>
              </a:tr>
              <a:tr h="475488">
                <a:tc>
                  <a:txBody>
                    <a:bodyPr wrap="square"/>
                    <a:lstStyle/>
                    <a:p>
                      <a:r>
                        <a:rPr sz="1000" b="1" i="0">
                          <a:solidFill>
                            <a:srgbClr val="1B2A55"/>
                          </a:solidFill>
                          <a:latin typeface="Inter"/>
                        </a:rPr>
                        <a:t>Helios, Belenios</a:t>
                      </a:r>
                    </a:p>
                  </a:txBody>
                  <a:tcPr marL="73152" marR="73152" marT="36576" marB="36576" anchor="ctr">
                    <a:solidFill>
                      <a:srgbClr val="FFFFFF"/>
                    </a:solidFill>
                  </a:tcPr>
                </a:tc>
                <a:tc>
                  <a:txBody>
                    <a:bodyPr wrap="square"/>
                    <a:lstStyle/>
                    <a:p>
                      <a:r>
                        <a:rPr sz="1000" b="0" i="0">
                          <a:solidFill>
                            <a:srgbClr val="353B4A"/>
                          </a:solidFill>
                          <a:latin typeface="Inter"/>
                        </a:rPr>
                        <a:t>Encrypted ballots; publicly verifiable tally</a:t>
                      </a:r>
                    </a:p>
                  </a:txBody>
                  <a:tcPr marL="73152" marR="73152" marT="36576" marB="36576" anchor="ctr">
                    <a:solidFill>
                      <a:srgbClr val="FFFFFF"/>
                    </a:solidFill>
                  </a:tcPr>
                </a:tc>
                <a:tc>
                  <a:txBody>
                    <a:bodyPr wrap="square"/>
                    <a:lstStyle/>
                    <a:p>
                      <a:r>
                        <a:rPr sz="1000" b="0" i="0">
                          <a:solidFill>
                            <a:srgbClr val="353B4A"/>
                          </a:solidFill>
                          <a:latin typeface="Inter"/>
                        </a:rPr>
                        <a:t>Yes (recorded as cast)</a:t>
                      </a:r>
                    </a:p>
                  </a:txBody>
                  <a:tcPr marL="73152" marR="73152" marT="36576" marB="36576" anchor="ctr">
                    <a:solidFill>
                      <a:srgbClr val="FFFFFF"/>
                    </a:solidFill>
                  </a:tcPr>
                </a:tc>
                <a:tc>
                  <a:txBody>
                    <a:bodyPr wrap="square"/>
                    <a:lstStyle/>
                    <a:p>
                      <a:r>
                        <a:rPr sz="1000" b="0" i="0">
                          <a:solidFill>
                            <a:srgbClr val="353B4A"/>
                          </a:solidFill>
                          <a:latin typeface="Inter"/>
                        </a:rPr>
                        <a:t>Moderate</a:t>
                      </a:r>
                    </a:p>
                  </a:txBody>
                  <a:tcPr marL="73152" marR="73152" marT="36576" marB="36576" anchor="ctr">
                    <a:solidFill>
                      <a:srgbClr val="FFFFFF"/>
                    </a:solidFill>
                  </a:tcPr>
                </a:tc>
              </a:tr>
              <a:tr h="475488">
                <a:tc>
                  <a:txBody>
                    <a:bodyPr wrap="square"/>
                    <a:lstStyle/>
                    <a:p>
                      <a:r>
                        <a:rPr sz="1000" b="1" i="0">
                          <a:solidFill>
                            <a:srgbClr val="1B2A55"/>
                          </a:solidFill>
                          <a:latin typeface="Inter"/>
                        </a:rPr>
                        <a:t>Civitas, Prêt à Voter, Scantegrity II</a:t>
                      </a:r>
                    </a:p>
                  </a:txBody>
                  <a:tcPr marL="73152" marR="73152" marT="36576" marB="36576" anchor="ctr">
                    <a:solidFill>
                      <a:srgbClr val="F1F0F6"/>
                    </a:solidFill>
                  </a:tcPr>
                </a:tc>
                <a:tc>
                  <a:txBody>
                    <a:bodyPr wrap="square"/>
                    <a:lstStyle/>
                    <a:p>
                      <a:r>
                        <a:rPr sz="1000" b="0" i="0">
                          <a:solidFill>
                            <a:srgbClr val="353B4A"/>
                          </a:solidFill>
                          <a:latin typeface="Inter"/>
                        </a:rPr>
                        <a:t>Verifiable; some coercion-resistant</a:t>
                      </a:r>
                    </a:p>
                  </a:txBody>
                  <a:tcPr marL="73152" marR="73152" marT="36576" marB="36576" anchor="ctr">
                    <a:solidFill>
                      <a:srgbClr val="F1F0F6"/>
                    </a:solidFill>
                  </a:tcPr>
                </a:tc>
                <a:tc>
                  <a:txBody>
                    <a:bodyPr wrap="square"/>
                    <a:lstStyle/>
                    <a:p>
                      <a:r>
                        <a:rPr sz="1000" b="0" i="0">
                          <a:solidFill>
                            <a:srgbClr val="353B4A"/>
                          </a:solidFill>
                          <a:latin typeface="Inter"/>
                        </a:rPr>
                        <a:t>Yes</a:t>
                      </a:r>
                    </a:p>
                  </a:txBody>
                  <a:tcPr marL="73152" marR="73152" marT="36576" marB="36576" anchor="ctr">
                    <a:solidFill>
                      <a:srgbClr val="F1F0F6"/>
                    </a:solidFill>
                  </a:tcPr>
                </a:tc>
                <a:tc>
                  <a:txBody>
                    <a:bodyPr wrap="square"/>
                    <a:lstStyle/>
                    <a:p>
                      <a:r>
                        <a:rPr sz="1000" b="0" i="0">
                          <a:solidFill>
                            <a:srgbClr val="353B4A"/>
                          </a:solidFill>
                          <a:latin typeface="Inter"/>
                        </a:rPr>
                        <a:t>High</a:t>
                      </a:r>
                    </a:p>
                  </a:txBody>
                  <a:tcPr marL="73152" marR="73152" marT="36576" marB="36576" anchor="ctr">
                    <a:solidFill>
                      <a:srgbClr val="F1F0F6"/>
                    </a:solidFill>
                  </a:tcPr>
                </a:tc>
              </a:tr>
              <a:tr h="475488">
                <a:tc>
                  <a:txBody>
                    <a:bodyPr wrap="square"/>
                    <a:lstStyle/>
                    <a:p>
                      <a:r>
                        <a:rPr sz="1000" b="1" i="0">
                          <a:solidFill>
                            <a:srgbClr val="1B2A55"/>
                          </a:solidFill>
                          <a:latin typeface="Inter"/>
                        </a:rPr>
                        <a:t>Estonian i-voting</a:t>
                      </a:r>
                    </a:p>
                  </a:txBody>
                  <a:tcPr marL="73152" marR="73152" marT="36576" marB="36576" anchor="ctr">
                    <a:solidFill>
                      <a:srgbClr val="FFFFFF"/>
                    </a:solidFill>
                  </a:tcPr>
                </a:tc>
                <a:tc>
                  <a:txBody>
                    <a:bodyPr wrap="square"/>
                    <a:lstStyle/>
                    <a:p>
                      <a:r>
                        <a:rPr sz="1000" b="0" i="0">
                          <a:solidFill>
                            <a:srgbClr val="353B4A"/>
                          </a:solidFill>
                          <a:latin typeface="Inter"/>
                        </a:rPr>
                        <a:t>National cryptographic system; analysed weaknesses</a:t>
                      </a:r>
                    </a:p>
                  </a:txBody>
                  <a:tcPr marL="73152" marR="73152" marT="36576" marB="36576" anchor="ctr">
                    <a:solidFill>
                      <a:srgbClr val="FFFFFF"/>
                    </a:solidFill>
                  </a:tcPr>
                </a:tc>
                <a:tc>
                  <a:txBody>
                    <a:bodyPr wrap="square"/>
                    <a:lstStyle/>
                    <a:p>
                      <a:r>
                        <a:rPr sz="1000" b="0" i="0">
                          <a:solidFill>
                            <a:srgbClr val="353B4A"/>
                          </a:solidFill>
                          <a:latin typeface="Inter"/>
                        </a:rPr>
                        <a:t>Partial</a:t>
                      </a:r>
                    </a:p>
                  </a:txBody>
                  <a:tcPr marL="73152" marR="73152" marT="36576" marB="36576" anchor="ctr">
                    <a:solidFill>
                      <a:srgbClr val="FFFFFF"/>
                    </a:solidFill>
                  </a:tcPr>
                </a:tc>
                <a:tc>
                  <a:txBody>
                    <a:bodyPr wrap="square"/>
                    <a:lstStyle/>
                    <a:p>
                      <a:r>
                        <a:rPr sz="1000" b="0" i="0">
                          <a:solidFill>
                            <a:srgbClr val="353B4A"/>
                          </a:solidFill>
                          <a:latin typeface="Inter"/>
                        </a:rPr>
                        <a:t>High</a:t>
                      </a:r>
                    </a:p>
                  </a:txBody>
                  <a:tcPr marL="73152" marR="73152" marT="36576" marB="36576" anchor="ctr">
                    <a:solidFill>
                      <a:srgbClr val="FFFFFF"/>
                    </a:solidFill>
                  </a:tcPr>
                </a:tc>
              </a:tr>
              <a:tr h="475488">
                <a:tc>
                  <a:txBody>
                    <a:bodyPr wrap="square"/>
                    <a:lstStyle/>
                    <a:p>
                      <a:r>
                        <a:rPr sz="1000" b="1" i="0">
                          <a:solidFill>
                            <a:srgbClr val="1B2A55"/>
                          </a:solidFill>
                          <a:latin typeface="Inter"/>
                        </a:rPr>
                        <a:t>Commercial mobile or web voting</a:t>
                      </a:r>
                    </a:p>
                  </a:txBody>
                  <a:tcPr marL="73152" marR="73152" marT="36576" marB="36576" anchor="ctr">
                    <a:solidFill>
                      <a:srgbClr val="F1F0F6"/>
                    </a:solidFill>
                  </a:tcPr>
                </a:tc>
                <a:tc>
                  <a:txBody>
                    <a:bodyPr wrap="square"/>
                    <a:lstStyle/>
                    <a:p>
                      <a:r>
                        <a:rPr sz="1000" b="0" i="0">
                          <a:solidFill>
                            <a:srgbClr val="353B4A"/>
                          </a:solidFill>
                          <a:latin typeface="Inter"/>
                        </a:rPr>
                        <a:t>Vendor trust; analyses found vulnerabilities</a:t>
                      </a:r>
                    </a:p>
                  </a:txBody>
                  <a:tcPr marL="73152" marR="73152" marT="36576" marB="36576" anchor="ctr">
                    <a:solidFill>
                      <a:srgbClr val="F1F0F6"/>
                    </a:solidFill>
                  </a:tcPr>
                </a:tc>
                <a:tc>
                  <a:txBody>
                    <a:bodyPr wrap="square"/>
                    <a:lstStyle/>
                    <a:p>
                      <a:r>
                        <a:rPr sz="1000" b="0" i="0">
                          <a:solidFill>
                            <a:srgbClr val="353B4A"/>
                          </a:solidFill>
                          <a:latin typeface="Inter"/>
                        </a:rPr>
                        <a:t>No</a:t>
                      </a:r>
                    </a:p>
                  </a:txBody>
                  <a:tcPr marL="73152" marR="73152" marT="36576" marB="36576" anchor="ctr">
                    <a:solidFill>
                      <a:srgbClr val="F1F0F6"/>
                    </a:solidFill>
                  </a:tcPr>
                </a:tc>
                <a:tc>
                  <a:txBody>
                    <a:bodyPr wrap="square"/>
                    <a:lstStyle/>
                    <a:p>
                      <a:r>
                        <a:rPr sz="1000" b="0" i="0">
                          <a:solidFill>
                            <a:srgbClr val="353B4A"/>
                          </a:solidFill>
                          <a:latin typeface="Inter"/>
                        </a:rPr>
                        <a:t>Low</a:t>
                      </a:r>
                    </a:p>
                  </a:txBody>
                  <a:tcPr marL="73152" marR="73152" marT="36576" marB="36576" anchor="ctr">
                    <a:solidFill>
                      <a:srgbClr val="F1F0F6"/>
                    </a:solidFill>
                  </a:tcPr>
                </a:tc>
              </a:tr>
              <a:tr h="475488">
                <a:tc>
                  <a:txBody>
                    <a:bodyPr wrap="square"/>
                    <a:lstStyle/>
                    <a:p>
                      <a:r>
                        <a:rPr sz="1000" b="1" i="0">
                          <a:solidFill>
                            <a:srgbClr val="1B2A55"/>
                          </a:solidFill>
                          <a:latin typeface="Inter"/>
                        </a:rPr>
                        <a:t>PolyVote</a:t>
                      </a:r>
                    </a:p>
                  </a:txBody>
                  <a:tcPr marL="73152" marR="73152" marT="36576" marB="36576" anchor="ctr">
                    <a:solidFill>
                      <a:srgbClr val="FFFFFF"/>
                    </a:solidFill>
                  </a:tcPr>
                </a:tc>
                <a:tc>
                  <a:txBody>
                    <a:bodyPr wrap="square"/>
                    <a:lstStyle/>
                    <a:p>
                      <a:r>
                        <a:rPr sz="1000" b="0" i="0">
                          <a:solidFill>
                            <a:srgbClr val="353B4A"/>
                          </a:solidFill>
                          <a:latin typeface="Inter"/>
                        </a:rPr>
                        <a:t>Database rules; keyed audit ledger; reconciling sweep</a:t>
                      </a:r>
                    </a:p>
                  </a:txBody>
                  <a:tcPr marL="73152" marR="73152" marT="36576" marB="36576" anchor="ctr">
                    <a:solidFill>
                      <a:srgbClr val="FFFFFF"/>
                    </a:solidFill>
                  </a:tcPr>
                </a:tc>
                <a:tc>
                  <a:txBody>
                    <a:bodyPr wrap="square"/>
                    <a:lstStyle/>
                    <a:p>
                      <a:r>
                        <a:rPr sz="1000" b="0" i="0">
                          <a:solidFill>
                            <a:srgbClr val="353B4A"/>
                          </a:solidFill>
                          <a:latin typeface="Inter"/>
                        </a:rPr>
                        <a:t>Recorded and counted, not content</a:t>
                      </a:r>
                    </a:p>
                  </a:txBody>
                  <a:tcPr marL="73152" marR="73152" marT="36576" marB="36576" anchor="ctr">
                    <a:solidFill>
                      <a:srgbClr val="FFFFFF"/>
                    </a:solidFill>
                  </a:tcPr>
                </a:tc>
                <a:tc>
                  <a:txBody>
                    <a:bodyPr wrap="square"/>
                    <a:lstStyle/>
                    <a:p>
                      <a:r>
                        <a:rPr sz="1000" b="0" i="0">
                          <a:solidFill>
                            <a:srgbClr val="353B4A"/>
                          </a:solidFill>
                          <a:latin typeface="Inter"/>
                        </a:rPr>
                        <a:t>Low</a:t>
                      </a:r>
                    </a:p>
                  </a:txBody>
                  <a:tcPr marL="73152" marR="73152" marT="36576" marB="36576" anchor="ctr">
                    <a:solidFill>
                      <a:srgbClr val="FFFFFF"/>
                    </a:solidFill>
                  </a:tcPr>
                </a:tc>
              </a:tr>
            </a:tbl>
          </a:graphicData>
        </a:graphic>
      </p:graphicFrame>
      <p:sp>
        <p:nvSpPr>
          <p:cNvPr id="7" name="TextBox 6"/>
          <p:cNvSpPr txBox="1"/>
          <p:nvPr/>
        </p:nvSpPr>
        <p:spPr>
          <a:xfrm>
            <a:off x="457200" y="4114800"/>
            <a:ext cx="8229600" cy="640080"/>
          </a:xfrm>
          <a:prstGeom prst="rect">
            <a:avLst/>
          </a:prstGeom>
          <a:noFill/>
        </p:spPr>
        <p:txBody>
          <a:bodyPr wrap="square" anchor="t" lIns="0" rIns="0" tIns="0" bIns="0">
            <a:spAutoFit/>
          </a:bodyPr>
          <a:lstStyle/>
          <a:p>
            <a:pPr algn="l">
              <a:spcAft>
                <a:spcPts val="0"/>
              </a:spcAft>
            </a:pPr>
            <a:r>
              <a:rPr sz="1100" b="0" i="1">
                <a:solidFill>
                  <a:srgbClr val="666A78"/>
                </a:solidFill>
                <a:latin typeface="Inter"/>
              </a:rPr>
              <a:t>Based on the published designs; we did not run these systems. PolyVote is not a substitute where a hostile administrator is the main concern; it targets elections where cryptographic voting is impractical.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SCOPE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We compared PolyVote with five kinds of similar systems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28</a:t>
            </a:r>
          </a:p>
        </p:txBody>
      </p:sp>
      <p:sp>
        <p:nvSpPr>
          <p:cNvPr id="6" name="Rounded Rectangle 5"/>
          <p:cNvSpPr/>
          <p:nvPr/>
        </p:nvSpPr>
        <p:spPr>
          <a:xfrm>
            <a:off x="457200" y="10972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07007"/>
            <a:ext cx="224028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Cryptographic</a:t>
            </a:r>
          </a:p>
        </p:txBody>
      </p:sp>
      <p:sp>
        <p:nvSpPr>
          <p:cNvPr id="8" name="TextBox 7"/>
          <p:cNvSpPr txBox="1"/>
          <p:nvPr/>
        </p:nvSpPr>
        <p:spPr>
          <a:xfrm>
            <a:off x="640080" y="1554480"/>
            <a:ext cx="2240280" cy="411480"/>
          </a:xfrm>
          <a:prstGeom prst="rect">
            <a:avLst/>
          </a:prstGeom>
          <a:noFill/>
        </p:spPr>
        <p:txBody>
          <a:bodyPr wrap="square" anchor="t" lIns="0" rIns="0" tIns="0" bIns="0">
            <a:spAutoFit/>
          </a:bodyPr>
          <a:lstStyle/>
          <a:p>
            <a:pPr algn="l">
              <a:spcAft>
                <a:spcPts val="0"/>
              </a:spcAft>
            </a:pPr>
            <a:r>
              <a:rPr sz="1050" b="1" i="0">
                <a:solidFill>
                  <a:srgbClr val="353B4A"/>
                </a:solidFill>
                <a:latin typeface="Inter"/>
              </a:rPr>
              <a:t>Helios, Belenios, Civitas</a:t>
            </a:r>
          </a:p>
        </p:txBody>
      </p:sp>
      <p:sp>
        <p:nvSpPr>
          <p:cNvPr id="9" name="TextBox 8"/>
          <p:cNvSpPr txBox="1"/>
          <p:nvPr/>
        </p:nvSpPr>
        <p:spPr>
          <a:xfrm>
            <a:off x="640080" y="1965960"/>
            <a:ext cx="2240280" cy="502920"/>
          </a:xfrm>
          <a:prstGeom prst="rect">
            <a:avLst/>
          </a:prstGeom>
          <a:noFill/>
        </p:spPr>
        <p:txBody>
          <a:bodyPr wrap="square" anchor="t" lIns="0" rIns="0" tIns="0" bIns="0">
            <a:spAutoFit/>
          </a:bodyPr>
          <a:lstStyle/>
          <a:p>
            <a:pPr algn="l">
              <a:spcAft>
                <a:spcPts val="0"/>
              </a:spcAft>
            </a:pPr>
            <a:r>
              <a:rPr sz="1000" b="0" i="0">
                <a:solidFill>
                  <a:srgbClr val="666A78"/>
                </a:solidFill>
                <a:latin typeface="Inter"/>
              </a:rPr>
              <a:t>Encrypted, publicly verifiable tallies</a:t>
            </a:r>
          </a:p>
        </p:txBody>
      </p:sp>
      <p:sp>
        <p:nvSpPr>
          <p:cNvPr id="10" name="Rounded Rectangle 9"/>
          <p:cNvSpPr/>
          <p:nvPr/>
        </p:nvSpPr>
        <p:spPr>
          <a:xfrm>
            <a:off x="3282696" y="10972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6" y="1207007"/>
            <a:ext cx="224028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Commercial SaaS</a:t>
            </a:r>
          </a:p>
        </p:txBody>
      </p:sp>
      <p:sp>
        <p:nvSpPr>
          <p:cNvPr id="12" name="TextBox 11"/>
          <p:cNvSpPr txBox="1"/>
          <p:nvPr/>
        </p:nvSpPr>
        <p:spPr>
          <a:xfrm>
            <a:off x="3465576" y="1554480"/>
            <a:ext cx="2240280" cy="411480"/>
          </a:xfrm>
          <a:prstGeom prst="rect">
            <a:avLst/>
          </a:prstGeom>
          <a:noFill/>
        </p:spPr>
        <p:txBody>
          <a:bodyPr wrap="square" anchor="t" lIns="0" rIns="0" tIns="0" bIns="0">
            <a:spAutoFit/>
          </a:bodyPr>
          <a:lstStyle/>
          <a:p>
            <a:pPr algn="l">
              <a:spcAft>
                <a:spcPts val="0"/>
              </a:spcAft>
            </a:pPr>
            <a:r>
              <a:rPr sz="1050" b="1" i="0">
                <a:solidFill>
                  <a:srgbClr val="353B4A"/>
                </a:solidFill>
                <a:latin typeface="Inter"/>
              </a:rPr>
              <a:t>ElectionBuddy, OpaVote, Simply Voting</a:t>
            </a:r>
          </a:p>
        </p:txBody>
      </p:sp>
      <p:sp>
        <p:nvSpPr>
          <p:cNvPr id="13" name="TextBox 12"/>
          <p:cNvSpPr txBox="1"/>
          <p:nvPr/>
        </p:nvSpPr>
        <p:spPr>
          <a:xfrm>
            <a:off x="3465576" y="1965960"/>
            <a:ext cx="2240280" cy="502920"/>
          </a:xfrm>
          <a:prstGeom prst="rect">
            <a:avLst/>
          </a:prstGeom>
          <a:noFill/>
        </p:spPr>
        <p:txBody>
          <a:bodyPr wrap="square" anchor="t" lIns="0" rIns="0" tIns="0" bIns="0">
            <a:spAutoFit/>
          </a:bodyPr>
          <a:lstStyle/>
          <a:p>
            <a:pPr algn="l">
              <a:spcAft>
                <a:spcPts val="0"/>
              </a:spcAft>
            </a:pPr>
            <a:r>
              <a:rPr sz="1000" b="0" i="0">
                <a:solidFill>
                  <a:srgbClr val="666A78"/>
                </a:solidFill>
                <a:latin typeface="Inter"/>
              </a:rPr>
              <a:t>Hosted elections, vendor trust</a:t>
            </a:r>
          </a:p>
        </p:txBody>
      </p:sp>
      <p:sp>
        <p:nvSpPr>
          <p:cNvPr id="14" name="Rounded Rectangle 13"/>
          <p:cNvSpPr/>
          <p:nvPr/>
        </p:nvSpPr>
        <p:spPr>
          <a:xfrm>
            <a:off x="6108192" y="10972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207007"/>
            <a:ext cx="224028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General forms</a:t>
            </a:r>
          </a:p>
        </p:txBody>
      </p:sp>
      <p:sp>
        <p:nvSpPr>
          <p:cNvPr id="16" name="TextBox 15"/>
          <p:cNvSpPr txBox="1"/>
          <p:nvPr/>
        </p:nvSpPr>
        <p:spPr>
          <a:xfrm>
            <a:off x="6291072" y="1554480"/>
            <a:ext cx="2240280" cy="411480"/>
          </a:xfrm>
          <a:prstGeom prst="rect">
            <a:avLst/>
          </a:prstGeom>
          <a:noFill/>
        </p:spPr>
        <p:txBody>
          <a:bodyPr wrap="square" anchor="t" lIns="0" rIns="0" tIns="0" bIns="0">
            <a:spAutoFit/>
          </a:bodyPr>
          <a:lstStyle/>
          <a:p>
            <a:pPr algn="l">
              <a:spcAft>
                <a:spcPts val="0"/>
              </a:spcAft>
            </a:pPr>
            <a:r>
              <a:rPr sz="1050" b="1" i="0">
                <a:solidFill>
                  <a:srgbClr val="353B4A"/>
                </a:solidFill>
                <a:latin typeface="Inter"/>
              </a:rPr>
              <a:t>Google Forms, Microsoft Forms</a:t>
            </a:r>
          </a:p>
        </p:txBody>
      </p:sp>
      <p:sp>
        <p:nvSpPr>
          <p:cNvPr id="17" name="TextBox 16"/>
          <p:cNvSpPr txBox="1"/>
          <p:nvPr/>
        </p:nvSpPr>
        <p:spPr>
          <a:xfrm>
            <a:off x="6291072" y="1965960"/>
            <a:ext cx="2240280" cy="502920"/>
          </a:xfrm>
          <a:prstGeom prst="rect">
            <a:avLst/>
          </a:prstGeom>
          <a:noFill/>
        </p:spPr>
        <p:txBody>
          <a:bodyPr wrap="square" anchor="t" lIns="0" rIns="0" tIns="0" bIns="0">
            <a:spAutoFit/>
          </a:bodyPr>
          <a:lstStyle/>
          <a:p>
            <a:pPr algn="l">
              <a:spcAft>
                <a:spcPts val="0"/>
              </a:spcAft>
            </a:pPr>
            <a:r>
              <a:rPr sz="1000" b="0" i="0">
                <a:solidFill>
                  <a:srgbClr val="666A78"/>
                </a:solidFill>
                <a:latin typeface="Inter"/>
              </a:rPr>
              <a:t>Quick polls, owner can edit results</a:t>
            </a:r>
          </a:p>
        </p:txBody>
      </p:sp>
      <p:sp>
        <p:nvSpPr>
          <p:cNvPr id="18" name="Rounded Rectangle 17"/>
          <p:cNvSpPr/>
          <p:nvPr/>
        </p:nvSpPr>
        <p:spPr>
          <a:xfrm>
            <a:off x="457200" y="26974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807208"/>
            <a:ext cx="224028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Typical student apps</a:t>
            </a:r>
          </a:p>
        </p:txBody>
      </p:sp>
      <p:sp>
        <p:nvSpPr>
          <p:cNvPr id="20" name="TextBox 19"/>
          <p:cNvSpPr txBox="1"/>
          <p:nvPr/>
        </p:nvSpPr>
        <p:spPr>
          <a:xfrm>
            <a:off x="640080" y="3154680"/>
            <a:ext cx="2240280" cy="411480"/>
          </a:xfrm>
          <a:prstGeom prst="rect">
            <a:avLst/>
          </a:prstGeom>
          <a:noFill/>
        </p:spPr>
        <p:txBody>
          <a:bodyPr wrap="square" anchor="t" lIns="0" rIns="0" tIns="0" bIns="0">
            <a:spAutoFit/>
          </a:bodyPr>
          <a:lstStyle/>
          <a:p>
            <a:pPr algn="l">
              <a:spcAft>
                <a:spcPts val="0"/>
              </a:spcAft>
            </a:pPr>
            <a:r>
              <a:rPr sz="1050" b="1" i="0">
                <a:solidFill>
                  <a:srgbClr val="353B4A"/>
                </a:solidFill>
                <a:latin typeface="Inter"/>
              </a:rPr>
              <a:t>CRUD voting projects</a:t>
            </a:r>
          </a:p>
        </p:txBody>
      </p:sp>
      <p:sp>
        <p:nvSpPr>
          <p:cNvPr id="21" name="TextBox 20"/>
          <p:cNvSpPr txBox="1"/>
          <p:nvPr/>
        </p:nvSpPr>
        <p:spPr>
          <a:xfrm>
            <a:off x="640080" y="3566160"/>
            <a:ext cx="2240280" cy="502920"/>
          </a:xfrm>
          <a:prstGeom prst="rect">
            <a:avLst/>
          </a:prstGeom>
          <a:noFill/>
        </p:spPr>
        <p:txBody>
          <a:bodyPr wrap="square" anchor="t" lIns="0" rIns="0" tIns="0" bIns="0">
            <a:spAutoFit/>
          </a:bodyPr>
          <a:lstStyle/>
          <a:p>
            <a:pPr algn="l">
              <a:spcAft>
                <a:spcPts val="0"/>
              </a:spcAft>
            </a:pPr>
            <a:r>
              <a:rPr sz="1000" b="0" i="0">
                <a:solidFill>
                  <a:srgbClr val="666A78"/>
                </a:solidFill>
                <a:latin typeface="Inter"/>
              </a:rPr>
              <a:t>One table, one password, no audit</a:t>
            </a:r>
          </a:p>
        </p:txBody>
      </p:sp>
      <p:sp>
        <p:nvSpPr>
          <p:cNvPr id="22" name="Rounded Rectangle 21"/>
          <p:cNvSpPr/>
          <p:nvPr/>
        </p:nvSpPr>
        <p:spPr>
          <a:xfrm>
            <a:off x="3282696" y="2697480"/>
            <a:ext cx="2587752" cy="14173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5576" y="2807208"/>
            <a:ext cx="2240280" cy="274320"/>
          </a:xfrm>
          <a:prstGeom prst="rect">
            <a:avLst/>
          </a:prstGeom>
          <a:noFill/>
        </p:spPr>
        <p:txBody>
          <a:bodyPr wrap="square" anchor="t" lIns="0" rIns="0" tIns="0" bIns="0">
            <a:spAutoFit/>
          </a:bodyPr>
          <a:lstStyle/>
          <a:p>
            <a:pPr algn="l">
              <a:spcAft>
                <a:spcPts val="0"/>
              </a:spcAft>
            </a:pPr>
            <a:r>
              <a:rPr sz="1300" b="1" i="0">
                <a:solidFill>
                  <a:srgbClr val="1B2A55"/>
                </a:solidFill>
                <a:latin typeface="Inter"/>
              </a:rPr>
              <a:t>National systems</a:t>
            </a:r>
          </a:p>
        </p:txBody>
      </p:sp>
      <p:sp>
        <p:nvSpPr>
          <p:cNvPr id="24" name="TextBox 23"/>
          <p:cNvSpPr txBox="1"/>
          <p:nvPr/>
        </p:nvSpPr>
        <p:spPr>
          <a:xfrm>
            <a:off x="3465576" y="3154680"/>
            <a:ext cx="2240280" cy="411480"/>
          </a:xfrm>
          <a:prstGeom prst="rect">
            <a:avLst/>
          </a:prstGeom>
          <a:noFill/>
        </p:spPr>
        <p:txBody>
          <a:bodyPr wrap="square" anchor="t" lIns="0" rIns="0" tIns="0" bIns="0">
            <a:spAutoFit/>
          </a:bodyPr>
          <a:lstStyle/>
          <a:p>
            <a:pPr algn="l">
              <a:spcAft>
                <a:spcPts val="0"/>
              </a:spcAft>
            </a:pPr>
            <a:r>
              <a:rPr sz="1050" b="1" i="0">
                <a:solidFill>
                  <a:srgbClr val="353B4A"/>
                </a:solidFill>
                <a:latin typeface="Inter"/>
              </a:rPr>
              <a:t>Estonian i-voting</a:t>
            </a:r>
          </a:p>
        </p:txBody>
      </p:sp>
      <p:sp>
        <p:nvSpPr>
          <p:cNvPr id="25" name="TextBox 24"/>
          <p:cNvSpPr txBox="1"/>
          <p:nvPr/>
        </p:nvSpPr>
        <p:spPr>
          <a:xfrm>
            <a:off x="3465576" y="3566160"/>
            <a:ext cx="2240280" cy="502920"/>
          </a:xfrm>
          <a:prstGeom prst="rect">
            <a:avLst/>
          </a:prstGeom>
          <a:noFill/>
        </p:spPr>
        <p:txBody>
          <a:bodyPr wrap="square" anchor="t" lIns="0" rIns="0" tIns="0" bIns="0">
            <a:spAutoFit/>
          </a:bodyPr>
          <a:lstStyle/>
          <a:p>
            <a:pPr algn="l">
              <a:spcAft>
                <a:spcPts val="0"/>
              </a:spcAft>
            </a:pPr>
            <a:r>
              <a:rPr sz="1000" b="0" i="0">
                <a:solidFill>
                  <a:srgbClr val="666A78"/>
                </a:solidFill>
                <a:latin typeface="Inter"/>
              </a:rPr>
              <a:t>ID-card based, large infrastructure</a:t>
            </a:r>
          </a:p>
        </p:txBody>
      </p:sp>
      <p:sp>
        <p:nvSpPr>
          <p:cNvPr id="26" name="Rounded Rectangle 25"/>
          <p:cNvSpPr/>
          <p:nvPr/>
        </p:nvSpPr>
        <p:spPr>
          <a:xfrm>
            <a:off x="6108192" y="2697480"/>
            <a:ext cx="2587752" cy="14173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1072" y="2788920"/>
            <a:ext cx="2240280" cy="1280160"/>
          </a:xfrm>
          <a:prstGeom prst="rect">
            <a:avLst/>
          </a:prstGeom>
          <a:noFill/>
        </p:spPr>
        <p:txBody>
          <a:bodyPr wrap="square" anchor="t" lIns="0" rIns="0" tIns="0" bIns="0">
            <a:spAutoFit/>
          </a:bodyPr>
          <a:lstStyle/>
          <a:p>
            <a:pPr algn="l">
              <a:spcAft>
                <a:spcPts val="300"/>
              </a:spcAft>
            </a:pPr>
            <a:r>
              <a:rPr sz="1100" b="1" i="0">
                <a:solidFill>
                  <a:srgbClr val="1B2A55"/>
                </a:solidFill>
                <a:latin typeface="Inter"/>
              </a:rPr>
              <a:t>How</a:t>
            </a:r>
          </a:p>
          <a:p>
            <a:pPr algn="l">
              <a:spcAft>
                <a:spcPts val="300"/>
              </a:spcAft>
            </a:pPr>
            <a:r>
              <a:rPr sz="1000" b="0" i="0">
                <a:solidFill>
                  <a:srgbClr val="353B4A"/>
                </a:solidFill>
                <a:latin typeface="Inter"/>
              </a:rPr>
              <a:t>Published designs and vendor pages, ten properties, and our own executable tests for PolyVote. We did not run the other systems.</a:t>
            </a:r>
          </a:p>
        </p:txBody>
      </p:sp>
      <p:sp>
        <p:nvSpPr>
          <p:cNvPr id="28" name="TextBox 27"/>
          <p:cNvSpPr txBox="1"/>
          <p:nvPr/>
        </p:nvSpPr>
        <p:spPr>
          <a:xfrm>
            <a:off x="457200" y="4343400"/>
            <a:ext cx="8229600" cy="457200"/>
          </a:xfrm>
          <a:prstGeom prst="rect">
            <a:avLst/>
          </a:prstGeom>
          <a:noFill/>
        </p:spPr>
        <p:txBody>
          <a:bodyPr wrap="square" anchor="t" lIns="0" rIns="0" tIns="0" bIns="0">
            <a:spAutoFit/>
          </a:bodyPr>
          <a:lstStyle/>
          <a:p>
            <a:pPr algn="l">
              <a:spcAft>
                <a:spcPts val="0"/>
              </a:spcAft>
            </a:pPr>
            <a:r>
              <a:rPr sz="1100" b="1" i="0">
                <a:solidFill>
                  <a:srgbClr val="1B2A55"/>
                </a:solidFill>
                <a:latin typeface="Inter"/>
              </a:rPr>
              <a:t>The question is not "who has the strongest cryptography" but "which system makes a small election both easy to run and hard to tamper with undetected".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FEATURES</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Where PolyVote stands on ten properties</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29</a:t>
            </a:r>
          </a:p>
        </p:txBody>
      </p:sp>
      <p:graphicFrame>
        <p:nvGraphicFramePr>
          <p:cNvPr id="6" name="Table 5"/>
          <p:cNvGraphicFramePr>
            <a:graphicFrameLocks noGrp="1"/>
          </p:cNvGraphicFramePr>
          <p:nvPr/>
        </p:nvGraphicFramePr>
        <p:xfrm>
          <a:off x="365760" y="1005840"/>
          <a:ext cx="8412480" cy="3236976"/>
        </p:xfrm>
        <a:graphic>
          <a:graphicData uri="http://schemas.openxmlformats.org/drawingml/2006/table">
            <a:tbl>
              <a:tblPr firstRow="1" bandRow="1">
                <a:tableStyleId>{5C22544A-7EE6-4342-B048-85BDC9FD1C3A}</a:tableStyleId>
              </a:tblPr>
              <a:tblGrid>
                <a:gridCol w="2716530"/>
                <a:gridCol w="963930"/>
                <a:gridCol w="1051560"/>
                <a:gridCol w="1314450"/>
                <a:gridCol w="1226820"/>
                <a:gridCol w="1139190"/>
              </a:tblGrid>
              <a:tr h="310896">
                <a:tc>
                  <a:txBody>
                    <a:bodyPr wrap="square"/>
                    <a:lstStyle/>
                    <a:p>
                      <a:r>
                        <a:rPr sz="900" b="1" i="0">
                          <a:solidFill>
                            <a:srgbClr val="FFFFFF"/>
                          </a:solidFill>
                          <a:latin typeface="Inter"/>
                        </a:rPr>
                        <a:t>Property</a:t>
                      </a:r>
                    </a:p>
                  </a:txBody>
                  <a:tcPr marL="73152" marR="73152" marT="36576" marB="36576" anchor="ctr">
                    <a:solidFill>
                      <a:srgbClr val="1B2A55"/>
                    </a:solidFill>
                  </a:tcPr>
                </a:tc>
                <a:tc>
                  <a:txBody>
                    <a:bodyPr wrap="square"/>
                    <a:lstStyle/>
                    <a:p>
                      <a:r>
                        <a:rPr sz="900" b="1" i="0">
                          <a:solidFill>
                            <a:srgbClr val="FFFFFF"/>
                          </a:solidFill>
                          <a:latin typeface="Inter"/>
                        </a:rPr>
                        <a:t>Student app</a:t>
                      </a:r>
                    </a:p>
                  </a:txBody>
                  <a:tcPr marL="73152" marR="73152" marT="36576" marB="36576" anchor="ctr">
                    <a:solidFill>
                      <a:srgbClr val="1B2A55"/>
                    </a:solidFill>
                  </a:tcPr>
                </a:tc>
                <a:tc>
                  <a:txBody>
                    <a:bodyPr wrap="square"/>
                    <a:lstStyle/>
                    <a:p>
                      <a:r>
                        <a:rPr sz="900" b="1" i="0">
                          <a:solidFill>
                            <a:srgbClr val="FFFFFF"/>
                          </a:solidFill>
                          <a:latin typeface="Inter"/>
                        </a:rPr>
                        <a:t>Forms tools</a:t>
                      </a:r>
                    </a:p>
                  </a:txBody>
                  <a:tcPr marL="73152" marR="73152" marT="36576" marB="36576" anchor="ctr">
                    <a:solidFill>
                      <a:srgbClr val="1B2A55"/>
                    </a:solidFill>
                  </a:tcPr>
                </a:tc>
                <a:tc>
                  <a:txBody>
                    <a:bodyPr wrap="square"/>
                    <a:lstStyle/>
                    <a:p>
                      <a:r>
                        <a:rPr sz="900" b="1" i="0">
                          <a:solidFill>
                            <a:srgbClr val="FFFFFF"/>
                          </a:solidFill>
                          <a:latin typeface="Inter"/>
                        </a:rPr>
                        <a:t>Commercial SaaS</a:t>
                      </a:r>
                    </a:p>
                  </a:txBody>
                  <a:tcPr marL="73152" marR="73152" marT="36576" marB="36576" anchor="ctr">
                    <a:solidFill>
                      <a:srgbClr val="1B2A55"/>
                    </a:solidFill>
                  </a:tcPr>
                </a:tc>
                <a:tc>
                  <a:txBody>
                    <a:bodyPr wrap="square"/>
                    <a:lstStyle/>
                    <a:p>
                      <a:r>
                        <a:rPr sz="900" b="1" i="0">
                          <a:solidFill>
                            <a:srgbClr val="FFFFFF"/>
                          </a:solidFill>
                          <a:latin typeface="Inter"/>
                        </a:rPr>
                        <a:t>Helios / Belenios</a:t>
                      </a:r>
                    </a:p>
                  </a:txBody>
                  <a:tcPr marL="73152" marR="73152" marT="36576" marB="36576" anchor="ctr">
                    <a:solidFill>
                      <a:srgbClr val="1B2A55"/>
                    </a:solidFill>
                  </a:tcPr>
                </a:tc>
                <a:tc>
                  <a:txBody>
                    <a:bodyPr wrap="square"/>
                    <a:lstStyle/>
                    <a:p>
                      <a:r>
                        <a:rPr sz="900" b="1" i="0">
                          <a:solidFill>
                            <a:srgbClr val="FFFFFF"/>
                          </a:solidFill>
                          <a:latin typeface="Inter"/>
                        </a:rPr>
                        <a:t>PolyVote</a:t>
                      </a:r>
                    </a:p>
                  </a:txBody>
                  <a:tcPr marL="73152" marR="73152" marT="36576" marB="36576" anchor="ctr">
                    <a:solidFill>
                      <a:srgbClr val="1B2A55"/>
                    </a:solidFill>
                  </a:tcPr>
                </a:tc>
              </a:tr>
              <a:tr h="292608">
                <a:tc>
                  <a:txBody>
                    <a:bodyPr wrap="square"/>
                    <a:lstStyle/>
                    <a:p>
                      <a:r>
                        <a:rPr sz="850" b="1" i="0">
                          <a:solidFill>
                            <a:srgbClr val="1B2A55"/>
                          </a:solidFill>
                          <a:latin typeface="Inter"/>
                        </a:rPr>
                        <a:t>Ranked-choice (instant-runoff) built in</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Advertised</a:t>
                      </a:r>
                    </a:p>
                  </a:txBody>
                  <a:tcPr marL="73152" marR="73152" marT="36576" marB="36576" anchor="ctr">
                    <a:solidFill>
                      <a:srgbClr val="FFFFFF"/>
                    </a:solidFill>
                  </a:tcPr>
                </a:tc>
                <a:tc>
                  <a:txBody>
                    <a:bodyPr wrap="square"/>
                    <a:lstStyle/>
                    <a:p>
                      <a:r>
                        <a:rPr sz="850" b="0" i="0">
                          <a:solidFill>
                            <a:srgbClr val="353B4A"/>
                          </a:solidFill>
                          <a:latin typeface="Inter"/>
                        </a:rPr>
                        <a:t>Varies</a:t>
                      </a:r>
                    </a:p>
                  </a:txBody>
                  <a:tcPr marL="73152" marR="73152" marT="36576" marB="36576" anchor="ctr">
                    <a:solidFill>
                      <a:srgbClr val="FFFFFF"/>
                    </a:solidFill>
                  </a:tcPr>
                </a:tc>
                <a:tc>
                  <a:txBody>
                    <a:bodyPr wrap="square"/>
                    <a:lstStyle/>
                    <a:p>
                      <a:r>
                        <a:rPr sz="850" b="0" i="0">
                          <a:solidFill>
                            <a:srgbClr val="353B4A"/>
                          </a:solidFill>
                          <a:latin typeface="Inter"/>
                        </a:rPr>
                        <a:t>Yes</a:t>
                      </a:r>
                    </a:p>
                  </a:txBody>
                  <a:tcPr marL="73152" marR="73152" marT="36576" marB="36576" anchor="ctr">
                    <a:solidFill>
                      <a:srgbClr val="FFFFFF"/>
                    </a:solidFill>
                  </a:tcPr>
                </a:tc>
              </a:tr>
              <a:tr h="292608">
                <a:tc>
                  <a:txBody>
                    <a:bodyPr wrap="square"/>
                    <a:lstStyle/>
                    <a:p>
                      <a:r>
                        <a:rPr sz="850" b="1" i="0">
                          <a:solidFill>
                            <a:srgbClr val="1B2A55"/>
                          </a:solidFill>
                          <a:latin typeface="Inter"/>
                        </a:rPr>
                        <a:t>Many organisations on one install</a:t>
                      </a:r>
                    </a:p>
                  </a:txBody>
                  <a:tcPr marL="73152" marR="73152" marT="36576" marB="36576" anchor="ctr">
                    <a:solidFill>
                      <a:srgbClr val="F1F0F6"/>
                    </a:solidFill>
                  </a:tcPr>
                </a:tc>
                <a:tc>
                  <a:txBody>
                    <a:bodyPr wrap="square"/>
                    <a:lstStyle/>
                    <a:p>
                      <a:r>
                        <a:rPr sz="850" b="0" i="0">
                          <a:solidFill>
                            <a:srgbClr val="353B4A"/>
                          </a:solidFill>
                          <a:latin typeface="Inter"/>
                        </a:rPr>
                        <a:t>No</a:t>
                      </a:r>
                    </a:p>
                  </a:txBody>
                  <a:tcPr marL="73152" marR="73152" marT="36576" marB="36576" anchor="ctr">
                    <a:solidFill>
                      <a:srgbClr val="F1F0F6"/>
                    </a:solidFill>
                  </a:tcPr>
                </a:tc>
                <a:tc>
                  <a:txBody>
                    <a:bodyPr wrap="square"/>
                    <a:lstStyle/>
                    <a:p>
                      <a:r>
                        <a:rPr sz="850" b="0" i="0">
                          <a:solidFill>
                            <a:srgbClr val="353B4A"/>
                          </a:solidFill>
                          <a:latin typeface="Inter"/>
                        </a:rPr>
                        <a:t>No</a:t>
                      </a:r>
                    </a:p>
                  </a:txBody>
                  <a:tcPr marL="73152" marR="73152" marT="36576" marB="36576" anchor="ctr">
                    <a:solidFill>
                      <a:srgbClr val="F1F0F6"/>
                    </a:solidFill>
                  </a:tcPr>
                </a:tc>
                <a:tc>
                  <a:txBody>
                    <a:bodyPr wrap="square"/>
                    <a:lstStyle/>
                    <a:p>
                      <a:r>
                        <a:rPr sz="850" b="0" i="0">
                          <a:solidFill>
                            <a:srgbClr val="353B4A"/>
                          </a:solidFill>
                          <a:latin typeface="Inter"/>
                        </a:rPr>
                        <a:t>Yes</a:t>
                      </a:r>
                    </a:p>
                  </a:txBody>
                  <a:tcPr marL="73152" marR="73152" marT="36576" marB="36576" anchor="ctr">
                    <a:solidFill>
                      <a:srgbClr val="F1F0F6"/>
                    </a:solidFill>
                  </a:tcPr>
                </a:tc>
                <a:tc>
                  <a:txBody>
                    <a:bodyPr wrap="square"/>
                    <a:lstStyle/>
                    <a:p>
                      <a:r>
                        <a:rPr sz="850" b="0" i="0">
                          <a:solidFill>
                            <a:srgbClr val="353B4A"/>
                          </a:solidFill>
                          <a:latin typeface="Inter"/>
                        </a:rPr>
                        <a:t>Partly</a:t>
                      </a:r>
                    </a:p>
                  </a:txBody>
                  <a:tcPr marL="73152" marR="73152" marT="36576" marB="36576" anchor="ctr">
                    <a:solidFill>
                      <a:srgbClr val="F1F0F6"/>
                    </a:solidFill>
                  </a:tcPr>
                </a:tc>
                <a:tc>
                  <a:txBody>
                    <a:bodyPr wrap="square"/>
                    <a:lstStyle/>
                    <a:p>
                      <a:r>
                        <a:rPr sz="850" b="0" i="0">
                          <a:solidFill>
                            <a:srgbClr val="353B4A"/>
                          </a:solidFill>
                          <a:latin typeface="Inter"/>
                        </a:rPr>
                        <a:t>Yes</a:t>
                      </a:r>
                    </a:p>
                  </a:txBody>
                  <a:tcPr marL="73152" marR="73152" marT="36576" marB="36576" anchor="ctr">
                    <a:solidFill>
                      <a:srgbClr val="F1F0F6"/>
                    </a:solidFill>
                  </a:tcPr>
                </a:tc>
              </a:tr>
              <a:tr h="292608">
                <a:tc>
                  <a:txBody>
                    <a:bodyPr wrap="square"/>
                    <a:lstStyle/>
                    <a:p>
                      <a:r>
                        <a:rPr sz="850" b="1" i="0">
                          <a:solidFill>
                            <a:srgbClr val="1B2A55"/>
                          </a:solidFill>
                          <a:latin typeface="Inter"/>
                        </a:rPr>
                        <a:t>One-vote rule enforced inside the database</a:t>
                      </a:r>
                    </a:p>
                  </a:txBody>
                  <a:tcPr marL="73152" marR="73152" marT="36576" marB="36576" anchor="ctr">
                    <a:solidFill>
                      <a:srgbClr val="FFFFFF"/>
                    </a:solidFill>
                  </a:tcPr>
                </a:tc>
                <a:tc>
                  <a:txBody>
                    <a:bodyPr wrap="square"/>
                    <a:lstStyle/>
                    <a:p>
                      <a:r>
                        <a:rPr sz="850" b="0" i="0">
                          <a:solidFill>
                            <a:srgbClr val="353B4A"/>
                          </a:solidFill>
                          <a:latin typeface="Inter"/>
                        </a:rPr>
                        <a:t>Rare</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Not documented</a:t>
                      </a:r>
                    </a:p>
                  </a:txBody>
                  <a:tcPr marL="73152" marR="73152" marT="36576" marB="36576" anchor="ctr">
                    <a:solidFill>
                      <a:srgbClr val="FFFFFF"/>
                    </a:solidFill>
                  </a:tcPr>
                </a:tc>
                <a:tc>
                  <a:txBody>
                    <a:bodyPr wrap="square"/>
                    <a:lstStyle/>
                    <a:p>
                      <a:r>
                        <a:rPr sz="850" b="0" i="0">
                          <a:solidFill>
                            <a:srgbClr val="353B4A"/>
                          </a:solidFill>
                          <a:latin typeface="Inter"/>
                        </a:rPr>
                        <a:t>n/a (crypto)</a:t>
                      </a:r>
                    </a:p>
                  </a:txBody>
                  <a:tcPr marL="73152" marR="73152" marT="36576" marB="36576" anchor="ctr">
                    <a:solidFill>
                      <a:srgbClr val="FFFFFF"/>
                    </a:solidFill>
                  </a:tcPr>
                </a:tc>
                <a:tc>
                  <a:txBody>
                    <a:bodyPr wrap="square"/>
                    <a:lstStyle/>
                    <a:p>
                      <a:r>
                        <a:rPr sz="850" b="0" i="0">
                          <a:solidFill>
                            <a:srgbClr val="353B4A"/>
                          </a:solidFill>
                          <a:latin typeface="Inter"/>
                        </a:rPr>
                        <a:t>Yes</a:t>
                      </a:r>
                    </a:p>
                  </a:txBody>
                  <a:tcPr marL="73152" marR="73152" marT="36576" marB="36576" anchor="ctr">
                    <a:solidFill>
                      <a:srgbClr val="FFFFFF"/>
                    </a:solidFill>
                  </a:tcPr>
                </a:tc>
              </a:tr>
              <a:tr h="292608">
                <a:tc>
                  <a:txBody>
                    <a:bodyPr wrap="square"/>
                    <a:lstStyle/>
                    <a:p>
                      <a:r>
                        <a:rPr sz="850" b="1" i="0">
                          <a:solidFill>
                            <a:srgbClr val="1B2A55"/>
                          </a:solidFill>
                          <a:latin typeface="Inter"/>
                        </a:rPr>
                        <a:t>Voter and ballot stored with no linking column</a:t>
                      </a:r>
                    </a:p>
                  </a:txBody>
                  <a:tcPr marL="73152" marR="73152" marT="36576" marB="36576" anchor="ctr">
                    <a:solidFill>
                      <a:srgbClr val="F1F0F6"/>
                    </a:solidFill>
                  </a:tcPr>
                </a:tc>
                <a:tc>
                  <a:txBody>
                    <a:bodyPr wrap="square"/>
                    <a:lstStyle/>
                    <a:p>
                      <a:r>
                        <a:rPr sz="850" b="0" i="0">
                          <a:solidFill>
                            <a:srgbClr val="353B4A"/>
                          </a:solidFill>
                          <a:latin typeface="Inter"/>
                        </a:rPr>
                        <a:t>Rare</a:t>
                      </a:r>
                    </a:p>
                  </a:txBody>
                  <a:tcPr marL="73152" marR="73152" marT="36576" marB="36576" anchor="ctr">
                    <a:solidFill>
                      <a:srgbClr val="F1F0F6"/>
                    </a:solidFill>
                  </a:tcPr>
                </a:tc>
                <a:tc>
                  <a:txBody>
                    <a:bodyPr wrap="square"/>
                    <a:lstStyle/>
                    <a:p>
                      <a:r>
                        <a:rPr sz="850" b="0" i="0">
                          <a:solidFill>
                            <a:srgbClr val="353B4A"/>
                          </a:solidFill>
                          <a:latin typeface="Inter"/>
                        </a:rPr>
                        <a:t>No</a:t>
                      </a:r>
                    </a:p>
                  </a:txBody>
                  <a:tcPr marL="73152" marR="73152" marT="36576" marB="36576" anchor="ctr">
                    <a:solidFill>
                      <a:srgbClr val="F1F0F6"/>
                    </a:solidFill>
                  </a:tcPr>
                </a:tc>
                <a:tc>
                  <a:txBody>
                    <a:bodyPr wrap="square"/>
                    <a:lstStyle/>
                    <a:p>
                      <a:r>
                        <a:rPr sz="850" b="0" i="0">
                          <a:solidFill>
                            <a:srgbClr val="353B4A"/>
                          </a:solidFill>
                          <a:latin typeface="Inter"/>
                        </a:rPr>
                        <a:t>Not documented</a:t>
                      </a:r>
                    </a:p>
                  </a:txBody>
                  <a:tcPr marL="73152" marR="73152" marT="36576" marB="36576" anchor="ctr">
                    <a:solidFill>
                      <a:srgbClr val="F1F0F6"/>
                    </a:solidFill>
                  </a:tcPr>
                </a:tc>
                <a:tc>
                  <a:txBody>
                    <a:bodyPr wrap="square"/>
                    <a:lstStyle/>
                    <a:p>
                      <a:r>
                        <a:rPr sz="850" b="0" i="0">
                          <a:solidFill>
                            <a:srgbClr val="353B4A"/>
                          </a:solidFill>
                          <a:latin typeface="Inter"/>
                        </a:rPr>
                        <a:t>Yes</a:t>
                      </a:r>
                    </a:p>
                  </a:txBody>
                  <a:tcPr marL="73152" marR="73152" marT="36576" marB="36576" anchor="ctr">
                    <a:solidFill>
                      <a:srgbClr val="F1F0F6"/>
                    </a:solidFill>
                  </a:tcPr>
                </a:tc>
                <a:tc>
                  <a:txBody>
                    <a:bodyPr wrap="square"/>
                    <a:lstStyle/>
                    <a:p>
                      <a:r>
                        <a:rPr sz="850" b="0" i="0">
                          <a:solidFill>
                            <a:srgbClr val="353B4A"/>
                          </a:solidFill>
                          <a:latin typeface="Inter"/>
                        </a:rPr>
                        <a:t>Yes</a:t>
                      </a:r>
                    </a:p>
                  </a:txBody>
                  <a:tcPr marL="73152" marR="73152" marT="36576" marB="36576" anchor="ctr">
                    <a:solidFill>
                      <a:srgbClr val="F1F0F6"/>
                    </a:solidFill>
                  </a:tcPr>
                </a:tc>
              </a:tr>
              <a:tr h="292608">
                <a:tc>
                  <a:txBody>
                    <a:bodyPr wrap="square"/>
                    <a:lstStyle/>
                    <a:p>
                      <a:r>
                        <a:rPr sz="850" b="1" i="0">
                          <a:solidFill>
                            <a:srgbClr val="1B2A55"/>
                          </a:solidFill>
                          <a:latin typeface="Inter"/>
                        </a:rPr>
                        <a:t>Tamper detection with published test evidence</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Vendor logs</a:t>
                      </a:r>
                    </a:p>
                  </a:txBody>
                  <a:tcPr marL="73152" marR="73152" marT="36576" marB="36576" anchor="ctr">
                    <a:solidFill>
                      <a:srgbClr val="FFFFFF"/>
                    </a:solidFill>
                  </a:tcPr>
                </a:tc>
                <a:tc>
                  <a:txBody>
                    <a:bodyPr wrap="square"/>
                    <a:lstStyle/>
                    <a:p>
                      <a:r>
                        <a:rPr sz="850" b="0" i="0">
                          <a:solidFill>
                            <a:srgbClr val="353B4A"/>
                          </a:solidFill>
                          <a:latin typeface="Inter"/>
                        </a:rPr>
                        <a:t>Yes</a:t>
                      </a:r>
                    </a:p>
                  </a:txBody>
                  <a:tcPr marL="73152" marR="73152" marT="36576" marB="36576" anchor="ctr">
                    <a:solidFill>
                      <a:srgbClr val="FFFFFF"/>
                    </a:solidFill>
                  </a:tcPr>
                </a:tc>
                <a:tc>
                  <a:txBody>
                    <a:bodyPr wrap="square"/>
                    <a:lstStyle/>
                    <a:p>
                      <a:r>
                        <a:rPr sz="850" b="0" i="0">
                          <a:solidFill>
                            <a:srgbClr val="353B4A"/>
                          </a:solidFill>
                          <a:latin typeface="Inter"/>
                        </a:rPr>
                        <a:t>Yes (47 tests)</a:t>
                      </a:r>
                    </a:p>
                  </a:txBody>
                  <a:tcPr marL="73152" marR="73152" marT="36576" marB="36576" anchor="ctr">
                    <a:solidFill>
                      <a:srgbClr val="FFFFFF"/>
                    </a:solidFill>
                  </a:tcPr>
                </a:tc>
              </a:tr>
              <a:tr h="292608">
                <a:tc>
                  <a:txBody>
                    <a:bodyPr wrap="square"/>
                    <a:lstStyle/>
                    <a:p>
                      <a:r>
                        <a:rPr sz="850" b="1" i="0">
                          <a:solidFill>
                            <a:srgbClr val="1B2A55"/>
                          </a:solidFill>
                          <a:latin typeface="Inter"/>
                        </a:rPr>
                        <a:t>Second factor at sign-in</a:t>
                      </a:r>
                    </a:p>
                  </a:txBody>
                  <a:tcPr marL="73152" marR="73152" marT="36576" marB="36576" anchor="ctr">
                    <a:solidFill>
                      <a:srgbClr val="F1F0F6"/>
                    </a:solidFill>
                  </a:tcPr>
                </a:tc>
                <a:tc>
                  <a:txBody>
                    <a:bodyPr wrap="square"/>
                    <a:lstStyle/>
                    <a:p>
                      <a:r>
                        <a:rPr sz="850" b="0" i="0">
                          <a:solidFill>
                            <a:srgbClr val="353B4A"/>
                          </a:solidFill>
                          <a:latin typeface="Inter"/>
                        </a:rPr>
                        <a:t>Rare</a:t>
                      </a:r>
                    </a:p>
                  </a:txBody>
                  <a:tcPr marL="73152" marR="73152" marT="36576" marB="36576" anchor="ctr">
                    <a:solidFill>
                      <a:srgbClr val="F1F0F6"/>
                    </a:solidFill>
                  </a:tcPr>
                </a:tc>
                <a:tc>
                  <a:txBody>
                    <a:bodyPr wrap="square"/>
                    <a:lstStyle/>
                    <a:p>
                      <a:r>
                        <a:rPr sz="850" b="0" i="0">
                          <a:solidFill>
                            <a:srgbClr val="353B4A"/>
                          </a:solidFill>
                          <a:latin typeface="Inter"/>
                        </a:rPr>
                        <a:t>Account login</a:t>
                      </a:r>
                    </a:p>
                  </a:txBody>
                  <a:tcPr marL="73152" marR="73152" marT="36576" marB="36576" anchor="ctr">
                    <a:solidFill>
                      <a:srgbClr val="F1F0F6"/>
                    </a:solidFill>
                  </a:tcPr>
                </a:tc>
                <a:tc>
                  <a:txBody>
                    <a:bodyPr wrap="square"/>
                    <a:lstStyle/>
                    <a:p>
                      <a:r>
                        <a:rPr sz="850" b="0" i="0">
                          <a:solidFill>
                            <a:srgbClr val="353B4A"/>
                          </a:solidFill>
                          <a:latin typeface="Inter"/>
                        </a:rPr>
                        <a:t>Often email links</a:t>
                      </a:r>
                    </a:p>
                  </a:txBody>
                  <a:tcPr marL="73152" marR="73152" marT="36576" marB="36576" anchor="ctr">
                    <a:solidFill>
                      <a:srgbClr val="F1F0F6"/>
                    </a:solidFill>
                  </a:tcPr>
                </a:tc>
                <a:tc>
                  <a:txBody>
                    <a:bodyPr wrap="square"/>
                    <a:lstStyle/>
                    <a:p>
                      <a:r>
                        <a:rPr sz="850" b="0" i="0">
                          <a:solidFill>
                            <a:srgbClr val="353B4A"/>
                          </a:solidFill>
                          <a:latin typeface="Inter"/>
                        </a:rPr>
                        <a:t>Credential email</a:t>
                      </a:r>
                    </a:p>
                  </a:txBody>
                  <a:tcPr marL="73152" marR="73152" marT="36576" marB="36576" anchor="ctr">
                    <a:solidFill>
                      <a:srgbClr val="F1F0F6"/>
                    </a:solidFill>
                  </a:tcPr>
                </a:tc>
                <a:tc>
                  <a:txBody>
                    <a:bodyPr wrap="square"/>
                    <a:lstStyle/>
                    <a:p>
                      <a:r>
                        <a:rPr sz="850" b="0" i="0">
                          <a:solidFill>
                            <a:srgbClr val="353B4A"/>
                          </a:solidFill>
                          <a:latin typeface="Inter"/>
                        </a:rPr>
                        <a:t>Emailed OTP</a:t>
                      </a:r>
                    </a:p>
                  </a:txBody>
                  <a:tcPr marL="73152" marR="73152" marT="36576" marB="36576" anchor="ctr">
                    <a:solidFill>
                      <a:srgbClr val="F1F0F6"/>
                    </a:solidFill>
                  </a:tcPr>
                </a:tc>
              </a:tr>
              <a:tr h="292608">
                <a:tc>
                  <a:txBody>
                    <a:bodyPr wrap="square"/>
                    <a:lstStyle/>
                    <a:p>
                      <a:r>
                        <a:rPr sz="850" b="1" i="0">
                          <a:solidFill>
                            <a:srgbClr val="1B2A55"/>
                          </a:solidFill>
                          <a:latin typeface="Inter"/>
                        </a:rPr>
                        <a:t>Scan-to-vote on a phone</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Varies</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Yes</a:t>
                      </a:r>
                    </a:p>
                  </a:txBody>
                  <a:tcPr marL="73152" marR="73152" marT="36576" marB="36576" anchor="ctr">
                    <a:solidFill>
                      <a:srgbClr val="FFFFFF"/>
                    </a:solidFill>
                  </a:tcPr>
                </a:tc>
              </a:tr>
              <a:tr h="292608">
                <a:tc>
                  <a:txBody>
                    <a:bodyPr wrap="square"/>
                    <a:lstStyle/>
                    <a:p>
                      <a:r>
                        <a:rPr sz="850" b="1" i="0">
                          <a:solidFill>
                            <a:srgbClr val="1B2A55"/>
                          </a:solidFill>
                          <a:latin typeface="Inter"/>
                        </a:rPr>
                        <a:t>Voter verifies own ballot content</a:t>
                      </a:r>
                    </a:p>
                  </a:txBody>
                  <a:tcPr marL="73152" marR="73152" marT="36576" marB="36576" anchor="ctr">
                    <a:solidFill>
                      <a:srgbClr val="F1F0F6"/>
                    </a:solidFill>
                  </a:tcPr>
                </a:tc>
                <a:tc>
                  <a:txBody>
                    <a:bodyPr wrap="square"/>
                    <a:lstStyle/>
                    <a:p>
                      <a:r>
                        <a:rPr sz="850" b="0" i="0">
                          <a:solidFill>
                            <a:srgbClr val="353B4A"/>
                          </a:solidFill>
                          <a:latin typeface="Inter"/>
                        </a:rPr>
                        <a:t>No</a:t>
                      </a:r>
                    </a:p>
                  </a:txBody>
                  <a:tcPr marL="73152" marR="73152" marT="36576" marB="36576" anchor="ctr">
                    <a:solidFill>
                      <a:srgbClr val="F1F0F6"/>
                    </a:solidFill>
                  </a:tcPr>
                </a:tc>
                <a:tc>
                  <a:txBody>
                    <a:bodyPr wrap="square"/>
                    <a:lstStyle/>
                    <a:p>
                      <a:r>
                        <a:rPr sz="850" b="0" i="0">
                          <a:solidFill>
                            <a:srgbClr val="353B4A"/>
                          </a:solidFill>
                          <a:latin typeface="Inter"/>
                        </a:rPr>
                        <a:t>No</a:t>
                      </a:r>
                    </a:p>
                  </a:txBody>
                  <a:tcPr marL="73152" marR="73152" marT="36576" marB="36576" anchor="ctr">
                    <a:solidFill>
                      <a:srgbClr val="F1F0F6"/>
                    </a:solidFill>
                  </a:tcPr>
                </a:tc>
                <a:tc>
                  <a:txBody>
                    <a:bodyPr wrap="square"/>
                    <a:lstStyle/>
                    <a:p>
                      <a:r>
                        <a:rPr sz="850" b="0" i="0">
                          <a:solidFill>
                            <a:srgbClr val="353B4A"/>
                          </a:solidFill>
                          <a:latin typeface="Inter"/>
                        </a:rPr>
                        <a:t>Varies</a:t>
                      </a:r>
                    </a:p>
                  </a:txBody>
                  <a:tcPr marL="73152" marR="73152" marT="36576" marB="36576" anchor="ctr">
                    <a:solidFill>
                      <a:srgbClr val="F1F0F6"/>
                    </a:solidFill>
                  </a:tcPr>
                </a:tc>
                <a:tc>
                  <a:txBody>
                    <a:bodyPr wrap="square"/>
                    <a:lstStyle/>
                    <a:p>
                      <a:r>
                        <a:rPr sz="850" b="0" i="0">
                          <a:solidFill>
                            <a:srgbClr val="353B4A"/>
                          </a:solidFill>
                          <a:latin typeface="Inter"/>
                        </a:rPr>
                        <a:t>Yes</a:t>
                      </a:r>
                    </a:p>
                  </a:txBody>
                  <a:tcPr marL="73152" marR="73152" marT="36576" marB="36576" anchor="ctr">
                    <a:solidFill>
                      <a:srgbClr val="F1F0F6"/>
                    </a:solidFill>
                  </a:tcPr>
                </a:tc>
                <a:tc>
                  <a:txBody>
                    <a:bodyPr wrap="square"/>
                    <a:lstStyle/>
                    <a:p>
                      <a:r>
                        <a:rPr sz="850" b="0" i="0">
                          <a:solidFill>
                            <a:srgbClr val="353B4A"/>
                          </a:solidFill>
                          <a:latin typeface="Inter"/>
                        </a:rPr>
                        <a:t>Recorded, counted</a:t>
                      </a:r>
                    </a:p>
                  </a:txBody>
                  <a:tcPr marL="73152" marR="73152" marT="36576" marB="36576" anchor="ctr">
                    <a:solidFill>
                      <a:srgbClr val="F1F0F6"/>
                    </a:solidFill>
                  </a:tcPr>
                </a:tc>
              </a:tr>
              <a:tr h="292608">
                <a:tc>
                  <a:txBody>
                    <a:bodyPr wrap="square"/>
                    <a:lstStyle/>
                    <a:p>
                      <a:r>
                        <a:rPr sz="850" b="1" i="0">
                          <a:solidFill>
                            <a:srgbClr val="1B2A55"/>
                          </a:solidFill>
                          <a:latin typeface="Inter"/>
                        </a:rPr>
                        <a:t>Open source, one-command run</a:t>
                      </a:r>
                    </a:p>
                  </a:txBody>
                  <a:tcPr marL="73152" marR="73152" marT="36576" marB="36576" anchor="ctr">
                    <a:solidFill>
                      <a:srgbClr val="FFFFFF"/>
                    </a:solidFill>
                  </a:tcPr>
                </a:tc>
                <a:tc>
                  <a:txBody>
                    <a:bodyPr wrap="square"/>
                    <a:lstStyle/>
                    <a:p>
                      <a:r>
                        <a:rPr sz="850" b="0" i="0">
                          <a:solidFill>
                            <a:srgbClr val="353B4A"/>
                          </a:solidFill>
                          <a:latin typeface="Inter"/>
                        </a:rPr>
                        <a:t>Often</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No</a:t>
                      </a:r>
                    </a:p>
                  </a:txBody>
                  <a:tcPr marL="73152" marR="73152" marT="36576" marB="36576" anchor="ctr">
                    <a:solidFill>
                      <a:srgbClr val="FFFFFF"/>
                    </a:solidFill>
                  </a:tcPr>
                </a:tc>
                <a:tc>
                  <a:txBody>
                    <a:bodyPr wrap="square"/>
                    <a:lstStyle/>
                    <a:p>
                      <a:r>
                        <a:rPr sz="850" b="0" i="0">
                          <a:solidFill>
                            <a:srgbClr val="353B4A"/>
                          </a:solidFill>
                          <a:latin typeface="Inter"/>
                        </a:rPr>
                        <a:t>Yes</a:t>
                      </a:r>
                    </a:p>
                  </a:txBody>
                  <a:tcPr marL="73152" marR="73152" marT="36576" marB="36576" anchor="ctr">
                    <a:solidFill>
                      <a:srgbClr val="FFFFFF"/>
                    </a:solidFill>
                  </a:tcPr>
                </a:tc>
                <a:tc>
                  <a:txBody>
                    <a:bodyPr wrap="square"/>
                    <a:lstStyle/>
                    <a:p>
                      <a:r>
                        <a:rPr sz="850" b="0" i="0">
                          <a:solidFill>
                            <a:srgbClr val="353B4A"/>
                          </a:solidFill>
                          <a:latin typeface="Inter"/>
                        </a:rPr>
                        <a:t>Yes</a:t>
                      </a:r>
                    </a:p>
                  </a:txBody>
                  <a:tcPr marL="73152" marR="73152" marT="36576" marB="36576" anchor="ctr">
                    <a:solidFill>
                      <a:srgbClr val="FFFFFF"/>
                    </a:solidFill>
                  </a:tcPr>
                </a:tc>
              </a:tr>
              <a:tr h="292608">
                <a:tc>
                  <a:txBody>
                    <a:bodyPr wrap="square"/>
                    <a:lstStyle/>
                    <a:p>
                      <a:r>
                        <a:rPr sz="850" b="1" i="0">
                          <a:solidFill>
                            <a:srgbClr val="1B2A55"/>
                          </a:solidFill>
                          <a:latin typeface="Inter"/>
                        </a:rPr>
                        <a:t>Cost to run a small election</a:t>
                      </a:r>
                    </a:p>
                  </a:txBody>
                  <a:tcPr marL="73152" marR="73152" marT="36576" marB="36576" anchor="ctr">
                    <a:solidFill>
                      <a:srgbClr val="F1F0F6"/>
                    </a:solidFill>
                  </a:tcPr>
                </a:tc>
                <a:tc>
                  <a:txBody>
                    <a:bodyPr wrap="square"/>
                    <a:lstStyle/>
                    <a:p>
                      <a:r>
                        <a:rPr sz="850" b="0" i="0">
                          <a:solidFill>
                            <a:srgbClr val="353B4A"/>
                          </a:solidFill>
                          <a:latin typeface="Inter"/>
                        </a:rPr>
                        <a:t>Free</a:t>
                      </a:r>
                    </a:p>
                  </a:txBody>
                  <a:tcPr marL="73152" marR="73152" marT="36576" marB="36576" anchor="ctr">
                    <a:solidFill>
                      <a:srgbClr val="F1F0F6"/>
                    </a:solidFill>
                  </a:tcPr>
                </a:tc>
                <a:tc>
                  <a:txBody>
                    <a:bodyPr wrap="square"/>
                    <a:lstStyle/>
                    <a:p>
                      <a:r>
                        <a:rPr sz="850" b="0" i="0">
                          <a:solidFill>
                            <a:srgbClr val="353B4A"/>
                          </a:solidFill>
                          <a:latin typeface="Inter"/>
                        </a:rPr>
                        <a:t>Free</a:t>
                      </a:r>
                    </a:p>
                  </a:txBody>
                  <a:tcPr marL="73152" marR="73152" marT="36576" marB="36576" anchor="ctr">
                    <a:solidFill>
                      <a:srgbClr val="F1F0F6"/>
                    </a:solidFill>
                  </a:tcPr>
                </a:tc>
                <a:tc>
                  <a:txBody>
                    <a:bodyPr wrap="square"/>
                    <a:lstStyle/>
                    <a:p>
                      <a:r>
                        <a:rPr sz="850" b="0" i="0">
                          <a:solidFill>
                            <a:srgbClr val="353B4A"/>
                          </a:solidFill>
                          <a:latin typeface="Inter"/>
                        </a:rPr>
                        <a:t>Paid per voter</a:t>
                      </a:r>
                    </a:p>
                  </a:txBody>
                  <a:tcPr marL="73152" marR="73152" marT="36576" marB="36576" anchor="ctr">
                    <a:solidFill>
                      <a:srgbClr val="F1F0F6"/>
                    </a:solidFill>
                  </a:tcPr>
                </a:tc>
                <a:tc>
                  <a:txBody>
                    <a:bodyPr wrap="square"/>
                    <a:lstStyle/>
                    <a:p>
                      <a:r>
                        <a:rPr sz="850" b="0" i="0">
                          <a:solidFill>
                            <a:srgbClr val="353B4A"/>
                          </a:solidFill>
                          <a:latin typeface="Inter"/>
                        </a:rPr>
                        <a:t>Free, ops-heavy</a:t>
                      </a:r>
                    </a:p>
                  </a:txBody>
                  <a:tcPr marL="73152" marR="73152" marT="36576" marB="36576" anchor="ctr">
                    <a:solidFill>
                      <a:srgbClr val="F1F0F6"/>
                    </a:solidFill>
                  </a:tcPr>
                </a:tc>
                <a:tc>
                  <a:txBody>
                    <a:bodyPr wrap="square"/>
                    <a:lstStyle/>
                    <a:p>
                      <a:r>
                        <a:rPr sz="850" b="0" i="0">
                          <a:solidFill>
                            <a:srgbClr val="353B4A"/>
                          </a:solidFill>
                          <a:latin typeface="Inter"/>
                        </a:rPr>
                        <a:t>Free</a:t>
                      </a:r>
                    </a:p>
                  </a:txBody>
                  <a:tcPr marL="73152" marR="73152" marT="36576" marB="36576" anchor="ctr">
                    <a:solidFill>
                      <a:srgbClr val="F1F0F6"/>
                    </a:solidFill>
                  </a:tcPr>
                </a:tc>
              </a:tr>
            </a:tbl>
          </a:graphicData>
        </a:graphic>
      </p:graphicFrame>
      <p:sp>
        <p:nvSpPr>
          <p:cNvPr id="7" name="TextBox 6"/>
          <p:cNvSpPr txBox="1"/>
          <p:nvPr/>
        </p:nvSpPr>
        <p:spPr>
          <a:xfrm>
            <a:off x="365760" y="4434840"/>
            <a:ext cx="8412480" cy="411480"/>
          </a:xfrm>
          <a:prstGeom prst="rect">
            <a:avLst/>
          </a:prstGeom>
          <a:noFill/>
        </p:spPr>
        <p:txBody>
          <a:bodyPr wrap="square" anchor="t" lIns="0" rIns="0" tIns="0" bIns="0">
            <a:spAutoFit/>
          </a:bodyPr>
          <a:lstStyle/>
          <a:p>
            <a:pPr algn="l">
              <a:spcAft>
                <a:spcPts val="0"/>
              </a:spcAft>
            </a:pPr>
            <a:r>
              <a:rPr sz="850" b="0" i="1">
                <a:solidFill>
                  <a:srgbClr val="666A78"/>
                </a:solidFill>
                <a:latin typeface="Inter"/>
              </a:rPr>
              <a:t>Entries for other systems come from their published designs and vendor pages, not our testing; "Varies" and "Not documented" mean we could not confirm. PolyVote's column is backed by the tests in this deck.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WHAT IS UNIQUE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Five things we found together nowhere else</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30</a:t>
            </a:r>
          </a:p>
        </p:txBody>
      </p:sp>
      <p:sp>
        <p:nvSpPr>
          <p:cNvPr id="6" name="Rounded Rectangle 5"/>
          <p:cNvSpPr/>
          <p:nvPr/>
        </p:nvSpPr>
        <p:spPr>
          <a:xfrm>
            <a:off x="457200" y="1097280"/>
            <a:ext cx="8229600" cy="621792"/>
          </a:xfrm>
          <a:prstGeom prst="roundRect">
            <a:avLst>
              <a:gd name="adj" fmla="val 12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 y="1280160"/>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1</a:t>
            </a:r>
          </a:p>
        </p:txBody>
      </p:sp>
      <p:sp>
        <p:nvSpPr>
          <p:cNvPr id="8" name="TextBox 7"/>
          <p:cNvSpPr txBox="1"/>
          <p:nvPr/>
        </p:nvSpPr>
        <p:spPr>
          <a:xfrm>
            <a:off x="1097280" y="1170432"/>
            <a:ext cx="2560320" cy="457200"/>
          </a:xfrm>
          <a:prstGeom prst="rect">
            <a:avLst/>
          </a:prstGeom>
          <a:noFill/>
        </p:spPr>
        <p:txBody>
          <a:bodyPr wrap="square" anchor="ctr" lIns="0" rIns="0" tIns="0" bIns="0">
            <a:spAutoFit/>
          </a:bodyPr>
          <a:lstStyle/>
          <a:p>
            <a:pPr algn="l">
              <a:spcAft>
                <a:spcPts val="0"/>
              </a:spcAft>
            </a:pPr>
            <a:r>
              <a:rPr sz="1200" b="1" i="0">
                <a:solidFill>
                  <a:srgbClr val="1B2A55"/>
                </a:solidFill>
                <a:latin typeface="Inter"/>
              </a:rPr>
              <a:t>Integrity inside the database</a:t>
            </a:r>
          </a:p>
        </p:txBody>
      </p:sp>
      <p:sp>
        <p:nvSpPr>
          <p:cNvPr id="9" name="TextBox 8"/>
          <p:cNvSpPr txBox="1"/>
          <p:nvPr/>
        </p:nvSpPr>
        <p:spPr>
          <a:xfrm>
            <a:off x="3749039" y="1170432"/>
            <a:ext cx="4754880" cy="475488"/>
          </a:xfrm>
          <a:prstGeom prst="rect">
            <a:avLst/>
          </a:prstGeom>
          <a:noFill/>
        </p:spPr>
        <p:txBody>
          <a:bodyPr wrap="square" anchor="ctr" lIns="0" rIns="0" tIns="0" bIns="0">
            <a:spAutoFit/>
          </a:bodyPr>
          <a:lstStyle/>
          <a:p>
            <a:pPr algn="l">
              <a:spcAft>
                <a:spcPts val="0"/>
              </a:spcAft>
            </a:pPr>
            <a:r>
              <a:rPr sz="1050" b="0" i="0">
                <a:solidFill>
                  <a:srgbClr val="353B4A"/>
                </a:solidFill>
                <a:latin typeface="Inter"/>
              </a:rPr>
              <a:t>Trigger, CHECK, unique and foreign keys refuse bad votes before any application code runs.</a:t>
            </a:r>
          </a:p>
        </p:txBody>
      </p:sp>
      <p:sp>
        <p:nvSpPr>
          <p:cNvPr id="10" name="Rounded Rectangle 9"/>
          <p:cNvSpPr/>
          <p:nvPr/>
        </p:nvSpPr>
        <p:spPr>
          <a:xfrm>
            <a:off x="457200" y="1792224"/>
            <a:ext cx="8229600" cy="621792"/>
          </a:xfrm>
          <a:prstGeom prst="roundRect">
            <a:avLst>
              <a:gd name="adj" fmla="val 12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 y="1975104"/>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2</a:t>
            </a:r>
          </a:p>
        </p:txBody>
      </p:sp>
      <p:sp>
        <p:nvSpPr>
          <p:cNvPr id="12" name="TextBox 11"/>
          <p:cNvSpPr txBox="1"/>
          <p:nvPr/>
        </p:nvSpPr>
        <p:spPr>
          <a:xfrm>
            <a:off x="1097280" y="1865376"/>
            <a:ext cx="2560320" cy="457200"/>
          </a:xfrm>
          <a:prstGeom prst="rect">
            <a:avLst/>
          </a:prstGeom>
          <a:noFill/>
        </p:spPr>
        <p:txBody>
          <a:bodyPr wrap="square" anchor="ctr" lIns="0" rIns="0" tIns="0" bIns="0">
            <a:spAutoFit/>
          </a:bodyPr>
          <a:lstStyle/>
          <a:p>
            <a:pPr algn="l">
              <a:spcAft>
                <a:spcPts val="0"/>
              </a:spcAft>
            </a:pPr>
            <a:r>
              <a:rPr sz="1200" b="1" i="0">
                <a:solidFill>
                  <a:srgbClr val="1B2A55"/>
                </a:solidFill>
                <a:latin typeface="Inter"/>
              </a:rPr>
              <a:t>Keyed ledger in a separate store</a:t>
            </a:r>
          </a:p>
        </p:txBody>
      </p:sp>
      <p:sp>
        <p:nvSpPr>
          <p:cNvPr id="13" name="TextBox 12"/>
          <p:cNvSpPr txBox="1"/>
          <p:nvPr/>
        </p:nvSpPr>
        <p:spPr>
          <a:xfrm>
            <a:off x="3749039" y="1865376"/>
            <a:ext cx="4754880" cy="475488"/>
          </a:xfrm>
          <a:prstGeom prst="rect">
            <a:avLst/>
          </a:prstGeom>
          <a:noFill/>
        </p:spPr>
        <p:txBody>
          <a:bodyPr wrap="square" anchor="ctr" lIns="0" rIns="0" tIns="0" bIns="0">
            <a:spAutoFit/>
          </a:bodyPr>
          <a:lstStyle/>
          <a:p>
            <a:pPr algn="l">
              <a:spcAft>
                <a:spcPts val="0"/>
              </a:spcAft>
            </a:pPr>
            <a:r>
              <a:rPr sz="1050" b="0" i="0">
                <a:solidFill>
                  <a:srgbClr val="353B4A"/>
                </a:solidFill>
                <a:latin typeface="Inter"/>
              </a:rPr>
              <a:t>HMAC chain in MongoDB Atlas with a sealed candidate roster: rebuilding it needs a key.</a:t>
            </a:r>
          </a:p>
        </p:txBody>
      </p:sp>
      <p:sp>
        <p:nvSpPr>
          <p:cNvPr id="14" name="Rounded Rectangle 13"/>
          <p:cNvSpPr/>
          <p:nvPr/>
        </p:nvSpPr>
        <p:spPr>
          <a:xfrm>
            <a:off x="457200" y="2487168"/>
            <a:ext cx="8229600" cy="621792"/>
          </a:xfrm>
          <a:prstGeom prst="roundRect">
            <a:avLst>
              <a:gd name="adj" fmla="val 12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 y="2670048"/>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3</a:t>
            </a:r>
          </a:p>
        </p:txBody>
      </p:sp>
      <p:sp>
        <p:nvSpPr>
          <p:cNvPr id="16" name="TextBox 15"/>
          <p:cNvSpPr txBox="1"/>
          <p:nvPr/>
        </p:nvSpPr>
        <p:spPr>
          <a:xfrm>
            <a:off x="1097280" y="2560320"/>
            <a:ext cx="2560320" cy="457200"/>
          </a:xfrm>
          <a:prstGeom prst="rect">
            <a:avLst/>
          </a:prstGeom>
          <a:noFill/>
        </p:spPr>
        <p:txBody>
          <a:bodyPr wrap="square" anchor="ctr" lIns="0" rIns="0" tIns="0" bIns="0">
            <a:spAutoFit/>
          </a:bodyPr>
          <a:lstStyle/>
          <a:p>
            <a:pPr algn="l">
              <a:spcAft>
                <a:spcPts val="0"/>
              </a:spcAft>
            </a:pPr>
            <a:r>
              <a:rPr sz="1200" b="1" i="0">
                <a:solidFill>
                  <a:srgbClr val="1B2A55"/>
                </a:solidFill>
                <a:latin typeface="Inter"/>
              </a:rPr>
              <a:t>Three separate stores</a:t>
            </a:r>
          </a:p>
        </p:txBody>
      </p:sp>
      <p:sp>
        <p:nvSpPr>
          <p:cNvPr id="17" name="TextBox 16"/>
          <p:cNvSpPr txBox="1"/>
          <p:nvPr/>
        </p:nvSpPr>
        <p:spPr>
          <a:xfrm>
            <a:off x="3749039" y="2560320"/>
            <a:ext cx="4754880" cy="475488"/>
          </a:xfrm>
          <a:prstGeom prst="rect">
            <a:avLst/>
          </a:prstGeom>
          <a:noFill/>
        </p:spPr>
        <p:txBody>
          <a:bodyPr wrap="square" anchor="ctr" lIns="0" rIns="0" tIns="0" bIns="0">
            <a:spAutoFit/>
          </a:bodyPr>
          <a:lstStyle/>
          <a:p>
            <a:pPr algn="l">
              <a:spcAft>
                <a:spcPts val="0"/>
              </a:spcAft>
            </a:pPr>
            <a:r>
              <a:rPr sz="1050" b="0" i="0">
                <a:solidFill>
                  <a:srgbClr val="353B4A"/>
                </a:solidFill>
                <a:latin typeface="Inter"/>
              </a:rPr>
              <a:t>Ballots, voter emails and the ledger never share a database or a join.</a:t>
            </a:r>
          </a:p>
        </p:txBody>
      </p:sp>
      <p:sp>
        <p:nvSpPr>
          <p:cNvPr id="18" name="Rounded Rectangle 17"/>
          <p:cNvSpPr/>
          <p:nvPr/>
        </p:nvSpPr>
        <p:spPr>
          <a:xfrm>
            <a:off x="457200" y="3182112"/>
            <a:ext cx="8229600" cy="621792"/>
          </a:xfrm>
          <a:prstGeom prst="roundRect">
            <a:avLst>
              <a:gd name="adj" fmla="val 12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 y="3364992"/>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4</a:t>
            </a:r>
          </a:p>
        </p:txBody>
      </p:sp>
      <p:sp>
        <p:nvSpPr>
          <p:cNvPr id="20" name="TextBox 19"/>
          <p:cNvSpPr txBox="1"/>
          <p:nvPr/>
        </p:nvSpPr>
        <p:spPr>
          <a:xfrm>
            <a:off x="1097280" y="3255264"/>
            <a:ext cx="2560320" cy="457200"/>
          </a:xfrm>
          <a:prstGeom prst="rect">
            <a:avLst/>
          </a:prstGeom>
          <a:noFill/>
        </p:spPr>
        <p:txBody>
          <a:bodyPr wrap="square" anchor="ctr" lIns="0" rIns="0" tIns="0" bIns="0">
            <a:spAutoFit/>
          </a:bodyPr>
          <a:lstStyle/>
          <a:p>
            <a:pPr algn="l">
              <a:spcAft>
                <a:spcPts val="0"/>
              </a:spcAft>
            </a:pPr>
            <a:r>
              <a:rPr sz="1200" b="1" i="0">
                <a:solidFill>
                  <a:srgbClr val="1B2A55"/>
                </a:solidFill>
                <a:latin typeface="Inter"/>
              </a:rPr>
              <a:t>OTP plus QR on any phone</a:t>
            </a:r>
          </a:p>
        </p:txBody>
      </p:sp>
      <p:sp>
        <p:nvSpPr>
          <p:cNvPr id="21" name="TextBox 20"/>
          <p:cNvSpPr txBox="1"/>
          <p:nvPr/>
        </p:nvSpPr>
        <p:spPr>
          <a:xfrm>
            <a:off x="3749039" y="3255264"/>
            <a:ext cx="4754880" cy="475488"/>
          </a:xfrm>
          <a:prstGeom prst="rect">
            <a:avLst/>
          </a:prstGeom>
          <a:noFill/>
        </p:spPr>
        <p:txBody>
          <a:bodyPr wrap="square" anchor="ctr" lIns="0" rIns="0" tIns="0" bIns="0">
            <a:spAutoFit/>
          </a:bodyPr>
          <a:lstStyle/>
          <a:p>
            <a:pPr algn="l">
              <a:spcAft>
                <a:spcPts val="0"/>
              </a:spcAft>
            </a:pPr>
            <a:r>
              <a:rPr sz="1050" b="0" i="0">
                <a:solidFill>
                  <a:srgbClr val="353B4A"/>
                </a:solidFill>
                <a:latin typeface="Inter"/>
              </a:rPr>
              <a:t>Emailed code with strict limits, and a QR code that opens the ballot.</a:t>
            </a:r>
          </a:p>
        </p:txBody>
      </p:sp>
      <p:sp>
        <p:nvSpPr>
          <p:cNvPr id="22" name="Rounded Rectangle 21"/>
          <p:cNvSpPr/>
          <p:nvPr/>
        </p:nvSpPr>
        <p:spPr>
          <a:xfrm>
            <a:off x="457200" y="3877056"/>
            <a:ext cx="8229600" cy="621792"/>
          </a:xfrm>
          <a:prstGeom prst="roundRect">
            <a:avLst>
              <a:gd name="adj" fmla="val 12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 y="4059936"/>
            <a:ext cx="31089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5</a:t>
            </a:r>
          </a:p>
        </p:txBody>
      </p:sp>
      <p:sp>
        <p:nvSpPr>
          <p:cNvPr id="24" name="TextBox 23"/>
          <p:cNvSpPr txBox="1"/>
          <p:nvPr/>
        </p:nvSpPr>
        <p:spPr>
          <a:xfrm>
            <a:off x="1097280" y="3950208"/>
            <a:ext cx="2560320" cy="457200"/>
          </a:xfrm>
          <a:prstGeom prst="rect">
            <a:avLst/>
          </a:prstGeom>
          <a:noFill/>
        </p:spPr>
        <p:txBody>
          <a:bodyPr wrap="square" anchor="ctr" lIns="0" rIns="0" tIns="0" bIns="0">
            <a:spAutoFit/>
          </a:bodyPr>
          <a:lstStyle/>
          <a:p>
            <a:pPr algn="l">
              <a:spcAft>
                <a:spcPts val="0"/>
              </a:spcAft>
            </a:pPr>
            <a:r>
              <a:rPr sz="1200" b="1" i="0">
                <a:solidFill>
                  <a:srgbClr val="1B2A55"/>
                </a:solidFill>
                <a:latin typeface="Inter"/>
              </a:rPr>
              <a:t>Evidence, not claims</a:t>
            </a:r>
          </a:p>
        </p:txBody>
      </p:sp>
      <p:sp>
        <p:nvSpPr>
          <p:cNvPr id="25" name="TextBox 24"/>
          <p:cNvSpPr txBox="1"/>
          <p:nvPr/>
        </p:nvSpPr>
        <p:spPr>
          <a:xfrm>
            <a:off x="3749039" y="3950208"/>
            <a:ext cx="4754880" cy="475488"/>
          </a:xfrm>
          <a:prstGeom prst="rect">
            <a:avLst/>
          </a:prstGeom>
          <a:noFill/>
        </p:spPr>
        <p:txBody>
          <a:bodyPr wrap="square" anchor="ctr" lIns="0" rIns="0" tIns="0" bIns="0">
            <a:spAutoFit/>
          </a:bodyPr>
          <a:lstStyle/>
          <a:p>
            <a:pPr algn="l">
              <a:spcAft>
                <a:spcPts val="0"/>
              </a:spcAft>
            </a:pPr>
            <a:r>
              <a:rPr sz="1050" b="0" i="0">
                <a:solidFill>
                  <a:srgbClr val="353B4A"/>
                </a:solidFill>
                <a:latin typeface="Inter"/>
              </a:rPr>
              <a:t>An executable suite attacks the old and the final design; automatic detection rose from 6 to 12 of 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COMPARATIVE STUDY · VERDICT</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Best for small elections, not a Helios replacement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31</a:t>
            </a:r>
          </a:p>
        </p:txBody>
      </p:sp>
      <p:sp>
        <p:nvSpPr>
          <p:cNvPr id="6" name="Rounded Rectangle 5"/>
          <p:cNvSpPr/>
          <p:nvPr/>
        </p:nvSpPr>
        <p:spPr>
          <a:xfrm>
            <a:off x="457200" y="1097280"/>
            <a:ext cx="4023360" cy="29260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3287268"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PolyVote IS THE BETTER FIT WHEN</a:t>
            </a:r>
          </a:p>
        </p:txBody>
      </p:sp>
      <p:sp>
        <p:nvSpPr>
          <p:cNvPr id="8" name="TextBox 7"/>
          <p:cNvSpPr txBox="1"/>
          <p:nvPr/>
        </p:nvSpPr>
        <p:spPr>
          <a:xfrm>
            <a:off x="640080" y="1600200"/>
            <a:ext cx="3657600" cy="237744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A club, council or class needs ranked-choice results.</a:t>
            </a:r>
          </a:p>
          <a:p>
            <a:pPr algn="l">
              <a:spcAft>
                <a:spcPts val="500"/>
              </a:spcAft>
            </a:pPr>
            <a:r>
              <a:rPr sz="1100" b="1" i="0">
                <a:solidFill>
                  <a:srgbClr val="1B2A55"/>
                </a:solidFill>
                <a:latin typeface="Inter"/>
              </a:rPr>
              <a:t>•  </a:t>
            </a:r>
            <a:r>
              <a:rPr sz="1100" b="0" i="0">
                <a:solidFill>
                  <a:srgbClr val="353B4A"/>
                </a:solidFill>
                <a:latin typeface="Inter"/>
              </a:rPr>
              <a:t>Someone must be able to run it in an afternoon, free.</a:t>
            </a:r>
          </a:p>
          <a:p>
            <a:pPr algn="l">
              <a:spcAft>
                <a:spcPts val="500"/>
              </a:spcAft>
            </a:pPr>
            <a:r>
              <a:rPr sz="1100" b="1" i="0">
                <a:solidFill>
                  <a:srgbClr val="1B2A55"/>
                </a:solidFill>
                <a:latin typeface="Inter"/>
              </a:rPr>
              <a:t>•  </a:t>
            </a:r>
            <a:r>
              <a:rPr sz="1100" b="0" i="0">
                <a:solidFill>
                  <a:srgbClr val="353B4A"/>
                </a:solidFill>
                <a:latin typeface="Inter"/>
              </a:rPr>
              <a:t>You need proof that edits and deletions are caught.</a:t>
            </a:r>
          </a:p>
          <a:p>
            <a:pPr algn="l">
              <a:spcAft>
                <a:spcPts val="500"/>
              </a:spcAft>
            </a:pPr>
            <a:r>
              <a:rPr sz="1100" b="1" i="0">
                <a:solidFill>
                  <a:srgbClr val="1B2A55"/>
                </a:solidFill>
                <a:latin typeface="Inter"/>
              </a:rPr>
              <a:t>•  </a:t>
            </a:r>
            <a:r>
              <a:rPr sz="1100" b="0" i="0">
                <a:solidFill>
                  <a:srgbClr val="353B4A"/>
                </a:solidFill>
                <a:latin typeface="Inter"/>
              </a:rPr>
              <a:t>Voters should confirm themselves by email and vote from a phone.</a:t>
            </a:r>
          </a:p>
        </p:txBody>
      </p:sp>
      <p:sp>
        <p:nvSpPr>
          <p:cNvPr id="9" name="Rounded Rectangle 8"/>
          <p:cNvSpPr/>
          <p:nvPr/>
        </p:nvSpPr>
        <p:spPr>
          <a:xfrm>
            <a:off x="4663440" y="1097280"/>
            <a:ext cx="4023360" cy="29260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6320" y="1225296"/>
            <a:ext cx="309524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CHOOSE HELIOS / BELENIOS WHEN</a:t>
            </a:r>
          </a:p>
        </p:txBody>
      </p:sp>
      <p:sp>
        <p:nvSpPr>
          <p:cNvPr id="11" name="TextBox 10"/>
          <p:cNvSpPr txBox="1"/>
          <p:nvPr/>
        </p:nvSpPr>
        <p:spPr>
          <a:xfrm>
            <a:off x="4846320" y="1600200"/>
            <a:ext cx="3657600" cy="237744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The administrator itself cannot be trusted.</a:t>
            </a:r>
          </a:p>
          <a:p>
            <a:pPr algn="l">
              <a:spcAft>
                <a:spcPts val="500"/>
              </a:spcAft>
            </a:pPr>
            <a:r>
              <a:rPr sz="1100" b="1" i="0">
                <a:solidFill>
                  <a:srgbClr val="1B2A55"/>
                </a:solidFill>
                <a:latin typeface="Inter"/>
              </a:rPr>
              <a:t>•  </a:t>
            </a:r>
            <a:r>
              <a:rPr sz="1100" b="0" i="0">
                <a:solidFill>
                  <a:srgbClr val="353B4A"/>
                </a:solidFill>
                <a:latin typeface="Inter"/>
              </a:rPr>
              <a:t>Voters must verify their own ballot content.</a:t>
            </a:r>
          </a:p>
          <a:p>
            <a:pPr algn="l">
              <a:spcAft>
                <a:spcPts val="500"/>
              </a:spcAft>
            </a:pPr>
            <a:r>
              <a:rPr sz="1100" b="1" i="0">
                <a:solidFill>
                  <a:srgbClr val="1B2A55"/>
                </a:solidFill>
                <a:latin typeface="Inter"/>
              </a:rPr>
              <a:t>•  </a:t>
            </a:r>
            <a:r>
              <a:rPr sz="1100" b="0" i="0">
                <a:solidFill>
                  <a:srgbClr val="353B4A"/>
                </a:solidFill>
                <a:latin typeface="Inter"/>
              </a:rPr>
              <a:t>Coercion or vote selling is a real threat.</a:t>
            </a:r>
          </a:p>
          <a:p>
            <a:pPr algn="l">
              <a:spcAft>
                <a:spcPts val="500"/>
              </a:spcAft>
            </a:pPr>
            <a:r>
              <a:rPr sz="1100" b="1" i="0">
                <a:solidFill>
                  <a:srgbClr val="1B2A55"/>
                </a:solidFill>
                <a:latin typeface="Inter"/>
              </a:rPr>
              <a:t>•  </a:t>
            </a:r>
            <a:r>
              <a:rPr sz="1100" b="0" i="0">
                <a:solidFill>
                  <a:srgbClr val="353B4A"/>
                </a:solidFill>
                <a:latin typeface="Inter"/>
              </a:rPr>
              <a:t>A public cryptographic audit is required.</a:t>
            </a:r>
          </a:p>
        </p:txBody>
      </p:sp>
      <p:sp>
        <p:nvSpPr>
          <p:cNvPr id="12" name="Rounded Rectangle 11"/>
          <p:cNvSpPr/>
          <p:nvPr/>
        </p:nvSpPr>
        <p:spPr>
          <a:xfrm>
            <a:off x="457200" y="4160520"/>
            <a:ext cx="8229600" cy="502920"/>
          </a:xfrm>
          <a:prstGeom prst="roundRect">
            <a:avLst>
              <a:gd name="adj" fmla="val 6000"/>
            </a:avLst>
          </a:prstGeom>
          <a:solidFill>
            <a:srgbClr val="F1F0F6"/>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06240"/>
            <a:ext cx="7863840" cy="411480"/>
          </a:xfrm>
          <a:prstGeom prst="rect">
            <a:avLst/>
          </a:prstGeom>
          <a:noFill/>
        </p:spPr>
        <p:txBody>
          <a:bodyPr wrap="square" anchor="ctr" lIns="0" rIns="0" tIns="0" bIns="0">
            <a:spAutoFit/>
          </a:bodyPr>
          <a:lstStyle/>
          <a:p>
            <a:pPr algn="l">
              <a:spcAft>
                <a:spcPts val="0"/>
              </a:spcAft>
            </a:pPr>
            <a:r>
              <a:rPr sz="1100" b="1" i="0">
                <a:solidFill>
                  <a:srgbClr val="1B2A55"/>
                </a:solidFill>
                <a:latin typeface="Inter"/>
              </a:rPr>
              <a:t>Our claim: for the elections it targets, PolyVote is simpler to run, enforces more inside the database, and is the only one here with tested evidence.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REVIEW 2 DESIGN VERSUS FINAL DESIGN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improved, measured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32</a:t>
            </a:r>
          </a:p>
        </p:txBody>
      </p:sp>
      <p:graphicFrame>
        <p:nvGraphicFramePr>
          <p:cNvPr id="6" name="Table 5"/>
          <p:cNvGraphicFramePr>
            <a:graphicFrameLocks noGrp="1"/>
          </p:cNvGraphicFramePr>
          <p:nvPr/>
        </p:nvGraphicFramePr>
        <p:xfrm>
          <a:off x="457200" y="1097280"/>
          <a:ext cx="8229600" cy="3438144"/>
        </p:xfrm>
        <a:graphic>
          <a:graphicData uri="http://schemas.openxmlformats.org/drawingml/2006/table">
            <a:tbl>
              <a:tblPr firstRow="1" bandRow="1">
                <a:tableStyleId>{5C22544A-7EE6-4342-B048-85BDC9FD1C3A}</a:tableStyleId>
              </a:tblPr>
              <a:tblGrid>
                <a:gridCol w="3657600"/>
                <a:gridCol w="2468880"/>
                <a:gridCol w="2103120"/>
              </a:tblGrid>
              <a:tr h="365760">
                <a:tc>
                  <a:txBody>
                    <a:bodyPr wrap="square"/>
                    <a:lstStyle/>
                    <a:p>
                      <a:r>
                        <a:rPr sz="1000" b="1" i="0">
                          <a:solidFill>
                            <a:srgbClr val="FFFFFF"/>
                          </a:solidFill>
                          <a:latin typeface="Inter"/>
                        </a:rPr>
                        <a:t>Measure</a:t>
                      </a:r>
                    </a:p>
                  </a:txBody>
                  <a:tcPr marL="73152" marR="73152" marT="36576" marB="36576" anchor="ctr">
                    <a:solidFill>
                      <a:srgbClr val="1B2A55"/>
                    </a:solidFill>
                  </a:tcPr>
                </a:tc>
                <a:tc>
                  <a:txBody>
                    <a:bodyPr wrap="square"/>
                    <a:lstStyle/>
                    <a:p>
                      <a:r>
                        <a:rPr sz="1000" b="1" i="0">
                          <a:solidFill>
                            <a:srgbClr val="FFFFFF"/>
                          </a:solidFill>
                          <a:latin typeface="Inter"/>
                        </a:rPr>
                        <a:t>Review 2</a:t>
                      </a:r>
                    </a:p>
                  </a:txBody>
                  <a:tcPr marL="73152" marR="73152" marT="36576" marB="36576" anchor="ctr">
                    <a:solidFill>
                      <a:srgbClr val="1B2A55"/>
                    </a:solidFill>
                  </a:tcPr>
                </a:tc>
                <a:tc>
                  <a:txBody>
                    <a:bodyPr wrap="square"/>
                    <a:lstStyle/>
                    <a:p>
                      <a:r>
                        <a:rPr sz="1000" b="1" i="0">
                          <a:solidFill>
                            <a:srgbClr val="FFFFFF"/>
                          </a:solidFill>
                          <a:latin typeface="Inter"/>
                        </a:rPr>
                        <a:t>Final</a:t>
                      </a:r>
                    </a:p>
                  </a:txBody>
                  <a:tcPr marL="73152" marR="73152" marT="36576" marB="36576" anchor="ctr">
                    <a:solidFill>
                      <a:srgbClr val="1B2A55"/>
                    </a:solidFill>
                  </a:tcPr>
                </a:tc>
              </a:tr>
              <a:tr h="384048">
                <a:tc>
                  <a:txBody>
                    <a:bodyPr wrap="square"/>
                    <a:lstStyle/>
                    <a:p>
                      <a:r>
                        <a:rPr sz="1050" b="1" i="0">
                          <a:solidFill>
                            <a:srgbClr val="1B2A55"/>
                          </a:solidFill>
                          <a:latin typeface="Inter"/>
                        </a:rPr>
                        <a:t>Tampering detected automatically</a:t>
                      </a:r>
                    </a:p>
                  </a:txBody>
                  <a:tcPr marL="73152" marR="73152" marT="36576" marB="36576" anchor="ctr">
                    <a:solidFill>
                      <a:srgbClr val="FFFFFF"/>
                    </a:solidFill>
                  </a:tcPr>
                </a:tc>
                <a:tc>
                  <a:txBody>
                    <a:bodyPr wrap="square"/>
                    <a:lstStyle/>
                    <a:p>
                      <a:r>
                        <a:rPr sz="1050" b="0" i="0">
                          <a:solidFill>
                            <a:srgbClr val="353B4A"/>
                          </a:solidFill>
                          <a:latin typeface="Inter"/>
                        </a:rPr>
                        <a:t>6 of 13</a:t>
                      </a:r>
                    </a:p>
                  </a:txBody>
                  <a:tcPr marL="73152" marR="73152" marT="36576" marB="36576" anchor="ctr">
                    <a:solidFill>
                      <a:srgbClr val="FFFFFF"/>
                    </a:solidFill>
                  </a:tcPr>
                </a:tc>
                <a:tc>
                  <a:txBody>
                    <a:bodyPr wrap="square"/>
                    <a:lstStyle/>
                    <a:p>
                      <a:r>
                        <a:rPr sz="1050" b="0" i="0">
                          <a:solidFill>
                            <a:srgbClr val="353B4A"/>
                          </a:solidFill>
                          <a:latin typeface="Inter"/>
                        </a:rPr>
                        <a:t>12 of 13</a:t>
                      </a:r>
                    </a:p>
                  </a:txBody>
                  <a:tcPr marL="73152" marR="73152" marT="36576" marB="36576" anchor="ctr">
                    <a:solidFill>
                      <a:srgbClr val="FFFFFF"/>
                    </a:solidFill>
                  </a:tcPr>
                </a:tc>
              </a:tr>
              <a:tr h="384048">
                <a:tc>
                  <a:txBody>
                    <a:bodyPr wrap="square"/>
                    <a:lstStyle/>
                    <a:p>
                      <a:r>
                        <a:rPr sz="1050" b="1" i="0">
                          <a:solidFill>
                            <a:srgbClr val="1B2A55"/>
                          </a:solidFill>
                          <a:latin typeface="Inter"/>
                        </a:rPr>
                        <a:t>Forged receipt or chain rewrite</a:t>
                      </a:r>
                    </a:p>
                  </a:txBody>
                  <a:tcPr marL="73152" marR="73152" marT="36576" marB="36576" anchor="ctr">
                    <a:solidFill>
                      <a:srgbClr val="F1F0F6"/>
                    </a:solidFill>
                  </a:tcPr>
                </a:tc>
                <a:tc>
                  <a:txBody>
                    <a:bodyPr wrap="square"/>
                    <a:lstStyle/>
                    <a:p>
                      <a:r>
                        <a:rPr sz="1050" b="0" i="0">
                          <a:solidFill>
                            <a:srgbClr val="353B4A"/>
                          </a:solidFill>
                          <a:latin typeface="Inter"/>
                        </a:rPr>
                        <a:t>Undetected</a:t>
                      </a:r>
                    </a:p>
                  </a:txBody>
                  <a:tcPr marL="73152" marR="73152" marT="36576" marB="36576" anchor="ctr">
                    <a:solidFill>
                      <a:srgbClr val="F1F0F6"/>
                    </a:solidFill>
                  </a:tcPr>
                </a:tc>
                <a:tc>
                  <a:txBody>
                    <a:bodyPr wrap="square"/>
                    <a:lstStyle/>
                    <a:p>
                      <a:r>
                        <a:rPr sz="1050" b="0" i="0">
                          <a:solidFill>
                            <a:srgbClr val="353B4A"/>
                          </a:solidFill>
                          <a:latin typeface="Inter"/>
                        </a:rPr>
                        <a:t>Detected (key)</a:t>
                      </a:r>
                    </a:p>
                  </a:txBody>
                  <a:tcPr marL="73152" marR="73152" marT="36576" marB="36576" anchor="ctr">
                    <a:solidFill>
                      <a:srgbClr val="F1F0F6"/>
                    </a:solidFill>
                  </a:tcPr>
                </a:tc>
              </a:tr>
              <a:tr h="384048">
                <a:tc>
                  <a:txBody>
                    <a:bodyPr wrap="square"/>
                    <a:lstStyle/>
                    <a:p>
                      <a:r>
                        <a:rPr sz="1050" b="1" i="0">
                          <a:solidFill>
                            <a:srgbClr val="1B2A55"/>
                          </a:solidFill>
                          <a:latin typeface="Inter"/>
                        </a:rPr>
                        <a:t>Candidate renaming</a:t>
                      </a:r>
                    </a:p>
                  </a:txBody>
                  <a:tcPr marL="73152" marR="73152" marT="36576" marB="36576" anchor="ctr">
                    <a:solidFill>
                      <a:srgbClr val="FFFFFF"/>
                    </a:solidFill>
                  </a:tcPr>
                </a:tc>
                <a:tc>
                  <a:txBody>
                    <a:bodyPr wrap="square"/>
                    <a:lstStyle/>
                    <a:p>
                      <a:r>
                        <a:rPr sz="1050" b="0" i="0">
                          <a:solidFill>
                            <a:srgbClr val="353B4A"/>
                          </a:solidFill>
                          <a:latin typeface="Inter"/>
                        </a:rPr>
                        <a:t>Undetected</a:t>
                      </a:r>
                    </a:p>
                  </a:txBody>
                  <a:tcPr marL="73152" marR="73152" marT="36576" marB="36576" anchor="ctr">
                    <a:solidFill>
                      <a:srgbClr val="FFFFFF"/>
                    </a:solidFill>
                  </a:tcPr>
                </a:tc>
                <a:tc>
                  <a:txBody>
                    <a:bodyPr wrap="square"/>
                    <a:lstStyle/>
                    <a:p>
                      <a:r>
                        <a:rPr sz="1050" b="0" i="0">
                          <a:solidFill>
                            <a:srgbClr val="353B4A"/>
                          </a:solidFill>
                          <a:latin typeface="Inter"/>
                        </a:rPr>
                        <a:t>Detected (sealed roster)</a:t>
                      </a:r>
                    </a:p>
                  </a:txBody>
                  <a:tcPr marL="73152" marR="73152" marT="36576" marB="36576" anchor="ctr">
                    <a:solidFill>
                      <a:srgbClr val="FFFFFF"/>
                    </a:solidFill>
                  </a:tcPr>
                </a:tc>
              </a:tr>
              <a:tr h="384048">
                <a:tc>
                  <a:txBody>
                    <a:bodyPr wrap="square"/>
                    <a:lstStyle/>
                    <a:p>
                      <a:r>
                        <a:rPr sz="1050" b="1" i="0">
                          <a:solidFill>
                            <a:srgbClr val="1B2A55"/>
                          </a:solidFill>
                          <a:latin typeface="Inter"/>
                        </a:rPr>
                        <a:t>Voter authentication</a:t>
                      </a:r>
                    </a:p>
                  </a:txBody>
                  <a:tcPr marL="73152" marR="73152" marT="36576" marB="36576" anchor="ctr">
                    <a:solidFill>
                      <a:srgbClr val="F1F0F6"/>
                    </a:solidFill>
                  </a:tcPr>
                </a:tc>
                <a:tc>
                  <a:txBody>
                    <a:bodyPr wrap="square"/>
                    <a:lstStyle/>
                    <a:p>
                      <a:r>
                        <a:rPr sz="1050" b="0" i="0">
                          <a:solidFill>
                            <a:srgbClr val="353B4A"/>
                          </a:solidFill>
                          <a:latin typeface="Inter"/>
                        </a:rPr>
                        <a:t>Password</a:t>
                      </a:r>
                    </a:p>
                  </a:txBody>
                  <a:tcPr marL="73152" marR="73152" marT="36576" marB="36576" anchor="ctr">
                    <a:solidFill>
                      <a:srgbClr val="F1F0F6"/>
                    </a:solidFill>
                  </a:tcPr>
                </a:tc>
                <a:tc>
                  <a:txBody>
                    <a:bodyPr wrap="square"/>
                    <a:lstStyle/>
                    <a:p>
                      <a:r>
                        <a:rPr sz="1050" b="0" i="0">
                          <a:solidFill>
                            <a:srgbClr val="353B4A"/>
                          </a:solidFill>
                          <a:latin typeface="Inter"/>
                        </a:rPr>
                        <a:t>Password + emailed code</a:t>
                      </a:r>
                    </a:p>
                  </a:txBody>
                  <a:tcPr marL="73152" marR="73152" marT="36576" marB="36576" anchor="ctr">
                    <a:solidFill>
                      <a:srgbClr val="F1F0F6"/>
                    </a:solidFill>
                  </a:tcPr>
                </a:tc>
              </a:tr>
              <a:tr h="384048">
                <a:tc>
                  <a:txBody>
                    <a:bodyPr wrap="square"/>
                    <a:lstStyle/>
                    <a:p>
                      <a:r>
                        <a:rPr sz="1050" b="1" i="0">
                          <a:solidFill>
                            <a:srgbClr val="1B2A55"/>
                          </a:solidFill>
                          <a:latin typeface="Inter"/>
                        </a:rPr>
                        <a:t>Ledger storage</a:t>
                      </a:r>
                    </a:p>
                  </a:txBody>
                  <a:tcPr marL="73152" marR="73152" marT="36576" marB="36576" anchor="ctr">
                    <a:solidFill>
                      <a:srgbClr val="FFFFFF"/>
                    </a:solidFill>
                  </a:tcPr>
                </a:tc>
                <a:tc>
                  <a:txBody>
                    <a:bodyPr wrap="square"/>
                    <a:lstStyle/>
                    <a:p>
                      <a:r>
                        <a:rPr sz="1050" b="0" i="0">
                          <a:solidFill>
                            <a:srgbClr val="353B4A"/>
                          </a:solidFill>
                          <a:latin typeface="Inter"/>
                        </a:rPr>
                        <a:t>Local file</a:t>
                      </a:r>
                    </a:p>
                  </a:txBody>
                  <a:tcPr marL="73152" marR="73152" marT="36576" marB="36576" anchor="ctr">
                    <a:solidFill>
                      <a:srgbClr val="FFFFFF"/>
                    </a:solidFill>
                  </a:tcPr>
                </a:tc>
                <a:tc>
                  <a:txBody>
                    <a:bodyPr wrap="square"/>
                    <a:lstStyle/>
                    <a:p>
                      <a:r>
                        <a:rPr sz="1050" b="0" i="0">
                          <a:solidFill>
                            <a:srgbClr val="353B4A"/>
                          </a:solidFill>
                          <a:latin typeface="Inter"/>
                        </a:rPr>
                        <a:t>MongoDB Atlas</a:t>
                      </a:r>
                    </a:p>
                  </a:txBody>
                  <a:tcPr marL="73152" marR="73152" marT="36576" marB="36576" anchor="ctr">
                    <a:solidFill>
                      <a:srgbClr val="FFFFFF"/>
                    </a:solidFill>
                  </a:tcPr>
                </a:tc>
              </a:tr>
              <a:tr h="384048">
                <a:tc>
                  <a:txBody>
                    <a:bodyPr wrap="square"/>
                    <a:lstStyle/>
                    <a:p>
                      <a:r>
                        <a:rPr sz="1050" b="1" i="0">
                          <a:solidFill>
                            <a:srgbClr val="1B2A55"/>
                          </a:solidFill>
                          <a:latin typeface="Inter"/>
                        </a:rPr>
                        <a:t>Ledger append at 10,000 ballots</a:t>
                      </a:r>
                    </a:p>
                  </a:txBody>
                  <a:tcPr marL="73152" marR="73152" marT="36576" marB="36576" anchor="ctr">
                    <a:solidFill>
                      <a:srgbClr val="F1F0F6"/>
                    </a:solidFill>
                  </a:tcPr>
                </a:tc>
                <a:tc>
                  <a:txBody>
                    <a:bodyPr wrap="square"/>
                    <a:lstStyle/>
                    <a:p>
                      <a:r>
                        <a:rPr sz="1050" b="0" i="0">
                          <a:solidFill>
                            <a:srgbClr val="353B4A"/>
                          </a:solidFill>
                          <a:latin typeface="Inter"/>
                        </a:rPr>
                        <a:t>205 ms (file, whole cast)</a:t>
                      </a:r>
                    </a:p>
                  </a:txBody>
                  <a:tcPr marL="73152" marR="73152" marT="36576" marB="36576" anchor="ctr">
                    <a:solidFill>
                      <a:srgbClr val="F1F0F6"/>
                    </a:solidFill>
                  </a:tcPr>
                </a:tc>
                <a:tc>
                  <a:txBody>
                    <a:bodyPr wrap="square"/>
                    <a:lstStyle/>
                    <a:p>
                      <a:r>
                        <a:rPr sz="1050" b="0" i="0">
                          <a:solidFill>
                            <a:srgbClr val="353B4A"/>
                          </a:solidFill>
                          <a:latin typeface="Inter"/>
                        </a:rPr>
                        <a:t>~147 ms (Atlas, flat)</a:t>
                      </a:r>
                    </a:p>
                  </a:txBody>
                  <a:tcPr marL="73152" marR="73152" marT="36576" marB="36576" anchor="ctr">
                    <a:solidFill>
                      <a:srgbClr val="F1F0F6"/>
                    </a:solidFill>
                  </a:tcPr>
                </a:tc>
              </a:tr>
              <a:tr h="384048">
                <a:tc>
                  <a:txBody>
                    <a:bodyPr wrap="square"/>
                    <a:lstStyle/>
                    <a:p>
                      <a:r>
                        <a:rPr sz="1050" b="1" i="0">
                          <a:solidFill>
                            <a:srgbClr val="1B2A55"/>
                          </a:solidFill>
                          <a:latin typeface="Inter"/>
                        </a:rPr>
                        <a:t>Sweep at 10,000 ballots</a:t>
                      </a:r>
                    </a:p>
                  </a:txBody>
                  <a:tcPr marL="73152" marR="73152" marT="36576" marB="36576" anchor="ctr">
                    <a:solidFill>
                      <a:srgbClr val="FFFFFF"/>
                    </a:solidFill>
                  </a:tcPr>
                </a:tc>
                <a:tc>
                  <a:txBody>
                    <a:bodyPr wrap="square"/>
                    <a:lstStyle/>
                    <a:p>
                      <a:r>
                        <a:rPr sz="1050" b="0" i="0">
                          <a:solidFill>
                            <a:srgbClr val="353B4A"/>
                          </a:solidFill>
                          <a:latin typeface="Inter"/>
                        </a:rPr>
                        <a:t>129 ms</a:t>
                      </a:r>
                    </a:p>
                  </a:txBody>
                  <a:tcPr marL="73152" marR="73152" marT="36576" marB="36576" anchor="ctr">
                    <a:solidFill>
                      <a:srgbClr val="FFFFFF"/>
                    </a:solidFill>
                  </a:tcPr>
                </a:tc>
                <a:tc>
                  <a:txBody>
                    <a:bodyPr wrap="square"/>
                    <a:lstStyle/>
                    <a:p>
                      <a:r>
                        <a:rPr sz="1050" b="0" i="0">
                          <a:solidFill>
                            <a:srgbClr val="353B4A"/>
                          </a:solidFill>
                          <a:latin typeface="Inter"/>
                        </a:rPr>
                        <a:t>147 ms</a:t>
                      </a:r>
                    </a:p>
                  </a:txBody>
                  <a:tcPr marL="73152" marR="73152" marT="36576" marB="36576" anchor="ctr">
                    <a:solidFill>
                      <a:srgbClr val="FFFFFF"/>
                    </a:solidFill>
                  </a:tcPr>
                </a:tc>
              </a:tr>
              <a:tr h="384048">
                <a:tc>
                  <a:txBody>
                    <a:bodyPr wrap="square"/>
                    <a:lstStyle/>
                    <a:p>
                      <a:r>
                        <a:rPr sz="1050" b="1" i="0">
                          <a:solidFill>
                            <a:srgbClr val="1B2A55"/>
                          </a:solidFill>
                          <a:latin typeface="Inter"/>
                        </a:rPr>
                        <a:t>Access</a:t>
                      </a:r>
                    </a:p>
                  </a:txBody>
                  <a:tcPr marL="73152" marR="73152" marT="36576" marB="36576" anchor="ctr">
                    <a:solidFill>
                      <a:srgbClr val="F1F0F6"/>
                    </a:solidFill>
                  </a:tcPr>
                </a:tc>
                <a:tc>
                  <a:txBody>
                    <a:bodyPr wrap="square"/>
                    <a:lstStyle/>
                    <a:p>
                      <a:r>
                        <a:rPr sz="1050" b="0" i="0">
                          <a:solidFill>
                            <a:srgbClr val="353B4A"/>
                          </a:solidFill>
                          <a:latin typeface="Inter"/>
                        </a:rPr>
                        <a:t>Local only</a:t>
                      </a:r>
                    </a:p>
                  </a:txBody>
                  <a:tcPr marL="73152" marR="73152" marT="36576" marB="36576" anchor="ctr">
                    <a:solidFill>
                      <a:srgbClr val="F1F0F6"/>
                    </a:solidFill>
                  </a:tcPr>
                </a:tc>
                <a:tc>
                  <a:txBody>
                    <a:bodyPr wrap="square"/>
                    <a:lstStyle/>
                    <a:p>
                      <a:r>
                        <a:rPr sz="1050" b="0" i="0">
                          <a:solidFill>
                            <a:srgbClr val="353B4A"/>
                          </a:solidFill>
                          <a:latin typeface="Inter"/>
                        </a:rPr>
                        <a:t>Public link + QR</a:t>
                      </a:r>
                    </a:p>
                  </a:txBody>
                  <a:tcPr marL="73152" marR="73152" marT="36576" marB="36576" anchor="ctr">
                    <a:solidFill>
                      <a:srgbClr val="F1F0F6"/>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LIMITATIONS AND FUTURE WORK</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we do not claim, and what comes next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33</a:t>
            </a:r>
          </a:p>
        </p:txBody>
      </p:sp>
      <p:graphicFrame>
        <p:nvGraphicFramePr>
          <p:cNvPr id="6" name="Table 5"/>
          <p:cNvGraphicFramePr>
            <a:graphicFrameLocks noGrp="1"/>
          </p:cNvGraphicFramePr>
          <p:nvPr/>
        </p:nvGraphicFramePr>
        <p:xfrm>
          <a:off x="457200" y="1097280"/>
          <a:ext cx="8229600" cy="3310128"/>
        </p:xfrm>
        <a:graphic>
          <a:graphicData uri="http://schemas.openxmlformats.org/drawingml/2006/table">
            <a:tbl>
              <a:tblPr firstRow="1" bandRow="1">
                <a:tableStyleId>{5C22544A-7EE6-4342-B048-85BDC9FD1C3A}</a:tableStyleId>
              </a:tblPr>
              <a:tblGrid>
                <a:gridCol w="4206240"/>
                <a:gridCol w="4023360"/>
              </a:tblGrid>
              <a:tr h="365760">
                <a:tc>
                  <a:txBody>
                    <a:bodyPr wrap="square"/>
                    <a:lstStyle/>
                    <a:p>
                      <a:r>
                        <a:rPr sz="1000" b="1" i="0">
                          <a:solidFill>
                            <a:srgbClr val="FFFFFF"/>
                          </a:solidFill>
                          <a:latin typeface="Inter"/>
                        </a:rPr>
                        <a:t>Limitation</a:t>
                      </a:r>
                    </a:p>
                  </a:txBody>
                  <a:tcPr marL="73152" marR="73152" marT="36576" marB="36576" anchor="ctr">
                    <a:solidFill>
                      <a:srgbClr val="1B2A55"/>
                    </a:solidFill>
                  </a:tcPr>
                </a:tc>
                <a:tc>
                  <a:txBody>
                    <a:bodyPr wrap="square"/>
                    <a:lstStyle/>
                    <a:p>
                      <a:r>
                        <a:rPr sz="1000" b="1" i="0">
                          <a:solidFill>
                            <a:srgbClr val="FFFFFF"/>
                          </a:solidFill>
                          <a:latin typeface="Inter"/>
                        </a:rPr>
                        <a:t>Direction</a:t>
                      </a:r>
                    </a:p>
                  </a:txBody>
                  <a:tcPr marL="73152" marR="73152" marT="36576" marB="36576" anchor="ctr">
                    <a:solidFill>
                      <a:srgbClr val="1B2A55"/>
                    </a:solidFill>
                  </a:tcPr>
                </a:tc>
              </a:tr>
              <a:tr h="420624">
                <a:tc>
                  <a:txBody>
                    <a:bodyPr wrap="square"/>
                    <a:lstStyle/>
                    <a:p>
                      <a:r>
                        <a:rPr sz="1000" b="1" i="0">
                          <a:solidFill>
                            <a:srgbClr val="1B2A55"/>
                          </a:solidFill>
                          <a:latin typeface="Inter"/>
                        </a:rPr>
                        <a:t>Insider with key and both stores can forge (A6)</a:t>
                      </a:r>
                    </a:p>
                  </a:txBody>
                  <a:tcPr marL="73152" marR="73152" marT="36576" marB="36576" anchor="ctr">
                    <a:solidFill>
                      <a:srgbClr val="FFFFFF"/>
                    </a:solidFill>
                  </a:tcPr>
                </a:tc>
                <a:tc>
                  <a:txBody>
                    <a:bodyPr wrap="square"/>
                    <a:lstStyle/>
                    <a:p>
                      <a:r>
                        <a:rPr sz="1000" b="0" i="0">
                          <a:solidFill>
                            <a:srgbClr val="353B4A"/>
                          </a:solidFill>
                          <a:latin typeface="Inter"/>
                        </a:rPr>
                        <a:t>Publish the chain head to an external witness; managed secret store</a:t>
                      </a:r>
                    </a:p>
                  </a:txBody>
                  <a:tcPr marL="73152" marR="73152" marT="36576" marB="36576" anchor="ctr">
                    <a:solidFill>
                      <a:srgbClr val="FFFFFF"/>
                    </a:solidFill>
                  </a:tcPr>
                </a:tc>
              </a:tr>
              <a:tr h="420624">
                <a:tc>
                  <a:txBody>
                    <a:bodyPr wrap="square"/>
                    <a:lstStyle/>
                    <a:p>
                      <a:r>
                        <a:rPr sz="1000" b="1" i="0">
                          <a:solidFill>
                            <a:srgbClr val="1B2A55"/>
                          </a:solidFill>
                          <a:latin typeface="Inter"/>
                        </a:rPr>
                        <a:t>Roster injection is not detected (A7)</a:t>
                      </a:r>
                    </a:p>
                  </a:txBody>
                  <a:tcPr marL="73152" marR="73152" marT="36576" marB="36576" anchor="ctr">
                    <a:solidFill>
                      <a:srgbClr val="F1F0F6"/>
                    </a:solidFill>
                  </a:tcPr>
                </a:tc>
                <a:tc>
                  <a:txBody>
                    <a:bodyPr wrap="square"/>
                    <a:lstStyle/>
                    <a:p>
                      <a:r>
                        <a:rPr sz="1000" b="0" i="0">
                          <a:solidFill>
                            <a:srgbClr val="353B4A"/>
                          </a:solidFill>
                          <a:latin typeface="Inter"/>
                        </a:rPr>
                        <a:t>Committed or signed roster, checked at sweep time</a:t>
                      </a:r>
                    </a:p>
                  </a:txBody>
                  <a:tcPr marL="73152" marR="73152" marT="36576" marB="36576" anchor="ctr">
                    <a:solidFill>
                      <a:srgbClr val="F1F0F6"/>
                    </a:solidFill>
                  </a:tcPr>
                </a:tc>
              </a:tr>
              <a:tr h="420624">
                <a:tc>
                  <a:txBody>
                    <a:bodyPr wrap="square"/>
                    <a:lstStyle/>
                    <a:p>
                      <a:r>
                        <a:rPr sz="1000" b="1" i="0">
                          <a:solidFill>
                            <a:srgbClr val="1B2A55"/>
                          </a:solidFill>
                          <a:latin typeface="Inter"/>
                        </a:rPr>
                        <a:t>Not end-to-end verifiable; receipt shows recorded, not content</a:t>
                      </a:r>
                    </a:p>
                  </a:txBody>
                  <a:tcPr marL="73152" marR="73152" marT="36576" marB="36576" anchor="ctr">
                    <a:solidFill>
                      <a:srgbClr val="FFFFFF"/>
                    </a:solidFill>
                  </a:tcPr>
                </a:tc>
                <a:tc>
                  <a:txBody>
                    <a:bodyPr wrap="square"/>
                    <a:lstStyle/>
                    <a:p>
                      <a:r>
                        <a:rPr sz="1000" b="0" i="0">
                          <a:solidFill>
                            <a:srgbClr val="353B4A"/>
                          </a:solidFill>
                          <a:latin typeface="Inter"/>
                        </a:rPr>
                        <a:t>Cast-as-intended mechanism, or a verifiable protocol if needed</a:t>
                      </a:r>
                    </a:p>
                  </a:txBody>
                  <a:tcPr marL="73152" marR="73152" marT="36576" marB="36576" anchor="ctr">
                    <a:solidFill>
                      <a:srgbClr val="FFFFFF"/>
                    </a:solidFill>
                  </a:tcPr>
                </a:tc>
              </a:tr>
              <a:tr h="420624">
                <a:tc>
                  <a:txBody>
                    <a:bodyPr wrap="square"/>
                    <a:lstStyle/>
                    <a:p>
                      <a:r>
                        <a:rPr sz="1000" b="1" i="0">
                          <a:solidFill>
                            <a:srgbClr val="1B2A55"/>
                          </a:solidFill>
                          <a:latin typeface="Inter"/>
                        </a:rPr>
                        <a:t>Passwords stored as plain SHA-256; default admin login</a:t>
                      </a:r>
                    </a:p>
                  </a:txBody>
                  <a:tcPr marL="73152" marR="73152" marT="36576" marB="36576" anchor="ctr">
                    <a:solidFill>
                      <a:srgbClr val="F1F0F6"/>
                    </a:solidFill>
                  </a:tcPr>
                </a:tc>
                <a:tc>
                  <a:txBody>
                    <a:bodyPr wrap="square"/>
                    <a:lstStyle/>
                    <a:p>
                      <a:r>
                        <a:rPr sz="1000" b="0" i="0">
                          <a:solidFill>
                            <a:srgbClr val="353B4A"/>
                          </a:solidFill>
                          <a:latin typeface="Inter"/>
                        </a:rPr>
                        <a:t>Salted, slow hashing; forced first-login change</a:t>
                      </a:r>
                    </a:p>
                  </a:txBody>
                  <a:tcPr marL="73152" marR="73152" marT="36576" marB="36576" anchor="ctr">
                    <a:solidFill>
                      <a:srgbClr val="F1F0F6"/>
                    </a:solidFill>
                  </a:tcPr>
                </a:tc>
              </a:tr>
              <a:tr h="420624">
                <a:tc>
                  <a:txBody>
                    <a:bodyPr wrap="square"/>
                    <a:lstStyle/>
                    <a:p>
                      <a:r>
                        <a:rPr sz="1000" b="1" i="0">
                          <a:solidFill>
                            <a:srgbClr val="1B2A55"/>
                          </a:solidFill>
                          <a:latin typeface="Inter"/>
                        </a:rPr>
                        <a:t>Email is a weak second factor</a:t>
                      </a:r>
                    </a:p>
                  </a:txBody>
                  <a:tcPr marL="73152" marR="73152" marT="36576" marB="36576" anchor="ctr">
                    <a:solidFill>
                      <a:srgbClr val="FFFFFF"/>
                    </a:solidFill>
                  </a:tcPr>
                </a:tc>
                <a:tc>
                  <a:txBody>
                    <a:bodyPr wrap="square"/>
                    <a:lstStyle/>
                    <a:p>
                      <a:r>
                        <a:rPr sz="1000" b="0" i="0">
                          <a:solidFill>
                            <a:srgbClr val="353B4A"/>
                          </a:solidFill>
                          <a:latin typeface="Inter"/>
                        </a:rPr>
                        <a:t>Authenticator app (TOTP) or printed one-time slip</a:t>
                      </a:r>
                    </a:p>
                  </a:txBody>
                  <a:tcPr marL="73152" marR="73152" marT="36576" marB="36576" anchor="ctr">
                    <a:solidFill>
                      <a:srgbClr val="FFFFFF"/>
                    </a:solidFill>
                  </a:tcPr>
                </a:tc>
              </a:tr>
              <a:tr h="420624">
                <a:tc>
                  <a:txBody>
                    <a:bodyPr wrap="square"/>
                    <a:lstStyle/>
                    <a:p>
                      <a:r>
                        <a:rPr sz="1000" b="1" i="0">
                          <a:solidFill>
                            <a:srgbClr val="1B2A55"/>
                          </a:solidFill>
                          <a:latin typeface="Inter"/>
                        </a:rPr>
                        <a:t>IRV ties broken arbitrarily; no statistical audit</a:t>
                      </a:r>
                    </a:p>
                  </a:txBody>
                  <a:tcPr marL="73152" marR="73152" marT="36576" marB="36576" anchor="ctr">
                    <a:solidFill>
                      <a:srgbClr val="F1F0F6"/>
                    </a:solidFill>
                  </a:tcPr>
                </a:tc>
                <a:tc>
                  <a:txBody>
                    <a:bodyPr wrap="square"/>
                    <a:lstStyle/>
                    <a:p>
                      <a:r>
                        <a:rPr sz="1000" b="0" i="0">
                          <a:solidFill>
                            <a:srgbClr val="353B4A"/>
                          </a:solidFill>
                          <a:latin typeface="Inter"/>
                        </a:rPr>
                        <a:t>Published tie rule; risk-limiting audit</a:t>
                      </a:r>
                    </a:p>
                  </a:txBody>
                  <a:tcPr marL="73152" marR="73152" marT="36576" marB="36576" anchor="ctr">
                    <a:solidFill>
                      <a:srgbClr val="F1F0F6"/>
                    </a:solidFill>
                  </a:tcPr>
                </a:tc>
              </a:tr>
              <a:tr h="420624">
                <a:tc>
                  <a:txBody>
                    <a:bodyPr wrap="square"/>
                    <a:lstStyle/>
                    <a:p>
                      <a:r>
                        <a:rPr sz="1000" b="1" i="0">
                          <a:solidFill>
                            <a:srgbClr val="1B2A55"/>
                          </a:solidFill>
                          <a:latin typeface="Inter"/>
                        </a:rPr>
                        <a:t>SQLite foreign keys are per connection; single node</a:t>
                      </a:r>
                    </a:p>
                  </a:txBody>
                  <a:tcPr marL="73152" marR="73152" marT="36576" marB="36576" anchor="ctr">
                    <a:solidFill>
                      <a:srgbClr val="FFFFFF"/>
                    </a:solidFill>
                  </a:tcPr>
                </a:tc>
                <a:tc>
                  <a:txBody>
                    <a:bodyPr wrap="square"/>
                    <a:lstStyle/>
                    <a:p>
                      <a:r>
                        <a:rPr sz="1000" b="0" i="0">
                          <a:solidFill>
                            <a:srgbClr val="353B4A"/>
                          </a:solidFill>
                          <a:latin typeface="Inter"/>
                        </a:rPr>
                        <a:t>Oracle or PostgreSQL with PL/SQL, roles; cloud platform</a:t>
                      </a:r>
                    </a:p>
                  </a:txBody>
                  <a:tcPr marL="73152" marR="73152" marT="36576" marB="36576"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OPEN FOR SUBMISSION TODAY · BY FEE</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Venues still accepting papers, cheapest first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34</a:t>
            </a:r>
          </a:p>
        </p:txBody>
      </p:sp>
      <p:graphicFrame>
        <p:nvGraphicFramePr>
          <p:cNvPr id="6" name="Table 5"/>
          <p:cNvGraphicFramePr>
            <a:graphicFrameLocks noGrp="1"/>
          </p:cNvGraphicFramePr>
          <p:nvPr/>
        </p:nvGraphicFramePr>
        <p:xfrm>
          <a:off x="365760" y="1005840"/>
          <a:ext cx="8412477" cy="3328416"/>
        </p:xfrm>
        <a:graphic>
          <a:graphicData uri="http://schemas.openxmlformats.org/drawingml/2006/table">
            <a:tbl>
              <a:tblPr firstRow="1" bandRow="1">
                <a:tableStyleId>{5C22544A-7EE6-4342-B048-85BDC9FD1C3A}</a:tableStyleId>
              </a:tblPr>
              <a:tblGrid>
                <a:gridCol w="271370"/>
                <a:gridCol w="1537765"/>
                <a:gridCol w="1085481"/>
                <a:gridCol w="1537765"/>
                <a:gridCol w="1628221"/>
                <a:gridCol w="1809135"/>
                <a:gridCol w="542740"/>
              </a:tblGrid>
              <a:tr h="310896">
                <a:tc>
                  <a:txBody>
                    <a:bodyPr wrap="square"/>
                    <a:lstStyle/>
                    <a:p>
                      <a:r>
                        <a:rPr sz="900" b="1" i="0">
                          <a:solidFill>
                            <a:srgbClr val="FFFFFF"/>
                          </a:solidFill>
                          <a:latin typeface="Inter"/>
                        </a:rPr>
                        <a:t>#</a:t>
                      </a:r>
                    </a:p>
                  </a:txBody>
                  <a:tcPr marL="73152" marR="73152" marT="36576" marB="36576" anchor="ctr">
                    <a:solidFill>
                      <a:srgbClr val="1B2A55"/>
                    </a:solidFill>
                  </a:tcPr>
                </a:tc>
                <a:tc>
                  <a:txBody>
                    <a:bodyPr wrap="square"/>
                    <a:lstStyle/>
                    <a:p>
                      <a:r>
                        <a:rPr sz="900" b="1" i="0">
                          <a:solidFill>
                            <a:srgbClr val="FFFFFF"/>
                          </a:solidFill>
                          <a:latin typeface="Inter"/>
                        </a:rPr>
                        <a:t>Venue</a:t>
                      </a:r>
                    </a:p>
                  </a:txBody>
                  <a:tcPr marL="73152" marR="73152" marT="36576" marB="36576" anchor="ctr">
                    <a:solidFill>
                      <a:srgbClr val="1B2A55"/>
                    </a:solidFill>
                  </a:tcPr>
                </a:tc>
                <a:tc>
                  <a:txBody>
                    <a:bodyPr wrap="square"/>
                    <a:lstStyle/>
                    <a:p>
                      <a:r>
                        <a:rPr sz="900" b="1" i="0">
                          <a:solidFill>
                            <a:srgbClr val="FFFFFF"/>
                          </a:solidFill>
                          <a:latin typeface="Inter"/>
                        </a:rPr>
                        <a:t>Submit by</a:t>
                      </a:r>
                    </a:p>
                  </a:txBody>
                  <a:tcPr marL="73152" marR="73152" marT="36576" marB="36576" anchor="ctr">
                    <a:solidFill>
                      <a:srgbClr val="1B2A55"/>
                    </a:solidFill>
                  </a:tcPr>
                </a:tc>
                <a:tc>
                  <a:txBody>
                    <a:bodyPr wrap="square"/>
                    <a:lstStyle/>
                    <a:p>
                      <a:r>
                        <a:rPr sz="900" b="1" i="0">
                          <a:solidFill>
                            <a:srgbClr val="FFFFFF"/>
                          </a:solidFill>
                          <a:latin typeface="Inter"/>
                        </a:rPr>
                        <a:t>Student fee</a:t>
                      </a:r>
                    </a:p>
                  </a:txBody>
                  <a:tcPr marL="73152" marR="73152" marT="36576" marB="36576" anchor="ctr">
                    <a:solidFill>
                      <a:srgbClr val="1B2A55"/>
                    </a:solidFill>
                  </a:tcPr>
                </a:tc>
                <a:tc>
                  <a:txBody>
                    <a:bodyPr wrap="square"/>
                    <a:lstStyle/>
                    <a:p>
                      <a:r>
                        <a:rPr sz="900" b="1" i="0">
                          <a:solidFill>
                            <a:srgbClr val="FFFFFF"/>
                          </a:solidFill>
                          <a:latin typeface="Inter"/>
                        </a:rPr>
                        <a:t>Where</a:t>
                      </a:r>
                    </a:p>
                  </a:txBody>
                  <a:tcPr marL="73152" marR="73152" marT="36576" marB="36576" anchor="ctr">
                    <a:solidFill>
                      <a:srgbClr val="1B2A55"/>
                    </a:solidFill>
                  </a:tcPr>
                </a:tc>
                <a:tc>
                  <a:txBody>
                    <a:bodyPr wrap="square"/>
                    <a:lstStyle/>
                    <a:p>
                      <a:r>
                        <a:rPr sz="900" b="1" i="0">
                          <a:solidFill>
                            <a:srgbClr val="FFFFFF"/>
                          </a:solidFill>
                          <a:latin typeface="Inter"/>
                        </a:rPr>
                        <a:t>IEEE/Springer indexing</a:t>
                      </a:r>
                    </a:p>
                  </a:txBody>
                  <a:tcPr marL="73152" marR="73152" marT="36576" marB="36576" anchor="ctr">
                    <a:solidFill>
                      <a:srgbClr val="1B2A55"/>
                    </a:solidFill>
                  </a:tcPr>
                </a:tc>
                <a:tc>
                  <a:txBody>
                    <a:bodyPr wrap="square"/>
                    <a:lstStyle/>
                    <a:p>
                      <a:r>
                        <a:rPr sz="900" b="1" i="0">
                          <a:solidFill>
                            <a:srgbClr val="FFFFFF"/>
                          </a:solidFill>
                          <a:latin typeface="Inter"/>
                        </a:rPr>
                        <a:t>Fit</a:t>
                      </a:r>
                    </a:p>
                  </a:txBody>
                  <a:tcPr marL="73152" marR="73152" marT="36576" marB="36576" anchor="ctr">
                    <a:solidFill>
                      <a:srgbClr val="1B2A55"/>
                    </a:solidFill>
                  </a:tcPr>
                </a:tc>
              </a:tr>
              <a:tr h="301752">
                <a:tc>
                  <a:txBody>
                    <a:bodyPr wrap="square"/>
                    <a:lstStyle/>
                    <a:p>
                      <a:r>
                        <a:rPr sz="850" b="1" i="0">
                          <a:solidFill>
                            <a:srgbClr val="1B2A55"/>
                          </a:solidFill>
                          <a:latin typeface="Inter"/>
                        </a:rPr>
                        <a:t>1</a:t>
                      </a:r>
                    </a:p>
                  </a:txBody>
                  <a:tcPr marL="73152" marR="73152" marT="36576" marB="36576" anchor="ctr">
                    <a:solidFill>
                      <a:srgbClr val="FFFFFF"/>
                    </a:solidFill>
                  </a:tcPr>
                </a:tc>
                <a:tc>
                  <a:txBody>
                    <a:bodyPr wrap="square"/>
                    <a:lstStyle/>
                    <a:p>
                      <a:r>
                        <a:rPr sz="850" b="0" i="0">
                          <a:solidFill>
                            <a:srgbClr val="353B4A"/>
                          </a:solidFill>
                          <a:latin typeface="Inter"/>
                        </a:rPr>
                        <a:t>Confluence 2027</a:t>
                      </a:r>
                    </a:p>
                  </a:txBody>
                  <a:tcPr marL="73152" marR="73152" marT="36576" marB="36576" anchor="ctr">
                    <a:solidFill>
                      <a:srgbClr val="FFFFFF"/>
                    </a:solidFill>
                  </a:tcPr>
                </a:tc>
                <a:tc>
                  <a:txBody>
                    <a:bodyPr wrap="square"/>
                    <a:lstStyle/>
                    <a:p>
                      <a:r>
                        <a:rPr sz="850" b="0" i="0">
                          <a:solidFill>
                            <a:srgbClr val="353B4A"/>
                          </a:solidFill>
                          <a:latin typeface="Inter"/>
                        </a:rPr>
                        <a:t>4 Dec 2026</a:t>
                      </a:r>
                    </a:p>
                  </a:txBody>
                  <a:tcPr marL="73152" marR="73152" marT="36576" marB="36576" anchor="ctr">
                    <a:solidFill>
                      <a:srgbClr val="FFFFFF"/>
                    </a:solidFill>
                  </a:tcPr>
                </a:tc>
                <a:tc>
                  <a:txBody>
                    <a:bodyPr wrap="square"/>
                    <a:lstStyle/>
                    <a:p>
                      <a:r>
                        <a:rPr sz="850" b="0" i="0">
                          <a:solidFill>
                            <a:srgbClr val="353B4A"/>
                          </a:solidFill>
                          <a:latin typeface="Inter"/>
                        </a:rPr>
                        <a:t>INR 8,000 + GST</a:t>
                      </a:r>
                    </a:p>
                  </a:txBody>
                  <a:tcPr marL="73152" marR="73152" marT="36576" marB="36576" anchor="ctr">
                    <a:solidFill>
                      <a:srgbClr val="FFFFFF"/>
                    </a:solidFill>
                  </a:tcPr>
                </a:tc>
                <a:tc>
                  <a:txBody>
                    <a:bodyPr wrap="square"/>
                    <a:lstStyle/>
                    <a:p>
                      <a:r>
                        <a:rPr sz="850" b="0" i="0">
                          <a:solidFill>
                            <a:srgbClr val="353B4A"/>
                          </a:solidFill>
                          <a:latin typeface="Inter"/>
                        </a:rPr>
                        <a:t>Noida, India</a:t>
                      </a:r>
                    </a:p>
                  </a:txBody>
                  <a:tcPr marL="73152" marR="73152" marT="36576" marB="36576" anchor="ctr">
                    <a:solidFill>
                      <a:srgbClr val="FFFFFF"/>
                    </a:solidFill>
                  </a:tcPr>
                </a:tc>
                <a:tc>
                  <a:txBody>
                    <a:bodyPr wrap="square"/>
                    <a:lstStyle/>
                    <a:p>
                      <a:r>
                        <a:rPr sz="850" b="0" i="0">
                          <a:solidFill>
                            <a:srgbClr val="353B4A"/>
                          </a:solidFill>
                          <a:latin typeface="Inter"/>
                        </a:rPr>
                        <a:t>Submitted for IEEE Xplore</a:t>
                      </a:r>
                    </a:p>
                  </a:txBody>
                  <a:tcPr marL="73152" marR="73152" marT="36576" marB="36576" anchor="ctr">
                    <a:solidFill>
                      <a:srgbClr val="FFFFFF"/>
                    </a:solidFill>
                  </a:tcPr>
                </a:tc>
                <a:tc>
                  <a:txBody>
                    <a:bodyPr wrap="square"/>
                    <a:lstStyle/>
                    <a:p>
                      <a:r>
                        <a:rPr sz="850" b="0" i="0">
                          <a:solidFill>
                            <a:srgbClr val="353B4A"/>
                          </a:solidFill>
                          <a:latin typeface="Inter"/>
                        </a:rPr>
                        <a:t>Good</a:t>
                      </a:r>
                    </a:p>
                  </a:txBody>
                  <a:tcPr marL="73152" marR="73152" marT="36576" marB="36576" anchor="ctr">
                    <a:solidFill>
                      <a:srgbClr val="FFFFFF"/>
                    </a:solidFill>
                  </a:tcPr>
                </a:tc>
              </a:tr>
              <a:tr h="301752">
                <a:tc>
                  <a:txBody>
                    <a:bodyPr wrap="square"/>
                    <a:lstStyle/>
                    <a:p>
                      <a:r>
                        <a:rPr sz="850" b="1" i="0">
                          <a:solidFill>
                            <a:srgbClr val="1B2A55"/>
                          </a:solidFill>
                          <a:latin typeface="Inter"/>
                        </a:rPr>
                        <a:t>2</a:t>
                      </a:r>
                    </a:p>
                  </a:txBody>
                  <a:tcPr marL="73152" marR="73152" marT="36576" marB="36576" anchor="ctr">
                    <a:solidFill>
                      <a:srgbClr val="F1F0F6"/>
                    </a:solidFill>
                  </a:tcPr>
                </a:tc>
                <a:tc>
                  <a:txBody>
                    <a:bodyPr wrap="square"/>
                    <a:lstStyle/>
                    <a:p>
                      <a:r>
                        <a:rPr sz="850" b="0" i="0">
                          <a:solidFill>
                            <a:srgbClr val="353B4A"/>
                          </a:solidFill>
                          <a:latin typeface="Inter"/>
                        </a:rPr>
                        <a:t>INDIACom-2027</a:t>
                      </a:r>
                    </a:p>
                  </a:txBody>
                  <a:tcPr marL="73152" marR="73152" marT="36576" marB="36576" anchor="ctr">
                    <a:solidFill>
                      <a:srgbClr val="F1F0F6"/>
                    </a:solidFill>
                  </a:tcPr>
                </a:tc>
                <a:tc>
                  <a:txBody>
                    <a:bodyPr wrap="square"/>
                    <a:lstStyle/>
                    <a:p>
                      <a:r>
                        <a:rPr sz="850" b="0" i="0">
                          <a:solidFill>
                            <a:srgbClr val="353B4A"/>
                          </a:solidFill>
                          <a:latin typeface="Inter"/>
                        </a:rPr>
                        <a:t>7 Dec 2026</a:t>
                      </a:r>
                    </a:p>
                  </a:txBody>
                  <a:tcPr marL="73152" marR="73152" marT="36576" marB="36576" anchor="ctr">
                    <a:solidFill>
                      <a:srgbClr val="F1F0F6"/>
                    </a:solidFill>
                  </a:tcPr>
                </a:tc>
                <a:tc>
                  <a:txBody>
                    <a:bodyPr wrap="square"/>
                    <a:lstStyle/>
                    <a:p>
                      <a:r>
                        <a:rPr sz="850" b="0" i="0">
                          <a:solidFill>
                            <a:srgbClr val="353B4A"/>
                          </a:solidFill>
                          <a:latin typeface="Inter"/>
                        </a:rPr>
                        <a:t>INR 8,000 + GST</a:t>
                      </a:r>
                    </a:p>
                  </a:txBody>
                  <a:tcPr marL="73152" marR="73152" marT="36576" marB="36576" anchor="ctr">
                    <a:solidFill>
                      <a:srgbClr val="F1F0F6"/>
                    </a:solidFill>
                  </a:tcPr>
                </a:tc>
                <a:tc>
                  <a:txBody>
                    <a:bodyPr wrap="square"/>
                    <a:lstStyle/>
                    <a:p>
                      <a:r>
                        <a:rPr sz="850" b="0" i="0">
                          <a:solidFill>
                            <a:srgbClr val="353B4A"/>
                          </a:solidFill>
                          <a:latin typeface="Inter"/>
                        </a:rPr>
                        <a:t>New Delhi, India</a:t>
                      </a:r>
                    </a:p>
                  </a:txBody>
                  <a:tcPr marL="73152" marR="73152" marT="36576" marB="36576" anchor="ctr">
                    <a:solidFill>
                      <a:srgbClr val="F1F0F6"/>
                    </a:solidFill>
                  </a:tcPr>
                </a:tc>
                <a:tc>
                  <a:txBody>
                    <a:bodyPr wrap="square"/>
                    <a:lstStyle/>
                    <a:p>
                      <a:r>
                        <a:rPr sz="850" b="0" i="0">
                          <a:solidFill>
                            <a:srgbClr val="353B4A"/>
                          </a:solidFill>
                          <a:latin typeface="Inter"/>
                        </a:rPr>
                        <a:t>IEEE approval pending</a:t>
                      </a:r>
                    </a:p>
                  </a:txBody>
                  <a:tcPr marL="73152" marR="73152" marT="36576" marB="36576" anchor="ctr">
                    <a:solidFill>
                      <a:srgbClr val="F1F0F6"/>
                    </a:solidFill>
                  </a:tcPr>
                </a:tc>
                <a:tc>
                  <a:txBody>
                    <a:bodyPr wrap="square"/>
                    <a:lstStyle/>
                    <a:p>
                      <a:r>
                        <a:rPr sz="850" b="0" i="0">
                          <a:solidFill>
                            <a:srgbClr val="353B4A"/>
                          </a:solidFill>
                          <a:latin typeface="Inter"/>
                        </a:rPr>
                        <a:t>Good</a:t>
                      </a:r>
                    </a:p>
                  </a:txBody>
                  <a:tcPr marL="73152" marR="73152" marT="36576" marB="36576" anchor="ctr">
                    <a:solidFill>
                      <a:srgbClr val="F1F0F6"/>
                    </a:solidFill>
                  </a:tcPr>
                </a:tc>
              </a:tr>
              <a:tr h="301752">
                <a:tc>
                  <a:txBody>
                    <a:bodyPr wrap="square"/>
                    <a:lstStyle/>
                    <a:p>
                      <a:r>
                        <a:rPr sz="850" b="1" i="0">
                          <a:solidFill>
                            <a:srgbClr val="1B2A55"/>
                          </a:solidFill>
                          <a:latin typeface="Inter"/>
                        </a:rPr>
                        <a:t>3</a:t>
                      </a:r>
                    </a:p>
                  </a:txBody>
                  <a:tcPr marL="73152" marR="73152" marT="36576" marB="36576" anchor="ctr">
                    <a:solidFill>
                      <a:srgbClr val="FFFFFF"/>
                    </a:solidFill>
                  </a:tcPr>
                </a:tc>
                <a:tc>
                  <a:txBody>
                    <a:bodyPr wrap="square"/>
                    <a:lstStyle/>
                    <a:p>
                      <a:r>
                        <a:rPr sz="850" b="0" i="0">
                          <a:solidFill>
                            <a:srgbClr val="353B4A"/>
                          </a:solidFill>
                          <a:latin typeface="Inter"/>
                        </a:rPr>
                        <a:t>IEM-ICDC 2027</a:t>
                      </a:r>
                    </a:p>
                  </a:txBody>
                  <a:tcPr marL="73152" marR="73152" marT="36576" marB="36576" anchor="ctr">
                    <a:solidFill>
                      <a:srgbClr val="FFFFFF"/>
                    </a:solidFill>
                  </a:tcPr>
                </a:tc>
                <a:tc>
                  <a:txBody>
                    <a:bodyPr wrap="square"/>
                    <a:lstStyle/>
                    <a:p>
                      <a:r>
                        <a:rPr sz="850" b="0" i="0">
                          <a:solidFill>
                            <a:srgbClr val="353B4A"/>
                          </a:solidFill>
                          <a:latin typeface="Inter"/>
                        </a:rPr>
                        <a:t>10 Dec 2026</a:t>
                      </a:r>
                    </a:p>
                  </a:txBody>
                  <a:tcPr marL="73152" marR="73152" marT="36576" marB="36576" anchor="ctr">
                    <a:solidFill>
                      <a:srgbClr val="FFFFFF"/>
                    </a:solidFill>
                  </a:tcPr>
                </a:tc>
                <a:tc>
                  <a:txBody>
                    <a:bodyPr wrap="square"/>
                    <a:lstStyle/>
                    <a:p>
                      <a:r>
                        <a:rPr sz="850" b="0" i="0">
                          <a:solidFill>
                            <a:srgbClr val="353B4A"/>
                          </a:solidFill>
                          <a:latin typeface="Inter"/>
                        </a:rPr>
                        <a:t>INR 8,000</a:t>
                      </a:r>
                    </a:p>
                  </a:txBody>
                  <a:tcPr marL="73152" marR="73152" marT="36576" marB="36576" anchor="ctr">
                    <a:solidFill>
                      <a:srgbClr val="FFFFFF"/>
                    </a:solidFill>
                  </a:tcPr>
                </a:tc>
                <a:tc>
                  <a:txBody>
                    <a:bodyPr wrap="square"/>
                    <a:lstStyle/>
                    <a:p>
                      <a:r>
                        <a:rPr sz="850" b="0" i="0">
                          <a:solidFill>
                            <a:srgbClr val="353B4A"/>
                          </a:solidFill>
                          <a:latin typeface="Inter"/>
                        </a:rPr>
                        <a:t>Kolkata, India</a:t>
                      </a:r>
                    </a:p>
                  </a:txBody>
                  <a:tcPr marL="73152" marR="73152" marT="36576" marB="36576" anchor="ctr">
                    <a:solidFill>
                      <a:srgbClr val="FFFFFF"/>
                    </a:solidFill>
                  </a:tcPr>
                </a:tc>
                <a:tc>
                  <a:txBody>
                    <a:bodyPr wrap="square"/>
                    <a:lstStyle/>
                    <a:p>
                      <a:r>
                        <a:rPr sz="850" b="0" i="0">
                          <a:solidFill>
                            <a:srgbClr val="353B4A"/>
                          </a:solidFill>
                          <a:latin typeface="Inter"/>
                        </a:rPr>
                        <a:t>Springer awaited; 10+ pages</a:t>
                      </a:r>
                    </a:p>
                  </a:txBody>
                  <a:tcPr marL="73152" marR="73152" marT="36576" marB="36576" anchor="ctr">
                    <a:solidFill>
                      <a:srgbClr val="FFFFFF"/>
                    </a:solidFill>
                  </a:tcPr>
                </a:tc>
                <a:tc>
                  <a:txBody>
                    <a:bodyPr wrap="square"/>
                    <a:lstStyle/>
                    <a:p>
                      <a:r>
                        <a:rPr sz="850" b="0" i="0">
                          <a:solidFill>
                            <a:srgbClr val="353B4A"/>
                          </a:solidFill>
                          <a:latin typeface="Inter"/>
                        </a:rPr>
                        <a:t>Stretch</a:t>
                      </a:r>
                    </a:p>
                  </a:txBody>
                  <a:tcPr marL="73152" marR="73152" marT="36576" marB="36576" anchor="ctr">
                    <a:solidFill>
                      <a:srgbClr val="FFFFFF"/>
                    </a:solidFill>
                  </a:tcPr>
                </a:tc>
              </a:tr>
              <a:tr h="301752">
                <a:tc>
                  <a:txBody>
                    <a:bodyPr wrap="square"/>
                    <a:lstStyle/>
                    <a:p>
                      <a:r>
                        <a:rPr sz="850" b="1" i="0">
                          <a:solidFill>
                            <a:srgbClr val="1B2A55"/>
                          </a:solidFill>
                          <a:latin typeface="Inter"/>
                        </a:rPr>
                        <a:t>4</a:t>
                      </a:r>
                    </a:p>
                  </a:txBody>
                  <a:tcPr marL="73152" marR="73152" marT="36576" marB="36576" anchor="ctr">
                    <a:solidFill>
                      <a:srgbClr val="F1F0F6"/>
                    </a:solidFill>
                  </a:tcPr>
                </a:tc>
                <a:tc>
                  <a:txBody>
                    <a:bodyPr wrap="square"/>
                    <a:lstStyle/>
                    <a:p>
                      <a:r>
                        <a:rPr sz="850" b="0" i="0">
                          <a:solidFill>
                            <a:srgbClr val="353B4A"/>
                          </a:solidFill>
                          <a:latin typeface="Inter"/>
                        </a:rPr>
                        <a:t>ICRCICN 2027</a:t>
                      </a:r>
                    </a:p>
                  </a:txBody>
                  <a:tcPr marL="73152" marR="73152" marT="36576" marB="36576" anchor="ctr">
                    <a:solidFill>
                      <a:srgbClr val="F1F0F6"/>
                    </a:solidFill>
                  </a:tcPr>
                </a:tc>
                <a:tc>
                  <a:txBody>
                    <a:bodyPr wrap="square"/>
                    <a:lstStyle/>
                    <a:p>
                      <a:r>
                        <a:rPr sz="850" b="0" i="0">
                          <a:solidFill>
                            <a:srgbClr val="353B4A"/>
                          </a:solidFill>
                          <a:latin typeface="Inter"/>
                        </a:rPr>
                        <a:t>30 Nov 2026</a:t>
                      </a:r>
                    </a:p>
                  </a:txBody>
                  <a:tcPr marL="73152" marR="73152" marT="36576" marB="36576" anchor="ctr">
                    <a:solidFill>
                      <a:srgbClr val="F1F0F6"/>
                    </a:solidFill>
                  </a:tcPr>
                </a:tc>
                <a:tc>
                  <a:txBody>
                    <a:bodyPr wrap="square"/>
                    <a:lstStyle/>
                    <a:p>
                      <a:r>
                        <a:rPr sz="850" b="0" i="0">
                          <a:solidFill>
                            <a:srgbClr val="353B4A"/>
                          </a:solidFill>
                          <a:latin typeface="Inter"/>
                        </a:rPr>
                        <a:t>INR 8,500</a:t>
                      </a:r>
                    </a:p>
                  </a:txBody>
                  <a:tcPr marL="73152" marR="73152" marT="36576" marB="36576" anchor="ctr">
                    <a:solidFill>
                      <a:srgbClr val="F1F0F6"/>
                    </a:solidFill>
                  </a:tcPr>
                </a:tc>
                <a:tc>
                  <a:txBody>
                    <a:bodyPr wrap="square"/>
                    <a:lstStyle/>
                    <a:p>
                      <a:r>
                        <a:rPr sz="850" b="0" i="0">
                          <a:solidFill>
                            <a:srgbClr val="353B4A"/>
                          </a:solidFill>
                          <a:latin typeface="Inter"/>
                        </a:rPr>
                        <a:t>Kalyani, India (hybrid)</a:t>
                      </a:r>
                    </a:p>
                  </a:txBody>
                  <a:tcPr marL="73152" marR="73152" marT="36576" marB="36576" anchor="ctr">
                    <a:solidFill>
                      <a:srgbClr val="F1F0F6"/>
                    </a:solidFill>
                  </a:tcPr>
                </a:tc>
                <a:tc>
                  <a:txBody>
                    <a:bodyPr wrap="square"/>
                    <a:lstStyle/>
                    <a:p>
                      <a:r>
                        <a:rPr sz="850" b="0" i="0">
                          <a:solidFill>
                            <a:srgbClr val="353B4A"/>
                          </a:solidFill>
                          <a:latin typeface="Inter"/>
                        </a:rPr>
                        <a:t>IEEE record 73691; conditional</a:t>
                      </a:r>
                    </a:p>
                  </a:txBody>
                  <a:tcPr marL="73152" marR="73152" marT="36576" marB="36576" anchor="ctr">
                    <a:solidFill>
                      <a:srgbClr val="F1F0F6"/>
                    </a:solidFill>
                  </a:tcPr>
                </a:tc>
                <a:tc>
                  <a:txBody>
                    <a:bodyPr wrap="square"/>
                    <a:lstStyle/>
                    <a:p>
                      <a:r>
                        <a:rPr sz="850" b="0" i="0">
                          <a:solidFill>
                            <a:srgbClr val="353B4A"/>
                          </a:solidFill>
                          <a:latin typeface="Inter"/>
                        </a:rPr>
                        <a:t>Stretch</a:t>
                      </a:r>
                    </a:p>
                  </a:txBody>
                  <a:tcPr marL="73152" marR="73152" marT="36576" marB="36576" anchor="ctr">
                    <a:solidFill>
                      <a:srgbClr val="F1F0F6"/>
                    </a:solidFill>
                  </a:tcPr>
                </a:tc>
              </a:tr>
              <a:tr h="301752">
                <a:tc>
                  <a:txBody>
                    <a:bodyPr wrap="square"/>
                    <a:lstStyle/>
                    <a:p>
                      <a:r>
                        <a:rPr sz="850" b="1" i="0">
                          <a:solidFill>
                            <a:srgbClr val="1B2A55"/>
                          </a:solidFill>
                          <a:latin typeface="Inter"/>
                        </a:rPr>
                        <a:t>5</a:t>
                      </a:r>
                    </a:p>
                  </a:txBody>
                  <a:tcPr marL="73152" marR="73152" marT="36576" marB="36576" anchor="ctr">
                    <a:solidFill>
                      <a:srgbClr val="FFFFFF"/>
                    </a:solidFill>
                  </a:tcPr>
                </a:tc>
                <a:tc>
                  <a:txBody>
                    <a:bodyPr wrap="square"/>
                    <a:lstStyle/>
                    <a:p>
                      <a:r>
                        <a:rPr sz="850" b="0" i="0">
                          <a:solidFill>
                            <a:srgbClr val="353B4A"/>
                          </a:solidFill>
                          <a:latin typeface="Inter"/>
                        </a:rPr>
                        <a:t>ICESICSC-2027</a:t>
                      </a:r>
                    </a:p>
                  </a:txBody>
                  <a:tcPr marL="73152" marR="73152" marT="36576" marB="36576" anchor="ctr">
                    <a:solidFill>
                      <a:srgbClr val="FFFFFF"/>
                    </a:solidFill>
                  </a:tcPr>
                </a:tc>
                <a:tc>
                  <a:txBody>
                    <a:bodyPr wrap="square"/>
                    <a:lstStyle/>
                    <a:p>
                      <a:r>
                        <a:rPr sz="850" b="0" i="0">
                          <a:solidFill>
                            <a:srgbClr val="353B4A"/>
                          </a:solidFill>
                          <a:latin typeface="Inter"/>
                        </a:rPr>
                        <a:t>30 Oct 2026</a:t>
                      </a:r>
                    </a:p>
                  </a:txBody>
                  <a:tcPr marL="73152" marR="73152" marT="36576" marB="36576" anchor="ctr">
                    <a:solidFill>
                      <a:srgbClr val="FFFFFF"/>
                    </a:solidFill>
                  </a:tcPr>
                </a:tc>
                <a:tc>
                  <a:txBody>
                    <a:bodyPr wrap="square"/>
                    <a:lstStyle/>
                    <a:p>
                      <a:r>
                        <a:rPr sz="850" b="0" i="0">
                          <a:solidFill>
                            <a:srgbClr val="353B4A"/>
                          </a:solidFill>
                          <a:latin typeface="Inter"/>
                        </a:rPr>
                        <a:t>INR 9,000</a:t>
                      </a:r>
                    </a:p>
                  </a:txBody>
                  <a:tcPr marL="73152" marR="73152" marT="36576" marB="36576" anchor="ctr">
                    <a:solidFill>
                      <a:srgbClr val="FFFFFF"/>
                    </a:solidFill>
                  </a:tcPr>
                </a:tc>
                <a:tc>
                  <a:txBody>
                    <a:bodyPr wrap="square"/>
                    <a:lstStyle/>
                    <a:p>
                      <a:r>
                        <a:rPr sz="850" b="0" i="0">
                          <a:solidFill>
                            <a:srgbClr val="353B4A"/>
                          </a:solidFill>
                          <a:latin typeface="Inter"/>
                        </a:rPr>
                        <a:t>Bhubaneswar, India</a:t>
                      </a:r>
                    </a:p>
                  </a:txBody>
                  <a:tcPr marL="73152" marR="73152" marT="36576" marB="36576" anchor="ctr">
                    <a:solidFill>
                      <a:srgbClr val="FFFFFF"/>
                    </a:solidFill>
                  </a:tcPr>
                </a:tc>
                <a:tc>
                  <a:txBody>
                    <a:bodyPr wrap="square"/>
                    <a:lstStyle/>
                    <a:p>
                      <a:r>
                        <a:rPr sz="850" b="0" i="0">
                          <a:solidFill>
                            <a:srgbClr val="353B4A"/>
                          </a:solidFill>
                          <a:latin typeface="Inter"/>
                        </a:rPr>
                        <a:t>Says published by IEEE</a:t>
                      </a:r>
                    </a:p>
                  </a:txBody>
                  <a:tcPr marL="73152" marR="73152" marT="36576" marB="36576" anchor="ctr">
                    <a:solidFill>
                      <a:srgbClr val="FFFFFF"/>
                    </a:solidFill>
                  </a:tcPr>
                </a:tc>
                <a:tc>
                  <a:txBody>
                    <a:bodyPr wrap="square"/>
                    <a:lstStyle/>
                    <a:p>
                      <a:r>
                        <a:rPr sz="850" b="0" i="0">
                          <a:solidFill>
                            <a:srgbClr val="353B4A"/>
                          </a:solidFill>
                          <a:latin typeface="Inter"/>
                        </a:rPr>
                        <a:t>Good</a:t>
                      </a:r>
                    </a:p>
                  </a:txBody>
                  <a:tcPr marL="73152" marR="73152" marT="36576" marB="36576" anchor="ctr">
                    <a:solidFill>
                      <a:srgbClr val="FFFFFF"/>
                    </a:solidFill>
                  </a:tcPr>
                </a:tc>
              </a:tr>
              <a:tr h="301752">
                <a:tc>
                  <a:txBody>
                    <a:bodyPr wrap="square"/>
                    <a:lstStyle/>
                    <a:p>
                      <a:r>
                        <a:rPr sz="850" b="1" i="0">
                          <a:solidFill>
                            <a:srgbClr val="1B2A55"/>
                          </a:solidFill>
                          <a:latin typeface="Inter"/>
                        </a:rPr>
                        <a:t>6</a:t>
                      </a:r>
                    </a:p>
                  </a:txBody>
                  <a:tcPr marL="73152" marR="73152" marT="36576" marB="36576" anchor="ctr">
                    <a:solidFill>
                      <a:srgbClr val="F1F0F6"/>
                    </a:solidFill>
                  </a:tcPr>
                </a:tc>
                <a:tc>
                  <a:txBody>
                    <a:bodyPr wrap="square"/>
                    <a:lstStyle/>
                    <a:p>
                      <a:r>
                        <a:rPr sz="850" b="0" i="0">
                          <a:solidFill>
                            <a:srgbClr val="353B4A"/>
                          </a:solidFill>
                          <a:latin typeface="Inter"/>
                        </a:rPr>
                        <a:t>i-PACT 2027 (VIT)</a:t>
                      </a:r>
                    </a:p>
                  </a:txBody>
                  <a:tcPr marL="73152" marR="73152" marT="36576" marB="36576" anchor="ctr">
                    <a:solidFill>
                      <a:srgbClr val="F1F0F6"/>
                    </a:solidFill>
                  </a:tcPr>
                </a:tc>
                <a:tc>
                  <a:txBody>
                    <a:bodyPr wrap="square"/>
                    <a:lstStyle/>
                    <a:p>
                      <a:r>
                        <a:rPr sz="850" b="0" i="0">
                          <a:solidFill>
                            <a:srgbClr val="353B4A"/>
                          </a:solidFill>
                          <a:latin typeface="Inter"/>
                        </a:rPr>
                        <a:t>31 May 2027</a:t>
                      </a:r>
                    </a:p>
                  </a:txBody>
                  <a:tcPr marL="73152" marR="73152" marT="36576" marB="36576" anchor="ctr">
                    <a:solidFill>
                      <a:srgbClr val="F1F0F6"/>
                    </a:solidFill>
                  </a:tcPr>
                </a:tc>
                <a:tc>
                  <a:txBody>
                    <a:bodyPr wrap="square"/>
                    <a:lstStyle/>
                    <a:p>
                      <a:r>
                        <a:rPr sz="850" b="0" i="0">
                          <a:solidFill>
                            <a:srgbClr val="353B4A"/>
                          </a:solidFill>
                          <a:latin typeface="Inter"/>
                        </a:rPr>
                        <a:t>INR 12,000</a:t>
                      </a:r>
                    </a:p>
                  </a:txBody>
                  <a:tcPr marL="73152" marR="73152" marT="36576" marB="36576" anchor="ctr">
                    <a:solidFill>
                      <a:srgbClr val="F1F0F6"/>
                    </a:solidFill>
                  </a:tcPr>
                </a:tc>
                <a:tc>
                  <a:txBody>
                    <a:bodyPr wrap="square"/>
                    <a:lstStyle/>
                    <a:p>
                      <a:r>
                        <a:rPr sz="850" b="0" i="0">
                          <a:solidFill>
                            <a:srgbClr val="353B4A"/>
                          </a:solidFill>
                          <a:latin typeface="Inter"/>
                        </a:rPr>
                        <a:t>Vellore, India</a:t>
                      </a:r>
                    </a:p>
                  </a:txBody>
                  <a:tcPr marL="73152" marR="73152" marT="36576" marB="36576" anchor="ctr">
                    <a:solidFill>
                      <a:srgbClr val="F1F0F6"/>
                    </a:solidFill>
                  </a:tcPr>
                </a:tc>
                <a:tc>
                  <a:txBody>
                    <a:bodyPr wrap="square"/>
                    <a:lstStyle/>
                    <a:p>
                      <a:r>
                        <a:rPr sz="850" b="0" i="0">
                          <a:solidFill>
                            <a:srgbClr val="353B4A"/>
                          </a:solidFill>
                          <a:latin typeface="Inter"/>
                        </a:rPr>
                        <a:t>Recommended to IEEE</a:t>
                      </a:r>
                    </a:p>
                  </a:txBody>
                  <a:tcPr marL="73152" marR="73152" marT="36576" marB="36576" anchor="ctr">
                    <a:solidFill>
                      <a:srgbClr val="F1F0F6"/>
                    </a:solidFill>
                  </a:tcPr>
                </a:tc>
                <a:tc>
                  <a:txBody>
                    <a:bodyPr wrap="square"/>
                    <a:lstStyle/>
                    <a:p>
                      <a:r>
                        <a:rPr sz="850" b="0" i="0">
                          <a:solidFill>
                            <a:srgbClr val="353B4A"/>
                          </a:solidFill>
                          <a:latin typeface="Inter"/>
                        </a:rPr>
                        <a:t>Stretch</a:t>
                      </a:r>
                    </a:p>
                  </a:txBody>
                  <a:tcPr marL="73152" marR="73152" marT="36576" marB="36576" anchor="ctr">
                    <a:solidFill>
                      <a:srgbClr val="F1F0F6"/>
                    </a:solidFill>
                  </a:tcPr>
                </a:tc>
              </a:tr>
              <a:tr h="301752">
                <a:tc>
                  <a:txBody>
                    <a:bodyPr wrap="square"/>
                    <a:lstStyle/>
                    <a:p>
                      <a:r>
                        <a:rPr sz="850" b="1" i="0">
                          <a:solidFill>
                            <a:srgbClr val="1B2A55"/>
                          </a:solidFill>
                          <a:latin typeface="Inter"/>
                        </a:rPr>
                        <a:t>7</a:t>
                      </a:r>
                    </a:p>
                  </a:txBody>
                  <a:tcPr marL="73152" marR="73152" marT="36576" marB="36576" anchor="ctr">
                    <a:solidFill>
                      <a:srgbClr val="FFFFFF"/>
                    </a:solidFill>
                  </a:tcPr>
                </a:tc>
                <a:tc>
                  <a:txBody>
                    <a:bodyPr wrap="square"/>
                    <a:lstStyle/>
                    <a:p>
                      <a:r>
                        <a:rPr sz="850" b="0" i="0">
                          <a:solidFill>
                            <a:srgbClr val="353B4A"/>
                          </a:solidFill>
                          <a:latin typeface="Inter"/>
                        </a:rPr>
                        <a:t>ISDFS 2027</a:t>
                      </a:r>
                    </a:p>
                  </a:txBody>
                  <a:tcPr marL="73152" marR="73152" marT="36576" marB="36576" anchor="ctr">
                    <a:solidFill>
                      <a:srgbClr val="FFFFFF"/>
                    </a:solidFill>
                  </a:tcPr>
                </a:tc>
                <a:tc>
                  <a:txBody>
                    <a:bodyPr wrap="square"/>
                    <a:lstStyle/>
                    <a:p>
                      <a:r>
                        <a:rPr sz="850" b="0" i="0">
                          <a:solidFill>
                            <a:srgbClr val="353B4A"/>
                          </a:solidFill>
                          <a:latin typeface="Inter"/>
                        </a:rPr>
                        <a:t>31 Jan 2027</a:t>
                      </a:r>
                    </a:p>
                  </a:txBody>
                  <a:tcPr marL="73152" marR="73152" marT="36576" marB="36576" anchor="ctr">
                    <a:solidFill>
                      <a:srgbClr val="FFFFFF"/>
                    </a:solidFill>
                  </a:tcPr>
                </a:tc>
                <a:tc>
                  <a:txBody>
                    <a:bodyPr wrap="square"/>
                    <a:lstStyle/>
                    <a:p>
                      <a:r>
                        <a:rPr sz="850" b="0" i="0">
                          <a:solidFill>
                            <a:srgbClr val="353B4A"/>
                          </a:solidFill>
                          <a:latin typeface="Inter"/>
                        </a:rPr>
                        <a:t>USD 500 (~INR 47,000)</a:t>
                      </a:r>
                    </a:p>
                  </a:txBody>
                  <a:tcPr marL="73152" marR="73152" marT="36576" marB="36576" anchor="ctr">
                    <a:solidFill>
                      <a:srgbClr val="FFFFFF"/>
                    </a:solidFill>
                  </a:tcPr>
                </a:tc>
                <a:tc>
                  <a:txBody>
                    <a:bodyPr wrap="square"/>
                    <a:lstStyle/>
                    <a:p>
                      <a:r>
                        <a:rPr sz="850" b="0" i="0">
                          <a:solidFill>
                            <a:srgbClr val="353B4A"/>
                          </a:solidFill>
                          <a:latin typeface="Inter"/>
                        </a:rPr>
                        <a:t>San Jose, USA (online ok)</a:t>
                      </a:r>
                    </a:p>
                  </a:txBody>
                  <a:tcPr marL="73152" marR="73152" marT="36576" marB="36576" anchor="ctr">
                    <a:solidFill>
                      <a:srgbClr val="FFFFFF"/>
                    </a:solidFill>
                  </a:tcPr>
                </a:tc>
                <a:tc>
                  <a:txBody>
                    <a:bodyPr wrap="square"/>
                    <a:lstStyle/>
                    <a:p>
                      <a:r>
                        <a:rPr sz="850" b="0" i="0">
                          <a:solidFill>
                            <a:srgbClr val="353B4A"/>
                          </a:solidFill>
                          <a:latin typeface="Inter"/>
                        </a:rPr>
                        <a:t>Submitted for IEEE Xplore</a:t>
                      </a:r>
                    </a:p>
                  </a:txBody>
                  <a:tcPr marL="73152" marR="73152" marT="36576" marB="36576" anchor="ctr">
                    <a:solidFill>
                      <a:srgbClr val="FFFFFF"/>
                    </a:solidFill>
                  </a:tcPr>
                </a:tc>
                <a:tc>
                  <a:txBody>
                    <a:bodyPr wrap="square"/>
                    <a:lstStyle/>
                    <a:p>
                      <a:r>
                        <a:rPr sz="850" b="0" i="0">
                          <a:solidFill>
                            <a:srgbClr val="353B4A"/>
                          </a:solidFill>
                          <a:latin typeface="Inter"/>
                        </a:rPr>
                        <a:t>Stretch</a:t>
                      </a:r>
                    </a:p>
                  </a:txBody>
                  <a:tcPr marL="73152" marR="73152" marT="36576" marB="36576" anchor="ctr">
                    <a:solidFill>
                      <a:srgbClr val="FFFFFF"/>
                    </a:solidFill>
                  </a:tcPr>
                </a:tc>
              </a:tr>
              <a:tr h="301752">
                <a:tc>
                  <a:txBody>
                    <a:bodyPr wrap="square"/>
                    <a:lstStyle/>
                    <a:p>
                      <a:r>
                        <a:rPr sz="850" b="1" i="0">
                          <a:solidFill>
                            <a:srgbClr val="1B2A55"/>
                          </a:solidFill>
                          <a:latin typeface="Inter"/>
                        </a:rPr>
                        <a:t>8</a:t>
                      </a:r>
                    </a:p>
                  </a:txBody>
                  <a:tcPr marL="73152" marR="73152" marT="36576" marB="36576" anchor="ctr">
                    <a:solidFill>
                      <a:srgbClr val="F1F0F6"/>
                    </a:solidFill>
                  </a:tcPr>
                </a:tc>
                <a:tc>
                  <a:txBody>
                    <a:bodyPr wrap="square"/>
                    <a:lstStyle/>
                    <a:p>
                      <a:r>
                        <a:rPr sz="850" b="0" i="0">
                          <a:solidFill>
                            <a:srgbClr val="353B4A"/>
                          </a:solidFill>
                          <a:latin typeface="Inter"/>
                        </a:rPr>
                        <a:t>ICISSP 2027</a:t>
                      </a:r>
                    </a:p>
                  </a:txBody>
                  <a:tcPr marL="73152" marR="73152" marT="36576" marB="36576" anchor="ctr">
                    <a:solidFill>
                      <a:srgbClr val="F1F0F6"/>
                    </a:solidFill>
                  </a:tcPr>
                </a:tc>
                <a:tc>
                  <a:txBody>
                    <a:bodyPr wrap="square"/>
                    <a:lstStyle/>
                    <a:p>
                      <a:r>
                        <a:rPr sz="850" b="0" i="0">
                          <a:solidFill>
                            <a:srgbClr val="353B4A"/>
                          </a:solidFill>
                          <a:latin typeface="Inter"/>
                        </a:rPr>
                        <a:t>29 Oct 2026</a:t>
                      </a:r>
                    </a:p>
                  </a:txBody>
                  <a:tcPr marL="73152" marR="73152" marT="36576" marB="36576" anchor="ctr">
                    <a:solidFill>
                      <a:srgbClr val="F1F0F6"/>
                    </a:solidFill>
                  </a:tcPr>
                </a:tc>
                <a:tc>
                  <a:txBody>
                    <a:bodyPr wrap="square"/>
                    <a:lstStyle/>
                    <a:p>
                      <a:r>
                        <a:rPr sz="850" b="0" i="0">
                          <a:solidFill>
                            <a:srgbClr val="353B4A"/>
                          </a:solidFill>
                          <a:latin typeface="Inter"/>
                        </a:rPr>
                        <a:t>EUR 640 (~INR 68,000)</a:t>
                      </a:r>
                    </a:p>
                  </a:txBody>
                  <a:tcPr marL="73152" marR="73152" marT="36576" marB="36576" anchor="ctr">
                    <a:solidFill>
                      <a:srgbClr val="F1F0F6"/>
                    </a:solidFill>
                  </a:tcPr>
                </a:tc>
                <a:tc>
                  <a:txBody>
                    <a:bodyPr wrap="square"/>
                    <a:lstStyle/>
                    <a:p>
                      <a:r>
                        <a:rPr sz="850" b="0" i="0">
                          <a:solidFill>
                            <a:srgbClr val="353B4A"/>
                          </a:solidFill>
                          <a:latin typeface="Inter"/>
                        </a:rPr>
                        <a:t>Valletta, Malta</a:t>
                      </a:r>
                    </a:p>
                  </a:txBody>
                  <a:tcPr marL="73152" marR="73152" marT="36576" marB="36576" anchor="ctr">
                    <a:solidFill>
                      <a:srgbClr val="F1F0F6"/>
                    </a:solidFill>
                  </a:tcPr>
                </a:tc>
                <a:tc>
                  <a:txBody>
                    <a:bodyPr wrap="square"/>
                    <a:lstStyle/>
                    <a:p>
                      <a:r>
                        <a:rPr sz="850" b="0" i="0">
                          <a:solidFill>
                            <a:srgbClr val="353B4A"/>
                          </a:solidFill>
                          <a:latin typeface="Inter"/>
                        </a:rPr>
                        <a:t>Submitted for evaluation</a:t>
                      </a:r>
                    </a:p>
                  </a:txBody>
                  <a:tcPr marL="73152" marR="73152" marT="36576" marB="36576" anchor="ctr">
                    <a:solidFill>
                      <a:srgbClr val="F1F0F6"/>
                    </a:solidFill>
                  </a:tcPr>
                </a:tc>
                <a:tc>
                  <a:txBody>
                    <a:bodyPr wrap="square"/>
                    <a:lstStyle/>
                    <a:p>
                      <a:r>
                        <a:rPr sz="850" b="0" i="0">
                          <a:solidFill>
                            <a:srgbClr val="353B4A"/>
                          </a:solidFill>
                          <a:latin typeface="Inter"/>
                        </a:rPr>
                        <a:t>Good</a:t>
                      </a:r>
                    </a:p>
                  </a:txBody>
                  <a:tcPr marL="73152" marR="73152" marT="36576" marB="36576" anchor="ctr">
                    <a:solidFill>
                      <a:srgbClr val="F1F0F6"/>
                    </a:solidFill>
                  </a:tcPr>
                </a:tc>
              </a:tr>
              <a:tr h="301752">
                <a:tc>
                  <a:txBody>
                    <a:bodyPr wrap="square"/>
                    <a:lstStyle/>
                    <a:p>
                      <a:r>
                        <a:rPr sz="850" b="1" i="0">
                          <a:solidFill>
                            <a:srgbClr val="1B2A55"/>
                          </a:solidFill>
                          <a:latin typeface="Inter"/>
                        </a:rPr>
                        <a:t>9</a:t>
                      </a:r>
                    </a:p>
                  </a:txBody>
                  <a:tcPr marL="73152" marR="73152" marT="36576" marB="36576" anchor="ctr">
                    <a:solidFill>
                      <a:srgbClr val="FFFFFF"/>
                    </a:solidFill>
                  </a:tcPr>
                </a:tc>
                <a:tc>
                  <a:txBody>
                    <a:bodyPr wrap="square"/>
                    <a:lstStyle/>
                    <a:p>
                      <a:r>
                        <a:rPr sz="850" b="0" i="0">
                          <a:solidFill>
                            <a:srgbClr val="353B4A"/>
                          </a:solidFill>
                          <a:latin typeface="Inter"/>
                        </a:rPr>
                        <a:t>DATA 2027</a:t>
                      </a:r>
                    </a:p>
                  </a:txBody>
                  <a:tcPr marL="73152" marR="73152" marT="36576" marB="36576" anchor="ctr">
                    <a:solidFill>
                      <a:srgbClr val="FFFFFF"/>
                    </a:solidFill>
                  </a:tcPr>
                </a:tc>
                <a:tc>
                  <a:txBody>
                    <a:bodyPr wrap="square"/>
                    <a:lstStyle/>
                    <a:p>
                      <a:r>
                        <a:rPr sz="850" b="0" i="0">
                          <a:solidFill>
                            <a:srgbClr val="353B4A"/>
                          </a:solidFill>
                          <a:latin typeface="Inter"/>
                        </a:rPr>
                        <a:t>16 Feb / 25 Mar</a:t>
                      </a:r>
                    </a:p>
                  </a:txBody>
                  <a:tcPr marL="73152" marR="73152" marT="36576" marB="36576" anchor="ctr">
                    <a:solidFill>
                      <a:srgbClr val="FFFFFF"/>
                    </a:solidFill>
                  </a:tcPr>
                </a:tc>
                <a:tc>
                  <a:txBody>
                    <a:bodyPr wrap="square"/>
                    <a:lstStyle/>
                    <a:p>
                      <a:r>
                        <a:rPr sz="850" b="0" i="0">
                          <a:solidFill>
                            <a:srgbClr val="353B4A"/>
                          </a:solidFill>
                          <a:latin typeface="Inter"/>
                        </a:rPr>
                        <a:t>EUR 640 (~INR 68,000)</a:t>
                      </a:r>
                    </a:p>
                  </a:txBody>
                  <a:tcPr marL="73152" marR="73152" marT="36576" marB="36576" anchor="ctr">
                    <a:solidFill>
                      <a:srgbClr val="FFFFFF"/>
                    </a:solidFill>
                  </a:tcPr>
                </a:tc>
                <a:tc>
                  <a:txBody>
                    <a:bodyPr wrap="square"/>
                    <a:lstStyle/>
                    <a:p>
                      <a:r>
                        <a:rPr sz="850" b="0" i="0">
                          <a:solidFill>
                            <a:srgbClr val="353B4A"/>
                          </a:solidFill>
                          <a:latin typeface="Inter"/>
                        </a:rPr>
                        <a:t>Rome, Italy</a:t>
                      </a:r>
                    </a:p>
                  </a:txBody>
                  <a:tcPr marL="73152" marR="73152" marT="36576" marB="36576" anchor="ctr">
                    <a:solidFill>
                      <a:srgbClr val="FFFFFF"/>
                    </a:solidFill>
                  </a:tcPr>
                </a:tc>
                <a:tc>
                  <a:txBody>
                    <a:bodyPr wrap="square"/>
                    <a:lstStyle/>
                    <a:p>
                      <a:r>
                        <a:rPr sz="850" b="0" i="0">
                          <a:solidFill>
                            <a:srgbClr val="353B4A"/>
                          </a:solidFill>
                          <a:latin typeface="Inter"/>
                        </a:rPr>
                        <a:t>Not confirmed</a:t>
                      </a:r>
                    </a:p>
                  </a:txBody>
                  <a:tcPr marL="73152" marR="73152" marT="36576" marB="36576" anchor="ctr">
                    <a:solidFill>
                      <a:srgbClr val="FFFFFF"/>
                    </a:solidFill>
                  </a:tcPr>
                </a:tc>
                <a:tc>
                  <a:txBody>
                    <a:bodyPr wrap="square"/>
                    <a:lstStyle/>
                    <a:p>
                      <a:r>
                        <a:rPr sz="850" b="0" i="0">
                          <a:solidFill>
                            <a:srgbClr val="353B4A"/>
                          </a:solidFill>
                          <a:latin typeface="Inter"/>
                        </a:rPr>
                        <a:t>Good</a:t>
                      </a:r>
                    </a:p>
                  </a:txBody>
                  <a:tcPr marL="73152" marR="73152" marT="36576" marB="36576" anchor="ctr">
                    <a:solidFill>
                      <a:srgbClr val="FFFFFF"/>
                    </a:solidFill>
                  </a:tcPr>
                </a:tc>
              </a:tr>
              <a:tr h="301752">
                <a:tc>
                  <a:txBody>
                    <a:bodyPr wrap="square"/>
                    <a:lstStyle/>
                    <a:p>
                      <a:r>
                        <a:rPr sz="850" b="1" i="0">
                          <a:solidFill>
                            <a:srgbClr val="1B2A55"/>
                          </a:solidFill>
                          <a:latin typeface="Inter"/>
                        </a:rPr>
                        <a:t>10</a:t>
                      </a:r>
                    </a:p>
                  </a:txBody>
                  <a:tcPr marL="73152" marR="73152" marT="36576" marB="36576" anchor="ctr">
                    <a:solidFill>
                      <a:srgbClr val="F1F0F6"/>
                    </a:solidFill>
                  </a:tcPr>
                </a:tc>
                <a:tc>
                  <a:txBody>
                    <a:bodyPr wrap="square"/>
                    <a:lstStyle/>
                    <a:p>
                      <a:r>
                        <a:rPr sz="850" b="0" i="0">
                          <a:solidFill>
                            <a:srgbClr val="353B4A"/>
                          </a:solidFill>
                          <a:latin typeface="Inter"/>
                        </a:rPr>
                        <a:t>ICEIS 2027</a:t>
                      </a:r>
                    </a:p>
                  </a:txBody>
                  <a:tcPr marL="73152" marR="73152" marT="36576" marB="36576" anchor="ctr">
                    <a:solidFill>
                      <a:srgbClr val="F1F0F6"/>
                    </a:solidFill>
                  </a:tcPr>
                </a:tc>
                <a:tc>
                  <a:txBody>
                    <a:bodyPr wrap="square"/>
                    <a:lstStyle/>
                    <a:p>
                      <a:r>
                        <a:rPr sz="850" b="0" i="0">
                          <a:solidFill>
                            <a:srgbClr val="353B4A"/>
                          </a:solidFill>
                          <a:latin typeface="Inter"/>
                        </a:rPr>
                        <a:t>17 Nov / 21 Dec</a:t>
                      </a:r>
                    </a:p>
                  </a:txBody>
                  <a:tcPr marL="73152" marR="73152" marT="36576" marB="36576" anchor="ctr">
                    <a:solidFill>
                      <a:srgbClr val="F1F0F6"/>
                    </a:solidFill>
                  </a:tcPr>
                </a:tc>
                <a:tc>
                  <a:txBody>
                    <a:bodyPr wrap="square"/>
                    <a:lstStyle/>
                    <a:p>
                      <a:r>
                        <a:rPr sz="850" b="0" i="0">
                          <a:solidFill>
                            <a:srgbClr val="353B4A"/>
                          </a:solidFill>
                          <a:latin typeface="Inter"/>
                        </a:rPr>
                        <a:t>EUR 680 (~INR 72,000)</a:t>
                      </a:r>
                    </a:p>
                  </a:txBody>
                  <a:tcPr marL="73152" marR="73152" marT="36576" marB="36576" anchor="ctr">
                    <a:solidFill>
                      <a:srgbClr val="F1F0F6"/>
                    </a:solidFill>
                  </a:tcPr>
                </a:tc>
                <a:tc>
                  <a:txBody>
                    <a:bodyPr wrap="square"/>
                    <a:lstStyle/>
                    <a:p>
                      <a:r>
                        <a:rPr sz="850" b="0" i="0">
                          <a:solidFill>
                            <a:srgbClr val="353B4A"/>
                          </a:solidFill>
                          <a:latin typeface="Inter"/>
                        </a:rPr>
                        <a:t>Rome, Italy</a:t>
                      </a:r>
                    </a:p>
                  </a:txBody>
                  <a:tcPr marL="73152" marR="73152" marT="36576" marB="36576" anchor="ctr">
                    <a:solidFill>
                      <a:srgbClr val="F1F0F6"/>
                    </a:solidFill>
                  </a:tcPr>
                </a:tc>
                <a:tc>
                  <a:txBody>
                    <a:bodyPr wrap="square"/>
                    <a:lstStyle/>
                    <a:p>
                      <a:r>
                        <a:rPr sz="850" b="0" i="0">
                          <a:solidFill>
                            <a:srgbClr val="353B4A"/>
                          </a:solidFill>
                          <a:latin typeface="Inter"/>
                        </a:rPr>
                        <a:t>Submitted for evaluation</a:t>
                      </a:r>
                    </a:p>
                  </a:txBody>
                  <a:tcPr marL="73152" marR="73152" marT="36576" marB="36576" anchor="ctr">
                    <a:solidFill>
                      <a:srgbClr val="F1F0F6"/>
                    </a:solidFill>
                  </a:tcPr>
                </a:tc>
                <a:tc>
                  <a:txBody>
                    <a:bodyPr wrap="square"/>
                    <a:lstStyle/>
                    <a:p>
                      <a:r>
                        <a:rPr sz="850" b="0" i="0">
                          <a:solidFill>
                            <a:srgbClr val="353B4A"/>
                          </a:solidFill>
                          <a:latin typeface="Inter"/>
                        </a:rPr>
                        <a:t>Good</a:t>
                      </a:r>
                    </a:p>
                  </a:txBody>
                  <a:tcPr marL="73152" marR="73152" marT="36576" marB="36576" anchor="ctr">
                    <a:solidFill>
                      <a:srgbClr val="F1F0F6"/>
                    </a:solidFill>
                  </a:tcPr>
                </a:tc>
              </a:tr>
            </a:tbl>
          </a:graphicData>
        </a:graphic>
      </p:graphicFrame>
      <p:sp>
        <p:nvSpPr>
          <p:cNvPr id="7" name="TextBox 6"/>
          <p:cNvSpPr txBox="1"/>
          <p:nvPr/>
        </p:nvSpPr>
        <p:spPr>
          <a:xfrm>
            <a:off x="365760" y="4434840"/>
            <a:ext cx="8412480" cy="411480"/>
          </a:xfrm>
          <a:prstGeom prst="rect">
            <a:avLst/>
          </a:prstGeom>
          <a:noFill/>
        </p:spPr>
        <p:txBody>
          <a:bodyPr wrap="square" anchor="t" lIns="0" rIns="0" tIns="0" bIns="0">
            <a:spAutoFit/>
          </a:bodyPr>
          <a:lstStyle/>
          <a:p>
            <a:pPr algn="l">
              <a:spcAft>
                <a:spcPts val="0"/>
              </a:spcAft>
            </a:pPr>
            <a:r>
              <a:rPr sz="900" b="0" i="1">
                <a:solidFill>
                  <a:srgbClr val="666A78"/>
                </a:solidFill>
                <a:latin typeface="Inter"/>
              </a:rPr>
              <a:t>Fees are per accepted paper and excluding travel, GST and bank charges; INR is approximate at 22 Oct 2026 rates. No venue has yet confirmed indexing; "submitted for" is a plan, not a result.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OPEN FOR SUBMISSION TODAY · BY LOCATION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India first, then online-capable, then abroad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35</a:t>
            </a:r>
          </a:p>
        </p:txBody>
      </p:sp>
      <p:sp>
        <p:nvSpPr>
          <p:cNvPr id="6" name="Rounded Rectangle 5"/>
          <p:cNvSpPr/>
          <p:nvPr/>
        </p:nvSpPr>
        <p:spPr>
          <a:xfrm>
            <a:off x="457200" y="1097280"/>
            <a:ext cx="2587752" cy="352044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790956"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INDIA</a:t>
            </a:r>
          </a:p>
        </p:txBody>
      </p:sp>
      <p:sp>
        <p:nvSpPr>
          <p:cNvPr id="8" name="TextBox 7"/>
          <p:cNvSpPr txBox="1"/>
          <p:nvPr/>
        </p:nvSpPr>
        <p:spPr>
          <a:xfrm>
            <a:off x="640080" y="1600200"/>
            <a:ext cx="2286000" cy="2926080"/>
          </a:xfrm>
          <a:prstGeom prst="rect">
            <a:avLst/>
          </a:prstGeom>
          <a:noFill/>
        </p:spPr>
        <p:txBody>
          <a:bodyPr wrap="square" anchor="t" lIns="0" rIns="0" tIns="0" bIns="0">
            <a:spAutoFit/>
          </a:bodyPr>
          <a:lstStyle/>
          <a:p>
            <a:pPr algn="l">
              <a:spcAft>
                <a:spcPts val="400"/>
              </a:spcAft>
            </a:pPr>
            <a:r>
              <a:rPr sz="1000" b="1" i="0">
                <a:solidFill>
                  <a:srgbClr val="1B2A55"/>
                </a:solidFill>
                <a:latin typeface="Inter"/>
              </a:rPr>
              <a:t>•  </a:t>
            </a:r>
            <a:r>
              <a:rPr sz="1000" b="1" i="0">
                <a:solidFill>
                  <a:srgbClr val="1B2A55"/>
                </a:solidFill>
                <a:latin typeface="Inter"/>
              </a:rPr>
              <a:t>Noida:</a:t>
            </a:r>
            <a:r>
              <a:rPr sz="1000" b="0" i="0">
                <a:solidFill>
                  <a:srgbClr val="353B4A"/>
                </a:solidFill>
                <a:latin typeface="Inter"/>
              </a:rPr>
              <a:t> Confluence, 4 Dec</a:t>
            </a:r>
          </a:p>
          <a:p>
            <a:pPr algn="l">
              <a:spcAft>
                <a:spcPts val="400"/>
              </a:spcAft>
            </a:pPr>
            <a:r>
              <a:rPr sz="1000" b="1" i="0">
                <a:solidFill>
                  <a:srgbClr val="1B2A55"/>
                </a:solidFill>
                <a:latin typeface="Inter"/>
              </a:rPr>
              <a:t>•  </a:t>
            </a:r>
            <a:r>
              <a:rPr sz="1000" b="1" i="0">
                <a:solidFill>
                  <a:srgbClr val="1B2A55"/>
                </a:solidFill>
                <a:latin typeface="Inter"/>
              </a:rPr>
              <a:t>New Delhi:</a:t>
            </a:r>
            <a:r>
              <a:rPr sz="1000" b="0" i="0">
                <a:solidFill>
                  <a:srgbClr val="353B4A"/>
                </a:solidFill>
                <a:latin typeface="Inter"/>
              </a:rPr>
              <a:t> INDIACom, 7 Dec; ICICC, 30 Oct</a:t>
            </a:r>
          </a:p>
          <a:p>
            <a:pPr algn="l">
              <a:spcAft>
                <a:spcPts val="400"/>
              </a:spcAft>
            </a:pPr>
            <a:r>
              <a:rPr sz="1000" b="1" i="0">
                <a:solidFill>
                  <a:srgbClr val="1B2A55"/>
                </a:solidFill>
                <a:latin typeface="Inter"/>
              </a:rPr>
              <a:t>•  </a:t>
            </a:r>
            <a:r>
              <a:rPr sz="1000" b="1" i="0">
                <a:solidFill>
                  <a:srgbClr val="1B2A55"/>
                </a:solidFill>
                <a:latin typeface="Inter"/>
              </a:rPr>
              <a:t>Kolkata and Kalyani:</a:t>
            </a:r>
            <a:r>
              <a:rPr sz="1000" b="0" i="0">
                <a:solidFill>
                  <a:srgbClr val="353B4A"/>
                </a:solidFill>
                <a:latin typeface="Inter"/>
              </a:rPr>
              <a:t> IEM-ICDC, 10 Dec; ICRCICN, 30 Nov</a:t>
            </a:r>
          </a:p>
          <a:p>
            <a:pPr algn="l">
              <a:spcAft>
                <a:spcPts val="400"/>
              </a:spcAft>
            </a:pPr>
            <a:r>
              <a:rPr sz="1000" b="1" i="0">
                <a:solidFill>
                  <a:srgbClr val="1B2A55"/>
                </a:solidFill>
                <a:latin typeface="Inter"/>
              </a:rPr>
              <a:t>•  </a:t>
            </a:r>
            <a:r>
              <a:rPr sz="1000" b="1" i="0">
                <a:solidFill>
                  <a:srgbClr val="1B2A55"/>
                </a:solidFill>
                <a:latin typeface="Inter"/>
              </a:rPr>
              <a:t>Bhubaneswar:</a:t>
            </a:r>
            <a:r>
              <a:rPr sz="1000" b="0" i="0">
                <a:solidFill>
                  <a:srgbClr val="353B4A"/>
                </a:solidFill>
                <a:latin typeface="Inter"/>
              </a:rPr>
              <a:t> ICESICSC, 30 Oct (7 days left)</a:t>
            </a:r>
          </a:p>
          <a:p>
            <a:pPr algn="l">
              <a:spcAft>
                <a:spcPts val="400"/>
              </a:spcAft>
            </a:pPr>
            <a:r>
              <a:rPr sz="1000" b="1" i="0">
                <a:solidFill>
                  <a:srgbClr val="1B2A55"/>
                </a:solidFill>
                <a:latin typeface="Inter"/>
              </a:rPr>
              <a:t>•  </a:t>
            </a:r>
            <a:r>
              <a:rPr sz="1000" b="1" i="0">
                <a:solidFill>
                  <a:srgbClr val="1B2A55"/>
                </a:solidFill>
                <a:latin typeface="Inter"/>
              </a:rPr>
              <a:t>Vellore:</a:t>
            </a:r>
            <a:r>
              <a:rPr sz="1000" b="0" i="0">
                <a:solidFill>
                  <a:srgbClr val="353B4A"/>
                </a:solidFill>
                <a:latin typeface="Inter"/>
              </a:rPr>
              <a:t> i-PACT, 31 May 2027</a:t>
            </a:r>
          </a:p>
          <a:p>
            <a:pPr algn="l">
              <a:spcAft>
                <a:spcPts val="400"/>
              </a:spcAft>
            </a:pPr>
            <a:r>
              <a:rPr sz="1000" b="1" i="0">
                <a:solidFill>
                  <a:srgbClr val="1B2A55"/>
                </a:solidFill>
                <a:latin typeface="Inter"/>
              </a:rPr>
              <a:t>•  </a:t>
            </a:r>
            <a:r>
              <a:rPr sz="1000" b="1" i="0">
                <a:solidFill>
                  <a:srgbClr val="1B2A55"/>
                </a:solidFill>
                <a:latin typeface="Inter"/>
              </a:rPr>
              <a:t>Also:</a:t>
            </a:r>
            <a:r>
              <a:rPr sz="1000" b="0" i="0">
                <a:solidFill>
                  <a:srgbClr val="353B4A"/>
                </a:solidFill>
                <a:latin typeface="Inter"/>
              </a:rPr>
              <a:t> Asansol, Chennai, Goa, Salem (fees not verified)</a:t>
            </a:r>
          </a:p>
        </p:txBody>
      </p:sp>
      <p:sp>
        <p:nvSpPr>
          <p:cNvPr id="9" name="Rounded Rectangle 8"/>
          <p:cNvSpPr/>
          <p:nvPr/>
        </p:nvSpPr>
        <p:spPr>
          <a:xfrm>
            <a:off x="3282696" y="1097280"/>
            <a:ext cx="2587752" cy="352044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65576" y="1225296"/>
            <a:ext cx="155448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ONLINE-CAPABLE</a:t>
            </a:r>
          </a:p>
        </p:txBody>
      </p:sp>
      <p:sp>
        <p:nvSpPr>
          <p:cNvPr id="11" name="TextBox 10"/>
          <p:cNvSpPr txBox="1"/>
          <p:nvPr/>
        </p:nvSpPr>
        <p:spPr>
          <a:xfrm>
            <a:off x="3465576" y="1600200"/>
            <a:ext cx="2286000" cy="2926080"/>
          </a:xfrm>
          <a:prstGeom prst="rect">
            <a:avLst/>
          </a:prstGeom>
          <a:noFill/>
        </p:spPr>
        <p:txBody>
          <a:bodyPr wrap="square" anchor="t" lIns="0" rIns="0" tIns="0" bIns="0">
            <a:spAutoFit/>
          </a:bodyPr>
          <a:lstStyle/>
          <a:p>
            <a:pPr algn="l">
              <a:spcAft>
                <a:spcPts val="400"/>
              </a:spcAft>
            </a:pPr>
            <a:r>
              <a:rPr sz="1000" b="1" i="0">
                <a:solidFill>
                  <a:srgbClr val="1B2A55"/>
                </a:solidFill>
                <a:latin typeface="Inter"/>
              </a:rPr>
              <a:t>•  </a:t>
            </a:r>
            <a:r>
              <a:rPr sz="1000" b="1" i="0">
                <a:solidFill>
                  <a:srgbClr val="1B2A55"/>
                </a:solidFill>
                <a:latin typeface="Inter"/>
              </a:rPr>
              <a:t>ISDFS 2027:</a:t>
            </a:r>
            <a:r>
              <a:rPr sz="1000" b="0" i="0">
                <a:solidFill>
                  <a:srgbClr val="353B4A"/>
                </a:solidFill>
                <a:latin typeface="Inter"/>
              </a:rPr>
              <a:t> San Jose, online allowed</a:t>
            </a:r>
          </a:p>
          <a:p>
            <a:pPr algn="l">
              <a:spcAft>
                <a:spcPts val="400"/>
              </a:spcAft>
            </a:pPr>
            <a:r>
              <a:rPr sz="1000" b="1" i="0">
                <a:solidFill>
                  <a:srgbClr val="1B2A55"/>
                </a:solidFill>
                <a:latin typeface="Inter"/>
              </a:rPr>
              <a:t>•  </a:t>
            </a:r>
            <a:r>
              <a:rPr sz="1000" b="1" i="0">
                <a:solidFill>
                  <a:srgbClr val="1B2A55"/>
                </a:solidFill>
                <a:latin typeface="Inter"/>
              </a:rPr>
              <a:t>ICDAM-2027:</a:t>
            </a:r>
            <a:r>
              <a:rPr sz="1000" b="0" i="0">
                <a:solidFill>
                  <a:srgbClr val="353B4A"/>
                </a:solidFill>
                <a:latin typeface="Inter"/>
              </a:rPr>
              <a:t> London, online fee GBP 150</a:t>
            </a:r>
          </a:p>
          <a:p>
            <a:pPr algn="l">
              <a:spcAft>
                <a:spcPts val="400"/>
              </a:spcAft>
            </a:pPr>
            <a:r>
              <a:rPr sz="1000" b="1" i="0">
                <a:solidFill>
                  <a:srgbClr val="1B2A55"/>
                </a:solidFill>
                <a:latin typeface="Inter"/>
              </a:rPr>
              <a:t>•  </a:t>
            </a:r>
            <a:r>
              <a:rPr sz="1000" b="1" i="0">
                <a:solidFill>
                  <a:srgbClr val="1B2A55"/>
                </a:solidFill>
                <a:latin typeface="Inter"/>
              </a:rPr>
              <a:t>ICRCICN, ICESICSC:</a:t>
            </a:r>
            <a:r>
              <a:rPr sz="1000" b="0" i="0">
                <a:solidFill>
                  <a:srgbClr val="353B4A"/>
                </a:solidFill>
                <a:latin typeface="Inter"/>
              </a:rPr>
              <a:t> hybrid in India</a:t>
            </a:r>
          </a:p>
          <a:p>
            <a:pPr algn="l">
              <a:spcAft>
                <a:spcPts val="400"/>
              </a:spcAft>
            </a:pPr>
            <a:r>
              <a:rPr sz="1000" b="1" i="0">
                <a:solidFill>
                  <a:srgbClr val="1B2A55"/>
                </a:solidFill>
                <a:latin typeface="Inter"/>
              </a:rPr>
              <a:t>•  </a:t>
            </a:r>
            <a:r>
              <a:rPr sz="1000" b="1" i="0">
                <a:solidFill>
                  <a:srgbClr val="1B2A55"/>
                </a:solidFill>
                <a:latin typeface="Inter"/>
              </a:rPr>
              <a:t>ICDF2C 2027:</a:t>
            </a:r>
            <a:r>
              <a:rPr sz="1000" b="0" i="0">
                <a:solidFill>
                  <a:srgbClr val="353B4A"/>
                </a:solidFill>
                <a:latin typeface="Inter"/>
              </a:rPr>
              <a:t> New York, hybrid</a:t>
            </a:r>
          </a:p>
          <a:p>
            <a:pPr algn="l">
              <a:spcAft>
                <a:spcPts val="400"/>
              </a:spcAft>
            </a:pPr>
            <a:r>
              <a:rPr sz="1000" b="1" i="0">
                <a:solidFill>
                  <a:srgbClr val="1B2A55"/>
                </a:solidFill>
                <a:latin typeface="Inter"/>
              </a:rPr>
              <a:t>•  </a:t>
            </a:r>
            <a:r>
              <a:rPr sz="1000" b="1" i="0">
                <a:solidFill>
                  <a:srgbClr val="1B2A55"/>
                </a:solidFill>
                <a:latin typeface="Inter"/>
              </a:rPr>
              <a:t>Note:</a:t>
            </a:r>
            <a:r>
              <a:rPr sz="1000" b="0" i="0">
                <a:solidFill>
                  <a:srgbClr val="353B4A"/>
                </a:solidFill>
                <a:latin typeface="Inter"/>
              </a:rPr>
              <a:t> no open venue is online-only; online still pays the full fee</a:t>
            </a:r>
          </a:p>
        </p:txBody>
      </p:sp>
      <p:sp>
        <p:nvSpPr>
          <p:cNvPr id="12" name="Rounded Rectangle 11"/>
          <p:cNvSpPr/>
          <p:nvPr/>
        </p:nvSpPr>
        <p:spPr>
          <a:xfrm>
            <a:off x="6108192" y="1097280"/>
            <a:ext cx="2587752" cy="352044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225296"/>
            <a:ext cx="886968"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ABROAD</a:t>
            </a:r>
          </a:p>
        </p:txBody>
      </p:sp>
      <p:sp>
        <p:nvSpPr>
          <p:cNvPr id="14" name="TextBox 13"/>
          <p:cNvSpPr txBox="1"/>
          <p:nvPr/>
        </p:nvSpPr>
        <p:spPr>
          <a:xfrm>
            <a:off x="6291072" y="1600200"/>
            <a:ext cx="2286000" cy="2926080"/>
          </a:xfrm>
          <a:prstGeom prst="rect">
            <a:avLst/>
          </a:prstGeom>
          <a:noFill/>
        </p:spPr>
        <p:txBody>
          <a:bodyPr wrap="square" anchor="t" lIns="0" rIns="0" tIns="0" bIns="0">
            <a:spAutoFit/>
          </a:bodyPr>
          <a:lstStyle/>
          <a:p>
            <a:pPr algn="l">
              <a:spcAft>
                <a:spcPts val="400"/>
              </a:spcAft>
            </a:pPr>
            <a:r>
              <a:rPr sz="1000" b="1" i="0">
                <a:solidFill>
                  <a:srgbClr val="1B2A55"/>
                </a:solidFill>
                <a:latin typeface="Inter"/>
              </a:rPr>
              <a:t>•  </a:t>
            </a:r>
            <a:r>
              <a:rPr sz="1000" b="1" i="0">
                <a:solidFill>
                  <a:srgbClr val="1B2A55"/>
                </a:solidFill>
                <a:latin typeface="Inter"/>
              </a:rPr>
              <a:t>Malta:</a:t>
            </a:r>
            <a:r>
              <a:rPr sz="1000" b="0" i="0">
                <a:solidFill>
                  <a:srgbClr val="353B4A"/>
                </a:solidFill>
                <a:latin typeface="Inter"/>
              </a:rPr>
              <a:t> ICISSP, Valletta</a:t>
            </a:r>
          </a:p>
          <a:p>
            <a:pPr algn="l">
              <a:spcAft>
                <a:spcPts val="400"/>
              </a:spcAft>
            </a:pPr>
            <a:r>
              <a:rPr sz="1000" b="1" i="0">
                <a:solidFill>
                  <a:srgbClr val="1B2A55"/>
                </a:solidFill>
                <a:latin typeface="Inter"/>
              </a:rPr>
              <a:t>•  </a:t>
            </a:r>
            <a:r>
              <a:rPr sz="1000" b="1" i="0">
                <a:solidFill>
                  <a:srgbClr val="1B2A55"/>
                </a:solidFill>
                <a:latin typeface="Inter"/>
              </a:rPr>
              <a:t>Italy:</a:t>
            </a:r>
            <a:r>
              <a:rPr sz="1000" b="0" i="0">
                <a:solidFill>
                  <a:srgbClr val="353B4A"/>
                </a:solidFill>
                <a:latin typeface="Inter"/>
              </a:rPr>
              <a:t> ICEIS and DATA, Rome</a:t>
            </a:r>
          </a:p>
          <a:p>
            <a:pPr algn="l">
              <a:spcAft>
                <a:spcPts val="400"/>
              </a:spcAft>
            </a:pPr>
            <a:r>
              <a:rPr sz="1000" b="1" i="0">
                <a:solidFill>
                  <a:srgbClr val="1B2A55"/>
                </a:solidFill>
                <a:latin typeface="Inter"/>
              </a:rPr>
              <a:t>•  </a:t>
            </a:r>
            <a:r>
              <a:rPr sz="1000" b="1" i="0">
                <a:solidFill>
                  <a:srgbClr val="1B2A55"/>
                </a:solidFill>
                <a:latin typeface="Inter"/>
              </a:rPr>
              <a:t>Spain:</a:t>
            </a:r>
            <a:r>
              <a:rPr sz="1000" b="0" i="0">
                <a:solidFill>
                  <a:srgbClr val="353B4A"/>
                </a:solidFill>
                <a:latin typeface="Inter"/>
              </a:rPr>
              <a:t> ICEDEG (e-democracy), Tarragona</a:t>
            </a:r>
          </a:p>
          <a:p>
            <a:pPr algn="l">
              <a:spcAft>
                <a:spcPts val="400"/>
              </a:spcAft>
            </a:pPr>
            <a:r>
              <a:rPr sz="1000" b="1" i="0">
                <a:solidFill>
                  <a:srgbClr val="1B2A55"/>
                </a:solidFill>
                <a:latin typeface="Inter"/>
              </a:rPr>
              <a:t>•  </a:t>
            </a:r>
            <a:r>
              <a:rPr sz="1000" b="1" i="0">
                <a:solidFill>
                  <a:srgbClr val="1B2A55"/>
                </a:solidFill>
                <a:latin typeface="Inter"/>
              </a:rPr>
              <a:t>Sweden:</a:t>
            </a:r>
            <a:r>
              <a:rPr sz="1000" b="0" i="0">
                <a:solidFill>
                  <a:srgbClr val="353B4A"/>
                </a:solidFill>
                <a:latin typeface="Inter"/>
              </a:rPr>
              <a:t> IFIP SEC, Linkoping</a:t>
            </a:r>
          </a:p>
          <a:p>
            <a:pPr algn="l">
              <a:spcAft>
                <a:spcPts val="400"/>
              </a:spcAft>
            </a:pPr>
            <a:r>
              <a:rPr sz="1000" b="1" i="0">
                <a:solidFill>
                  <a:srgbClr val="1B2A55"/>
                </a:solidFill>
                <a:latin typeface="Inter"/>
              </a:rPr>
              <a:t>•  </a:t>
            </a:r>
            <a:r>
              <a:rPr sz="1000" b="1" i="0">
                <a:solidFill>
                  <a:srgbClr val="1B2A55"/>
                </a:solidFill>
                <a:latin typeface="Inter"/>
              </a:rPr>
              <a:t>UK, USA, Japan:</a:t>
            </a:r>
            <a:r>
              <a:rPr sz="1000" b="0" i="0">
                <a:solidFill>
                  <a:srgbClr val="353B4A"/>
                </a:solidFill>
                <a:latin typeface="Inter"/>
              </a:rPr>
              <a:t> ACNS, ISDFS, CSP</a:t>
            </a:r>
          </a:p>
          <a:p>
            <a:pPr algn="l">
              <a:spcAft>
                <a:spcPts val="400"/>
              </a:spcAft>
            </a:pPr>
            <a:r>
              <a:rPr sz="1000" b="1" i="0">
                <a:solidFill>
                  <a:srgbClr val="1B2A55"/>
                </a:solidFill>
                <a:latin typeface="Inter"/>
              </a:rPr>
              <a:t>•  </a:t>
            </a:r>
            <a:r>
              <a:rPr sz="1000" b="1" i="0">
                <a:solidFill>
                  <a:srgbClr val="1B2A55"/>
                </a:solidFill>
                <a:latin typeface="Inter"/>
              </a:rPr>
              <a:t>Not included:</a:t>
            </a:r>
            <a:r>
              <a:rPr sz="1000" b="0" i="0">
                <a:solidFill>
                  <a:srgbClr val="353B4A"/>
                </a:solidFill>
                <a:latin typeface="Inter"/>
              </a:rPr>
              <a:t> travel and visa costs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RECOMMENDED SUBMISSION ORDER</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One venue at a time: dual submission is not allowed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36</a:t>
            </a:r>
          </a:p>
        </p:txBody>
      </p:sp>
      <p:graphicFrame>
        <p:nvGraphicFramePr>
          <p:cNvPr id="6" name="Table 5"/>
          <p:cNvGraphicFramePr>
            <a:graphicFrameLocks noGrp="1"/>
          </p:cNvGraphicFramePr>
          <p:nvPr/>
        </p:nvGraphicFramePr>
        <p:xfrm>
          <a:off x="457200" y="1097280"/>
          <a:ext cx="8229600" cy="2889504"/>
        </p:xfrm>
        <a:graphic>
          <a:graphicData uri="http://schemas.openxmlformats.org/drawingml/2006/table">
            <a:tbl>
              <a:tblPr firstRow="1" bandRow="1">
                <a:tableStyleId>{5C22544A-7EE6-4342-B048-85BDC9FD1C3A}</a:tableStyleId>
              </a:tblPr>
              <a:tblGrid>
                <a:gridCol w="548640"/>
                <a:gridCol w="2103120"/>
                <a:gridCol w="1280160"/>
                <a:gridCol w="1188720"/>
                <a:gridCol w="3108960"/>
              </a:tblGrid>
              <a:tr h="365760">
                <a:tc>
                  <a:txBody>
                    <a:bodyPr wrap="square"/>
                    <a:lstStyle/>
                    <a:p>
                      <a:r>
                        <a:rPr sz="1000" b="1" i="0">
                          <a:solidFill>
                            <a:srgbClr val="FFFFFF"/>
                          </a:solidFill>
                          <a:latin typeface="Inter"/>
                        </a:rPr>
                        <a:t>Step</a:t>
                      </a:r>
                    </a:p>
                  </a:txBody>
                  <a:tcPr marL="73152" marR="73152" marT="36576" marB="36576" anchor="ctr">
                    <a:solidFill>
                      <a:srgbClr val="1B2A55"/>
                    </a:solidFill>
                  </a:tcPr>
                </a:tc>
                <a:tc>
                  <a:txBody>
                    <a:bodyPr wrap="square"/>
                    <a:lstStyle/>
                    <a:p>
                      <a:r>
                        <a:rPr sz="1000" b="1" i="0">
                          <a:solidFill>
                            <a:srgbClr val="FFFFFF"/>
                          </a:solidFill>
                          <a:latin typeface="Inter"/>
                        </a:rPr>
                        <a:t>Venue</a:t>
                      </a:r>
                    </a:p>
                  </a:txBody>
                  <a:tcPr marL="73152" marR="73152" marT="36576" marB="36576" anchor="ctr">
                    <a:solidFill>
                      <a:srgbClr val="1B2A55"/>
                    </a:solidFill>
                  </a:tcPr>
                </a:tc>
                <a:tc>
                  <a:txBody>
                    <a:bodyPr wrap="square"/>
                    <a:lstStyle/>
                    <a:p>
                      <a:r>
                        <a:rPr sz="1000" b="1" i="0">
                          <a:solidFill>
                            <a:srgbClr val="FFFFFF"/>
                          </a:solidFill>
                          <a:latin typeface="Inter"/>
                        </a:rPr>
                        <a:t>Submit by</a:t>
                      </a:r>
                    </a:p>
                  </a:txBody>
                  <a:tcPr marL="73152" marR="73152" marT="36576" marB="36576" anchor="ctr">
                    <a:solidFill>
                      <a:srgbClr val="1B2A55"/>
                    </a:solidFill>
                  </a:tcPr>
                </a:tc>
                <a:tc>
                  <a:txBody>
                    <a:bodyPr wrap="square"/>
                    <a:lstStyle/>
                    <a:p>
                      <a:r>
                        <a:rPr sz="1000" b="1" i="0">
                          <a:solidFill>
                            <a:srgbClr val="FFFFFF"/>
                          </a:solidFill>
                          <a:latin typeface="Inter"/>
                        </a:rPr>
                        <a:t>Decision</a:t>
                      </a:r>
                    </a:p>
                  </a:txBody>
                  <a:tcPr marL="73152" marR="73152" marT="36576" marB="36576" anchor="ctr">
                    <a:solidFill>
                      <a:srgbClr val="1B2A55"/>
                    </a:solidFill>
                  </a:tcPr>
                </a:tc>
                <a:tc>
                  <a:txBody>
                    <a:bodyPr wrap="square"/>
                    <a:lstStyle/>
                    <a:p>
                      <a:r>
                        <a:rPr sz="1000" b="1" i="0">
                          <a:solidFill>
                            <a:srgbClr val="FFFFFF"/>
                          </a:solidFill>
                          <a:latin typeface="Inter"/>
                        </a:rPr>
                        <a:t>Why this order</a:t>
                      </a:r>
                    </a:p>
                  </a:txBody>
                  <a:tcPr marL="73152" marR="73152" marT="36576" marB="36576" anchor="ctr">
                    <a:solidFill>
                      <a:srgbClr val="1B2A55"/>
                    </a:solidFill>
                  </a:tcPr>
                </a:tc>
              </a:tr>
              <a:tr h="420624">
                <a:tc>
                  <a:txBody>
                    <a:bodyPr wrap="square"/>
                    <a:lstStyle/>
                    <a:p>
                      <a:r>
                        <a:rPr sz="950" b="1" i="0">
                          <a:solidFill>
                            <a:srgbClr val="1B2A55"/>
                          </a:solidFill>
                          <a:latin typeface="Inter"/>
                        </a:rPr>
                        <a:t>1</a:t>
                      </a:r>
                    </a:p>
                  </a:txBody>
                  <a:tcPr marL="73152" marR="73152" marT="36576" marB="36576" anchor="ctr">
                    <a:solidFill>
                      <a:srgbClr val="FFFFFF"/>
                    </a:solidFill>
                  </a:tcPr>
                </a:tc>
                <a:tc>
                  <a:txBody>
                    <a:bodyPr wrap="square"/>
                    <a:lstStyle/>
                    <a:p>
                      <a:r>
                        <a:rPr sz="950" b="0" i="0">
                          <a:solidFill>
                            <a:srgbClr val="353B4A"/>
                          </a:solidFill>
                          <a:latin typeface="Inter"/>
                        </a:rPr>
                        <a:t>ICISSP 2027 (Malta)</a:t>
                      </a:r>
                    </a:p>
                  </a:txBody>
                  <a:tcPr marL="73152" marR="73152" marT="36576" marB="36576" anchor="ctr">
                    <a:solidFill>
                      <a:srgbClr val="FFFFFF"/>
                    </a:solidFill>
                  </a:tcPr>
                </a:tc>
                <a:tc>
                  <a:txBody>
                    <a:bodyPr wrap="square"/>
                    <a:lstStyle/>
                    <a:p>
                      <a:r>
                        <a:rPr sz="950" b="0" i="0">
                          <a:solidFill>
                            <a:srgbClr val="353B4A"/>
                          </a:solidFill>
                          <a:latin typeface="Inter"/>
                        </a:rPr>
                        <a:t>29 Oct 2026</a:t>
                      </a:r>
                    </a:p>
                  </a:txBody>
                  <a:tcPr marL="73152" marR="73152" marT="36576" marB="36576" anchor="ctr">
                    <a:solidFill>
                      <a:srgbClr val="FFFFFF"/>
                    </a:solidFill>
                  </a:tcPr>
                </a:tc>
                <a:tc>
                  <a:txBody>
                    <a:bodyPr wrap="square"/>
                    <a:lstStyle/>
                    <a:p>
                      <a:r>
                        <a:rPr sz="950" b="0" i="0">
                          <a:solidFill>
                            <a:srgbClr val="353B4A"/>
                          </a:solidFill>
                          <a:latin typeface="Inter"/>
                        </a:rPr>
                        <a:t>4 Dec 2026</a:t>
                      </a:r>
                    </a:p>
                  </a:txBody>
                  <a:tcPr marL="73152" marR="73152" marT="36576" marB="36576" anchor="ctr">
                    <a:solidFill>
                      <a:srgbClr val="FFFFFF"/>
                    </a:solidFill>
                  </a:tcPr>
                </a:tc>
                <a:tc>
                  <a:txBody>
                    <a:bodyPr wrap="square"/>
                    <a:lstStyle/>
                    <a:p>
                      <a:r>
                        <a:rPr sz="950" b="0" i="0">
                          <a:solidFill>
                            <a:srgbClr val="353B4A"/>
                          </a:solidFill>
                          <a:latin typeface="Inter"/>
                        </a:rPr>
                        <a:t>Best topical fit open now; EUR 640 plus travel</a:t>
                      </a:r>
                    </a:p>
                  </a:txBody>
                  <a:tcPr marL="73152" marR="73152" marT="36576" marB="36576" anchor="ctr">
                    <a:solidFill>
                      <a:srgbClr val="FFFFFF"/>
                    </a:solidFill>
                  </a:tcPr>
                </a:tc>
              </a:tr>
              <a:tr h="420624">
                <a:tc>
                  <a:txBody>
                    <a:bodyPr wrap="square"/>
                    <a:lstStyle/>
                    <a:p>
                      <a:r>
                        <a:rPr sz="950" b="1" i="0">
                          <a:solidFill>
                            <a:srgbClr val="1B2A55"/>
                          </a:solidFill>
                          <a:latin typeface="Inter"/>
                        </a:rPr>
                        <a:t>2a</a:t>
                      </a:r>
                    </a:p>
                  </a:txBody>
                  <a:tcPr marL="73152" marR="73152" marT="36576" marB="36576" anchor="ctr">
                    <a:solidFill>
                      <a:srgbClr val="F1F0F6"/>
                    </a:solidFill>
                  </a:tcPr>
                </a:tc>
                <a:tc>
                  <a:txBody>
                    <a:bodyPr wrap="square"/>
                    <a:lstStyle/>
                    <a:p>
                      <a:r>
                        <a:rPr sz="950" b="0" i="0">
                          <a:solidFill>
                            <a:srgbClr val="353B4A"/>
                          </a:solidFill>
                          <a:latin typeface="Inter"/>
                        </a:rPr>
                        <a:t>INDIACom-2027 (Delhi)</a:t>
                      </a:r>
                    </a:p>
                  </a:txBody>
                  <a:tcPr marL="73152" marR="73152" marT="36576" marB="36576" anchor="ctr">
                    <a:solidFill>
                      <a:srgbClr val="F1F0F6"/>
                    </a:solidFill>
                  </a:tcPr>
                </a:tc>
                <a:tc>
                  <a:txBody>
                    <a:bodyPr wrap="square"/>
                    <a:lstStyle/>
                    <a:p>
                      <a:r>
                        <a:rPr sz="950" b="0" i="0">
                          <a:solidFill>
                            <a:srgbClr val="353B4A"/>
                          </a:solidFill>
                          <a:latin typeface="Inter"/>
                        </a:rPr>
                        <a:t>7 Dec 2026</a:t>
                      </a:r>
                    </a:p>
                  </a:txBody>
                  <a:tcPr marL="73152" marR="73152" marT="36576" marB="36576" anchor="ctr">
                    <a:solidFill>
                      <a:srgbClr val="F1F0F6"/>
                    </a:solidFill>
                  </a:tcPr>
                </a:tc>
                <a:tc>
                  <a:txBody>
                    <a:bodyPr wrap="square"/>
                    <a:lstStyle/>
                    <a:p>
                      <a:r>
                        <a:rPr sz="950" b="0" i="0">
                          <a:solidFill>
                            <a:srgbClr val="353B4A"/>
                          </a:solidFill>
                          <a:latin typeface="Inter"/>
                        </a:rPr>
                        <a:t>8 Feb 2027</a:t>
                      </a:r>
                    </a:p>
                  </a:txBody>
                  <a:tcPr marL="73152" marR="73152" marT="36576" marB="36576" anchor="ctr">
                    <a:solidFill>
                      <a:srgbClr val="F1F0F6"/>
                    </a:solidFill>
                  </a:tcPr>
                </a:tc>
                <a:tc>
                  <a:txBody>
                    <a:bodyPr wrap="square"/>
                    <a:lstStyle/>
                    <a:p>
                      <a:r>
                        <a:rPr sz="950" b="0" i="0">
                          <a:solidFill>
                            <a:srgbClr val="353B4A"/>
                          </a:solidFill>
                          <a:latin typeface="Inter"/>
                        </a:rPr>
                        <a:t>Cheap India fallback if step 1 fails; IEEE not confirmed</a:t>
                      </a:r>
                    </a:p>
                  </a:txBody>
                  <a:tcPr marL="73152" marR="73152" marT="36576" marB="36576" anchor="ctr">
                    <a:solidFill>
                      <a:srgbClr val="F1F0F6"/>
                    </a:solidFill>
                  </a:tcPr>
                </a:tc>
              </a:tr>
              <a:tr h="420624">
                <a:tc>
                  <a:txBody>
                    <a:bodyPr wrap="square"/>
                    <a:lstStyle/>
                    <a:p>
                      <a:r>
                        <a:rPr sz="950" b="1" i="0">
                          <a:solidFill>
                            <a:srgbClr val="1B2A55"/>
                          </a:solidFill>
                          <a:latin typeface="Inter"/>
                        </a:rPr>
                        <a:t>2b</a:t>
                      </a:r>
                    </a:p>
                  </a:txBody>
                  <a:tcPr marL="73152" marR="73152" marT="36576" marB="36576" anchor="ctr">
                    <a:solidFill>
                      <a:srgbClr val="FFFFFF"/>
                    </a:solidFill>
                  </a:tcPr>
                </a:tc>
                <a:tc>
                  <a:txBody>
                    <a:bodyPr wrap="square"/>
                    <a:lstStyle/>
                    <a:p>
                      <a:r>
                        <a:rPr sz="950" b="0" i="0">
                          <a:solidFill>
                            <a:srgbClr val="353B4A"/>
                          </a:solidFill>
                          <a:latin typeface="Inter"/>
                        </a:rPr>
                        <a:t>Confluence 2027 (Noida)</a:t>
                      </a:r>
                    </a:p>
                  </a:txBody>
                  <a:tcPr marL="73152" marR="73152" marT="36576" marB="36576" anchor="ctr">
                    <a:solidFill>
                      <a:srgbClr val="FFFFFF"/>
                    </a:solidFill>
                  </a:tcPr>
                </a:tc>
                <a:tc>
                  <a:txBody>
                    <a:bodyPr wrap="square"/>
                    <a:lstStyle/>
                    <a:p>
                      <a:r>
                        <a:rPr sz="950" b="0" i="0">
                          <a:solidFill>
                            <a:srgbClr val="353B4A"/>
                          </a:solidFill>
                          <a:latin typeface="Inter"/>
                        </a:rPr>
                        <a:t>4 Dec 2026</a:t>
                      </a:r>
                    </a:p>
                  </a:txBody>
                  <a:tcPr marL="73152" marR="73152" marT="36576" marB="36576" anchor="ctr">
                    <a:solidFill>
                      <a:srgbClr val="FFFFFF"/>
                    </a:solidFill>
                  </a:tcPr>
                </a:tc>
                <a:tc>
                  <a:txBody>
                    <a:bodyPr wrap="square"/>
                    <a:lstStyle/>
                    <a:p>
                      <a:r>
                        <a:rPr sz="950" b="0" i="0">
                          <a:solidFill>
                            <a:srgbClr val="353B4A"/>
                          </a:solidFill>
                          <a:latin typeface="Inter"/>
                        </a:rPr>
                        <a:t>25 Dec 2026</a:t>
                      </a:r>
                    </a:p>
                  </a:txBody>
                  <a:tcPr marL="73152" marR="73152" marT="36576" marB="36576" anchor="ctr">
                    <a:solidFill>
                      <a:srgbClr val="FFFFFF"/>
                    </a:solidFill>
                  </a:tcPr>
                </a:tc>
                <a:tc>
                  <a:txBody>
                    <a:bodyPr wrap="square"/>
                    <a:lstStyle/>
                    <a:p>
                      <a:r>
                        <a:rPr sz="950" b="0" i="0">
                          <a:solidFill>
                            <a:srgbClr val="353B4A"/>
                          </a:solidFill>
                          <a:latin typeface="Inter"/>
                        </a:rPr>
                        <a:t>Alternative to 2a if you want a fast answer</a:t>
                      </a:r>
                    </a:p>
                  </a:txBody>
                  <a:tcPr marL="73152" marR="73152" marT="36576" marB="36576" anchor="ctr">
                    <a:solidFill>
                      <a:srgbClr val="FFFFFF"/>
                    </a:solidFill>
                  </a:tcPr>
                </a:tc>
              </a:tr>
              <a:tr h="420624">
                <a:tc>
                  <a:txBody>
                    <a:bodyPr wrap="square"/>
                    <a:lstStyle/>
                    <a:p>
                      <a:r>
                        <a:rPr sz="950" b="1" i="0">
                          <a:solidFill>
                            <a:srgbClr val="1B2A55"/>
                          </a:solidFill>
                          <a:latin typeface="Inter"/>
                        </a:rPr>
                        <a:t>3</a:t>
                      </a:r>
                    </a:p>
                  </a:txBody>
                  <a:tcPr marL="73152" marR="73152" marT="36576" marB="36576" anchor="ctr">
                    <a:solidFill>
                      <a:srgbClr val="F1F0F6"/>
                    </a:solidFill>
                  </a:tcPr>
                </a:tc>
                <a:tc>
                  <a:txBody>
                    <a:bodyPr wrap="square"/>
                    <a:lstStyle/>
                    <a:p>
                      <a:r>
                        <a:rPr sz="950" b="0" i="0">
                          <a:solidFill>
                            <a:srgbClr val="353B4A"/>
                          </a:solidFill>
                          <a:latin typeface="Inter"/>
                        </a:rPr>
                        <a:t>ICEIS, IFIP SEC or ICDF2C</a:t>
                      </a:r>
                    </a:p>
                  </a:txBody>
                  <a:tcPr marL="73152" marR="73152" marT="36576" marB="36576" anchor="ctr">
                    <a:solidFill>
                      <a:srgbClr val="F1F0F6"/>
                    </a:solidFill>
                  </a:tcPr>
                </a:tc>
                <a:tc>
                  <a:txBody>
                    <a:bodyPr wrap="square"/>
                    <a:lstStyle/>
                    <a:p>
                      <a:r>
                        <a:rPr sz="950" b="0" i="0">
                          <a:solidFill>
                            <a:srgbClr val="353B4A"/>
                          </a:solidFill>
                          <a:latin typeface="Inter"/>
                        </a:rPr>
                        <a:t>15-21 Dec 2026</a:t>
                      </a:r>
                    </a:p>
                  </a:txBody>
                  <a:tcPr marL="73152" marR="73152" marT="36576" marB="36576" anchor="ctr">
                    <a:solidFill>
                      <a:srgbClr val="F1F0F6"/>
                    </a:solidFill>
                  </a:tcPr>
                </a:tc>
                <a:tc>
                  <a:txBody>
                    <a:bodyPr wrap="square"/>
                    <a:lstStyle/>
                    <a:p>
                      <a:r>
                        <a:rPr sz="950" b="0" i="0">
                          <a:solidFill>
                            <a:srgbClr val="353B4A"/>
                          </a:solidFill>
                          <a:latin typeface="Inter"/>
                        </a:rPr>
                        <a:t>mid-Feb 2027</a:t>
                      </a:r>
                    </a:p>
                  </a:txBody>
                  <a:tcPr marL="73152" marR="73152" marT="36576" marB="36576" anchor="ctr">
                    <a:solidFill>
                      <a:srgbClr val="F1F0F6"/>
                    </a:solidFill>
                  </a:tcPr>
                </a:tc>
                <a:tc>
                  <a:txBody>
                    <a:bodyPr wrap="square"/>
                    <a:lstStyle/>
                    <a:p>
                      <a:r>
                        <a:rPr sz="950" b="0" i="0">
                          <a:solidFill>
                            <a:srgbClr val="353B4A"/>
                          </a:solidFill>
                          <a:latin typeface="Inter"/>
                        </a:rPr>
                        <a:t>Better-quality fallbacks; higher fees and travel</a:t>
                      </a:r>
                    </a:p>
                  </a:txBody>
                  <a:tcPr marL="73152" marR="73152" marT="36576" marB="36576" anchor="ctr">
                    <a:solidFill>
                      <a:srgbClr val="F1F0F6"/>
                    </a:solidFill>
                  </a:tcPr>
                </a:tc>
              </a:tr>
              <a:tr h="420624">
                <a:tc>
                  <a:txBody>
                    <a:bodyPr wrap="square"/>
                    <a:lstStyle/>
                    <a:p>
                      <a:r>
                        <a:rPr sz="950" b="1" i="0">
                          <a:solidFill>
                            <a:srgbClr val="1B2A55"/>
                          </a:solidFill>
                          <a:latin typeface="Inter"/>
                        </a:rPr>
                        <a:t>4</a:t>
                      </a:r>
                    </a:p>
                  </a:txBody>
                  <a:tcPr marL="73152" marR="73152" marT="36576" marB="36576" anchor="ctr">
                    <a:solidFill>
                      <a:srgbClr val="FFFFFF"/>
                    </a:solidFill>
                  </a:tcPr>
                </a:tc>
                <a:tc>
                  <a:txBody>
                    <a:bodyPr wrap="square"/>
                    <a:lstStyle/>
                    <a:p>
                      <a:r>
                        <a:rPr sz="950" b="0" i="0">
                          <a:solidFill>
                            <a:srgbClr val="353B4A"/>
                          </a:solidFill>
                          <a:latin typeface="Inter"/>
                        </a:rPr>
                        <a:t>ISDFS 2027 (online ok)</a:t>
                      </a:r>
                    </a:p>
                  </a:txBody>
                  <a:tcPr marL="73152" marR="73152" marT="36576" marB="36576" anchor="ctr">
                    <a:solidFill>
                      <a:srgbClr val="FFFFFF"/>
                    </a:solidFill>
                  </a:tcPr>
                </a:tc>
                <a:tc>
                  <a:txBody>
                    <a:bodyPr wrap="square"/>
                    <a:lstStyle/>
                    <a:p>
                      <a:r>
                        <a:rPr sz="950" b="0" i="0">
                          <a:solidFill>
                            <a:srgbClr val="353B4A"/>
                          </a:solidFill>
                          <a:latin typeface="Inter"/>
                        </a:rPr>
                        <a:t>31 Jan 2027</a:t>
                      </a:r>
                    </a:p>
                  </a:txBody>
                  <a:tcPr marL="73152" marR="73152" marT="36576" marB="36576" anchor="ctr">
                    <a:solidFill>
                      <a:srgbClr val="FFFFFF"/>
                    </a:solidFill>
                  </a:tcPr>
                </a:tc>
                <a:tc>
                  <a:txBody>
                    <a:bodyPr wrap="square"/>
                    <a:lstStyle/>
                    <a:p>
                      <a:r>
                        <a:rPr sz="950" b="0" i="0">
                          <a:solidFill>
                            <a:srgbClr val="353B4A"/>
                          </a:solidFill>
                          <a:latin typeface="Inter"/>
                        </a:rPr>
                        <a:t>15 Feb 2027</a:t>
                      </a:r>
                    </a:p>
                  </a:txBody>
                  <a:tcPr marL="73152" marR="73152" marT="36576" marB="36576" anchor="ctr">
                    <a:solidFill>
                      <a:srgbClr val="FFFFFF"/>
                    </a:solidFill>
                  </a:tcPr>
                </a:tc>
                <a:tc>
                  <a:txBody>
                    <a:bodyPr wrap="square"/>
                    <a:lstStyle/>
                    <a:p>
                      <a:r>
                        <a:rPr sz="950" b="0" i="0">
                          <a:solidFill>
                            <a:srgbClr val="353B4A"/>
                          </a:solidFill>
                          <a:latin typeface="Inter"/>
                        </a:rPr>
                        <a:t>IEEE-submitted, USD 500, can present online</a:t>
                      </a:r>
                    </a:p>
                  </a:txBody>
                  <a:tcPr marL="73152" marR="73152" marT="36576" marB="36576" anchor="ctr">
                    <a:solidFill>
                      <a:srgbClr val="FFFFFF"/>
                    </a:solidFill>
                  </a:tcPr>
                </a:tc>
              </a:tr>
              <a:tr h="420624">
                <a:tc>
                  <a:txBody>
                    <a:bodyPr wrap="square"/>
                    <a:lstStyle/>
                    <a:p>
                      <a:r>
                        <a:rPr sz="950" b="1" i="0">
                          <a:solidFill>
                            <a:srgbClr val="1B2A55"/>
                          </a:solidFill>
                          <a:latin typeface="Inter"/>
                        </a:rPr>
                        <a:t>5</a:t>
                      </a:r>
                    </a:p>
                  </a:txBody>
                  <a:tcPr marL="73152" marR="73152" marT="36576" marB="36576" anchor="ctr">
                    <a:solidFill>
                      <a:srgbClr val="F1F0F6"/>
                    </a:solidFill>
                  </a:tcPr>
                </a:tc>
                <a:tc>
                  <a:txBody>
                    <a:bodyPr wrap="square"/>
                    <a:lstStyle/>
                    <a:p>
                      <a:r>
                        <a:rPr sz="950" b="0" i="0">
                          <a:solidFill>
                            <a:srgbClr val="353B4A"/>
                          </a:solidFill>
                          <a:latin typeface="Inter"/>
                        </a:rPr>
                        <a:t>ICEDEG or DATA/SECRYPT</a:t>
                      </a:r>
                    </a:p>
                  </a:txBody>
                  <a:tcPr marL="73152" marR="73152" marT="36576" marB="36576" anchor="ctr">
                    <a:solidFill>
                      <a:srgbClr val="F1F0F6"/>
                    </a:solidFill>
                  </a:tcPr>
                </a:tc>
                <a:tc>
                  <a:txBody>
                    <a:bodyPr wrap="square"/>
                    <a:lstStyle/>
                    <a:p>
                      <a:r>
                        <a:rPr sz="950" b="0" i="0">
                          <a:solidFill>
                            <a:srgbClr val="353B4A"/>
                          </a:solidFill>
                          <a:latin typeface="Inter"/>
                        </a:rPr>
                        <a:t>Feb-Mar 2027</a:t>
                      </a:r>
                    </a:p>
                  </a:txBody>
                  <a:tcPr marL="73152" marR="73152" marT="36576" marB="36576" anchor="ctr">
                    <a:solidFill>
                      <a:srgbClr val="F1F0F6"/>
                    </a:solidFill>
                  </a:tcPr>
                </a:tc>
                <a:tc>
                  <a:txBody>
                    <a:bodyPr wrap="square"/>
                    <a:lstStyle/>
                    <a:p>
                      <a:r>
                        <a:rPr sz="950" b="0" i="0">
                          <a:solidFill>
                            <a:srgbClr val="353B4A"/>
                          </a:solidFill>
                          <a:latin typeface="Inter"/>
                        </a:rPr>
                        <a:t>Apr-May 2027</a:t>
                      </a:r>
                    </a:p>
                  </a:txBody>
                  <a:tcPr marL="73152" marR="73152" marT="36576" marB="36576" anchor="ctr">
                    <a:solidFill>
                      <a:srgbClr val="F1F0F6"/>
                    </a:solidFill>
                  </a:tcPr>
                </a:tc>
                <a:tc>
                  <a:txBody>
                    <a:bodyPr wrap="square"/>
                    <a:lstStyle/>
                    <a:p>
                      <a:r>
                        <a:rPr sz="950" b="0" i="0">
                          <a:solidFill>
                            <a:srgbClr val="353B4A"/>
                          </a:solidFill>
                          <a:latin typeface="Inter"/>
                        </a:rPr>
                        <a:t>Best audience; the highest cost</a:t>
                      </a:r>
                    </a:p>
                  </a:txBody>
                  <a:tcPr marL="73152" marR="73152" marT="36576" marB="36576" anchor="ctr">
                    <a:solidFill>
                      <a:srgbClr val="F1F0F6"/>
                    </a:solidFill>
                  </a:tcPr>
                </a:tc>
              </a:tr>
            </a:tbl>
          </a:graphicData>
        </a:graphic>
      </p:graphicFrame>
      <p:sp>
        <p:nvSpPr>
          <p:cNvPr id="7" name="TextBox 6"/>
          <p:cNvSpPr txBox="1"/>
          <p:nvPr/>
        </p:nvSpPr>
        <p:spPr>
          <a:xfrm>
            <a:off x="457200" y="4114800"/>
            <a:ext cx="8229600" cy="685800"/>
          </a:xfrm>
          <a:prstGeom prst="rect">
            <a:avLst/>
          </a:prstGeom>
          <a:noFill/>
        </p:spPr>
        <p:txBody>
          <a:bodyPr wrap="square" anchor="t" lIns="0" rIns="0" tIns="0" bIns="0">
            <a:spAutoFit/>
          </a:bodyPr>
          <a:lstStyle/>
          <a:p>
            <a:pPr algn="l">
              <a:spcAft>
                <a:spcPts val="0"/>
              </a:spcAft>
            </a:pPr>
            <a:r>
              <a:rPr sz="1050" b="1" i="0">
                <a:solidFill>
                  <a:srgbClr val="1B2A55"/>
                </a:solidFill>
                <a:latin typeface="Inter"/>
              </a:rPr>
              <a:t>Before submitting: </a:t>
            </a:r>
            <a:r>
              <a:rPr sz="1050" b="0" i="0">
                <a:solidFill>
                  <a:srgbClr val="353B4A"/>
                </a:solidFill>
                <a:latin typeface="Inter"/>
              </a:rPr>
              <a:t>check the publisher's page, remove author names where double-blind, follow each venue's AI-disclosure rule, and recheck the deadline. Journals cost USD 2,000 to 3,000 in fees: only as a later extended version.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ROOMMATE LIST: REALITY CHECK</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The venues are real; "easy" is not supported</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37</a:t>
            </a:r>
          </a:p>
        </p:txBody>
      </p:sp>
      <p:sp>
        <p:nvSpPr>
          <p:cNvPr id="6" name="Rounded Rectangle 5"/>
          <p:cNvSpPr/>
          <p:nvPr/>
        </p:nvSpPr>
        <p:spPr>
          <a:xfrm>
            <a:off x="457200" y="1097280"/>
            <a:ext cx="4023360" cy="34747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078992"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HOLDS UP</a:t>
            </a:r>
          </a:p>
        </p:txBody>
      </p:sp>
      <p:sp>
        <p:nvSpPr>
          <p:cNvPr id="8" name="TextBox 7"/>
          <p:cNvSpPr txBox="1"/>
          <p:nvPr/>
        </p:nvSpPr>
        <p:spPr>
          <a:xfrm>
            <a:off x="640080" y="1600200"/>
            <a:ext cx="3657600" cy="292608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1" i="0">
                <a:solidFill>
                  <a:srgbClr val="1B2A55"/>
                </a:solidFill>
                <a:latin typeface="Inter"/>
              </a:rPr>
              <a:t>ICRTAC:</a:t>
            </a:r>
            <a:r>
              <a:rPr sz="1050" b="0" i="0">
                <a:solidFill>
                  <a:srgbClr val="353B4A"/>
                </a:solidFill>
                <a:latin typeface="Inter"/>
              </a:rPr>
              <a:t> real, VIT Chennai SCOPE, 9th edition 10-11 Dec 2026, but closed: the page shows no late route.</a:t>
            </a:r>
          </a:p>
          <a:p>
            <a:pPr algn="l">
              <a:spcAft>
                <a:spcPts val="500"/>
              </a:spcAft>
            </a:pPr>
            <a:r>
              <a:rPr sz="1050" b="1" i="0">
                <a:solidFill>
                  <a:srgbClr val="1B2A55"/>
                </a:solidFill>
                <a:latin typeface="Inter"/>
              </a:rPr>
              <a:t>•  </a:t>
            </a:r>
            <a:r>
              <a:rPr sz="1050" b="1" i="0">
                <a:solidFill>
                  <a:srgbClr val="1B2A55"/>
                </a:solidFill>
                <a:latin typeface="Inter"/>
              </a:rPr>
              <a:t>ICSCAN:</a:t>
            </a:r>
            <a:r>
              <a:rPr sz="1050" b="0" i="0">
                <a:solidFill>
                  <a:srgbClr val="353B4A"/>
                </a:solidFill>
                <a:latin typeface="Inter"/>
              </a:rPr>
              <a:t> real; the 7th edition ran in June 2026.</a:t>
            </a:r>
          </a:p>
          <a:p>
            <a:pPr algn="l">
              <a:spcAft>
                <a:spcPts val="500"/>
              </a:spcAft>
            </a:pPr>
            <a:r>
              <a:rPr sz="1050" b="1" i="0">
                <a:solidFill>
                  <a:srgbClr val="1B2A55"/>
                </a:solidFill>
                <a:latin typeface="Inter"/>
              </a:rPr>
              <a:t>•  </a:t>
            </a:r>
            <a:r>
              <a:rPr sz="1050" b="1" i="0">
                <a:solidFill>
                  <a:srgbClr val="1B2A55"/>
                </a:solidFill>
                <a:latin typeface="Inter"/>
              </a:rPr>
              <a:t>i-PACT:</a:t>
            </a:r>
            <a:r>
              <a:rPr sz="1050" b="0" i="0">
                <a:solidFill>
                  <a:srgbClr val="353B4A"/>
                </a:solidFill>
                <a:latin typeface="Inter"/>
              </a:rPr>
              <a:t> real, at VIT Vellore in Sep 2027, but it is a power-engineering conference.</a:t>
            </a:r>
          </a:p>
          <a:p>
            <a:pPr algn="l">
              <a:spcAft>
                <a:spcPts val="500"/>
              </a:spcAft>
            </a:pPr>
            <a:r>
              <a:rPr sz="1050" b="1" i="0">
                <a:solidFill>
                  <a:srgbClr val="1B2A55"/>
                </a:solidFill>
                <a:latin typeface="Inter"/>
              </a:rPr>
              <a:t>•  </a:t>
            </a:r>
            <a:r>
              <a:rPr sz="1050" b="1" i="0">
                <a:solidFill>
                  <a:srgbClr val="1B2A55"/>
                </a:solidFill>
                <a:latin typeface="Inter"/>
              </a:rPr>
              <a:t>E-Vote-ID:</a:t>
            </a:r>
            <a:r>
              <a:rPr sz="1050" b="0" i="0">
                <a:solidFill>
                  <a:srgbClr val="353B4A"/>
                </a:solidFill>
                <a:latin typeface="Inter"/>
              </a:rPr>
              <a:t> real and the best topical fit.</a:t>
            </a:r>
          </a:p>
          <a:p>
            <a:pPr algn="l">
              <a:spcAft>
                <a:spcPts val="500"/>
              </a:spcAft>
            </a:pPr>
            <a:r>
              <a:rPr sz="1050" b="1" i="0">
                <a:solidFill>
                  <a:srgbClr val="1B2A55"/>
                </a:solidFill>
                <a:latin typeface="Inter"/>
              </a:rPr>
              <a:t>•  </a:t>
            </a:r>
            <a:r>
              <a:rPr sz="1050" b="1" i="0">
                <a:solidFill>
                  <a:srgbClr val="1B2A55"/>
                </a:solidFill>
                <a:latin typeface="Inter"/>
              </a:rPr>
              <a:t>DASFAA / ICDE demo tracks:</a:t>
            </a:r>
            <a:r>
              <a:rPr sz="1050" b="0" i="0">
                <a:solidFill>
                  <a:srgbClr val="353B4A"/>
                </a:solidFill>
                <a:latin typeface="Inter"/>
              </a:rPr>
              <a:t> exist, but are competitive.</a:t>
            </a:r>
          </a:p>
        </p:txBody>
      </p:sp>
      <p:sp>
        <p:nvSpPr>
          <p:cNvPr id="9" name="Rounded Rectangle 8"/>
          <p:cNvSpPr/>
          <p:nvPr/>
        </p:nvSpPr>
        <p:spPr>
          <a:xfrm>
            <a:off x="4663440" y="1097280"/>
            <a:ext cx="4023360" cy="347472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6320" y="1225296"/>
            <a:ext cx="2423160"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COULD NOT BE SUPPORTED</a:t>
            </a:r>
          </a:p>
        </p:txBody>
      </p:sp>
      <p:sp>
        <p:nvSpPr>
          <p:cNvPr id="11" name="TextBox 10"/>
          <p:cNvSpPr txBox="1"/>
          <p:nvPr/>
        </p:nvSpPr>
        <p:spPr>
          <a:xfrm>
            <a:off x="4846320" y="1600200"/>
            <a:ext cx="3657600" cy="2926080"/>
          </a:xfrm>
          <a:prstGeom prst="rect">
            <a:avLst/>
          </a:prstGeom>
          <a:noFill/>
        </p:spPr>
        <p:txBody>
          <a:bodyPr wrap="square" anchor="t" lIns="0" rIns="0" tIns="0" bIns="0">
            <a:spAutoFit/>
          </a:bodyPr>
          <a:lstStyle/>
          <a:p>
            <a:pPr algn="l">
              <a:spcAft>
                <a:spcPts val="500"/>
              </a:spcAft>
            </a:pPr>
            <a:r>
              <a:rPr sz="1050" b="1" i="0">
                <a:solidFill>
                  <a:srgbClr val="1B2A55"/>
                </a:solidFill>
                <a:latin typeface="Inter"/>
              </a:rPr>
              <a:t>•  </a:t>
            </a:r>
            <a:r>
              <a:rPr sz="1050" b="1" i="0">
                <a:solidFill>
                  <a:srgbClr val="1B2A55"/>
                </a:solidFill>
                <a:latin typeface="Inter"/>
              </a:rPr>
              <a:t>"75% acceptance":</a:t>
            </a:r>
            <a:r>
              <a:rPr sz="1050" b="0" i="0">
                <a:solidFill>
                  <a:srgbClr val="353B4A"/>
                </a:solidFill>
                <a:latin typeface="Inter"/>
              </a:rPr>
              <a:t> no venue publishes it; ICRTAC 2024 took 36 of 315 papers, about 11%.</a:t>
            </a:r>
          </a:p>
          <a:p>
            <a:pPr algn="l">
              <a:spcAft>
                <a:spcPts val="500"/>
              </a:spcAft>
            </a:pPr>
            <a:r>
              <a:rPr sz="1050" b="1" i="0">
                <a:solidFill>
                  <a:srgbClr val="1B2A55"/>
                </a:solidFill>
                <a:latin typeface="Inter"/>
              </a:rPr>
              <a:t>•  </a:t>
            </a:r>
            <a:r>
              <a:rPr sz="1050" b="1" i="0">
                <a:solidFill>
                  <a:srgbClr val="1B2A55"/>
                </a:solidFill>
                <a:latin typeface="Inter"/>
              </a:rPr>
              <a:t>"Springer" for ICRTAC:</a:t>
            </a:r>
            <a:r>
              <a:rPr sz="1050" b="0" i="0">
                <a:solidFill>
                  <a:srgbClr val="353B4A"/>
                </a:solidFill>
                <a:latin typeface="Inter"/>
              </a:rPr>
              <a:t> only the 2024 edition; 2026 says IEEE Xplore, subject to review.</a:t>
            </a:r>
          </a:p>
          <a:p>
            <a:pPr algn="l">
              <a:spcAft>
                <a:spcPts val="500"/>
              </a:spcAft>
            </a:pPr>
            <a:r>
              <a:rPr sz="1050" b="1" i="0">
                <a:solidFill>
                  <a:srgbClr val="1B2A55"/>
                </a:solidFill>
                <a:latin typeface="Inter"/>
              </a:rPr>
              <a:t>•  </a:t>
            </a:r>
            <a:r>
              <a:rPr sz="1050" b="1" i="0">
                <a:solidFill>
                  <a:srgbClr val="1B2A55"/>
                </a:solidFill>
                <a:latin typeface="Inter"/>
              </a:rPr>
              <a:t>ICSCAN / ICCCNT "IEEE":</a:t>
            </a:r>
            <a:r>
              <a:rPr sz="1050" b="0" i="0">
                <a:solidFill>
                  <a:srgbClr val="353B4A"/>
                </a:solidFill>
                <a:latin typeface="Inter"/>
              </a:rPr>
              <a:t> not confirmed on the official sites.</a:t>
            </a:r>
          </a:p>
          <a:p>
            <a:pPr algn="l">
              <a:spcAft>
                <a:spcPts val="500"/>
              </a:spcAft>
            </a:pPr>
            <a:r>
              <a:rPr sz="1050" b="1" i="0">
                <a:solidFill>
                  <a:srgbClr val="1B2A55"/>
                </a:solidFill>
                <a:latin typeface="Inter"/>
              </a:rPr>
              <a:t>•  </a:t>
            </a:r>
            <a:r>
              <a:rPr sz="1050" b="1" i="0">
                <a:solidFill>
                  <a:srgbClr val="1B2A55"/>
                </a:solidFill>
                <a:latin typeface="Inter"/>
              </a:rPr>
              <a:t>ViTECoN:</a:t>
            </a:r>
            <a:r>
              <a:rPr sz="1050" b="0" i="0">
                <a:solidFill>
                  <a:srgbClr val="353B4A"/>
                </a:solidFill>
                <a:latin typeface="Inter"/>
              </a:rPr>
              <a:t> no current call found.</a:t>
            </a:r>
          </a:p>
          <a:p>
            <a:pPr algn="l">
              <a:spcAft>
                <a:spcPts val="500"/>
              </a:spcAft>
            </a:pPr>
            <a:r>
              <a:rPr sz="1050" b="1" i="0">
                <a:solidFill>
                  <a:srgbClr val="1B2A55"/>
                </a:solidFill>
                <a:latin typeface="Inter"/>
              </a:rPr>
              <a:t>•  </a:t>
            </a:r>
            <a:r>
              <a:rPr sz="1050" b="1" i="0">
                <a:solidFill>
                  <a:srgbClr val="1B2A55"/>
                </a:solidFill>
                <a:latin typeface="Inter"/>
              </a:rPr>
              <a:t>"Fast to accept":</a:t>
            </a:r>
            <a:r>
              <a:rPr sz="1050" b="0" i="0">
                <a:solidFill>
                  <a:srgbClr val="353B4A"/>
                </a:solidFill>
                <a:latin typeface="Inter"/>
              </a:rPr>
              <a:t> very short reviews are a warning sign, not a feature.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dgeCover"/>
          <p:cNvSpPr/>
          <p:nvPr/>
        </p:nvSpPr>
        <p:spPr>
          <a:xfrm>
            <a:off x="7955279" y="4800600"/>
            <a:ext cx="1188720"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457200" y="457200"/>
            <a:ext cx="8229600" cy="146304"/>
          </a:xfrm>
          <a:prstGeom prst="rect">
            <a:avLst/>
          </a:prstGeom>
          <a:noFill/>
        </p:spPr>
        <p:txBody>
          <a:bodyPr wrap="square" anchor="t" lIns="0" rIns="0" tIns="0" bIns="0">
            <a:spAutoFit/>
          </a:bodyPr>
          <a:lstStyle/>
          <a:p>
            <a:pPr algn="l">
              <a:spcAft>
                <a:spcPts val="0"/>
              </a:spcAft>
            </a:pPr>
            <a:r>
              <a:rPr sz="950" b="1" i="0">
                <a:solidFill>
                  <a:srgbClr val="1B2A55"/>
                </a:solidFill>
                <a:latin typeface="Inter"/>
              </a:rPr>
              <a:t>PUBLICATION PLAN</a:t>
            </a:r>
          </a:p>
        </p:txBody>
      </p:sp>
      <p:sp>
        <p:nvSpPr>
          <p:cNvPr id="4" name="Title"/>
          <p:cNvSpPr txBox="1"/>
          <p:nvPr/>
        </p:nvSpPr>
        <p:spPr>
          <a:xfrm>
            <a:off x="457200" y="667512"/>
            <a:ext cx="8229600" cy="329184"/>
          </a:xfrm>
          <a:prstGeom prst="rect">
            <a:avLst/>
          </a:prstGeom>
          <a:noFill/>
        </p:spPr>
        <p:txBody>
          <a:bodyPr wrap="square" anchor="t" lIns="0" rIns="0" tIns="0" bIns="0">
            <a:spAutoFit/>
          </a:bodyPr>
          <a:lstStyle/>
          <a:p>
            <a:pPr algn="l">
              <a:spcAft>
                <a:spcPts val="0"/>
              </a:spcAft>
            </a:pPr>
            <a:r>
              <a:rPr sz="2200" b="1" i="0">
                <a:solidFill>
                  <a:srgbClr val="1B2A55"/>
                </a:solidFill>
                <a:latin typeface="Inter"/>
              </a:rPr>
              <a:t>What we claim, how we choose, and what to submit first</a:t>
            </a:r>
          </a:p>
        </p:txBody>
      </p:sp>
      <p:sp>
        <p:nvSpPr>
          <p:cNvPr id="5" name="Footer"/>
          <p:cNvSpPr txBox="1"/>
          <p:nvPr/>
        </p:nvSpPr>
        <p:spPr>
          <a:xfrm>
            <a:off x="457200" y="4901184"/>
            <a:ext cx="7315200" cy="164592"/>
          </a:xfrm>
          <a:prstGeom prst="rect">
            <a:avLst/>
          </a:prstGeom>
          <a:noFill/>
        </p:spPr>
        <p:txBody>
          <a:bodyPr wrap="square" anchor="t" lIns="0" rIns="0" tIns="0" bIns="0">
            <a:spAutoFit/>
          </a:bodyPr>
          <a:lstStyle/>
          <a:p>
            <a:pPr algn="l">
              <a:spcAft>
                <a:spcPts val="0"/>
              </a:spcAft>
            </a:pPr>
            <a:r>
              <a:rPr sz="950" b="0" i="0">
                <a:solidFill>
                  <a:srgbClr val="666A78"/>
                </a:solidFill>
                <a:latin typeface="Inter"/>
              </a:rPr>
              <a:t>BACSE202 – Database Systems | Review 3 | Fall Semester 2026 · Slide 38</a:t>
            </a:r>
          </a:p>
        </p:txBody>
      </p:sp>
      <p:sp>
        <p:nvSpPr>
          <p:cNvPr id="6" name="Rounded Rectangle 5"/>
          <p:cNvSpPr/>
          <p:nvPr/>
        </p:nvSpPr>
        <p:spPr>
          <a:xfrm>
            <a:off x="457200" y="1097280"/>
            <a:ext cx="4023360" cy="33832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25296"/>
            <a:ext cx="1175004"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OUR CLAIM</a:t>
            </a:r>
          </a:p>
        </p:txBody>
      </p:sp>
      <p:sp>
        <p:nvSpPr>
          <p:cNvPr id="8" name="TextBox 7"/>
          <p:cNvSpPr txBox="1"/>
          <p:nvPr/>
        </p:nvSpPr>
        <p:spPr>
          <a:xfrm>
            <a:off x="640080" y="1600200"/>
            <a:ext cx="3657600" cy="283464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1" i="0">
                <a:solidFill>
                  <a:srgbClr val="1B2A55"/>
                </a:solidFill>
                <a:latin typeface="Inter"/>
              </a:rPr>
              <a:t>Yes:</a:t>
            </a:r>
            <a:r>
              <a:rPr sz="1100" b="0" i="0">
                <a:solidFill>
                  <a:srgbClr val="353B4A"/>
                </a:solidFill>
                <a:latin typeface="Inter"/>
              </a:rPr>
              <a:t> a database-centric design that raises the cost of undetected tampering, with executable evidence and a stated threat model.</a:t>
            </a:r>
          </a:p>
          <a:p>
            <a:pPr algn="l">
              <a:spcAft>
                <a:spcPts val="500"/>
              </a:spcAft>
            </a:pPr>
            <a:r>
              <a:rPr sz="1100" b="1" i="0">
                <a:solidFill>
                  <a:srgbClr val="1B2A55"/>
                </a:solidFill>
                <a:latin typeface="Inter"/>
              </a:rPr>
              <a:t>•  </a:t>
            </a:r>
            <a:r>
              <a:rPr sz="1100" b="1" i="0">
                <a:solidFill>
                  <a:srgbClr val="1B2A55"/>
                </a:solidFill>
                <a:latin typeface="Inter"/>
              </a:rPr>
              <a:t>No:</a:t>
            </a:r>
            <a:r>
              <a:rPr sz="1100" b="0" i="0">
                <a:solidFill>
                  <a:srgbClr val="353B4A"/>
                </a:solidFill>
                <a:latin typeface="Inter"/>
              </a:rPr>
              <a:t> parity with end-to-end verifiable voting systems.</a:t>
            </a:r>
          </a:p>
          <a:p>
            <a:pPr algn="l">
              <a:spcAft>
                <a:spcPts val="500"/>
              </a:spcAft>
            </a:pPr>
            <a:r>
              <a:rPr sz="1100" b="1" i="0">
                <a:solidFill>
                  <a:srgbClr val="1B2A55"/>
                </a:solidFill>
                <a:latin typeface="Inter"/>
              </a:rPr>
              <a:t>•  </a:t>
            </a:r>
            <a:r>
              <a:rPr sz="1100" b="1" i="0">
                <a:solidFill>
                  <a:srgbClr val="1B2A55"/>
                </a:solidFill>
                <a:latin typeface="Inter"/>
              </a:rPr>
              <a:t>Paper:</a:t>
            </a:r>
            <a:r>
              <a:rPr sz="1100" b="0" i="0">
                <a:solidFill>
                  <a:srgbClr val="353B4A"/>
                </a:solidFill>
                <a:latin typeface="Inter"/>
              </a:rPr>
              <a:t> a 5-page IEEE-style paper and a 37-page report are ready.</a:t>
            </a:r>
          </a:p>
          <a:p>
            <a:pPr algn="l">
              <a:spcAft>
                <a:spcPts val="500"/>
              </a:spcAft>
            </a:pPr>
            <a:r>
              <a:rPr sz="1100" b="1" i="0">
                <a:solidFill>
                  <a:srgbClr val="1B2A55"/>
                </a:solidFill>
                <a:latin typeface="Inter"/>
              </a:rPr>
              <a:t>•  </a:t>
            </a:r>
            <a:r>
              <a:rPr sz="1100" b="1" i="0">
                <a:solidFill>
                  <a:srgbClr val="1B2A55"/>
                </a:solidFill>
                <a:latin typeface="Inter"/>
              </a:rPr>
              <a:t>Next:</a:t>
            </a:r>
            <a:r>
              <a:rPr sz="1100" b="0" i="0">
                <a:solidFill>
                  <a:srgbClr val="353B4A"/>
                </a:solidFill>
                <a:latin typeface="Inter"/>
              </a:rPr>
              <a:t> tighten for the chosen venue's template and page limit.</a:t>
            </a:r>
          </a:p>
        </p:txBody>
      </p:sp>
      <p:sp>
        <p:nvSpPr>
          <p:cNvPr id="9" name="Rounded Rectangle 8"/>
          <p:cNvSpPr/>
          <p:nvPr/>
        </p:nvSpPr>
        <p:spPr>
          <a:xfrm>
            <a:off x="4663440" y="1097280"/>
            <a:ext cx="4023360" cy="3383280"/>
          </a:xfrm>
          <a:prstGeom prst="roundRect">
            <a:avLst>
              <a:gd name="adj" fmla="val 6000"/>
            </a:avLst>
          </a:prstGeom>
          <a:solidFill>
            <a:srgbClr val="FFFFFF"/>
          </a:solidFill>
          <a:ln w="25400">
            <a:solidFill>
              <a:srgbClr val="1B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6320" y="1225296"/>
            <a:ext cx="1847088" cy="237744"/>
          </a:xfrm>
          <a:prstGeom prst="roundRect">
            <a:avLst>
              <a:gd name="adj" fmla="val 15000"/>
            </a:avLst>
          </a:prstGeom>
          <a:solidFill>
            <a:srgbClr val="D8D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spcAft>
                <a:spcPts val="0"/>
              </a:spcAft>
            </a:pPr>
            <a:r>
              <a:rPr sz="1000" b="1" i="0">
                <a:solidFill>
                  <a:srgbClr val="1B2A55"/>
                </a:solidFill>
                <a:latin typeface="Inter"/>
              </a:rPr>
              <a:t>CHOOSING A VENUE</a:t>
            </a:r>
          </a:p>
        </p:txBody>
      </p:sp>
      <p:sp>
        <p:nvSpPr>
          <p:cNvPr id="11" name="TextBox 10"/>
          <p:cNvSpPr txBox="1"/>
          <p:nvPr/>
        </p:nvSpPr>
        <p:spPr>
          <a:xfrm>
            <a:off x="4846320" y="1600200"/>
            <a:ext cx="3657600" cy="2834640"/>
          </a:xfrm>
          <a:prstGeom prst="rect">
            <a:avLst/>
          </a:prstGeom>
          <a:noFill/>
        </p:spPr>
        <p:txBody>
          <a:bodyPr wrap="square" anchor="t" lIns="0" rIns="0" tIns="0" bIns="0">
            <a:spAutoFit/>
          </a:bodyPr>
          <a:lstStyle/>
          <a:p>
            <a:pPr algn="l">
              <a:spcAft>
                <a:spcPts val="500"/>
              </a:spcAft>
            </a:pPr>
            <a:r>
              <a:rPr sz="1100" b="1" i="0">
                <a:solidFill>
                  <a:srgbClr val="1B2A55"/>
                </a:solidFill>
                <a:latin typeface="Inter"/>
              </a:rPr>
              <a:t>•  </a:t>
            </a:r>
            <a:r>
              <a:rPr sz="1100" b="0" i="0">
                <a:solidFill>
                  <a:srgbClr val="353B4A"/>
                </a:solidFill>
                <a:latin typeface="Inter"/>
              </a:rPr>
              <a:t>Check indexing on the publisher or Scopus page, not the conference page.</a:t>
            </a:r>
          </a:p>
          <a:p>
            <a:pPr algn="l">
              <a:spcAft>
                <a:spcPts val="500"/>
              </a:spcAft>
            </a:pPr>
            <a:r>
              <a:rPr sz="1100" b="1" i="0">
                <a:solidFill>
                  <a:srgbClr val="1B2A55"/>
                </a:solidFill>
                <a:latin typeface="Inter"/>
              </a:rPr>
              <a:t>•  </a:t>
            </a:r>
            <a:r>
              <a:rPr sz="1100" b="0" i="0">
                <a:solidFill>
                  <a:srgbClr val="353B4A"/>
                </a:solidFill>
                <a:latin typeface="Inter"/>
              </a:rPr>
              <a:t>Be wary of very short reviews, vague organisers, and fees without a proceedings publisher.</a:t>
            </a:r>
          </a:p>
          <a:p>
            <a:pPr algn="l">
              <a:spcAft>
                <a:spcPts val="500"/>
              </a:spcAft>
            </a:pPr>
            <a:r>
              <a:rPr sz="1100" b="1" i="0">
                <a:solidFill>
                  <a:srgbClr val="1B2A55"/>
                </a:solidFill>
                <a:latin typeface="Inter"/>
              </a:rPr>
              <a:t>•  </a:t>
            </a:r>
            <a:r>
              <a:rPr sz="1100" b="0" i="0">
                <a:solidFill>
                  <a:srgbClr val="353B4A"/>
                </a:solidFill>
                <a:latin typeface="Inter"/>
              </a:rPr>
              <a:t>Start with a good-fit venue, keep a backup, and treat stretch venues as upside.</a:t>
            </a:r>
          </a:p>
          <a:p>
            <a:pPr algn="l">
              <a:spcAft>
                <a:spcPts val="500"/>
              </a:spcAft>
            </a:pPr>
            <a:r>
              <a:rPr sz="1100" b="1" i="0">
                <a:solidFill>
                  <a:srgbClr val="1B2A55"/>
                </a:solidFill>
                <a:latin typeface="Inter"/>
              </a:rPr>
              <a:t>•  </a:t>
            </a:r>
            <a:r>
              <a:rPr sz="1100" b="0" i="0">
                <a:solidFill>
                  <a:srgbClr val="353B4A"/>
                </a:solidFill>
                <a:latin typeface="Inter"/>
              </a:rPr>
              <a:t>Follow each venue's policy on disclosing AI assistance in writing or coding.</a:t>
            </a: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p:nvPr/>
        </p:nvSpPr>
        <p:spPr>
          <a:xfrm>
            <a:off x="342900" y="457200"/>
            <a:ext cx="2483644" cy="252487"/>
          </a:xfrm>
          <a:prstGeom prst="roundRect">
            <a:avLst>
              <a:gd fmla="val 3395" name="adj"/>
            </a:avLst>
          </a:prstGeom>
          <a:solidFill>
            <a:srgbClr val="D8DF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440010" y="505718"/>
            <a:ext cx="2746623" cy="1554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55"/>
              </a:buClr>
              <a:buSzPts val="1000"/>
              <a:buFont typeface="Inter"/>
              <a:buNone/>
            </a:pPr>
            <a:r>
              <a:rPr b="1" i="0" lang="en-US" sz="1000" u="none" cap="none" strike="noStrike">
                <a:solidFill>
                  <a:srgbClr val="1B2A55"/>
                </a:solidFill>
                <a:latin typeface="Inter"/>
                <a:ea typeface="Inter"/>
                <a:cs typeface="Inter"/>
                <a:sym typeface="Inter"/>
              </a:rPr>
              <a:t>PROJECT CONCLUSION · REVIEW 3</a:t>
            </a:r>
            <a:endParaRPr b="0" i="0" sz="1000" u="none" cap="none" strike="noStrike">
              <a:solidFill>
                <a:schemeClr val="dk1"/>
              </a:solidFill>
              <a:latin typeface="Calibri"/>
              <a:ea typeface="Calibri"/>
              <a:cs typeface="Calibri"/>
              <a:sym typeface="Calibri"/>
            </a:endParaRPr>
          </a:p>
        </p:txBody>
      </p:sp>
      <p:sp>
        <p:nvSpPr>
          <p:cNvPr id="190" name="Google Shape;190;p14"/>
          <p:cNvSpPr/>
          <p:nvPr/>
        </p:nvSpPr>
        <p:spPr>
          <a:xfrm>
            <a:off x="342900" y="891972"/>
            <a:ext cx="5105400" cy="460995"/>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1B2A55"/>
              </a:buClr>
              <a:buSzPts val="3300"/>
              <a:buFont typeface="Inter"/>
              <a:buNone/>
            </a:pPr>
            <a:r>
              <a:rPr b="1" i="0" lang="en-US" sz="3300" u="none" cap="none" strike="noStrike">
                <a:solidFill>
                  <a:srgbClr val="1B2A55"/>
                </a:solidFill>
                <a:latin typeface="Inter"/>
                <a:ea typeface="Inter"/>
                <a:cs typeface="Inter"/>
                <a:sym typeface="Inter"/>
              </a:rPr>
              <a:t>Thank You</a:t>
            </a:r>
            <a:endParaRPr b="0" i="0" sz="3300" u="none" cap="none" strike="noStrike">
              <a:solidFill>
                <a:schemeClr val="dk1"/>
              </a:solidFill>
              <a:latin typeface="Calibri"/>
              <a:ea typeface="Calibri"/>
              <a:cs typeface="Calibri"/>
              <a:sym typeface="Calibri"/>
            </a:endParaRPr>
          </a:p>
        </p:txBody>
      </p:sp>
      <p:sp>
        <p:nvSpPr>
          <p:cNvPr id="191" name="Google Shape;191;p14"/>
          <p:cNvSpPr/>
          <p:nvPr/>
        </p:nvSpPr>
        <p:spPr>
          <a:xfrm>
            <a:off x="342900" y="4519166"/>
            <a:ext cx="5448300" cy="16713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A78"/>
              </a:buClr>
              <a:buSzPts val="950"/>
              <a:buFont typeface="Inter Medium"/>
              <a:buNone/>
            </a:pPr>
            <a:r>
              <a:rPr b="0" i="0" lang="en-US" sz="950" u="none" cap="none" strike="noStrike">
                <a:solidFill>
                  <a:srgbClr val="666A78"/>
                </a:solidFill>
                <a:latin typeface="Inter Medium"/>
                <a:ea typeface="Inter Medium"/>
                <a:cs typeface="Inter Medium"/>
                <a:sym typeface="Inter Medium"/>
              </a:rPr>
              <a:t>BACSE202 – Database Systems | Review 3 | Fall Semester 2026 · Slide 39</a:t>
            </a:r>
            <a:endParaRPr b="0" i="0" sz="950" u="none" cap="none" strike="noStrike">
              <a:solidFill>
                <a:schemeClr val="dk1"/>
              </a:solidFill>
              <a:latin typeface="Calibri"/>
              <a:ea typeface="Calibri"/>
              <a:cs typeface="Calibri"/>
              <a:sym typeface="Calibri"/>
            </a:endParaRPr>
          </a:p>
        </p:txBody>
      </p:sp>
      <p:sp>
        <p:nvSpPr>
          <p:cNvPr id="192" name="Google Shape;192;p14"/>
          <p:cNvSpPr/>
          <p:nvPr/>
        </p:nvSpPr>
        <p:spPr>
          <a:xfrm>
            <a:off x="5791200" y="0"/>
            <a:ext cx="3352800" cy="5143500"/>
          </a:xfrm>
          <a:prstGeom prst="rect">
            <a:avLst/>
          </a:prstGeom>
          <a:solidFill>
            <a:srgbClr val="F1F0F6"/>
          </a:solidFill>
          <a:ln cap="flat" cmpd="sng" w="28575">
            <a:solidFill>
              <a:srgbClr val="353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TextBox 192"/>
          <p:cNvSpPr txBox="1"/>
          <p:nvPr/>
        </p:nvSpPr>
        <p:spPr>
          <a:xfrm>
            <a:off x="347472" y="1600200"/>
            <a:ext cx="5120640" cy="274320"/>
          </a:xfrm>
          <a:prstGeom prst="rect">
            <a:avLst/>
          </a:prstGeom>
          <a:noFill/>
        </p:spPr>
        <p:txBody>
          <a:bodyPr wrap="square" anchor="t" lIns="0" rIns="0" tIns="0" bIns="0">
            <a:spAutoFit/>
          </a:bodyPr>
          <a:lstStyle/>
          <a:p>
            <a:pPr algn="l">
              <a:spcAft>
                <a:spcPts val="0"/>
              </a:spcAft>
            </a:pPr>
            <a:r>
              <a:rPr sz="1600" b="1" i="0">
                <a:solidFill>
                  <a:srgbClr val="353B4A"/>
                </a:solidFill>
                <a:latin typeface="Inter"/>
              </a:rPr>
              <a:t>Questions and discussion</a:t>
            </a:r>
          </a:p>
        </p:txBody>
      </p:sp>
      <p:sp>
        <p:nvSpPr>
          <p:cNvPr id="194" name="TextBox 193"/>
          <p:cNvSpPr txBox="1"/>
          <p:nvPr/>
        </p:nvSpPr>
        <p:spPr>
          <a:xfrm>
            <a:off x="347472" y="2057400"/>
            <a:ext cx="5120640" cy="2011680"/>
          </a:xfrm>
          <a:prstGeom prst="rect">
            <a:avLst/>
          </a:prstGeom>
          <a:noFill/>
        </p:spPr>
        <p:txBody>
          <a:bodyPr wrap="square" anchor="t" lIns="0" rIns="0" tIns="0" bIns="0">
            <a:spAutoFit/>
          </a:bodyPr>
          <a:lstStyle/>
          <a:p>
            <a:pPr algn="l">
              <a:spcAft>
                <a:spcPts val="300"/>
              </a:spcAft>
            </a:pPr>
            <a:r>
              <a:rPr sz="1200" b="1" i="0">
                <a:solidFill>
                  <a:srgbClr val="1B2A55"/>
                </a:solidFill>
                <a:latin typeface="Inter"/>
              </a:rPr>
              <a:t>Source code and documents</a:t>
            </a:r>
          </a:p>
          <a:p>
            <a:pPr algn="l">
              <a:spcAft>
                <a:spcPts val="300"/>
              </a:spcAft>
            </a:pPr>
            <a:r>
              <a:rPr sz="1100" b="0" i="0">
                <a:solidFill>
                  <a:srgbClr val="353B4A"/>
                </a:solidFill>
                <a:latin typeface="Inter"/>
              </a:rPr>
              <a:t>github.com/Tharakeshtj/polyvote-election-platform</a:t>
            </a:r>
          </a:p>
          <a:p>
            <a:pPr algn="l">
              <a:spcAft>
                <a:spcPts val="300"/>
              </a:spcAft>
            </a:pPr>
            <a:r>
              <a:rPr sz="1200" b="0" i="0">
                <a:solidFill>
                  <a:srgbClr val="353B4A"/>
                </a:solidFill>
                <a:latin typeface="Inter"/>
              </a:rPr>
              <a:t/>
            </a:r>
          </a:p>
          <a:p>
            <a:pPr algn="l">
              <a:spcAft>
                <a:spcPts val="300"/>
              </a:spcAft>
            </a:pPr>
            <a:r>
              <a:rPr sz="1200" b="1" i="0">
                <a:solidFill>
                  <a:srgbClr val="1B2A55"/>
                </a:solidFill>
                <a:latin typeface="Inter"/>
              </a:rPr>
              <a:t>Run it: </a:t>
            </a:r>
            <a:r>
              <a:rPr sz="1000" b="0" i="0">
                <a:solidFill>
                  <a:srgbClr val="353B4A"/>
                </a:solidFill>
                <a:latin typeface="Consolas"/>
              </a:rPr>
              <a:t>python -m uvicorn server:app --port 8000</a:t>
            </a:r>
          </a:p>
          <a:p>
            <a:pPr algn="l">
              <a:spcAft>
                <a:spcPts val="300"/>
              </a:spcAft>
            </a:pPr>
            <a:r>
              <a:rPr sz="1200" b="1" i="0">
                <a:solidFill>
                  <a:srgbClr val="1B2A55"/>
                </a:solidFill>
                <a:latin typeface="Inter"/>
              </a:rPr>
              <a:t>Demo copy: </a:t>
            </a:r>
            <a:r>
              <a:rPr sz="1200" b="0" i="0">
                <a:solidFill>
                  <a:srgbClr val="353B4A"/>
                </a:solidFill>
                <a:latin typeface="Inter"/>
              </a:rPr>
              <a:t>Sample PolyVote, with email verification on</a:t>
            </a:r>
          </a:p>
          <a:p>
            <a:pPr algn="l">
              <a:spcAft>
                <a:spcPts val="300"/>
              </a:spcAft>
            </a:pPr>
            <a:r>
              <a:rPr sz="1200" b="1" i="0">
                <a:solidFill>
                  <a:srgbClr val="1B2A55"/>
                </a:solidFill>
                <a:latin typeface="Inter"/>
              </a:rPr>
              <a:t>Reports: </a:t>
            </a:r>
            <a:r>
              <a:rPr sz="1200" b="0" i="0">
                <a:solidFill>
                  <a:srgbClr val="353B4A"/>
                </a:solidFill>
                <a:latin typeface="Inter"/>
              </a:rPr>
              <a:t>Review 3 report (37 pages) and IEEE-style paper</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