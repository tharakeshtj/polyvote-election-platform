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310" r:id="rId70"/>
    <p:sldId id="311" r:id="rId71"/>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web service with a public link and QR phone voting.</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Techniques one, two and three, multi-tenancy, instant-runoff and hash chaining, work as designed, and the chain is now sealed with an HMAC key. Four, polyglot persistence, uses a relational SQLite store plus the audit ledger in MongoDB Atlas, with a local-file fallback. Five, integrity, is enforced by constraints and a trigger and backed by a five-rule integrity sweep. Six, the service runs as one web service behind a public HTTPS link with QR phone voting.</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Module one is the relational core, SQLite. Module two is the Python tally engine. Module three is the ledger of HMAC-sealed receipts in MongoDB Atlas. Module four is the application, React plus FastAPI, with an emailed one-time code that confirms the voter and Streamlit retained. The core entities are six tables, including ADMIN_USERS, and POSITION is not implemented. The privacy boundary holds: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HMAC-sealed receipt to the separate ledger in MongoDB Atlas.</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at the three reviews together. Review 1 presented the design and Review 2 presented the working implementation with live outputs and a tamper demonstration; both are done. This is Review 3, the final review. We delivered the MongoDB Atlas ledger, the emailed one-time code, public hosting with phone voting, a 47-scenario evaluation and a comparison with 33 existing systems. Oracle with PL/SQL procedures and DCL roles, and the POSITION entity, were left out, and SQLite was kept; the conclusion slides at the end explain why and how Oracle would be possible.</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and documents are on GitHub and the project is live online,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short recap of where we stand. Review 1 is done: we presented the design, the relational schema and ER diagram, the security approach, the literature review and a planned architecture on Oracle, MongoDB and Streamlit. Review 2 is done: a working system with a React voter booth and admin console, a FastAPI service, a SQLite schema with trigger and views, the instant-runoff tally, hash-chained receipts and a live tamper test. Review 3, this one, is the final review: the MongoDB Atlas ledger, the emailed one-time code with QR voting, public hosting, a 47-scenario evaluation and a comparison with existing systems. One thing to flag early: we did not use Oracle. SQLite stood in for it throughout, and the conclusion slides at the end explain why and how Oracle would fit.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The voter signs in with a password and then types the code emailed to them. Second, the voter ranks three candidates in order of preference, with a review step before casting. Third, the voter gets a receipt token.</a:t>
            </a:r>
          </a:p>
          <a:p>
            <a:r>
              <a:t>The guards matter. A wrong password is rejected, the emailed code is required,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and sealed with an HMAC key.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a published tie-break rule is future work.</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 The blocks are sealed with an HMAC key, so rebuilding the chain needs the key.</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progress against the Review 1 scope. On the left, what is done: the multi-tenant schema, trigger and views, the instant-runoff tally, the keyed hash-chained ledger on MongoDB Atlas, tamper detection, the emailed one-time code, and the voter and admin applications with public hosting. On the right, what is not implemented: Oracle with PL/SQL procedures and DCL, the POSITION entity, and a managed cloud database platform.</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and repeatable tests, with the schema kept portable. MongoDB Atlas is in use, with an HMAC-keyed chain and a file fallback. Streamlit gained a React and FastAPI front end for separate voter and admin experiences. We added ADMIN_USERS and did not implement POSITION. The lifecycle is guarded transitions because SQLite has no stored procedures. Oracle with PL/SQL was not used; the code is structured so it would be a migration, not a rewrite.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had a working system,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conclusion. Against what we planned at Reviews one and two: the multi-tenant schema with views and the trigger, the instant-runoff tally and admin console, the hash-chained receipts and integrity sweep, now keyed and with five rules, the MongoDB Atlas ledger, a second factor for the voter, public hosting with phone voting, and the comparative study with forty-seven test scenarios are all delivered. A true cloud platform is only partly done: we have free-tier hosting configured but no managed cloud database. Two items were left out: Oracle with PL/SQL procedures and DCL roles, because we kept SQLite, and the POSITION entity, which was deferred. The next slide explains why we chose SQLite and how Oracle would be possible.</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Why SQLite, and how Oracle is possible. We chose SQLite because there is nothing to install, it is one file, anyone can run the project with one command on a laptop or free hosting, and our evaluation copies that file into a throwaway sandbox so the forty-seven scenarios rerun identically. Oracle would need a licence or a cloud account and a set-up that a semester project and a demo over a mobile hotspot cannot rely on. The trade-offs we accept are that foreign keys apply only on connections that switch them on, that it is a single node, and that there are no roles. Moving to Oracle is a migration rather than a redesign. The schema is five tables, one trigger and two views in a single file, so AUTOINCREMENT becomes identity columns and the trigger becomes a PL/SQL trigger. The database calls are in a handful of modules, so we would swap the sqlite3 driver for python-oracledb and change the placeholders. Then we would add what SQLite lacks, GRANT-based roles and PL/SQL procedures, with foreign keys always on, which closes the one gap our tests found. The MongoDB ledger, the one-time-code module and the React app would not change. To be clear, this is the planned path and we have not run it on Oracle.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Tharakeshtj/polyvote-election-platform" TargetMode="External"/><Relationship Id="rId4" Type="http://schemas.openxmlformats.org/officeDocument/2006/relationships/hyperlink" Target="https://polyvote-bacse202.onrender.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WHERE WE STAND · FINAL REVIEW</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Reviews 1 and 2 are done; this is Review 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DONE</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DONE</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2</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NOW</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3 · final review</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MongoDB Atlas ledger, emailed one-time code and QR voting, public hosting, a 47-scenario evaluation and a comparison with existing systems.</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Done</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Reviews 1 and 2</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We did not use Oracle: </a:t>
            </a:r>
            <a:r>
              <a:rPr sz="1200" b="0" i="0">
                <a:solidFill>
                  <a:srgbClr val="353B4A"/>
                </a:solidFill>
                <a:latin typeface="Inter"/>
              </a:rPr>
              <a:t>SQLite stood in for it throughout (see the conclusion slides).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(with a public HTTPS link and QR phone voting),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Keyed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references its prior block digest and is sealed with an HMAC key, so retro-edits fail verification.</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(SQLite) keeps structured entities; the audit ledger lives in MongoDB Atlas, with a local-file fallback.</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backed by a five-rule integrity sweep.</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Public Hosting</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as one web service (API and UI) behind a public HTTPS link, with QR phone voting and a free-tier hosted demo configured.</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3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3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Audit ledger (MongoDB Atlas): Stores one HMAC-sealed receipt per ballot in MongoDB Atlas (local file as fallback),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Emailed one-time codes confirm the voter;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not built).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Keyed receipts · MongoDB Atlas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open elections; sign in with a password and an emailed code.</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a wrong password is rejected, the emailed code is required, a voter who already voted is refused, and a cast ballot cannot be 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 with an HMAC key</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 and is sealed with an HMAC key.</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Implementation status: all but Oracle and POSITION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18</a:t>
            </a:r>
          </a:p>
        </p:txBody>
      </p:sp>
      <p:sp>
        <p:nvSpPr>
          <p:cNvPr id="7" name="Rounded Rectangle 6"/>
          <p:cNvSpPr/>
          <p:nvPr/>
        </p:nvSpPr>
        <p:spPr>
          <a:xfrm>
            <a:off x="457200" y="1097280"/>
            <a:ext cx="4023360"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34440"/>
            <a:ext cx="3657600" cy="2103120"/>
          </a:xfrm>
          <a:prstGeom prst="rect">
            <a:avLst/>
          </a:prstGeom>
          <a:noFill/>
        </p:spPr>
        <p:txBody>
          <a:bodyPr wrap="square" anchor="t" lIns="0" rIns="0" tIns="0" bIns="0">
            <a:spAutoFit/>
          </a:bodyPr>
          <a:lstStyle/>
          <a:p>
            <a:pPr algn="l">
              <a:spcAft>
                <a:spcPts val="600"/>
              </a:spcAft>
            </a:pPr>
            <a:r>
              <a:rPr sz="1400" b="1" i="0">
                <a:solidFill>
                  <a:srgbClr val="1A7F37"/>
                </a:solidFill>
                <a:latin typeface="Inter"/>
              </a:rPr>
              <a:t>Done</a:t>
            </a:r>
          </a:p>
          <a:p>
            <a:pPr algn="l">
              <a:spcAft>
                <a:spcPts val="600"/>
              </a:spcAft>
            </a:pPr>
            <a:r>
              <a:rPr sz="1400" b="0" i="0">
                <a:solidFill>
                  <a:srgbClr val="353B4A"/>
                </a:solidFill>
                <a:latin typeface="Inter"/>
              </a:rPr>
              <a:t>Multi-tenant schema, trigger and views, instant-runoff tally, keyed hash-chained ledger on MongoDB Atlas, tamper detection, emailed one-time code, voter and admin applications, public hosting.</a:t>
            </a:r>
          </a:p>
        </p:txBody>
      </p:sp>
      <p:sp>
        <p:nvSpPr>
          <p:cNvPr id="9" name="Rounded Rectangle 8"/>
          <p:cNvSpPr/>
          <p:nvPr/>
        </p:nvSpPr>
        <p:spPr>
          <a:xfrm>
            <a:off x="4663440" y="1097280"/>
            <a:ext cx="4023360"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1234440"/>
            <a:ext cx="3657600" cy="2103120"/>
          </a:xfrm>
          <a:prstGeom prst="rect">
            <a:avLst/>
          </a:prstGeom>
          <a:noFill/>
        </p:spPr>
        <p:txBody>
          <a:bodyPr wrap="square" anchor="t" lIns="0" rIns="0" tIns="0" bIns="0">
            <a:spAutoFit/>
          </a:bodyPr>
          <a:lstStyle/>
          <a:p>
            <a:pPr algn="l">
              <a:spcAft>
                <a:spcPts val="600"/>
              </a:spcAft>
            </a:pPr>
            <a:r>
              <a:rPr sz="1400" b="1" i="0">
                <a:solidFill>
                  <a:srgbClr val="9A6700"/>
                </a:solidFill>
                <a:latin typeface="Inter"/>
              </a:rPr>
              <a:t>Not implemented</a:t>
            </a:r>
          </a:p>
          <a:p>
            <a:pPr algn="l">
              <a:spcAft>
                <a:spcPts val="600"/>
              </a:spcAft>
            </a:pPr>
            <a:r>
              <a:rPr sz="1400" b="0" i="0">
                <a:solidFill>
                  <a:srgbClr val="353B4A"/>
                </a:solidFill>
                <a:latin typeface="Inter"/>
              </a:rPr>
              <a:t>Oracle with PL/SQL procedures and DCL</a:t>
            </a:r>
          </a:p>
          <a:p>
            <a:pPr algn="l">
              <a:spcAft>
                <a:spcPts val="600"/>
              </a:spcAft>
            </a:pPr>
            <a:r>
              <a:rPr sz="1400" b="0" i="0">
                <a:solidFill>
                  <a:srgbClr val="353B4A"/>
                </a:solidFill>
                <a:latin typeface="Inter"/>
              </a:rPr>
              <a:t>POSITION entity</a:t>
            </a:r>
          </a:p>
          <a:p>
            <a:pPr algn="l">
              <a:spcAft>
                <a:spcPts val="600"/>
              </a:spcAft>
            </a:pPr>
            <a:r>
              <a:rPr sz="1400" b="0" i="0">
                <a:solidFill>
                  <a:srgbClr val="353B4A"/>
                </a:solidFill>
                <a:latin typeface="Inter"/>
              </a:rPr>
              <a:t>A managed cloud database platform</a:t>
            </a:r>
          </a:p>
        </p:txBody>
      </p:sp>
      <p:sp>
        <p:nvSpPr>
          <p:cNvPr id="11" name="Rounded Rectangle 10"/>
          <p:cNvSpPr/>
          <p:nvPr/>
        </p:nvSpPr>
        <p:spPr>
          <a:xfrm>
            <a:off x="457200" y="3611880"/>
            <a:ext cx="8229600" cy="7315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57600"/>
            <a:ext cx="7863840" cy="64008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Why Oracle was not used: SQLite needs no set-up and keeps the tests repeatable; the schema is portable, so Oracle would be a migration (see the conclusion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MongoDB Atlas, HMAC-keyed chain; file fallback</a:t>
                      </a:r>
                    </a:p>
                  </a:txBody>
                  <a:tcPr marL="73152" marR="73152" marT="36576" marB="36576" anchor="ctr">
                    <a:solidFill>
                      <a:srgbClr val="F1F0F6"/>
                    </a:solidFill>
                  </a:tcPr>
                </a:tc>
                <a:tc>
                  <a:txBody>
                    <a:bodyPr wrap="square"/>
                    <a:lstStyle/>
                    <a:p>
                      <a:r>
                        <a:rPr sz="1000" b="0" i="0">
                          <a:solidFill>
                            <a:srgbClr val="353B4A"/>
                          </a:solidFill>
                          <a:latin typeface="Inter"/>
                        </a:rPr>
                        <a:t>Document store; a unique index gives concurrency control</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not implemented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Result: MongoDB Atlas is in use. Oracle with PL/SQL was not used; the code is structured so it would be a migration, not a rewrite (see the conclusion slides).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DONE</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3 · NOW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This is the final review: MongoDB Atlas, emailed code, public hosting, evaluation and comparison with existing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Delivered · </a:t>
            </a:r>
            <a:r>
              <a:rPr b="0" i="0" lang="en-US" sz="1300" u="none" cap="none" strike="noStrike">
                <a:solidFill>
                  <a:srgbClr val="000000"/>
                </a:solidFill>
                <a:latin typeface="Inter"/>
                <a:ea typeface="Inter"/>
                <a:cs typeface="Inter"/>
                <a:sym typeface="Inter"/>
              </a:rPr>
              <a:t>MongoDB Atlas ledger, emailed one-time code, public link and QR voting</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Evidence · </a:t>
            </a:r>
            <a:r>
              <a:rPr b="0" i="0" lang="en-US" sz="1300" u="none" cap="none" strike="noStrike">
                <a:solidFill>
                  <a:srgbClr val="000000"/>
                </a:solidFill>
                <a:latin typeface="Inter"/>
                <a:ea typeface="Inter"/>
                <a:cs typeface="Inter"/>
                <a:sym typeface="Inter"/>
              </a:rPr>
              <a:t>47 test scenarios and a comparison with 33 systems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Left out · </a:t>
            </a:r>
            <a:r>
              <a:rPr b="0" i="0" lang="en-US" sz="1300" u="none" cap="none" strike="noStrike">
                <a:solidFill>
                  <a:srgbClr val="000000"/>
                </a:solidFill>
                <a:latin typeface="Inter"/>
                <a:ea typeface="Inter"/>
                <a:cs typeface="Inter"/>
                <a:sym typeface="Inter"/>
              </a:rPr>
              <a:t>Oracle with PL/SQL and DCL roles, and the POSITION entity (SQLite kept)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working system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53</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PROJECT CONCLUSION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Planned versus delivered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54</a:t>
            </a:r>
          </a:p>
        </p:txBody>
      </p:sp>
      <p:graphicFrame>
        <p:nvGraphicFramePr>
          <p:cNvPr id="6" name="Table 5"/>
          <p:cNvGraphicFramePr>
            <a:graphicFrameLocks noGrp="1"/>
          </p:cNvGraphicFramePr>
          <p:nvPr/>
        </p:nvGraphicFramePr>
        <p:xfrm>
          <a:off x="457200" y="1005840"/>
          <a:ext cx="8229599" cy="3675888"/>
        </p:xfrm>
        <a:graphic>
          <a:graphicData uri="http://schemas.openxmlformats.org/drawingml/2006/table">
            <a:tbl>
              <a:tblPr firstRow="1" bandRow="1">
                <a:tableStyleId>{5C22544A-7EE6-4342-B048-85BDC9FD1C3A}</a:tableStyleId>
              </a:tblPr>
              <a:tblGrid>
                <a:gridCol w="3749039"/>
                <a:gridCol w="1554480"/>
                <a:gridCol w="2926080"/>
              </a:tblGrid>
              <a:tr h="292608">
                <a:tc>
                  <a:txBody>
                    <a:bodyPr wrap="square"/>
                    <a:lstStyle/>
                    <a:p>
                      <a:r>
                        <a:rPr sz="950" b="1" i="0">
                          <a:solidFill>
                            <a:srgbClr val="FFFFFF"/>
                          </a:solidFill>
                          <a:latin typeface="Inter"/>
                        </a:rPr>
                        <a:t>Item planned at Reviews 1 and 2</a:t>
                      </a:r>
                    </a:p>
                  </a:txBody>
                  <a:tcPr marL="73152" marR="73152" marT="36576" marB="36576" anchor="ctr">
                    <a:solidFill>
                      <a:srgbClr val="1B2A55"/>
                    </a:solidFill>
                  </a:tcPr>
                </a:tc>
                <a:tc>
                  <a:txBody>
                    <a:bodyPr wrap="square"/>
                    <a:lstStyle/>
                    <a:p>
                      <a:r>
                        <a:rPr sz="950" b="1" i="0">
                          <a:solidFill>
                            <a:srgbClr val="FFFFFF"/>
                          </a:solidFill>
                          <a:latin typeface="Inter"/>
                        </a:rPr>
                        <a:t>Status</a:t>
                      </a:r>
                    </a:p>
                  </a:txBody>
                  <a:tcPr marL="73152" marR="73152" marT="36576" marB="36576" anchor="ctr">
                    <a:solidFill>
                      <a:srgbClr val="1B2A55"/>
                    </a:solidFill>
                  </a:tcPr>
                </a:tc>
                <a:tc>
                  <a:txBody>
                    <a:bodyPr wrap="square"/>
                    <a:lstStyle/>
                    <a:p>
                      <a:r>
                        <a:rPr sz="950" b="1" i="0">
                          <a:solidFill>
                            <a:srgbClr val="FFFFFF"/>
                          </a:solidFill>
                          <a:latin typeface="Inter"/>
                        </a:rPr>
                        <a:t>Note</a:t>
                      </a:r>
                    </a:p>
                  </a:txBody>
                  <a:tcPr marL="73152" marR="73152" marT="36576" marB="36576" anchor="ctr">
                    <a:solidFill>
                      <a:srgbClr val="1B2A55"/>
                    </a:solidFill>
                  </a:tcPr>
                </a:tc>
              </a:tr>
              <a:tr h="338328">
                <a:tc>
                  <a:txBody>
                    <a:bodyPr wrap="square"/>
                    <a:lstStyle/>
                    <a:p>
                      <a:r>
                        <a:rPr sz="950" b="1" i="0">
                          <a:solidFill>
                            <a:srgbClr val="1B2A55"/>
                          </a:solidFill>
                          <a:latin typeface="Inter"/>
                        </a:rPr>
                        <a:t>Multi-tenant normalised schema, views, trigger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On SQLite</a:t>
                      </a:r>
                    </a:p>
                  </a:txBody>
                  <a:tcPr marL="73152" marR="73152" marT="36576" marB="36576" anchor="ctr">
                    <a:solidFill>
                      <a:srgbClr val="FFFFFF"/>
                    </a:solidFill>
                  </a:tcPr>
                </a:tc>
              </a:tr>
              <a:tr h="338328">
                <a:tc>
                  <a:txBody>
                    <a:bodyPr wrap="square"/>
                    <a:lstStyle/>
                    <a:p>
                      <a:r>
                        <a:rPr sz="950" b="1" i="0">
                          <a:solidFill>
                            <a:srgbClr val="1B2A55"/>
                          </a:solidFill>
                          <a:latin typeface="Inter"/>
                        </a:rPr>
                        <a:t>Instant-runoff tally and admin console</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Round-by-round results</a:t>
                      </a:r>
                    </a:p>
                  </a:txBody>
                  <a:tcPr marL="73152" marR="73152" marT="36576" marB="36576" anchor="ctr">
                    <a:solidFill>
                      <a:srgbClr val="F1F0F6"/>
                    </a:solidFill>
                  </a:tcPr>
                </a:tc>
              </a:tr>
              <a:tr h="338328">
                <a:tc>
                  <a:txBody>
                    <a:bodyPr wrap="square"/>
                    <a:lstStyle/>
                    <a:p>
                      <a:r>
                        <a:rPr sz="950" b="1" i="0">
                          <a:solidFill>
                            <a:srgbClr val="1B2A55"/>
                          </a:solidFill>
                          <a:latin typeface="Inter"/>
                        </a:rPr>
                        <a:t>Hash-chained receipts and integrity sweep</a:t>
                      </a:r>
                    </a:p>
                  </a:txBody>
                  <a:tcPr marL="73152" marR="73152" marT="36576" marB="36576" anchor="ctr">
                    <a:solidFill>
                      <a:srgbClr val="FFFFFF"/>
                    </a:solidFill>
                  </a:tcPr>
                </a:tc>
                <a:tc>
                  <a:txBody>
                    <a:bodyPr wrap="square"/>
                    <a:lstStyle/>
                    <a:p>
                      <a:r>
                        <a:rPr sz="950" b="0" i="0">
                          <a:solidFill>
                            <a:srgbClr val="353B4A"/>
                          </a:solidFill>
                          <a:latin typeface="Inter"/>
                        </a:rPr>
                        <a:t>Delivered, extended</a:t>
                      </a:r>
                    </a:p>
                  </a:txBody>
                  <a:tcPr marL="73152" marR="73152" marT="36576" marB="36576" anchor="ctr">
                    <a:solidFill>
                      <a:srgbClr val="FFFFFF"/>
                    </a:solidFill>
                  </a:tcPr>
                </a:tc>
                <a:tc>
                  <a:txBody>
                    <a:bodyPr wrap="square"/>
                    <a:lstStyle/>
                    <a:p>
                      <a:r>
                        <a:rPr sz="950" b="0" i="0">
                          <a:solidFill>
                            <a:srgbClr val="353B4A"/>
                          </a:solidFill>
                          <a:latin typeface="Inter"/>
                        </a:rPr>
                        <a:t>Keyed chain, five sweep rules</a:t>
                      </a:r>
                    </a:p>
                  </a:txBody>
                  <a:tcPr marL="73152" marR="73152" marT="36576" marB="36576" anchor="ctr">
                    <a:solidFill>
                      <a:srgbClr val="FFFFFF"/>
                    </a:solidFill>
                  </a:tcPr>
                </a:tc>
              </a:tr>
              <a:tr h="338328">
                <a:tc>
                  <a:txBody>
                    <a:bodyPr wrap="square"/>
                    <a:lstStyle/>
                    <a:p>
                      <a:r>
                        <a:rPr sz="950" b="1" i="0">
                          <a:solidFill>
                            <a:srgbClr val="1B2A55"/>
                          </a:solidFill>
                          <a:latin typeface="Inter"/>
                        </a:rPr>
                        <a:t>MongoDB ledger</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Atlas, with a file fallback</a:t>
                      </a:r>
                    </a:p>
                  </a:txBody>
                  <a:tcPr marL="73152" marR="73152" marT="36576" marB="36576" anchor="ctr">
                    <a:solidFill>
                      <a:srgbClr val="F1F0F6"/>
                    </a:solidFill>
                  </a:tcPr>
                </a:tc>
              </a:tr>
              <a:tr h="338328">
                <a:tc>
                  <a:txBody>
                    <a:bodyPr wrap="square"/>
                    <a:lstStyle/>
                    <a:p>
                      <a:r>
                        <a:rPr sz="950" b="1" i="0">
                          <a:solidFill>
                            <a:srgbClr val="1B2A55"/>
                          </a:solidFill>
                          <a:latin typeface="Inter"/>
                        </a:rPr>
                        <a:t>Second factor for the voter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Emailed one-time code</a:t>
                      </a:r>
                    </a:p>
                  </a:txBody>
                  <a:tcPr marL="73152" marR="73152" marT="36576" marB="36576" anchor="ctr">
                    <a:solidFill>
                      <a:srgbClr val="FFFFFF"/>
                    </a:solidFill>
                  </a:tcPr>
                </a:tc>
              </a:tr>
              <a:tr h="338328">
                <a:tc>
                  <a:txBody>
                    <a:bodyPr wrap="square"/>
                    <a:lstStyle/>
                    <a:p>
                      <a:r>
                        <a:rPr sz="950" b="1" i="0">
                          <a:solidFill>
                            <a:srgbClr val="1B2A55"/>
                          </a:solidFill>
                          <a:latin typeface="Inter"/>
                        </a:rPr>
                        <a:t>Public hosting and phone voting</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Public link, QR code, free hosted demo configured</a:t>
                      </a:r>
                    </a:p>
                  </a:txBody>
                  <a:tcPr marL="73152" marR="73152" marT="36576" marB="36576" anchor="ctr">
                    <a:solidFill>
                      <a:srgbClr val="F1F0F6"/>
                    </a:solidFill>
                  </a:tcPr>
                </a:tc>
              </a:tr>
              <a:tr h="338328">
                <a:tc>
                  <a:txBody>
                    <a:bodyPr wrap="square"/>
                    <a:lstStyle/>
                    <a:p>
                      <a:r>
                        <a:rPr sz="950" b="1" i="0">
                          <a:solidFill>
                            <a:srgbClr val="1B2A55"/>
                          </a:solidFill>
                          <a:latin typeface="Inter"/>
                        </a:rPr>
                        <a:t>Comparative study and evaluation</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47 test scenarios; 33 systems read</a:t>
                      </a:r>
                    </a:p>
                  </a:txBody>
                  <a:tcPr marL="73152" marR="73152" marT="36576" marB="36576" anchor="ctr">
                    <a:solidFill>
                      <a:srgbClr val="FFFFFF"/>
                    </a:solidFill>
                  </a:tcPr>
                </a:tc>
              </a:tr>
              <a:tr h="338328">
                <a:tc>
                  <a:txBody>
                    <a:bodyPr wrap="square"/>
                    <a:lstStyle/>
                    <a:p>
                      <a:r>
                        <a:rPr sz="950" b="1" i="0">
                          <a:solidFill>
                            <a:srgbClr val="1B2A55"/>
                          </a:solidFill>
                          <a:latin typeface="Inter"/>
                        </a:rPr>
                        <a:t>True cloud platform</a:t>
                      </a:r>
                    </a:p>
                  </a:txBody>
                  <a:tcPr marL="73152" marR="73152" marT="36576" marB="36576" anchor="ctr">
                    <a:solidFill>
                      <a:srgbClr val="F1F0F6"/>
                    </a:solidFill>
                  </a:tcPr>
                </a:tc>
                <a:tc>
                  <a:txBody>
                    <a:bodyPr wrap="square"/>
                    <a:lstStyle/>
                    <a:p>
                      <a:r>
                        <a:rPr sz="950" b="0" i="0">
                          <a:solidFill>
                            <a:srgbClr val="353B4A"/>
                          </a:solidFill>
                          <a:latin typeface="Inter"/>
                        </a:rPr>
                        <a:t>Partly</a:t>
                      </a:r>
                    </a:p>
                  </a:txBody>
                  <a:tcPr marL="73152" marR="73152" marT="36576" marB="36576" anchor="ctr">
                    <a:solidFill>
                      <a:srgbClr val="F1F0F6"/>
                    </a:solidFill>
                  </a:tcPr>
                </a:tc>
                <a:tc>
                  <a:txBody>
                    <a:bodyPr wrap="square"/>
                    <a:lstStyle/>
                    <a:p>
                      <a:r>
                        <a:rPr sz="950" b="0" i="0">
                          <a:solidFill>
                            <a:srgbClr val="353B4A"/>
                          </a:solidFill>
                          <a:latin typeface="Inter"/>
                        </a:rPr>
                        <a:t>Free-tier hosting only; no managed cloud database</a:t>
                      </a:r>
                    </a:p>
                  </a:txBody>
                  <a:tcPr marL="73152" marR="73152" marT="36576" marB="36576" anchor="ctr">
                    <a:solidFill>
                      <a:srgbClr val="F1F0F6"/>
                    </a:solidFill>
                  </a:tcPr>
                </a:tc>
              </a:tr>
              <a:tr h="338328">
                <a:tc>
                  <a:txBody>
                    <a:bodyPr wrap="square"/>
                    <a:lstStyle/>
                    <a:p>
                      <a:r>
                        <a:rPr sz="950" b="1" i="0">
                          <a:solidFill>
                            <a:srgbClr val="1B2A55"/>
                          </a:solidFill>
                          <a:latin typeface="Inter"/>
                        </a:rPr>
                        <a:t>Oracle with PL/SQL procedures and DCL roles</a:t>
                      </a:r>
                    </a:p>
                  </a:txBody>
                  <a:tcPr marL="73152" marR="73152" marT="36576" marB="36576" anchor="ctr">
                    <a:solidFill>
                      <a:srgbClr val="FFFFFF"/>
                    </a:solidFill>
                  </a:tcPr>
                </a:tc>
                <a:tc>
                  <a:txBody>
                    <a:bodyPr wrap="square"/>
                    <a:lstStyle/>
                    <a:p>
                      <a:r>
                        <a:rPr sz="950" b="0" i="0">
                          <a:solidFill>
                            <a:srgbClr val="353B4A"/>
                          </a:solidFill>
                          <a:latin typeface="Inter"/>
                        </a:rPr>
                        <a:t>Left out</a:t>
                      </a:r>
                    </a:p>
                  </a:txBody>
                  <a:tcPr marL="73152" marR="73152" marT="36576" marB="36576" anchor="ctr">
                    <a:solidFill>
                      <a:srgbClr val="FFFFFF"/>
                    </a:solidFill>
                  </a:tcPr>
                </a:tc>
                <a:tc>
                  <a:txBody>
                    <a:bodyPr wrap="square"/>
                    <a:lstStyle/>
                    <a:p>
                      <a:r>
                        <a:rPr sz="950" b="0" i="0">
                          <a:solidFill>
                            <a:srgbClr val="353B4A"/>
                          </a:solidFill>
                          <a:latin typeface="Inter"/>
                        </a:rPr>
                        <a:t>SQLite kept; the path is on the next slide</a:t>
                      </a:r>
                    </a:p>
                  </a:txBody>
                  <a:tcPr marL="73152" marR="73152" marT="36576" marB="36576" anchor="ctr">
                    <a:solidFill>
                      <a:srgbClr val="FFFFFF"/>
                    </a:solidFill>
                  </a:tcPr>
                </a:tc>
              </a:tr>
              <a:tr h="338328">
                <a:tc>
                  <a:txBody>
                    <a:bodyPr wrap="square"/>
                    <a:lstStyle/>
                    <a:p>
                      <a:r>
                        <a:rPr sz="950" b="1" i="0">
                          <a:solidFill>
                            <a:srgbClr val="1B2A55"/>
                          </a:solidFill>
                          <a:latin typeface="Inter"/>
                        </a:rPr>
                        <a:t>POSITION entity</a:t>
                      </a:r>
                    </a:p>
                  </a:txBody>
                  <a:tcPr marL="73152" marR="73152" marT="36576" marB="36576" anchor="ctr">
                    <a:solidFill>
                      <a:srgbClr val="F1F0F6"/>
                    </a:solidFill>
                  </a:tcPr>
                </a:tc>
                <a:tc>
                  <a:txBody>
                    <a:bodyPr wrap="square"/>
                    <a:lstStyle/>
                    <a:p>
                      <a:r>
                        <a:rPr sz="950" b="0" i="0">
                          <a:solidFill>
                            <a:srgbClr val="353B4A"/>
                          </a:solidFill>
                          <a:latin typeface="Inter"/>
                        </a:rPr>
                        <a:t>Left out</a:t>
                      </a:r>
                    </a:p>
                  </a:txBody>
                  <a:tcPr marL="73152" marR="73152" marT="36576" marB="36576" anchor="ctr">
                    <a:solidFill>
                      <a:srgbClr val="F1F0F6"/>
                    </a:solidFill>
                  </a:tcPr>
                </a:tc>
                <a:tc>
                  <a:txBody>
                    <a:bodyPr wrap="square"/>
                    <a:lstStyle/>
                    <a:p>
                      <a:r>
                        <a:rPr sz="950" b="0" i="0">
                          <a:solidFill>
                            <a:srgbClr val="353B4A"/>
                          </a:solidFill>
                          <a:latin typeface="Inter"/>
                        </a:rPr>
                        <a:t>Deferred</a:t>
                      </a:r>
                    </a:p>
                  </a:txBody>
                  <a:tcPr marL="73152" marR="73152" marT="36576" marB="36576" anchor="ctr">
                    <a:solidFill>
                      <a:srgbClr val="F1F0F6"/>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SQLITE · AND THE PATH TO ORACLE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Why SQLite, and how Oracle is possible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55</a:t>
            </a:r>
          </a:p>
        </p:txBody>
      </p:sp>
      <p:sp>
        <p:nvSpPr>
          <p:cNvPr id="6" name="Rounded Rectangle 5"/>
          <p:cNvSpPr/>
          <p:nvPr/>
        </p:nvSpPr>
        <p:spPr>
          <a:xfrm>
            <a:off x="457200" y="1097280"/>
            <a:ext cx="4023360" cy="3063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WHY WE CHOSE SQLITE</a:t>
            </a:r>
          </a:p>
        </p:txBody>
      </p:sp>
      <p:sp>
        <p:nvSpPr>
          <p:cNvPr id="8" name="TextBox 7"/>
          <p:cNvSpPr txBox="1"/>
          <p:nvPr/>
        </p:nvSpPr>
        <p:spPr>
          <a:xfrm>
            <a:off x="64008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Nothing to install:</a:t>
            </a:r>
            <a:r>
              <a:rPr sz="1050" b="0" i="0">
                <a:solidFill>
                  <a:srgbClr val="353B4A"/>
                </a:solidFill>
                <a:latin typeface="Inter"/>
              </a:rPr>
              <a:t> one file, no server; anyone runs it on a laptop or free hosting with one command.</a:t>
            </a:r>
          </a:p>
          <a:p>
            <a:pPr algn="l">
              <a:spcAft>
                <a:spcPts val="400"/>
              </a:spcAft>
            </a:pPr>
            <a:r>
              <a:rPr sz="1050" b="1" i="0">
                <a:solidFill>
                  <a:srgbClr val="1B2A55"/>
                </a:solidFill>
                <a:latin typeface="Inter"/>
              </a:rPr>
              <a:t>•  </a:t>
            </a:r>
            <a:r>
              <a:rPr sz="1050" b="1" i="0">
                <a:solidFill>
                  <a:srgbClr val="1B2A55"/>
                </a:solidFill>
                <a:latin typeface="Inter"/>
              </a:rPr>
              <a:t>Repeatable tests:</a:t>
            </a:r>
            <a:r>
              <a:rPr sz="1050" b="0" i="0">
                <a:solidFill>
                  <a:srgbClr val="353B4A"/>
                </a:solidFill>
                <a:latin typeface="Inter"/>
              </a:rPr>
              <a:t> the evaluation copies the database file into a throwaway sandbox, so all 47 scenarios rerun the same way.</a:t>
            </a:r>
          </a:p>
          <a:p>
            <a:pPr algn="l">
              <a:spcAft>
                <a:spcPts val="400"/>
              </a:spcAft>
            </a:pPr>
            <a:r>
              <a:rPr sz="1050" b="1" i="0">
                <a:solidFill>
                  <a:srgbClr val="1B2A55"/>
                </a:solidFill>
                <a:latin typeface="Inter"/>
              </a:rPr>
              <a:t>•  </a:t>
            </a:r>
            <a:r>
              <a:rPr sz="1050" b="1" i="0">
                <a:solidFill>
                  <a:srgbClr val="1B2A55"/>
                </a:solidFill>
                <a:latin typeface="Inter"/>
              </a:rPr>
              <a:t>Cost and time:</a:t>
            </a:r>
            <a:r>
              <a:rPr sz="1050" b="0" i="0">
                <a:solidFill>
                  <a:srgbClr val="353B4A"/>
                </a:solidFill>
                <a:latin typeface="Inter"/>
              </a:rPr>
              <a:t> Oracle needs a licence or cloud account and set-up that a semester project and a hotspot demo cannot rely on.</a:t>
            </a:r>
          </a:p>
          <a:p>
            <a:pPr algn="l">
              <a:spcAft>
                <a:spcPts val="400"/>
              </a:spcAft>
            </a:pPr>
            <a:r>
              <a:rPr sz="1050" b="1" i="0">
                <a:solidFill>
                  <a:srgbClr val="1B2A55"/>
                </a:solidFill>
                <a:latin typeface="Inter"/>
              </a:rPr>
              <a:t>•  </a:t>
            </a:r>
            <a:r>
              <a:rPr sz="1050" b="1" i="0">
                <a:solidFill>
                  <a:srgbClr val="1B2A55"/>
                </a:solidFill>
                <a:latin typeface="Inter"/>
              </a:rPr>
              <a:t>Trade-off we accept:</a:t>
            </a:r>
            <a:r>
              <a:rPr sz="1050" b="0" i="0">
                <a:solidFill>
                  <a:srgbClr val="353B4A"/>
                </a:solidFill>
                <a:latin typeface="Inter"/>
              </a:rPr>
              <a:t> foreign keys only where switched on, one node, no roles.</a:t>
            </a:r>
          </a:p>
        </p:txBody>
      </p:sp>
      <p:sp>
        <p:nvSpPr>
          <p:cNvPr id="9" name="Rounded Rectangle 8"/>
          <p:cNvSpPr/>
          <p:nvPr/>
        </p:nvSpPr>
        <p:spPr>
          <a:xfrm>
            <a:off x="4663440" y="1097280"/>
            <a:ext cx="4023360" cy="30632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23113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HOW ORACLE WOULD FIT</a:t>
            </a:r>
          </a:p>
        </p:txBody>
      </p:sp>
      <p:sp>
        <p:nvSpPr>
          <p:cNvPr id="11" name="TextBox 10"/>
          <p:cNvSpPr txBox="1"/>
          <p:nvPr/>
        </p:nvSpPr>
        <p:spPr>
          <a:xfrm>
            <a:off x="484632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Schema:</a:t>
            </a:r>
            <a:r>
              <a:rPr sz="1050" b="0" i="0">
                <a:solidFill>
                  <a:srgbClr val="353B4A"/>
                </a:solidFill>
                <a:latin typeface="Inter"/>
              </a:rPr>
              <a:t> the 5 tables, 1 trigger and 2 views sit in one file; turn AUTOINCREMENT into identity columns and the trigger into PL/SQL.</a:t>
            </a:r>
          </a:p>
          <a:p>
            <a:pPr algn="l">
              <a:spcAft>
                <a:spcPts val="400"/>
              </a:spcAft>
            </a:pPr>
            <a:r>
              <a:rPr sz="1050" b="1" i="0">
                <a:solidFill>
                  <a:srgbClr val="1B2A55"/>
                </a:solidFill>
                <a:latin typeface="Inter"/>
              </a:rPr>
              <a:t>•  </a:t>
            </a:r>
            <a:r>
              <a:rPr sz="1050" b="1" i="0">
                <a:solidFill>
                  <a:srgbClr val="1B2A55"/>
                </a:solidFill>
                <a:latin typeface="Inter"/>
              </a:rPr>
              <a:t>Driver:</a:t>
            </a:r>
            <a:r>
              <a:rPr sz="1050" b="0" i="0">
                <a:solidFill>
                  <a:srgbClr val="353B4A"/>
                </a:solidFill>
                <a:latin typeface="Inter"/>
              </a:rPr>
              <a:t> database calls are in a handful of modules; swap sqlite3 for python-oracledb and change the placeholders.</a:t>
            </a:r>
          </a:p>
          <a:p>
            <a:pPr algn="l">
              <a:spcAft>
                <a:spcPts val="400"/>
              </a:spcAft>
            </a:pPr>
            <a:r>
              <a:rPr sz="1050" b="1" i="0">
                <a:solidFill>
                  <a:srgbClr val="1B2A55"/>
                </a:solidFill>
                <a:latin typeface="Inter"/>
              </a:rPr>
              <a:t>•  </a:t>
            </a:r>
            <a:r>
              <a:rPr sz="1050" b="1" i="0">
                <a:solidFill>
                  <a:srgbClr val="1B2A55"/>
                </a:solidFill>
                <a:latin typeface="Inter"/>
              </a:rPr>
              <a:t>Add what SQLite lacks:</a:t>
            </a:r>
            <a:r>
              <a:rPr sz="1050" b="0" i="0">
                <a:solidFill>
                  <a:srgbClr val="353B4A"/>
                </a:solidFill>
                <a:latin typeface="Inter"/>
              </a:rPr>
              <a:t> GRANT-based roles and PL/SQL procedures; foreign keys always on, which closes the one gap our tests found.</a:t>
            </a:r>
          </a:p>
          <a:p>
            <a:pPr algn="l">
              <a:spcAft>
                <a:spcPts val="400"/>
              </a:spcAft>
            </a:pPr>
            <a:r>
              <a:rPr sz="1050" b="1" i="0">
                <a:solidFill>
                  <a:srgbClr val="1B2A55"/>
                </a:solidFill>
                <a:latin typeface="Inter"/>
              </a:rPr>
              <a:t>•  </a:t>
            </a:r>
            <a:r>
              <a:rPr sz="1050" b="1" i="0">
                <a:solidFill>
                  <a:srgbClr val="1B2A55"/>
                </a:solidFill>
                <a:latin typeface="Inter"/>
              </a:rPr>
              <a:t>Unchanged:</a:t>
            </a:r>
            <a:r>
              <a:rPr sz="1050" b="0" i="0">
                <a:solidFill>
                  <a:srgbClr val="353B4A"/>
                </a:solidFill>
                <a:latin typeface="Inter"/>
              </a:rPr>
              <a:t> the MongoDB ledger, the one-time-code module and the React app.</a:t>
            </a:r>
          </a:p>
        </p:txBody>
      </p:sp>
      <p:sp>
        <p:nvSpPr>
          <p:cNvPr id="12" name="Rounded Rectangle 11"/>
          <p:cNvSpPr/>
          <p:nvPr/>
        </p:nvSpPr>
        <p:spPr>
          <a:xfrm>
            <a:off x="457200" y="4297680"/>
            <a:ext cx="8229600" cy="4114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25112"/>
            <a:ext cx="7863840" cy="36576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This is the planned path, not a result: we have not run it on Oracle.</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56</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050" b="0" i="0">
                <a:solidFill>
                  <a:srgbClr val="353B4A"/>
                </a:solidFill>
                <a:latin typeface="Inter"/>
                <a:hlinkClick r:id="rId3"/>
              </a:rPr>
              <a:t>https://github.com/Tharakeshtj/polyvote-election-platform</a:t>
            </a:r>
          </a:p>
          <a:p>
            <a:pPr algn="l">
              <a:spcAft>
                <a:spcPts val="300"/>
              </a:spcAft>
            </a:pPr>
            <a:r>
              <a:rPr sz="1200" b="0" i="0">
                <a:solidFill>
                  <a:srgbClr val="353B4A"/>
                </a:solidFill>
                <a:latin typeface="Inter"/>
              </a:rPr>
              <a:t/>
            </a:r>
          </a:p>
          <a:p>
            <a:pPr algn="l">
              <a:spcAft>
                <a:spcPts val="300"/>
              </a:spcAft>
            </a:pPr>
            <a:r>
              <a:rPr sz="1200" b="1" i="0">
                <a:solidFill>
                  <a:srgbClr val="1B2A55"/>
                </a:solidFill>
                <a:latin typeface="Inter"/>
              </a:rPr>
              <a:t>Live project</a:t>
            </a:r>
          </a:p>
          <a:p>
            <a:pPr algn="l">
              <a:spcAft>
                <a:spcPts val="300"/>
              </a:spcAft>
            </a:pPr>
            <a:r>
              <a:rPr sz="1050" b="0" i="0">
                <a:solidFill>
                  <a:srgbClr val="353B4A"/>
                </a:solidFill>
                <a:latin typeface="Inter"/>
                <a:hlinkClick r:id="rId4"/>
              </a:rPr>
              <a:t>https://polyvote-bacse202.onrender.com</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