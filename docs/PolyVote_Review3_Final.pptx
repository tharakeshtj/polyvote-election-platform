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312" r:id="rId72"/>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web service with a public link and QR phone voting.</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Techniques one, two and three, multi-tenancy, instant-runoff and hash chaining, work as designed, and the chain is now sealed with an HMAC key. Four, polyglot persistence, uses a relational SQLite store plus the audit ledger in MongoDB Atlas, with a local-file fallback. Five, integrity, is enforced by constraints and a trigger and backed by a five-rule integrity sweep. Six, the service runs as one web service behind a public HTTPS link with QR phone voting.</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Module one is the relational core, SQLite. Module two is the Python tally engine. Module three is the ledger of HMAC-sealed receipts in MongoDB Atlas. Module four is the application, React plus FastAPI, with an emailed one-time code that confirms the voter and Streamlit retained. The core entities are six tables, including ADMIN_USERS, and POSITION is not implemented. The privacy boundary holds: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HMAC-sealed receipt to the separate ledger in MongoDB Atlas.</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at the three reviews together. Review 1 presented the design and Review 2 presented the working implementation with live outputs and a tamper demonstration; both are done. This is Review 3, the final review. We delivered the MongoDB Atlas ledger, the emailed one-time code, public hosting with phone voting, a 47-scenario evaluation and a comparison with 33 existing systems. Oracle with PL/SQL procedures and DCL roles, and the POSITION entity, were left out, and SQLite was kept; the conclusion slides at the end explain why and how Oracle would be possible.</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the project is live online,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short recap of where we stand. Review 1 is done: we presented the design, the relational schema and ER diagram, the security approach, the literature review and a planned architecture on Oracle, MongoDB and Streamlit. Review 2 is done: a working system with a React voter booth and admin console, a FastAPI service, a SQLite schema with trigger and views, the instant-runoff tally, hash-chained receipts and a live tamper test. Review 3, this one, is the final review: the MongoDB Atlas ledger, the emailed one-time code with QR voting, public hosting, a 47-scenario evaluation and a comparison with existing systems. One thing to flag early: we did not use Oracle. SQLite stood in for it throughout, and the conclusion slides at the end explain why and how Oracle would fit.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The voter signs in with a password and then types the code emailed to them. Second, the voter ranks three candidates in order of preference, with a review step before casting. Third, the voter gets a receipt token.</a:t>
            </a:r>
          </a:p>
          <a:p>
            <a:r>
              <a:t>The guards matter. A wrong password is rejected, the emailed code is required,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and sealed with an HMAC key.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a published tie-break rule is future work.</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 The blocks are sealed with an HMAC key, so rebuilding the chain needs the key.</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progress against the Review 1 scope. On the left, what is done: the multi-tenant schema, trigger and views, the instant-runoff tally, the keyed hash-chained ledger on MongoDB Atlas, tamper detection, the emailed one-time code, and the voter and admin applications with public hosting. On the right, what is not implemented: Oracle with PL/SQL procedures and DCL, the POSITION entity, and a managed cloud database platform.</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and repeatable tests, with the schema kept portable. MongoDB Atlas is in use, with an HMAC-keyed chain and a file fallback. Streamlit gained a React and FastAPI front end for separate voter and admin experiences. We added ADMIN_USERS and did not implement POSITION. The lifecycle is guarded transitions because SQLite has no stored procedures. Oracle with PL/SQL was not used; the code is structured so it would be a migration, not a rewrite.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had a working system,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Your professor suggested IEEE conferences run by NIRF top-100 institutions, so this slide lists the open ones with IEEE signals, sorted by fee with unknown fees last. We used the 2025 India Rankings, the latest published. SANKALP at the IIIT in Gwalior costs seven thousand rupees and shows an IEEE record number. ICDSBS and CoaCoNS are at SRM; ICDSBS prints a record number that may belong to an older edition, and CoaCoNS says it is awaiting IEEE. ICESICSC at KIIT closes on the thirtieth of October. Confluence and ICRITO are both at Amity University Noida: Confluence shows record seventy-one five twenty-six, and ICRITO shows record seventy-two five sixty on its own page, with last year's proceedings in IEEE Xplore and Scopus, a six-page IEEE format, and a full-paper deadline of the fifteenth of December. GTSS at MMMUT Gorakhpur has a record number only in an IEEE notice and conflicting dates. In every case, an IEEE record number on a conference page is not a guarantee of IEEE Xplore, so we check it on the IEEE site before paying.</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open venues are also at NIRF top-100 hosts, but their IEEE status is weaker or absent. SCES at Motilal Nehru National Institute is the cheapest at about five thousand nine hundred rupees. COEP CON in Pune has IEEE in its name but its indexing is only claimed. ICSSD at NIT Tiruchirappalli is the best topic match, a secure software conference with privacy and database tracks, but it publishes with Springer in a ten to twelve page format, so it is not an IEEE venue and our paper would need expanding. NGCAPS at Lovely Professional University has security, blockchain and database tracks, but IEEE Xplore is only proposed. INDIACom is borderline because only the parent university is ranked. i-PACT is on our own campus but is a power-engineering conference. We could not read the IEEE conference calendar with our tools, so there may be more venues that we did not find.</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Because we cannot submit to two venues at once and decisions arrive after most of these deadlines, the practical advice is to pick one venue now. ICRITO at Amity Noida is first: its own page shows an IEEE record number, a six-page IEEE format, a full-paper deadline of the fifteenth of December, and last year's proceedings in IEEE Xplore and Scopus. SANKALP at Gwalior is the alternative if we want to submit earlier, with security and distributed-database tracks and a fee of seven thousand rupees. Confluence is a quick-decision fallback. NGCAPS fits the topics but IEEE is only proposed, and ICSSD fits the topic but is Springer. Before submitting, verify the record number on the IEEE site, recheck deadlines, remove author names for double-blind venues, and follow AI-disclosure rules. No venue publishes a student fee waiver, and VIT has no public undergraduate reimbursement policy, so we budget the fee as our own cost.</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conclusion. Against what we planned at Reviews one and two: the multi-tenant schema with views and the trigger, the instant-runoff tally and admin console, the hash-chained receipts and integrity sweep, now keyed and with five rules, the MongoDB Atlas ledger, a second factor for the voter, public hosting with phone voting, and the comparative study with forty-seven test scenarios are all delivered. A true cloud platform is only partly done: we have free-tier hosting configured but no managed cloud database. Two items were left out: Oracle with PL/SQL procedures and DCL roles, because we kept SQLite, and the POSITION entity, which was deferred. The next slide explains why we chose SQLite and how Oracle would be possible.</a:t>
            </a:r>
          </a:p>
        </p:txBody>
      </p:sp>
      <p:sp>
        <p:nvSpPr>
          <p:cNvPr id="4" name="Slide Number Placeholder 3"/>
          <p:cNvSpPr>
            <a:spLocks noGrp="1"/>
          </p:cNvSpPr>
          <p:nvPr>
            <p:ph type="sldNum" idx="12"/>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SQLite, and how Oracle is possible. We chose SQLite because there is nothing to install, it is one file, anyone can run the project with one command on a laptop or free hosting, and our evaluation copies that file into a throwaway sandbox so the forty-seven scenarios rerun identically. Oracle would need a licence or a cloud account and a set-up that a semester project and a demo over a mobile hotspot cannot rely on. The trade-offs we accept are that foreign keys apply only on connections that switch them on, that it is a single node, and that there are no roles. Moving to Oracle is a migration rather than a redesign. The schema is five tables, one trigger and two views in a single file, so AUTOINCREMENT becomes identity columns and the trigger becomes a PL/SQL trigger. The database calls are in a handful of modules, so we would swap the sqlite3 driver for python-oracledb and change the placeholders. Then we would add what SQLite lacks, GRANT-based roles and PL/SQL procedures, with foreign keys always on, which closes the one gap our tests found. The MongoDB ledger, the one-time-code module and the React app would not change. To be clear, this is the planned path and we have not run it on Oracle.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Tharakeshtj/polyvote-election-platform" TargetMode="External"/><Relationship Id="rId4" Type="http://schemas.openxmlformats.org/officeDocument/2006/relationships/hyperlink" Target="https://polyvote-bacse202.onrender.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WHERE WE STAND · FINAL REVIEW</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Reviews 1 and 2 are done; this is Review 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2</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NOW</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3 · final review</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MongoDB Atlas ledger, emailed one-time code and QR voting, public hosting, a 47-scenario evaluation and a comparison with existing systems.</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Done</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Reviews 1 and 2</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We did not use Oracle: </a:t>
            </a:r>
            <a:r>
              <a:rPr sz="1200" b="0" i="0">
                <a:solidFill>
                  <a:srgbClr val="353B4A"/>
                </a:solidFill>
                <a:latin typeface="Inter"/>
              </a:rPr>
              <a:t>SQLite stood in for it throughout (see the conclusion slides).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(with a public HTTPS link and QR phone voting),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Keyed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references its prior block digest and is sealed with an HMAC key, so retro-edits fail verification.</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(SQLite) keeps structured entities; the audit ledger lives in MongoDB Atlas, with a local-file fallback.</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backed by a five-rule integrity sweep.</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Public Hosting</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as one web service (API and UI) behind a public HTTPS link, with QR phone voting and a free-tier hosted demo configured.</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3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3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Audit ledger (MongoDB Atlas): Stores one HMAC-sealed receipt per ballot in MongoDB Atlas (local file as fallback),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Emailed one-time codes confirm the voter;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not built).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Keyed receipts · MongoDB Atlas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open elections; sign in with a password and an emailed code.</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a wrong password is rejected, the emailed code is required, a voter who already voted is refused, and a cast ballot cannot be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 with an HMAC key</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 and is sealed with an HMAC key.</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Implementation status: all but Oracle and POSITION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18</a:t>
            </a:r>
          </a:p>
        </p:txBody>
      </p:sp>
      <p:sp>
        <p:nvSpPr>
          <p:cNvPr id="7" name="Rounded Rectangle 6"/>
          <p:cNvSpPr/>
          <p:nvPr/>
        </p:nvSpPr>
        <p:spPr>
          <a:xfrm>
            <a:off x="457200" y="1097280"/>
            <a:ext cx="4023360"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3657600" cy="2103120"/>
          </a:xfrm>
          <a:prstGeom prst="rect">
            <a:avLst/>
          </a:prstGeom>
          <a:noFill/>
        </p:spPr>
        <p:txBody>
          <a:bodyPr wrap="square" anchor="t" lIns="0" rIns="0" tIns="0" bIns="0">
            <a:spAutoFit/>
          </a:bodyPr>
          <a:lstStyle/>
          <a:p>
            <a:pPr algn="l">
              <a:spcAft>
                <a:spcPts val="600"/>
              </a:spcAft>
            </a:pPr>
            <a:r>
              <a:rPr sz="1400" b="1" i="0">
                <a:solidFill>
                  <a:srgbClr val="1A7F37"/>
                </a:solidFill>
                <a:latin typeface="Inter"/>
              </a:rPr>
              <a:t>Done</a:t>
            </a:r>
          </a:p>
          <a:p>
            <a:pPr algn="l">
              <a:spcAft>
                <a:spcPts val="600"/>
              </a:spcAft>
            </a:pPr>
            <a:r>
              <a:rPr sz="1400" b="0" i="0">
                <a:solidFill>
                  <a:srgbClr val="353B4A"/>
                </a:solidFill>
                <a:latin typeface="Inter"/>
              </a:rPr>
              <a:t>Multi-tenant schema, trigger and views, instant-runoff tally, keyed hash-chained ledger on MongoDB Atlas, tamper detection, emailed one-time code, voter and admin applications, public hosting.</a:t>
            </a:r>
          </a:p>
        </p:txBody>
      </p:sp>
      <p:sp>
        <p:nvSpPr>
          <p:cNvPr id="9" name="Rounded Rectangle 8"/>
          <p:cNvSpPr/>
          <p:nvPr/>
        </p:nvSpPr>
        <p:spPr>
          <a:xfrm>
            <a:off x="4663440" y="1097280"/>
            <a:ext cx="4023360"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234440"/>
            <a:ext cx="3657600" cy="2103120"/>
          </a:xfrm>
          <a:prstGeom prst="rect">
            <a:avLst/>
          </a:prstGeom>
          <a:noFill/>
        </p:spPr>
        <p:txBody>
          <a:bodyPr wrap="square" anchor="t" lIns="0" rIns="0" tIns="0" bIns="0">
            <a:spAutoFit/>
          </a:bodyPr>
          <a:lstStyle/>
          <a:p>
            <a:pPr algn="l">
              <a:spcAft>
                <a:spcPts val="600"/>
              </a:spcAft>
            </a:pPr>
            <a:r>
              <a:rPr sz="1400" b="1" i="0">
                <a:solidFill>
                  <a:srgbClr val="9A6700"/>
                </a:solidFill>
                <a:latin typeface="Inter"/>
              </a:rPr>
              <a:t>Not implemented</a:t>
            </a:r>
          </a:p>
          <a:p>
            <a:pPr algn="l">
              <a:spcAft>
                <a:spcPts val="600"/>
              </a:spcAft>
            </a:pPr>
            <a:r>
              <a:rPr sz="1400" b="0" i="0">
                <a:solidFill>
                  <a:srgbClr val="353B4A"/>
                </a:solidFill>
                <a:latin typeface="Inter"/>
              </a:rPr>
              <a:t>Oracle with PL/SQL procedures and DCL</a:t>
            </a:r>
          </a:p>
          <a:p>
            <a:pPr algn="l">
              <a:spcAft>
                <a:spcPts val="600"/>
              </a:spcAft>
            </a:pPr>
            <a:r>
              <a:rPr sz="1400" b="0" i="0">
                <a:solidFill>
                  <a:srgbClr val="353B4A"/>
                </a:solidFill>
                <a:latin typeface="Inter"/>
              </a:rPr>
              <a:t>POSITION entity</a:t>
            </a:r>
          </a:p>
          <a:p>
            <a:pPr algn="l">
              <a:spcAft>
                <a:spcPts val="600"/>
              </a:spcAft>
            </a:pPr>
            <a:r>
              <a:rPr sz="1400" b="0" i="0">
                <a:solidFill>
                  <a:srgbClr val="353B4A"/>
                </a:solidFill>
                <a:latin typeface="Inter"/>
              </a:rPr>
              <a:t>A managed cloud database platform</a:t>
            </a:r>
          </a:p>
        </p:txBody>
      </p:sp>
      <p:sp>
        <p:nvSpPr>
          <p:cNvPr id="11" name="Rounded Rectangle 10"/>
          <p:cNvSpPr/>
          <p:nvPr/>
        </p:nvSpPr>
        <p:spPr>
          <a:xfrm>
            <a:off x="457200" y="3611880"/>
            <a:ext cx="8229600" cy="7315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57600"/>
            <a:ext cx="7863840" cy="64008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Why Oracle was not used: SQLite needs no set-up and keeps the tests repeatable; the schema is portable, so Oracle would be a migration (see the conclusion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MongoDB Atlas, HMAC-keyed chain; file fallback</a:t>
                      </a:r>
                    </a:p>
                  </a:txBody>
                  <a:tcPr marL="73152" marR="73152" marT="36576" marB="36576" anchor="ctr">
                    <a:solidFill>
                      <a:srgbClr val="F1F0F6"/>
                    </a:solidFill>
                  </a:tcPr>
                </a:tc>
                <a:tc>
                  <a:txBody>
                    <a:bodyPr wrap="square"/>
                    <a:lstStyle/>
                    <a:p>
                      <a:r>
                        <a:rPr sz="1000" b="0" i="0">
                          <a:solidFill>
                            <a:srgbClr val="353B4A"/>
                          </a:solidFill>
                          <a:latin typeface="Inter"/>
                        </a:rPr>
                        <a:t>Document store; a unique index gives concurrency control</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not implemented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Result: MongoDB Atlas is in use. Oracle with PL/SQL was not used; the code is structured so it would be a migration, not a rewrite (see the conclusion slides).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DONE</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3 · NOW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This is the final review: MongoDB Atlas, emailed code, public hosting, evaluation and comparison with existing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Delivered · </a:t>
            </a:r>
            <a:r>
              <a:rPr b="0" i="0" lang="en-US" sz="1300" u="none" cap="none" strike="noStrike">
                <a:solidFill>
                  <a:srgbClr val="000000"/>
                </a:solidFill>
                <a:latin typeface="Inter"/>
                <a:ea typeface="Inter"/>
                <a:cs typeface="Inter"/>
                <a:sym typeface="Inter"/>
              </a:rPr>
              <a:t>MongoDB Atlas ledger, emailed one-time code, public link and QR voting</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Evidence · </a:t>
            </a:r>
            <a:r>
              <a:rPr b="0" i="0" lang="en-US" sz="1300" u="none" cap="none" strike="noStrike">
                <a:solidFill>
                  <a:srgbClr val="000000"/>
                </a:solidFill>
                <a:latin typeface="Inter"/>
                <a:ea typeface="Inter"/>
                <a:cs typeface="Inter"/>
                <a:sym typeface="Inter"/>
              </a:rPr>
              <a:t>47 test scenarios and a comparison with 33 systems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Left out · </a:t>
            </a:r>
            <a:r>
              <a:rPr b="0" i="0" lang="en-US" sz="1300" u="none" cap="none" strike="noStrike">
                <a:solidFill>
                  <a:srgbClr val="000000"/>
                </a:solidFill>
                <a:latin typeface="Inter"/>
                <a:ea typeface="Inter"/>
                <a:cs typeface="Inter"/>
                <a:sym typeface="Inter"/>
              </a:rPr>
              <a:t>Oracle with PL/SQL and DCL roles, and the POSITION entity (SQLite kept)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working system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IEEE-LINKED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IEEE-linked venues at NIRF top-100 hosts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6" cy="3154680"/>
        </p:xfrm>
        <a:graphic>
          <a:graphicData uri="http://schemas.openxmlformats.org/drawingml/2006/table">
            <a:tbl>
              <a:tblPr firstRow="1" bandRow="1">
                <a:tableStyleId>{5C22544A-7EE6-4342-B048-85BDC9FD1C3A}</a:tableStyleId>
              </a:tblPr>
              <a:tblGrid>
                <a:gridCol w="260179"/>
                <a:gridCol w="1214172"/>
                <a:gridCol w="2168164"/>
                <a:gridCol w="1170809"/>
                <a:gridCol w="953992"/>
                <a:gridCol w="953992"/>
                <a:gridCol w="1691168"/>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IEEE status</a:t>
                      </a:r>
                    </a:p>
                  </a:txBody>
                  <a:tcPr marL="73152" marR="73152" marT="36576" marB="36576" anchor="ctr">
                    <a:solidFill>
                      <a:srgbClr val="1B2A55"/>
                    </a:solidFill>
                  </a:tcPr>
                </a:tc>
              </a:tr>
              <a:tr h="41148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Record #73342 shown</a:t>
                      </a:r>
                    </a:p>
                  </a:txBody>
                  <a:tcPr marL="73152" marR="73152" marT="36576" marB="36576" anchor="ctr">
                    <a:solidFill>
                      <a:srgbClr val="FFFFFF"/>
                    </a:solidFill>
                  </a:tcPr>
                </a:tc>
              </a:tr>
              <a:tr h="41148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ICDSBS 2027</a:t>
                      </a:r>
                    </a:p>
                  </a:txBody>
                  <a:tcPr marL="73152" marR="73152" marT="36576" marB="36576" anchor="ctr">
                    <a:solidFill>
                      <a:srgbClr val="F1F0F6"/>
                    </a:solidFill>
                  </a:tcPr>
                </a:tc>
                <a:tc>
                  <a:txBody>
                    <a:bodyPr wrap="square"/>
                    <a:lstStyle/>
                    <a:p>
                      <a:r>
                        <a:rPr sz="800" b="0" i="0">
                          <a:solidFill>
                            <a:srgbClr val="353B4A"/>
                          </a:solidFill>
                          <a:latin typeface="Inter"/>
                        </a:rPr>
                        <a:t>SRM IST (Overall 22)</a:t>
                      </a:r>
                    </a:p>
                  </a:txBody>
                  <a:tcPr marL="73152" marR="73152" marT="36576" marB="36576" anchor="ctr">
                    <a:solidFill>
                      <a:srgbClr val="F1F0F6"/>
                    </a:solidFill>
                  </a:tcPr>
                </a:tc>
                <a:tc>
                  <a:txBody>
                    <a:bodyPr wrap="square"/>
                    <a:lstStyle/>
                    <a:p>
                      <a:r>
                        <a:rPr sz="800" b="0" i="0">
                          <a:solidFill>
                            <a:srgbClr val="353B4A"/>
                          </a:solidFill>
                          <a:latin typeface="Inter"/>
                        </a:rPr>
                        <a:t>5 Jan 2027</a:t>
                      </a:r>
                    </a:p>
                  </a:txBody>
                  <a:tcPr marL="73152" marR="73152" marT="36576" marB="36576" anchor="ctr">
                    <a:solidFill>
                      <a:srgbClr val="F1F0F6"/>
                    </a:solidFill>
                  </a:tcPr>
                </a:tc>
                <a:tc>
                  <a:txBody>
                    <a:bodyPr wrap="square"/>
                    <a:lstStyle/>
                    <a:p>
                      <a:r>
                        <a:rPr sz="800" b="0" i="0">
                          <a:solidFill>
                            <a:srgbClr val="353B4A"/>
                          </a:solidFill>
                          <a:latin typeface="Inter"/>
                        </a:rPr>
                        <a:t>8,000</a:t>
                      </a:r>
                    </a:p>
                  </a:txBody>
                  <a:tcPr marL="73152" marR="73152" marT="36576" marB="36576" anchor="ctr">
                    <a:solidFill>
                      <a:srgbClr val="F1F0F6"/>
                    </a:solidFill>
                  </a:tcPr>
                </a:tc>
                <a:tc>
                  <a:txBody>
                    <a:bodyPr wrap="square"/>
                    <a:lstStyle/>
                    <a:p>
                      <a:r>
                        <a:rPr sz="800" b="0" i="0">
                          <a:solidFill>
                            <a:srgbClr val="353B4A"/>
                          </a:solidFill>
                          <a:latin typeface="Inter"/>
                        </a:rPr>
                        <a:t>22-23 Apr 2027</a:t>
                      </a:r>
                    </a:p>
                  </a:txBody>
                  <a:tcPr marL="73152" marR="73152" marT="36576" marB="36576" anchor="ctr">
                    <a:solidFill>
                      <a:srgbClr val="F1F0F6"/>
                    </a:solidFill>
                  </a:tcPr>
                </a:tc>
                <a:tc>
                  <a:txBody>
                    <a:bodyPr wrap="square"/>
                    <a:lstStyle/>
                    <a:p>
                      <a:r>
                        <a:rPr sz="800" b="0" i="0">
                          <a:solidFill>
                            <a:srgbClr val="353B4A"/>
                          </a:solidFill>
                          <a:latin typeface="Inter"/>
                        </a:rPr>
                        <a:t>Record #69077 printed; may be an old edition</a:t>
                      </a:r>
                    </a:p>
                  </a:txBody>
                  <a:tcPr marL="73152" marR="73152" marT="36576" marB="36576" anchor="ctr">
                    <a:solidFill>
                      <a:srgbClr val="F1F0F6"/>
                    </a:solidFill>
                  </a:tcPr>
                </a:tc>
              </a:tr>
              <a:tr h="41148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ICESICSC-2027</a:t>
                      </a:r>
                    </a:p>
                  </a:txBody>
                  <a:tcPr marL="73152" marR="73152" marT="36576" marB="36576" anchor="ctr">
                    <a:solidFill>
                      <a:srgbClr val="FFFFFF"/>
                    </a:solidFill>
                  </a:tcPr>
                </a:tc>
                <a:tc>
                  <a:txBody>
                    <a:bodyPr wrap="square"/>
                    <a:lstStyle/>
                    <a:p>
                      <a:r>
                        <a:rPr sz="800" b="0" i="0">
                          <a:solidFill>
                            <a:srgbClr val="353B4A"/>
                          </a:solidFill>
                          <a:latin typeface="Inter"/>
                        </a:rPr>
                        <a:t>KIIT, Bhubaneswar (Overall 27)</a:t>
                      </a:r>
                    </a:p>
                  </a:txBody>
                  <a:tcPr marL="73152" marR="73152" marT="36576" marB="36576" anchor="ctr">
                    <a:solidFill>
                      <a:srgbClr val="FFFFFF"/>
                    </a:solidFill>
                  </a:tcPr>
                </a:tc>
                <a:tc>
                  <a:txBody>
                    <a:bodyPr wrap="square"/>
                    <a:lstStyle/>
                    <a:p>
                      <a:r>
                        <a:rPr sz="800" b="0" i="0">
                          <a:solidFill>
                            <a:srgbClr val="353B4A"/>
                          </a:solidFill>
                          <a:latin typeface="Inter"/>
                        </a:rPr>
                        <a:t>30 Oct 2026</a:t>
                      </a:r>
                    </a:p>
                  </a:txBody>
                  <a:tcPr marL="73152" marR="73152" marT="36576" marB="36576" anchor="ctr">
                    <a:solidFill>
                      <a:srgbClr val="FFFFFF"/>
                    </a:solidFill>
                  </a:tcPr>
                </a:tc>
                <a:tc>
                  <a:txBody>
                    <a:bodyPr wrap="square"/>
                    <a:lstStyle/>
                    <a:p>
                      <a:r>
                        <a:rPr sz="800" b="0" i="0">
                          <a:solidFill>
                            <a:srgbClr val="353B4A"/>
                          </a:solidFill>
                          <a:latin typeface="Inter"/>
                        </a:rPr>
                        <a:t>9,000</a:t>
                      </a:r>
                    </a:p>
                  </a:txBody>
                  <a:tcPr marL="73152" marR="73152" marT="36576" marB="36576" anchor="ctr">
                    <a:solidFill>
                      <a:srgbClr val="FFFFFF"/>
                    </a:solidFill>
                  </a:tcPr>
                </a:tc>
                <a:tc>
                  <a:txBody>
                    <a:bodyPr wrap="square"/>
                    <a:lstStyle/>
                    <a:p>
                      <a:r>
                        <a:rPr sz="800" b="0" i="0">
                          <a:solidFill>
                            <a:srgbClr val="353B4A"/>
                          </a:solidFill>
                          <a:latin typeface="Inter"/>
                        </a:rPr>
                        <a:t>20-21 Feb 2027</a:t>
                      </a:r>
                    </a:p>
                  </a:txBody>
                  <a:tcPr marL="73152" marR="73152" marT="36576" marB="36576" anchor="ctr">
                    <a:solidFill>
                      <a:srgbClr val="FFFFFF"/>
                    </a:solidFill>
                  </a:tcPr>
                </a:tc>
                <a:tc>
                  <a:txBody>
                    <a:bodyPr wrap="square"/>
                    <a:lstStyle/>
                    <a:p>
                      <a:r>
                        <a:rPr sz="800" b="0" i="0">
                          <a:solidFill>
                            <a:srgbClr val="353B4A"/>
                          </a:solidFill>
                          <a:latin typeface="Inter"/>
                        </a:rPr>
                        <a:t>IEEE claimed, no record</a:t>
                      </a:r>
                    </a:p>
                  </a:txBody>
                  <a:tcPr marL="73152" marR="73152" marT="36576" marB="36576" anchor="ctr">
                    <a:solidFill>
                      <a:srgbClr val="FFFFFF"/>
                    </a:solidFill>
                  </a:tcPr>
                </a:tc>
              </a:tr>
              <a:tr h="41148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Confluence 2027</a:t>
                      </a:r>
                    </a:p>
                  </a:txBody>
                  <a:tcPr marL="73152" marR="73152" marT="36576" marB="36576" anchor="ctr">
                    <a:solidFill>
                      <a:srgbClr val="F1F0F6"/>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1F0F6"/>
                    </a:solidFill>
                  </a:tcPr>
                </a:tc>
                <a:tc>
                  <a:txBody>
                    <a:bodyPr wrap="square"/>
                    <a:lstStyle/>
                    <a:p>
                      <a:r>
                        <a:rPr sz="800" b="0" i="0">
                          <a:solidFill>
                            <a:srgbClr val="353B4A"/>
                          </a:solidFill>
                          <a:latin typeface="Inter"/>
                        </a:rPr>
                        <a:t>4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21-22 Jan 2027</a:t>
                      </a:r>
                    </a:p>
                  </a:txBody>
                  <a:tcPr marL="73152" marR="73152" marT="36576" marB="36576" anchor="ctr">
                    <a:solidFill>
                      <a:srgbClr val="F1F0F6"/>
                    </a:solidFill>
                  </a:tcPr>
                </a:tc>
                <a:tc>
                  <a:txBody>
                    <a:bodyPr wrap="square"/>
                    <a:lstStyle/>
                    <a:p>
                      <a:r>
                        <a:rPr sz="800" b="0" i="0">
                          <a:solidFill>
                            <a:srgbClr val="353B4A"/>
                          </a:solidFill>
                          <a:latin typeface="Inter"/>
                        </a:rPr>
                        <a:t>Record #71526 shown</a:t>
                      </a:r>
                    </a:p>
                  </a:txBody>
                  <a:tcPr marL="73152" marR="73152" marT="36576" marB="36576" anchor="ctr">
                    <a:solidFill>
                      <a:srgbClr val="F1F0F6"/>
                    </a:solidFill>
                  </a:tcPr>
                </a:tc>
              </a:tr>
              <a:tr h="41148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ICRITO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15 Dec 2026 (abstract 15 Nov)</a:t>
                      </a:r>
                    </a:p>
                  </a:txBody>
                  <a:tcPr marL="73152" marR="73152" marT="36576" marB="36576" anchor="ctr">
                    <a:solidFill>
                      <a:srgbClr val="FFFFFF"/>
                    </a:solidFill>
                  </a:tcPr>
                </a:tc>
                <a:tc>
                  <a:txBody>
                    <a:bodyPr wrap="square"/>
                    <a:lstStyle/>
                    <a:p>
                      <a:r>
                        <a:rPr sz="800" b="0" i="0">
                          <a:solidFill>
                            <a:srgbClr val="353B4A"/>
                          </a:solidFill>
                          <a:latin typeface="Inter"/>
                        </a:rPr>
                        <a:t>not read</a:t>
                      </a:r>
                    </a:p>
                  </a:txBody>
                  <a:tcPr marL="73152" marR="73152" marT="36576" marB="36576" anchor="ctr">
                    <a:solidFill>
                      <a:srgbClr val="FFFFFF"/>
                    </a:solidFill>
                  </a:tcPr>
                </a:tc>
                <a:tc>
                  <a:txBody>
                    <a:bodyPr wrap="square"/>
                    <a:lstStyle/>
                    <a:p>
                      <a:r>
                        <a:rPr sz="800" b="0" i="0">
                          <a:solidFill>
                            <a:srgbClr val="353B4A"/>
                          </a:solidFill>
                          <a:latin typeface="Inter"/>
                        </a:rPr>
                        <a:t>11-12 Feb 2027</a:t>
                      </a:r>
                    </a:p>
                  </a:txBody>
                  <a:tcPr marL="73152" marR="73152" marT="36576" marB="36576" anchor="ctr">
                    <a:solidFill>
                      <a:srgbClr val="FFFFFF"/>
                    </a:solidFill>
                  </a:tcPr>
                </a:tc>
                <a:tc>
                  <a:txBody>
                    <a:bodyPr wrap="square"/>
                    <a:lstStyle/>
                    <a:p>
                      <a:r>
                        <a:rPr sz="800" b="0" i="0">
                          <a:solidFill>
                            <a:srgbClr val="353B4A"/>
                          </a:solidFill>
                          <a:latin typeface="Inter"/>
                        </a:rPr>
                        <a:t>Record #72560 on its page; last year in Xplore and Scopus</a:t>
                      </a:r>
                    </a:p>
                  </a:txBody>
                  <a:tcPr marL="73152" marR="73152" marT="36576" marB="36576" anchor="ctr">
                    <a:solidFill>
                      <a:srgbClr val="FFFFFF"/>
                    </a:solidFill>
                  </a:tcPr>
                </a:tc>
              </a:tr>
              <a:tr h="41148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CoaCoNS 2027</a:t>
                      </a:r>
                    </a:p>
                  </a:txBody>
                  <a:tcPr marL="73152" marR="73152" marT="36576" marB="36576" anchor="ctr">
                    <a:solidFill>
                      <a:srgbClr val="F1F0F6"/>
                    </a:solidFill>
                  </a:tcPr>
                </a:tc>
                <a:tc>
                  <a:txBody>
                    <a:bodyPr wrap="square"/>
                    <a:lstStyle/>
                    <a:p>
                      <a:r>
                        <a:rPr sz="800" b="0" i="0">
                          <a:solidFill>
                            <a:srgbClr val="353B4A"/>
                          </a:solidFill>
                          <a:latin typeface="Inter"/>
                        </a:rPr>
                        <a:t>SRM IST (Overall 22)</a:t>
                      </a:r>
                    </a:p>
                  </a:txBody>
                  <a:tcPr marL="73152" marR="73152" marT="36576" marB="36576" anchor="ctr">
                    <a:solidFill>
                      <a:srgbClr val="F1F0F6"/>
                    </a:solidFill>
                  </a:tcPr>
                </a:tc>
                <a:tc>
                  <a:txBody>
                    <a:bodyPr wrap="square"/>
                    <a:lstStyle/>
                    <a:p>
                      <a:r>
                        <a:rPr sz="800" b="0" i="0">
                          <a:solidFill>
                            <a:srgbClr val="353B4A"/>
                          </a:solidFill>
                          <a:latin typeface="Inter"/>
                        </a:rPr>
                        <a:t>20 Nov 2026</a:t>
                      </a:r>
                    </a:p>
                  </a:txBody>
                  <a:tcPr marL="73152" marR="73152" marT="36576" marB="36576" anchor="ctr">
                    <a:solidFill>
                      <a:srgbClr val="F1F0F6"/>
                    </a:solidFill>
                  </a:tcPr>
                </a:tc>
                <a:tc>
                  <a:txBody>
                    <a:bodyPr wrap="square"/>
                    <a:lstStyle/>
                    <a:p>
                      <a:r>
                        <a:rPr sz="800" b="0" i="0">
                          <a:solidFill>
                            <a:srgbClr val="353B4A"/>
                          </a:solidFill>
                          <a:latin typeface="Inter"/>
                        </a:rPr>
                        <a:t>not published</a:t>
                      </a:r>
                    </a:p>
                  </a:txBody>
                  <a:tcPr marL="73152" marR="73152" marT="36576" marB="36576" anchor="ctr">
                    <a:solidFill>
                      <a:srgbClr val="F1F0F6"/>
                    </a:solidFill>
                  </a:tcPr>
                </a:tc>
                <a:tc>
                  <a:txBody>
                    <a:bodyPr wrap="square"/>
                    <a:lstStyle/>
                    <a:p>
                      <a:r>
                        <a:rPr sz="800" b="0" i="0">
                          <a:solidFill>
                            <a:srgbClr val="353B4A"/>
                          </a:solidFill>
                          <a:latin typeface="Inter"/>
                        </a:rPr>
                        <a:t>3-4 May 2027</a:t>
                      </a:r>
                    </a:p>
                  </a:txBody>
                  <a:tcPr marL="73152" marR="73152" marT="36576" marB="36576" anchor="ctr">
                    <a:solidFill>
                      <a:srgbClr val="F1F0F6"/>
                    </a:solidFill>
                  </a:tcPr>
                </a:tc>
                <a:tc>
                  <a:txBody>
                    <a:bodyPr wrap="square"/>
                    <a:lstStyle/>
                    <a:p>
                      <a:r>
                        <a:rPr sz="800" b="0" i="0">
                          <a:solidFill>
                            <a:srgbClr val="353B4A"/>
                          </a:solidFill>
                          <a:latin typeface="Inter"/>
                        </a:rPr>
                        <a:t>Record #72806, "awaiting IEEE"</a:t>
                      </a:r>
                    </a:p>
                  </a:txBody>
                  <a:tcPr marL="73152" marR="73152" marT="36576" marB="36576" anchor="ctr">
                    <a:solidFill>
                      <a:srgbClr val="F1F0F6"/>
                    </a:solidFill>
                  </a:tcPr>
                </a:tc>
              </a:tr>
              <a:tr h="41148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GTSS 2027</a:t>
                      </a:r>
                    </a:p>
                  </a:txBody>
                  <a:tcPr marL="73152" marR="73152" marT="36576" marB="36576" anchor="ctr">
                    <a:solidFill>
                      <a:srgbClr val="FFFFFF"/>
                    </a:solidFill>
                  </a:tcPr>
                </a:tc>
                <a:tc>
                  <a:txBody>
                    <a:bodyPr wrap="square"/>
                    <a:lstStyle/>
                    <a:p>
                      <a:r>
                        <a:rPr sz="800" b="0" i="0">
                          <a:solidFill>
                            <a:srgbClr val="353B4A"/>
                          </a:solidFill>
                          <a:latin typeface="Inter"/>
                        </a:rPr>
                        <a:t>MMMUT, Gorakhpur (Overall 99)</a:t>
                      </a:r>
                    </a:p>
                  </a:txBody>
                  <a:tcPr marL="73152" marR="73152" marT="36576" marB="36576" anchor="ctr">
                    <a:solidFill>
                      <a:srgbClr val="FFFFFF"/>
                    </a:solidFill>
                  </a:tcPr>
                </a:tc>
                <a:tc>
                  <a:txBody>
                    <a:bodyPr wrap="square"/>
                    <a:lstStyle/>
                    <a:p>
                      <a:r>
                        <a:rPr sz="800" b="0" i="0">
                          <a:solidFill>
                            <a:srgbClr val="353B4A"/>
                          </a:solidFill>
                          <a:latin typeface="Inter"/>
                        </a:rPr>
                        <a:t>31 Oct 2026</a:t>
                      </a:r>
                    </a:p>
                  </a:txBody>
                  <a:tcPr marL="73152" marR="73152" marT="36576" marB="36576" anchor="ctr">
                    <a:solidFill>
                      <a:srgbClr val="FFFFFF"/>
                    </a:solidFill>
                  </a:tcPr>
                </a:tc>
                <a:tc>
                  <a:txBody>
                    <a:bodyPr wrap="square"/>
                    <a:lstStyle/>
                    <a:p>
                      <a:r>
                        <a:rPr sz="800" b="0" i="0">
                          <a:solidFill>
                            <a:srgbClr val="353B4A"/>
                          </a:solidFill>
                          <a:latin typeface="Inter"/>
                        </a:rPr>
                        <a:t>not read</a:t>
                      </a:r>
                    </a:p>
                  </a:txBody>
                  <a:tcPr marL="73152" marR="73152" marT="36576" marB="36576" anchor="ctr">
                    <a:solidFill>
                      <a:srgbClr val="FFFFFF"/>
                    </a:solidFill>
                  </a:tcPr>
                </a:tc>
                <a:tc>
                  <a:txBody>
                    <a:bodyPr wrap="square"/>
                    <a:lstStyle/>
                    <a:p>
                      <a:r>
                        <a:rPr sz="800" b="0" i="0">
                          <a:solidFill>
                            <a:srgbClr val="353B4A"/>
                          </a:solidFill>
                          <a:latin typeface="Inter"/>
                        </a:rPr>
                        <a:t>12-13 Mar 2027*</a:t>
                      </a:r>
                    </a:p>
                  </a:txBody>
                  <a:tcPr marL="73152" marR="73152" marT="36576" marB="36576" anchor="ctr">
                    <a:solidFill>
                      <a:srgbClr val="FFFFFF"/>
                    </a:solidFill>
                  </a:tcPr>
                </a:tc>
                <a:tc>
                  <a:txBody>
                    <a:bodyPr wrap="square"/>
                    <a:lstStyle/>
                    <a:p>
                      <a:r>
                        <a:rPr sz="800" b="0" i="0">
                          <a:solidFill>
                            <a:srgbClr val="353B4A"/>
                          </a:solidFill>
                          <a:latin typeface="Inter"/>
                        </a:rPr>
                        <a:t>Record #72645 only in an IEEE vTools notice</a:t>
                      </a:r>
                    </a:p>
                  </a:txBody>
                  <a:tcPr marL="73152" marR="73152" marT="36576" marB="36576" anchor="ctr">
                    <a:solidFill>
                      <a:srgbClr val="FFFFFF"/>
                    </a:solidFill>
                  </a:tcPr>
                </a:tc>
              </a:tr>
            </a:tbl>
          </a:graphicData>
        </a:graphic>
      </p:graphicFrame>
      <p:sp>
        <p:nvSpPr>
          <p:cNvPr id="7" name="TextBox 6"/>
          <p:cNvSpPr txBox="1"/>
          <p:nvPr/>
        </p:nvSpPr>
        <p:spPr>
          <a:xfrm>
            <a:off x="365760" y="4206240"/>
            <a:ext cx="8412480" cy="64008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"Record shown" means a record number is on the official page; I read ICRITO's page myself, and the others come from research notes. Nothing is confirmed for IEEE Xplore until proceedings are published, and record numbers should be checked on the IEEE site. *GTSS dates differ between its site and the IEEE notice. ICESICSC and GTSS close within days. Ranked by fee, unknown fees last.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OTHER OPEN VENUES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Other open venues at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365760" y="987552"/>
          <a:ext cx="8412476" cy="3200400"/>
        </p:xfrm>
        <a:graphic>
          <a:graphicData uri="http://schemas.openxmlformats.org/drawingml/2006/table">
            <a:tbl>
              <a:tblPr firstRow="1" bandRow="1">
                <a:tableStyleId>{5C22544A-7EE6-4342-B048-85BDC9FD1C3A}</a:tableStyleId>
              </a:tblPr>
              <a:tblGrid>
                <a:gridCol w="260179"/>
                <a:gridCol w="1214172"/>
                <a:gridCol w="2428344"/>
                <a:gridCol w="867265"/>
                <a:gridCol w="1084082"/>
                <a:gridCol w="953992"/>
                <a:gridCol w="1604442"/>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 / format</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IEEE in the name; indexing 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ICFCIT 2027</a:t>
                      </a:r>
                    </a:p>
                  </a:txBody>
                  <a:tcPr marL="73152" marR="73152" marT="36576" marB="36576" anchor="ctr">
                    <a:solidFill>
                      <a:srgbClr val="FFFFFF"/>
                    </a:solidFill>
                  </a:tcPr>
                </a:tc>
                <a:tc>
                  <a:txBody>
                    <a:bodyPr wrap="square"/>
                    <a:lstStyle/>
                    <a:p>
                      <a:r>
                        <a:rPr sz="800" b="0" i="0">
                          <a:solidFill>
                            <a:srgbClr val="353B4A"/>
                          </a:solidFill>
                          <a:latin typeface="Inter"/>
                        </a:rPr>
                        <a:t>SRM IST (Overall 22)</a:t>
                      </a:r>
                    </a:p>
                  </a:txBody>
                  <a:tcPr marL="73152" marR="73152" marT="36576" marB="36576" anchor="ctr">
                    <a:solidFill>
                      <a:srgbClr val="FFFFFF"/>
                    </a:solidFill>
                  </a:tcPr>
                </a:tc>
                <a:tc>
                  <a:txBody>
                    <a:bodyPr wrap="square"/>
                    <a:lstStyle/>
                    <a:p>
                      <a:r>
                        <a:rPr sz="800" b="0" i="0">
                          <a:solidFill>
                            <a:srgbClr val="353B4A"/>
                          </a:solidFill>
                          <a:latin typeface="Inter"/>
                        </a:rPr>
                        <a:t>20 Apr 2027</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21-23 Sep 2027</a:t>
                      </a:r>
                    </a:p>
                  </a:txBody>
                  <a:tcPr marL="73152" marR="73152" marT="36576" marB="36576" anchor="ctr">
                    <a:solidFill>
                      <a:srgbClr val="FFFFFF"/>
                    </a:solidFill>
                  </a:tcPr>
                </a:tc>
                <a:tc>
                  <a:txBody>
                    <a:bodyPr wrap="square"/>
                    <a:lstStyle/>
                    <a:p>
                      <a:r>
                        <a:rPr sz="800" b="0" i="0">
                          <a:solidFill>
                            <a:srgbClr val="353B4A"/>
                          </a:solidFill>
                          <a:latin typeface="Inter"/>
                        </a:rPr>
                        <a:t>No IEEE or Springer claim</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ICSSD 2027</a:t>
                      </a:r>
                    </a:p>
                  </a:txBody>
                  <a:tcPr marL="73152" marR="73152" marT="36576" marB="36576" anchor="ctr">
                    <a:solidFill>
                      <a:srgbClr val="F1F0F6"/>
                    </a:solidFill>
                  </a:tcPr>
                </a:tc>
                <a:tc>
                  <a:txBody>
                    <a:bodyPr wrap="square"/>
                    <a:lstStyle/>
                    <a:p>
                      <a:r>
                        <a:rPr sz="800" b="0" i="0">
                          <a:solidFill>
                            <a:srgbClr val="353B4A"/>
                          </a:solidFill>
                          <a:latin typeface="Inter"/>
                        </a:rPr>
                        <a:t>NIT Tiruchirappalli (Engineering 9)</a:t>
                      </a:r>
                    </a:p>
                  </a:txBody>
                  <a:tcPr marL="73152" marR="73152" marT="36576" marB="36576" anchor="ctr">
                    <a:solidFill>
                      <a:srgbClr val="F1F0F6"/>
                    </a:solidFill>
                  </a:tcPr>
                </a:tc>
                <a:tc>
                  <a:txBody>
                    <a:bodyPr wrap="square"/>
                    <a:lstStyle/>
                    <a:p>
                      <a:r>
                        <a:rPr sz="800" b="0" i="0">
                          <a:solidFill>
                            <a:srgbClr val="353B4A"/>
                          </a:solidFill>
                          <a:latin typeface="Inter"/>
                        </a:rPr>
                        <a:t>10 Nov 2026</a:t>
                      </a:r>
                    </a:p>
                  </a:txBody>
                  <a:tcPr marL="73152" marR="73152" marT="36576" marB="36576" anchor="ctr">
                    <a:solidFill>
                      <a:srgbClr val="F1F0F6"/>
                    </a:solidFill>
                  </a:tcPr>
                </a:tc>
                <a:tc>
                  <a:txBody>
                    <a:bodyPr wrap="square"/>
                    <a:lstStyle/>
                    <a:p>
                      <a:r>
                        <a:rPr sz="800" b="0" i="0">
                          <a:solidFill>
                            <a:srgbClr val="353B4A"/>
                          </a:solidFill>
                          <a:latin typeface="Inter"/>
                        </a:rPr>
                        <a:t>7,500 early, 10,000</a:t>
                      </a:r>
                    </a:p>
                  </a:txBody>
                  <a:tcPr marL="73152" marR="73152" marT="36576" marB="36576" anchor="ctr">
                    <a:solidFill>
                      <a:srgbClr val="F1F0F6"/>
                    </a:solidFill>
                  </a:tcPr>
                </a:tc>
                <a:tc>
                  <a:txBody>
                    <a:bodyPr wrap="square"/>
                    <a:lstStyle/>
                    <a:p>
                      <a:r>
                        <a:rPr sz="800" b="0" i="0">
                          <a:solidFill>
                            <a:srgbClr val="353B4A"/>
                          </a:solidFill>
                          <a:latin typeface="Inter"/>
                        </a:rPr>
                        <a:t>4-6 Feb 2027</a:t>
                      </a:r>
                    </a:p>
                  </a:txBody>
                  <a:tcPr marL="73152" marR="73152" marT="36576" marB="36576" anchor="ctr">
                    <a:solidFill>
                      <a:srgbClr val="F1F0F6"/>
                    </a:solidFill>
                  </a:tcPr>
                </a:tc>
                <a:tc>
                  <a:txBody>
                    <a:bodyPr wrap="square"/>
                    <a:lstStyle/>
                    <a:p>
                      <a:r>
                        <a:rPr sz="800" b="0" i="0">
                          <a:solidFill>
                            <a:srgbClr val="353B4A"/>
                          </a:solidFill>
                          <a:latin typeface="Inter"/>
                        </a:rPr>
                        <a:t>Springer, 10-12 pages; secure software</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WcCST-2027</a:t>
                      </a:r>
                    </a:p>
                  </a:txBody>
                  <a:tcPr marL="73152" marR="73152" marT="36576" marB="36576" anchor="ctr">
                    <a:solidFill>
                      <a:srgbClr val="FFFFFF"/>
                    </a:solidFill>
                  </a:tcPr>
                </a:tc>
                <a:tc>
                  <a:txBody>
                    <a:bodyPr wrap="square"/>
                    <a:lstStyle/>
                    <a:p>
                      <a:r>
                        <a:rPr sz="800" b="0" i="0">
                          <a:solidFill>
                            <a:srgbClr val="353B4A"/>
                          </a:solidFill>
                          <a:latin typeface="Inter"/>
                        </a:rPr>
                        <a:t>Chandigarh University (Overall 32)</a:t>
                      </a:r>
                    </a:p>
                  </a:txBody>
                  <a:tcPr marL="73152" marR="73152" marT="36576" marB="36576" anchor="ctr">
                    <a:solidFill>
                      <a:srgbClr val="FFFFFF"/>
                    </a:solidFill>
                  </a:tcPr>
                </a:tc>
                <a:tc>
                  <a:txBody>
                    <a:bodyPr wrap="square"/>
                    <a:lstStyle/>
                    <a:p>
                      <a:r>
                        <a:rPr sz="800" b="0" i="0">
                          <a:solidFill>
                            <a:srgbClr val="353B4A"/>
                          </a:solidFill>
                          <a:latin typeface="Inter"/>
                        </a:rPr>
                        <a:t>10 Dec 2026</a:t>
                      </a:r>
                    </a:p>
                  </a:txBody>
                  <a:tcPr marL="73152" marR="73152" marT="36576" marB="36576" anchor="ctr">
                    <a:solidFill>
                      <a:srgbClr val="FFFFFF"/>
                    </a:solidFill>
                  </a:tcPr>
                </a:tc>
                <a:tc>
                  <a:txBody>
                    <a:bodyPr wrap="square"/>
                    <a:lstStyle/>
                    <a:p>
                      <a:r>
                        <a:rPr sz="800" b="0" i="0">
                          <a:solidFill>
                            <a:srgbClr val="353B4A"/>
                          </a:solidFill>
                          <a:latin typeface="Inter"/>
                        </a:rPr>
                        <a:t>8,500</a:t>
                      </a:r>
                    </a:p>
                  </a:txBody>
                  <a:tcPr marL="73152" marR="73152" marT="36576" marB="36576" anchor="ctr">
                    <a:solidFill>
                      <a:srgbClr val="FFFFFF"/>
                    </a:solidFill>
                  </a:tcPr>
                </a:tc>
                <a:tc>
                  <a:txBody>
                    <a:bodyPr wrap="square"/>
                    <a:lstStyle/>
                    <a:p>
                      <a:r>
                        <a:rPr sz="800" b="0" i="0">
                          <a:solidFill>
                            <a:srgbClr val="353B4A"/>
                          </a:solidFill>
                          <a:latin typeface="Inter"/>
                        </a:rPr>
                        <a:t>11-12 Mar 2027</a:t>
                      </a:r>
                    </a:p>
                  </a:txBody>
                  <a:tcPr marL="73152" marR="73152" marT="36576" marB="36576" anchor="ctr">
                    <a:solidFill>
                      <a:srgbClr val="FFFFFF"/>
                    </a:solidFill>
                  </a:tcPr>
                </a:tc>
                <a:tc>
                  <a:txBody>
                    <a:bodyPr wrap="square"/>
                    <a:lstStyle/>
                    <a:p>
                      <a:r>
                        <a:rPr sz="800" b="0" i="0">
                          <a:solidFill>
                            <a:srgbClr val="353B4A"/>
                          </a:solidFill>
                          <a:latin typeface="Inter"/>
                        </a:rPr>
                        <a:t>IEEE co-sponsorship "subject to approval"</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NGCAPS-2027</a:t>
                      </a:r>
                    </a:p>
                  </a:txBody>
                  <a:tcPr marL="73152" marR="73152" marT="36576" marB="36576" anchor="ctr">
                    <a:solidFill>
                      <a:srgbClr val="F1F0F6"/>
                    </a:solidFill>
                  </a:tcPr>
                </a:tc>
                <a:tc>
                  <a:txBody>
                    <a:bodyPr wrap="square"/>
                    <a:lstStyle/>
                    <a:p>
                      <a:r>
                        <a:rPr sz="800" b="0" i="0">
                          <a:solidFill>
                            <a:srgbClr val="353B4A"/>
                          </a:solidFill>
                          <a:latin typeface="Inter"/>
                        </a:rPr>
                        <a:t>Lovely Professional University (Overall 49)</a:t>
                      </a:r>
                    </a:p>
                  </a:txBody>
                  <a:tcPr marL="73152" marR="73152" marT="36576" marB="36576" anchor="ctr">
                    <a:solidFill>
                      <a:srgbClr val="F1F0F6"/>
                    </a:solidFill>
                  </a:tcPr>
                </a:tc>
                <a:tc>
                  <a:txBody>
                    <a:bodyPr wrap="square"/>
                    <a:lstStyle/>
                    <a:p>
                      <a:r>
                        <a:rPr sz="800" b="0" i="0">
                          <a:solidFill>
                            <a:srgbClr val="353B4A"/>
                          </a:solidFill>
                          <a:latin typeface="Inter"/>
                        </a:rPr>
                        <a:t>15 Nov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16-17 Apr 2027</a:t>
                      </a:r>
                    </a:p>
                  </a:txBody>
                  <a:tcPr marL="73152" marR="73152" marT="36576" marB="36576" anchor="ctr">
                    <a:solidFill>
                      <a:srgbClr val="F1F0F6"/>
                    </a:solidFill>
                  </a:tcPr>
                </a:tc>
                <a:tc>
                  <a:txBody>
                    <a:bodyPr wrap="square"/>
                    <a:lstStyle/>
                    <a:p>
                      <a:r>
                        <a:rPr sz="800" b="0" i="0">
                          <a:solidFill>
                            <a:srgbClr val="353B4A"/>
                          </a:solidFill>
                          <a:latin typeface="Inter"/>
                        </a:rPr>
                        <a:t>IEEE Xplore only "proposed"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INDIACom-2027</a:t>
                      </a:r>
                    </a:p>
                  </a:txBody>
                  <a:tcPr marL="73152" marR="73152" marT="36576" marB="36576" anchor="ctr">
                    <a:solidFill>
                      <a:srgbClr val="FFFFFF"/>
                    </a:solidFill>
                  </a:tcPr>
                </a:tc>
                <a:tc>
                  <a:txBody>
                    <a:bodyPr wrap="square"/>
                    <a:lstStyle/>
                    <a:p>
                      <a:r>
                        <a:rPr sz="800" b="0" i="0">
                          <a:solidFill>
                            <a:srgbClr val="353B4A"/>
                          </a:solidFill>
                          <a:latin typeface="Inter"/>
                        </a:rPr>
                        <a:t>BVICAM, Bharati Vidyapeeth (parent only, University 59)</a:t>
                      </a:r>
                    </a:p>
                  </a:txBody>
                  <a:tcPr marL="73152" marR="73152" marT="36576" marB="36576" anchor="ctr">
                    <a:solidFill>
                      <a:srgbClr val="FFFFFF"/>
                    </a:solidFill>
                  </a:tcPr>
                </a:tc>
                <a:tc>
                  <a:txBody>
                    <a:bodyPr wrap="square"/>
                    <a:lstStyle/>
                    <a:p>
                      <a:r>
                        <a:rPr sz="800" b="0" i="0">
                          <a:solidFill>
                            <a:srgbClr val="353B4A"/>
                          </a:solidFill>
                          <a:latin typeface="Inter"/>
                        </a:rPr>
                        <a:t>7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7-9 Apr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i-PACT 2027</a:t>
                      </a:r>
                    </a:p>
                  </a:txBody>
                  <a:tcPr marL="73152" marR="73152" marT="36576" marB="36576" anchor="ctr">
                    <a:solidFill>
                      <a:srgbClr val="F1F0F6"/>
                    </a:solidFill>
                  </a:tcPr>
                </a:tc>
                <a:tc>
                  <a:txBody>
                    <a:bodyPr wrap="square"/>
                    <a:lstStyle/>
                    <a:p>
                      <a:r>
                        <a:rPr sz="800" b="0" i="0">
                          <a:solidFill>
                            <a:srgbClr val="353B4A"/>
                          </a:solidFill>
                          <a:latin typeface="Inter"/>
                        </a:rPr>
                        <a:t>VIT, Vellore (Overall 21)</a:t>
                      </a:r>
                    </a:p>
                  </a:txBody>
                  <a:tcPr marL="73152" marR="73152" marT="36576" marB="36576" anchor="ctr">
                    <a:solidFill>
                      <a:srgbClr val="F1F0F6"/>
                    </a:solidFill>
                  </a:tcPr>
                </a:tc>
                <a:tc>
                  <a:txBody>
                    <a:bodyPr wrap="square"/>
                    <a:lstStyle/>
                    <a:p>
                      <a:r>
                        <a:rPr sz="800" b="0" i="0">
                          <a:solidFill>
                            <a:srgbClr val="353B4A"/>
                          </a:solidFill>
                          <a:latin typeface="Inter"/>
                        </a:rPr>
                        <a:t>31 May 2027</a:t>
                      </a:r>
                    </a:p>
                  </a:txBody>
                  <a:tcPr marL="73152" marR="73152" marT="36576" marB="36576" anchor="ctr">
                    <a:solidFill>
                      <a:srgbClr val="F1F0F6"/>
                    </a:solidFill>
                  </a:tcPr>
                </a:tc>
                <a:tc>
                  <a:txBody>
                    <a:bodyPr wrap="square"/>
                    <a:lstStyle/>
                    <a:p>
                      <a:r>
                        <a:rPr sz="800" b="0" i="0">
                          <a:solidFill>
                            <a:srgbClr val="353B4A"/>
                          </a:solidFill>
                          <a:latin typeface="Inter"/>
                        </a:rPr>
                        <a:t>12,000</a:t>
                      </a:r>
                    </a:p>
                  </a:txBody>
                  <a:tcPr marL="73152" marR="73152" marT="36576" marB="36576" anchor="ctr">
                    <a:solidFill>
                      <a:srgbClr val="F1F0F6"/>
                    </a:solidFill>
                  </a:tcPr>
                </a:tc>
                <a:tc>
                  <a:txBody>
                    <a:bodyPr wrap="square"/>
                    <a:lstStyle/>
                    <a:p>
                      <a:r>
                        <a:rPr sz="800" b="0" i="0">
                          <a:solidFill>
                            <a:srgbClr val="353B4A"/>
                          </a:solidFill>
                          <a:latin typeface="Inter"/>
                        </a:rPr>
                        <a:t>2-3 Sep 2027</a:t>
                      </a:r>
                    </a:p>
                  </a:txBody>
                  <a:tcPr marL="73152" marR="73152" marT="36576" marB="36576" anchor="ctr">
                    <a:solidFill>
                      <a:srgbClr val="F1F0F6"/>
                    </a:solidFill>
                  </a:tcPr>
                </a:tc>
                <a:tc>
                  <a:txBody>
                    <a:bodyPr wrap="square"/>
                    <a:lstStyle/>
                    <a:p>
                      <a:r>
                        <a:rPr sz="800" b="0" i="0">
                          <a:solidFill>
                            <a:srgbClr val="353B4A"/>
                          </a:solidFill>
                          <a:latin typeface="Inter"/>
                        </a:rPr>
                        <a:t>Claimed; a power-engineering topic</a:t>
                      </a:r>
                    </a:p>
                  </a:txBody>
                  <a:tcPr marL="73152" marR="73152" marT="36576" marB="36576" anchor="ctr">
                    <a:solidFill>
                      <a:srgbClr val="F1F0F6"/>
                    </a:solidFill>
                  </a:tcPr>
                </a:tc>
              </a:tr>
            </a:tbl>
          </a:graphicData>
        </a:graphic>
      </p:graphicFrame>
      <p:sp>
        <p:nvSpPr>
          <p:cNvPr id="7" name="TextBox 6"/>
          <p:cNvSpPr txBox="1"/>
          <p:nvPr/>
        </p:nvSpPr>
        <p:spPr>
          <a:xfrm>
            <a:off x="365760" y="4206240"/>
            <a:ext cx="8412480" cy="64008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Topic fit is best for NGCAPS-2027 (security, blockchain, database tracks) and ICSSD 2027 (secure software, privacy, databases). Not usable: venues hosted outside the top 100, closed calls, and off-topic energy, RF, power or biomedical conferences. The search tools could not read the IEEE conference calendar, so more venues may exist.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97280"/>
          <a:ext cx="8229600" cy="2743200"/>
        </p:xfrm>
        <a:graphic>
          <a:graphicData uri="http://schemas.openxmlformats.org/drawingml/2006/table">
            <a:tbl>
              <a:tblPr firstRow="1" bandRow="1">
                <a:tableStyleId>{5C22544A-7EE6-4342-B048-85BDC9FD1C3A}</a:tableStyleId>
              </a:tblPr>
              <a:tblGrid>
                <a:gridCol w="548640"/>
                <a:gridCol w="1554480"/>
                <a:gridCol w="1920240"/>
                <a:gridCol w="1005840"/>
                <a:gridCol w="320040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75488">
                <a:tc>
                  <a:txBody>
                    <a:bodyPr wrap="square"/>
                    <a:lstStyle/>
                    <a:p>
                      <a:r>
                        <a:rPr sz="900" b="1" i="0">
                          <a:solidFill>
                            <a:srgbClr val="1B2A55"/>
                          </a:solidFill>
                          <a:latin typeface="Inter"/>
                        </a:rPr>
                        <a:t>1</a:t>
                      </a:r>
                    </a:p>
                  </a:txBody>
                  <a:tcPr marL="73152" marR="73152" marT="36576" marB="36576" anchor="ctr">
                    <a:solidFill>
                      <a:srgbClr val="FFFFFF"/>
                    </a:solidFill>
                  </a:tcPr>
                </a:tc>
                <a:tc>
                  <a:txBody>
                    <a:bodyPr wrap="square"/>
                    <a:lstStyle/>
                    <a:p>
                      <a:r>
                        <a:rPr sz="900" b="0" i="0">
                          <a:solidFill>
                            <a:srgbClr val="353B4A"/>
                          </a:solidFill>
                          <a:latin typeface="Inter"/>
                        </a:rPr>
                        <a:t>ICRITO 2027</a:t>
                      </a:r>
                    </a:p>
                  </a:txBody>
                  <a:tcPr marL="73152" marR="73152" marT="36576" marB="36576" anchor="ctr">
                    <a:solidFill>
                      <a:srgbClr val="FFFFFF"/>
                    </a:solidFill>
                  </a:tcPr>
                </a:tc>
                <a:tc>
                  <a:txBody>
                    <a:bodyPr wrap="square"/>
                    <a:lstStyle/>
                    <a:p>
                      <a:r>
                        <a:rPr sz="900" b="0" i="0">
                          <a:solidFill>
                            <a:srgbClr val="353B4A"/>
                          </a:solidFill>
                          <a:latin typeface="Inter"/>
                        </a:rPr>
                        <a:t>Amity University, Noida</a:t>
                      </a:r>
                    </a:p>
                  </a:txBody>
                  <a:tcPr marL="73152" marR="73152" marT="36576" marB="36576" anchor="ctr">
                    <a:solidFill>
                      <a:srgbClr val="FFFFFF"/>
                    </a:solidFill>
                  </a:tcPr>
                </a:tc>
                <a:tc>
                  <a:txBody>
                    <a:bodyPr wrap="square"/>
                    <a:lstStyle/>
                    <a:p>
                      <a:r>
                        <a:rPr sz="900" b="0" i="0">
                          <a:solidFill>
                            <a:srgbClr val="353B4A"/>
                          </a:solidFill>
                          <a:latin typeface="Inter"/>
                        </a:rPr>
                        <a:t>15 Dec 2026</a:t>
                      </a:r>
                    </a:p>
                  </a:txBody>
                  <a:tcPr marL="73152" marR="73152" marT="36576" marB="36576" anchor="ctr">
                    <a:solidFill>
                      <a:srgbClr val="FFFFFF"/>
                    </a:solidFill>
                  </a:tcPr>
                </a:tc>
                <a:tc>
                  <a:txBody>
                    <a:bodyPr wrap="square"/>
                    <a:lstStyle/>
                    <a:p>
                      <a:r>
                        <a:rPr sz="900" b="0" i="0">
                          <a:solidFill>
                            <a:srgbClr val="353B4A"/>
                          </a:solidFill>
                          <a:latin typeface="Inter"/>
                        </a:rPr>
                        <a:t>IEEE record number on its own page; 6-page IEEE format; last year's papers are in Xplore and Scopus</a:t>
                      </a:r>
                    </a:p>
                  </a:txBody>
                  <a:tcPr marL="73152" marR="73152" marT="36576" marB="36576" anchor="ctr">
                    <a:solidFill>
                      <a:srgbClr val="FFFFFF"/>
                    </a:solidFill>
                  </a:tcPr>
                </a:tc>
              </a:tr>
              <a:tr h="475488">
                <a:tc>
                  <a:txBody>
                    <a:bodyPr wrap="square"/>
                    <a:lstStyle/>
                    <a:p>
                      <a:r>
                        <a:rPr sz="900" b="1" i="0">
                          <a:solidFill>
                            <a:srgbClr val="1B2A55"/>
                          </a:solidFill>
                          <a:latin typeface="Inter"/>
                        </a:rPr>
                        <a:t>2</a:t>
                      </a:r>
                    </a:p>
                  </a:txBody>
                  <a:tcPr marL="73152" marR="73152" marT="36576" marB="36576" anchor="ctr">
                    <a:solidFill>
                      <a:srgbClr val="F1F0F6"/>
                    </a:solidFill>
                  </a:tcPr>
                </a:tc>
                <a:tc>
                  <a:txBody>
                    <a:bodyPr wrap="square"/>
                    <a:lstStyle/>
                    <a:p>
                      <a:r>
                        <a:rPr sz="900" b="0" i="0">
                          <a:solidFill>
                            <a:srgbClr val="353B4A"/>
                          </a:solidFill>
                          <a:latin typeface="Inter"/>
                        </a:rPr>
                        <a:t>IEEE SANKALP 2027</a:t>
                      </a:r>
                    </a:p>
                  </a:txBody>
                  <a:tcPr marL="73152" marR="73152" marT="36576" marB="36576" anchor="ctr">
                    <a:solidFill>
                      <a:srgbClr val="F1F0F6"/>
                    </a:solidFill>
                  </a:tcPr>
                </a:tc>
                <a:tc>
                  <a:txBody>
                    <a:bodyPr wrap="square"/>
                    <a:lstStyle/>
                    <a:p>
                      <a:r>
                        <a:rPr sz="900" b="0" i="0">
                          <a:solidFill>
                            <a:srgbClr val="353B4A"/>
                          </a:solidFill>
                          <a:latin typeface="Inter"/>
                        </a:rPr>
                        <a:t>ABV-IIITM, Gwalior</a:t>
                      </a:r>
                    </a:p>
                  </a:txBody>
                  <a:tcPr marL="73152" marR="73152" marT="36576" marB="36576" anchor="ctr">
                    <a:solidFill>
                      <a:srgbClr val="F1F0F6"/>
                    </a:solidFill>
                  </a:tcPr>
                </a:tc>
                <a:tc>
                  <a:txBody>
                    <a:bodyPr wrap="square"/>
                    <a:lstStyle/>
                    <a:p>
                      <a:r>
                        <a:rPr sz="900" b="0" i="0">
                          <a:solidFill>
                            <a:srgbClr val="353B4A"/>
                          </a:solidFill>
                          <a:latin typeface="Inter"/>
                        </a:rPr>
                        <a:t>30 Nov 2026</a:t>
                      </a:r>
                    </a:p>
                  </a:txBody>
                  <a:tcPr marL="73152" marR="73152" marT="36576" marB="36576" anchor="ctr">
                    <a:solidFill>
                      <a:srgbClr val="F1F0F6"/>
                    </a:solidFill>
                  </a:tcPr>
                </a:tc>
                <a:tc>
                  <a:txBody>
                    <a:bodyPr wrap="square"/>
                    <a:lstStyle/>
                    <a:p>
                      <a:r>
                        <a:rPr sz="900" b="0" i="0">
                          <a:solidFill>
                            <a:srgbClr val="353B4A"/>
                          </a:solidFill>
                          <a:latin typeface="Inter"/>
                        </a:rPr>
                        <a:t>Record shown; security and distributed-database tracks; INR 7,000; choose it if you want to submit sooner</a:t>
                      </a:r>
                    </a:p>
                  </a:txBody>
                  <a:tcPr marL="73152" marR="73152" marT="36576" marB="36576" anchor="ctr">
                    <a:solidFill>
                      <a:srgbClr val="F1F0F6"/>
                    </a:solidFill>
                  </a:tcPr>
                </a:tc>
              </a:tr>
              <a:tr h="475488">
                <a:tc>
                  <a:txBody>
                    <a:bodyPr wrap="square"/>
                    <a:lstStyle/>
                    <a:p>
                      <a:r>
                        <a:rPr sz="900" b="1" i="0">
                          <a:solidFill>
                            <a:srgbClr val="1B2A55"/>
                          </a:solidFill>
                          <a:latin typeface="Inter"/>
                        </a:rPr>
                        <a:t>3</a:t>
                      </a:r>
                    </a:p>
                  </a:txBody>
                  <a:tcPr marL="73152" marR="73152" marT="36576" marB="36576" anchor="ctr">
                    <a:solidFill>
                      <a:srgbClr val="FFFFFF"/>
                    </a:solidFill>
                  </a:tcPr>
                </a:tc>
                <a:tc>
                  <a:txBody>
                    <a:bodyPr wrap="square"/>
                    <a:lstStyle/>
                    <a:p>
                      <a:r>
                        <a:rPr sz="900" b="0" i="0">
                          <a:solidFill>
                            <a:srgbClr val="353B4A"/>
                          </a:solidFill>
                          <a:latin typeface="Inter"/>
                        </a:rPr>
                        <a:t>Confluence 2027</a:t>
                      </a:r>
                    </a:p>
                  </a:txBody>
                  <a:tcPr marL="73152" marR="73152" marT="36576" marB="36576" anchor="ctr">
                    <a:solidFill>
                      <a:srgbClr val="FFFFFF"/>
                    </a:solidFill>
                  </a:tcPr>
                </a:tc>
                <a:tc>
                  <a:txBody>
                    <a:bodyPr wrap="square"/>
                    <a:lstStyle/>
                    <a:p>
                      <a:r>
                        <a:rPr sz="900" b="0" i="0">
                          <a:solidFill>
                            <a:srgbClr val="353B4A"/>
                          </a:solidFill>
                          <a:latin typeface="Inter"/>
                        </a:rPr>
                        <a:t>Amity University, Noida</a:t>
                      </a:r>
                    </a:p>
                  </a:txBody>
                  <a:tcPr marL="73152" marR="73152" marT="36576" marB="36576" anchor="ctr">
                    <a:solidFill>
                      <a:srgbClr val="FFFFFF"/>
                    </a:solidFill>
                  </a:tcPr>
                </a:tc>
                <a:tc>
                  <a:txBody>
                    <a:bodyPr wrap="square"/>
                    <a:lstStyle/>
                    <a:p>
                      <a:r>
                        <a:rPr sz="900" b="0" i="0">
                          <a:solidFill>
                            <a:srgbClr val="353B4A"/>
                          </a:solidFill>
                          <a:latin typeface="Inter"/>
                        </a:rPr>
                        <a:t>4 Dec 2026</a:t>
                      </a:r>
                    </a:p>
                  </a:txBody>
                  <a:tcPr marL="73152" marR="73152" marT="36576" marB="36576" anchor="ctr">
                    <a:solidFill>
                      <a:srgbClr val="FFFFFF"/>
                    </a:solidFill>
                  </a:tcPr>
                </a:tc>
                <a:tc>
                  <a:txBody>
                    <a:bodyPr wrap="square"/>
                    <a:lstStyle/>
                    <a:p>
                      <a:r>
                        <a:rPr sz="900" b="0" i="0">
                          <a:solidFill>
                            <a:srgbClr val="353B4A"/>
                          </a:solidFill>
                          <a:latin typeface="Inter"/>
                        </a:rPr>
                        <a:t>Record shown; INR 9,440; quick decision</a:t>
                      </a:r>
                    </a:p>
                  </a:txBody>
                  <a:tcPr marL="73152" marR="73152" marT="36576" marB="36576" anchor="ctr">
                    <a:solidFill>
                      <a:srgbClr val="FFFFFF"/>
                    </a:solidFill>
                  </a:tcPr>
                </a:tc>
              </a:tr>
              <a:tr h="475488">
                <a:tc>
                  <a:txBody>
                    <a:bodyPr wrap="square"/>
                    <a:lstStyle/>
                    <a:p>
                      <a:r>
                        <a:rPr sz="900" b="1" i="0">
                          <a:solidFill>
                            <a:srgbClr val="1B2A55"/>
                          </a:solidFill>
                          <a:latin typeface="Inter"/>
                        </a:rPr>
                        <a:t>4</a:t>
                      </a:r>
                    </a:p>
                  </a:txBody>
                  <a:tcPr marL="73152" marR="73152" marT="36576" marB="36576" anchor="ctr">
                    <a:solidFill>
                      <a:srgbClr val="F1F0F6"/>
                    </a:solidFill>
                  </a:tcPr>
                </a:tc>
                <a:tc>
                  <a:txBody>
                    <a:bodyPr wrap="square"/>
                    <a:lstStyle/>
                    <a:p>
                      <a:r>
                        <a:rPr sz="900" b="0" i="0">
                          <a:solidFill>
                            <a:srgbClr val="353B4A"/>
                          </a:solidFill>
                          <a:latin typeface="Inter"/>
                        </a:rPr>
                        <a:t>NGCAPS-2027</a:t>
                      </a:r>
                    </a:p>
                  </a:txBody>
                  <a:tcPr marL="73152" marR="73152" marT="36576" marB="36576" anchor="ctr">
                    <a:solidFill>
                      <a:srgbClr val="F1F0F6"/>
                    </a:solidFill>
                  </a:tcPr>
                </a:tc>
                <a:tc>
                  <a:txBody>
                    <a:bodyPr wrap="square"/>
                    <a:lstStyle/>
                    <a:p>
                      <a:r>
                        <a:rPr sz="900" b="0" i="0">
                          <a:solidFill>
                            <a:srgbClr val="353B4A"/>
                          </a:solidFill>
                          <a:latin typeface="Inter"/>
                        </a:rPr>
                        <a:t>Lovely Professional University</a:t>
                      </a:r>
                    </a:p>
                  </a:txBody>
                  <a:tcPr marL="73152" marR="73152" marT="36576" marB="36576" anchor="ctr">
                    <a:solidFill>
                      <a:srgbClr val="F1F0F6"/>
                    </a:solidFill>
                  </a:tcPr>
                </a:tc>
                <a:tc>
                  <a:txBody>
                    <a:bodyPr wrap="square"/>
                    <a:lstStyle/>
                    <a:p>
                      <a:r>
                        <a:rPr sz="900" b="0" i="0">
                          <a:solidFill>
                            <a:srgbClr val="353B4A"/>
                          </a:solidFill>
                          <a:latin typeface="Inter"/>
                        </a:rPr>
                        <a:t>15 Nov 2026</a:t>
                      </a:r>
                    </a:p>
                  </a:txBody>
                  <a:tcPr marL="73152" marR="73152" marT="36576" marB="36576" anchor="ctr">
                    <a:solidFill>
                      <a:srgbClr val="F1F0F6"/>
                    </a:solidFill>
                  </a:tcPr>
                </a:tc>
                <a:tc>
                  <a:txBody>
                    <a:bodyPr wrap="square"/>
                    <a:lstStyle/>
                    <a:p>
                      <a:r>
                        <a:rPr sz="900" b="0" i="0">
                          <a:solidFill>
                            <a:srgbClr val="353B4A"/>
                          </a:solidFill>
                          <a:latin typeface="Inter"/>
                        </a:rPr>
                        <a:t>Topics fit, but IEEE Xplore is only proposed</a:t>
                      </a:r>
                    </a:p>
                  </a:txBody>
                  <a:tcPr marL="73152" marR="73152" marT="36576" marB="36576" anchor="ctr">
                    <a:solidFill>
                      <a:srgbClr val="F1F0F6"/>
                    </a:solidFill>
                  </a:tcPr>
                </a:tc>
              </a:tr>
              <a:tr h="475488">
                <a:tc>
                  <a:txBody>
                    <a:bodyPr wrap="square"/>
                    <a:lstStyle/>
                    <a:p>
                      <a:r>
                        <a:rPr sz="900" b="1" i="0">
                          <a:solidFill>
                            <a:srgbClr val="1B2A55"/>
                          </a:solidFill>
                          <a:latin typeface="Inter"/>
                        </a:rPr>
                        <a:t>5</a:t>
                      </a:r>
                    </a:p>
                  </a:txBody>
                  <a:tcPr marL="73152" marR="73152" marT="36576" marB="36576" anchor="ctr">
                    <a:solidFill>
                      <a:srgbClr val="FFFFFF"/>
                    </a:solidFill>
                  </a:tcPr>
                </a:tc>
                <a:tc>
                  <a:txBody>
                    <a:bodyPr wrap="square"/>
                    <a:lstStyle/>
                    <a:p>
                      <a:r>
                        <a:rPr sz="900" b="0" i="0">
                          <a:solidFill>
                            <a:srgbClr val="353B4A"/>
                          </a:solidFill>
                          <a:latin typeface="Inter"/>
                        </a:rPr>
                        <a:t>ICSSD 2027</a:t>
                      </a:r>
                    </a:p>
                  </a:txBody>
                  <a:tcPr marL="73152" marR="73152" marT="36576" marB="36576" anchor="ctr">
                    <a:solidFill>
                      <a:srgbClr val="FFFFFF"/>
                    </a:solidFill>
                  </a:tcPr>
                </a:tc>
                <a:tc>
                  <a:txBody>
                    <a:bodyPr wrap="square"/>
                    <a:lstStyle/>
                    <a:p>
                      <a:r>
                        <a:rPr sz="900" b="0" i="0">
                          <a:solidFill>
                            <a:srgbClr val="353B4A"/>
                          </a:solidFill>
                          <a:latin typeface="Inter"/>
                        </a:rPr>
                        <a:t>NIT Tiruchirappalli</a:t>
                      </a:r>
                    </a:p>
                  </a:txBody>
                  <a:tcPr marL="73152" marR="73152" marT="36576" marB="36576" anchor="ctr">
                    <a:solidFill>
                      <a:srgbClr val="FFFFFF"/>
                    </a:solidFill>
                  </a:tcPr>
                </a:tc>
                <a:tc>
                  <a:txBody>
                    <a:bodyPr wrap="square"/>
                    <a:lstStyle/>
                    <a:p>
                      <a:r>
                        <a:rPr sz="900" b="0" i="0">
                          <a:solidFill>
                            <a:srgbClr val="353B4A"/>
                          </a:solidFill>
                          <a:latin typeface="Inter"/>
                        </a:rPr>
                        <a:t>10 Nov 2026</a:t>
                      </a:r>
                    </a:p>
                  </a:txBody>
                  <a:tcPr marL="73152" marR="73152" marT="36576" marB="36576" anchor="ctr">
                    <a:solidFill>
                      <a:srgbClr val="FFFFFF"/>
                    </a:solidFill>
                  </a:tcPr>
                </a:tc>
                <a:tc>
                  <a:txBody>
                    <a:bodyPr wrap="square"/>
                    <a:lstStyle/>
                    <a:p>
                      <a:r>
                        <a:rPr sz="900" b="0" i="0">
                          <a:solidFill>
                            <a:srgbClr val="353B4A"/>
                          </a:solidFill>
                          <a:latin typeface="Inter"/>
                        </a:rPr>
                        <a:t>On topic, but Springer, 10-12 pages and not IEEE</a:t>
                      </a:r>
                    </a:p>
                  </a:txBody>
                  <a:tcPr marL="73152" marR="73152" marT="36576" marB="36576" anchor="ctr">
                    <a:solidFill>
                      <a:srgbClr val="FFFFFF"/>
                    </a:solidFill>
                  </a:tcPr>
                </a:tc>
              </a:tr>
            </a:tbl>
          </a:graphicData>
        </a:graphic>
      </p:graphicFrame>
      <p:sp>
        <p:nvSpPr>
          <p:cNvPr id="7" name="TextBox 6"/>
          <p:cNvSpPr txBox="1"/>
          <p:nvPr/>
        </p:nvSpPr>
        <p:spPr>
          <a:xfrm>
            <a:off x="457200" y="3931920"/>
            <a:ext cx="8229600" cy="86868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Before submitting: </a:t>
            </a:r>
            <a:r>
              <a:rPr sz="1000" b="0" i="0">
                <a:solidFill>
                  <a:srgbClr val="353B4A"/>
                </a:solidFill>
                <a:latin typeface="Inter"/>
              </a:rPr>
              <a:t>pick one venue now, because decisions arrive after most of these deadlines. Check the IEEE record number on the IEEE site, recheck the deadline and the NIRF edition (a 2026 list may appear), remove author names where double-blind, and follow the venue's AI-disclosure rule. No venue publishes a student fee waiver, and VIT has no public undergraduate reimbursement policy, so budget the fee as our own cost.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PROJECT CONCLUSION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Planned versus delivered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55</a:t>
            </a:r>
          </a:p>
        </p:txBody>
      </p:sp>
      <p:graphicFrame>
        <p:nvGraphicFramePr>
          <p:cNvPr id="6" name="Table 5"/>
          <p:cNvGraphicFramePr>
            <a:graphicFrameLocks noGrp="1"/>
          </p:cNvGraphicFramePr>
          <p:nvPr/>
        </p:nvGraphicFramePr>
        <p:xfrm>
          <a:off x="457200" y="1005840"/>
          <a:ext cx="8229599" cy="3675888"/>
        </p:xfrm>
        <a:graphic>
          <a:graphicData uri="http://schemas.openxmlformats.org/drawingml/2006/table">
            <a:tbl>
              <a:tblPr firstRow="1" bandRow="1">
                <a:tableStyleId>{5C22544A-7EE6-4342-B048-85BDC9FD1C3A}</a:tableStyleId>
              </a:tblPr>
              <a:tblGrid>
                <a:gridCol w="3749039"/>
                <a:gridCol w="1554480"/>
                <a:gridCol w="2926080"/>
              </a:tblGrid>
              <a:tr h="292608">
                <a:tc>
                  <a:txBody>
                    <a:bodyPr wrap="square"/>
                    <a:lstStyle/>
                    <a:p>
                      <a:r>
                        <a:rPr sz="950" b="1" i="0">
                          <a:solidFill>
                            <a:srgbClr val="FFFFFF"/>
                          </a:solidFill>
                          <a:latin typeface="Inter"/>
                        </a:rPr>
                        <a:t>Item planned at Reviews 1 and 2</a:t>
                      </a:r>
                    </a:p>
                  </a:txBody>
                  <a:tcPr marL="73152" marR="73152" marT="36576" marB="36576" anchor="ctr">
                    <a:solidFill>
                      <a:srgbClr val="1B2A55"/>
                    </a:solidFill>
                  </a:tcPr>
                </a:tc>
                <a:tc>
                  <a:txBody>
                    <a:bodyPr wrap="square"/>
                    <a:lstStyle/>
                    <a:p>
                      <a:r>
                        <a:rPr sz="950" b="1" i="0">
                          <a:solidFill>
                            <a:srgbClr val="FFFFFF"/>
                          </a:solidFill>
                          <a:latin typeface="Inter"/>
                        </a:rPr>
                        <a:t>Status</a:t>
                      </a:r>
                    </a:p>
                  </a:txBody>
                  <a:tcPr marL="73152" marR="73152" marT="36576" marB="36576" anchor="ctr">
                    <a:solidFill>
                      <a:srgbClr val="1B2A55"/>
                    </a:solidFill>
                  </a:tcPr>
                </a:tc>
                <a:tc>
                  <a:txBody>
                    <a:bodyPr wrap="square"/>
                    <a:lstStyle/>
                    <a:p>
                      <a:r>
                        <a:rPr sz="950" b="1" i="0">
                          <a:solidFill>
                            <a:srgbClr val="FFFFFF"/>
                          </a:solidFill>
                          <a:latin typeface="Inter"/>
                        </a:rPr>
                        <a:t>Note</a:t>
                      </a:r>
                    </a:p>
                  </a:txBody>
                  <a:tcPr marL="73152" marR="73152" marT="36576" marB="36576" anchor="ctr">
                    <a:solidFill>
                      <a:srgbClr val="1B2A55"/>
                    </a:solidFill>
                  </a:tcPr>
                </a:tc>
              </a:tr>
              <a:tr h="338328">
                <a:tc>
                  <a:txBody>
                    <a:bodyPr wrap="square"/>
                    <a:lstStyle/>
                    <a:p>
                      <a:r>
                        <a:rPr sz="950" b="1" i="0">
                          <a:solidFill>
                            <a:srgbClr val="1B2A55"/>
                          </a:solidFill>
                          <a:latin typeface="Inter"/>
                        </a:rPr>
                        <a:t>Multi-tenant normalised schema, views, trigger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On SQLite</a:t>
                      </a:r>
                    </a:p>
                  </a:txBody>
                  <a:tcPr marL="73152" marR="73152" marT="36576" marB="36576" anchor="ctr">
                    <a:solidFill>
                      <a:srgbClr val="FFFFFF"/>
                    </a:solidFill>
                  </a:tcPr>
                </a:tc>
              </a:tr>
              <a:tr h="338328">
                <a:tc>
                  <a:txBody>
                    <a:bodyPr wrap="square"/>
                    <a:lstStyle/>
                    <a:p>
                      <a:r>
                        <a:rPr sz="950" b="1" i="0">
                          <a:solidFill>
                            <a:srgbClr val="1B2A55"/>
                          </a:solidFill>
                          <a:latin typeface="Inter"/>
                        </a:rPr>
                        <a:t>Instant-runoff tally and admin console</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Round-by-round results</a:t>
                      </a:r>
                    </a:p>
                  </a:txBody>
                  <a:tcPr marL="73152" marR="73152" marT="36576" marB="36576" anchor="ctr">
                    <a:solidFill>
                      <a:srgbClr val="F1F0F6"/>
                    </a:solidFill>
                  </a:tcPr>
                </a:tc>
              </a:tr>
              <a:tr h="338328">
                <a:tc>
                  <a:txBody>
                    <a:bodyPr wrap="square"/>
                    <a:lstStyle/>
                    <a:p>
                      <a:r>
                        <a:rPr sz="950" b="1" i="0">
                          <a:solidFill>
                            <a:srgbClr val="1B2A55"/>
                          </a:solidFill>
                          <a:latin typeface="Inter"/>
                        </a:rPr>
                        <a:t>Hash-chained receipts and integrity sweep</a:t>
                      </a:r>
                    </a:p>
                  </a:txBody>
                  <a:tcPr marL="73152" marR="73152" marT="36576" marB="36576" anchor="ctr">
                    <a:solidFill>
                      <a:srgbClr val="FFFFFF"/>
                    </a:solidFill>
                  </a:tcPr>
                </a:tc>
                <a:tc>
                  <a:txBody>
                    <a:bodyPr wrap="square"/>
                    <a:lstStyle/>
                    <a:p>
                      <a:r>
                        <a:rPr sz="950" b="0" i="0">
                          <a:solidFill>
                            <a:srgbClr val="353B4A"/>
                          </a:solidFill>
                          <a:latin typeface="Inter"/>
                        </a:rPr>
                        <a:t>Delivered, extended</a:t>
                      </a:r>
                    </a:p>
                  </a:txBody>
                  <a:tcPr marL="73152" marR="73152" marT="36576" marB="36576" anchor="ctr">
                    <a:solidFill>
                      <a:srgbClr val="FFFFFF"/>
                    </a:solidFill>
                  </a:tcPr>
                </a:tc>
                <a:tc>
                  <a:txBody>
                    <a:bodyPr wrap="square"/>
                    <a:lstStyle/>
                    <a:p>
                      <a:r>
                        <a:rPr sz="950" b="0" i="0">
                          <a:solidFill>
                            <a:srgbClr val="353B4A"/>
                          </a:solidFill>
                          <a:latin typeface="Inter"/>
                        </a:rPr>
                        <a:t>Keyed chain, five sweep rules</a:t>
                      </a:r>
                    </a:p>
                  </a:txBody>
                  <a:tcPr marL="73152" marR="73152" marT="36576" marB="36576" anchor="ctr">
                    <a:solidFill>
                      <a:srgbClr val="FFFFFF"/>
                    </a:solidFill>
                  </a:tcPr>
                </a:tc>
              </a:tr>
              <a:tr h="338328">
                <a:tc>
                  <a:txBody>
                    <a:bodyPr wrap="square"/>
                    <a:lstStyle/>
                    <a:p>
                      <a:r>
                        <a:rPr sz="950" b="1" i="0">
                          <a:solidFill>
                            <a:srgbClr val="1B2A55"/>
                          </a:solidFill>
                          <a:latin typeface="Inter"/>
                        </a:rPr>
                        <a:t>MongoDB ledger</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Atlas, with a file fallback</a:t>
                      </a:r>
                    </a:p>
                  </a:txBody>
                  <a:tcPr marL="73152" marR="73152" marT="36576" marB="36576" anchor="ctr">
                    <a:solidFill>
                      <a:srgbClr val="F1F0F6"/>
                    </a:solidFill>
                  </a:tcPr>
                </a:tc>
              </a:tr>
              <a:tr h="338328">
                <a:tc>
                  <a:txBody>
                    <a:bodyPr wrap="square"/>
                    <a:lstStyle/>
                    <a:p>
                      <a:r>
                        <a:rPr sz="950" b="1" i="0">
                          <a:solidFill>
                            <a:srgbClr val="1B2A55"/>
                          </a:solidFill>
                          <a:latin typeface="Inter"/>
                        </a:rPr>
                        <a:t>Second factor for the voter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Emailed one-time code</a:t>
                      </a:r>
                    </a:p>
                  </a:txBody>
                  <a:tcPr marL="73152" marR="73152" marT="36576" marB="36576" anchor="ctr">
                    <a:solidFill>
                      <a:srgbClr val="FFFFFF"/>
                    </a:solidFill>
                  </a:tcPr>
                </a:tc>
              </a:tr>
              <a:tr h="338328">
                <a:tc>
                  <a:txBody>
                    <a:bodyPr wrap="square"/>
                    <a:lstStyle/>
                    <a:p>
                      <a:r>
                        <a:rPr sz="950" b="1" i="0">
                          <a:solidFill>
                            <a:srgbClr val="1B2A55"/>
                          </a:solidFill>
                          <a:latin typeface="Inter"/>
                        </a:rPr>
                        <a:t>Public hosting and phone voting</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Public link, QR code, free hosted demo configured</a:t>
                      </a:r>
                    </a:p>
                  </a:txBody>
                  <a:tcPr marL="73152" marR="73152" marT="36576" marB="36576" anchor="ctr">
                    <a:solidFill>
                      <a:srgbClr val="F1F0F6"/>
                    </a:solidFill>
                  </a:tcPr>
                </a:tc>
              </a:tr>
              <a:tr h="338328">
                <a:tc>
                  <a:txBody>
                    <a:bodyPr wrap="square"/>
                    <a:lstStyle/>
                    <a:p>
                      <a:r>
                        <a:rPr sz="950" b="1" i="0">
                          <a:solidFill>
                            <a:srgbClr val="1B2A55"/>
                          </a:solidFill>
                          <a:latin typeface="Inter"/>
                        </a:rPr>
                        <a:t>Comparative study and evaluation</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47 test scenarios; 33 systems read</a:t>
                      </a:r>
                    </a:p>
                  </a:txBody>
                  <a:tcPr marL="73152" marR="73152" marT="36576" marB="36576" anchor="ctr">
                    <a:solidFill>
                      <a:srgbClr val="FFFFFF"/>
                    </a:solidFill>
                  </a:tcPr>
                </a:tc>
              </a:tr>
              <a:tr h="338328">
                <a:tc>
                  <a:txBody>
                    <a:bodyPr wrap="square"/>
                    <a:lstStyle/>
                    <a:p>
                      <a:r>
                        <a:rPr sz="950" b="1" i="0">
                          <a:solidFill>
                            <a:srgbClr val="1B2A55"/>
                          </a:solidFill>
                          <a:latin typeface="Inter"/>
                        </a:rPr>
                        <a:t>True cloud platform</a:t>
                      </a:r>
                    </a:p>
                  </a:txBody>
                  <a:tcPr marL="73152" marR="73152" marT="36576" marB="36576" anchor="ctr">
                    <a:solidFill>
                      <a:srgbClr val="F1F0F6"/>
                    </a:solidFill>
                  </a:tcPr>
                </a:tc>
                <a:tc>
                  <a:txBody>
                    <a:bodyPr wrap="square"/>
                    <a:lstStyle/>
                    <a:p>
                      <a:r>
                        <a:rPr sz="950" b="0" i="0">
                          <a:solidFill>
                            <a:srgbClr val="353B4A"/>
                          </a:solidFill>
                          <a:latin typeface="Inter"/>
                        </a:rPr>
                        <a:t>Partly</a:t>
                      </a:r>
                    </a:p>
                  </a:txBody>
                  <a:tcPr marL="73152" marR="73152" marT="36576" marB="36576" anchor="ctr">
                    <a:solidFill>
                      <a:srgbClr val="F1F0F6"/>
                    </a:solidFill>
                  </a:tcPr>
                </a:tc>
                <a:tc>
                  <a:txBody>
                    <a:bodyPr wrap="square"/>
                    <a:lstStyle/>
                    <a:p>
                      <a:r>
                        <a:rPr sz="950" b="0" i="0">
                          <a:solidFill>
                            <a:srgbClr val="353B4A"/>
                          </a:solidFill>
                          <a:latin typeface="Inter"/>
                        </a:rPr>
                        <a:t>Free-tier hosting only; no managed cloud database</a:t>
                      </a:r>
                    </a:p>
                  </a:txBody>
                  <a:tcPr marL="73152" marR="73152" marT="36576" marB="36576" anchor="ctr">
                    <a:solidFill>
                      <a:srgbClr val="F1F0F6"/>
                    </a:solidFill>
                  </a:tcPr>
                </a:tc>
              </a:tr>
              <a:tr h="338328">
                <a:tc>
                  <a:txBody>
                    <a:bodyPr wrap="square"/>
                    <a:lstStyle/>
                    <a:p>
                      <a:r>
                        <a:rPr sz="950" b="1" i="0">
                          <a:solidFill>
                            <a:srgbClr val="1B2A55"/>
                          </a:solidFill>
                          <a:latin typeface="Inter"/>
                        </a:rPr>
                        <a:t>Oracle with PL/SQL procedures and DCL roles</a:t>
                      </a:r>
                    </a:p>
                  </a:txBody>
                  <a:tcPr marL="73152" marR="73152" marT="36576" marB="36576" anchor="ctr">
                    <a:solidFill>
                      <a:srgbClr val="FFFFFF"/>
                    </a:solidFill>
                  </a:tcPr>
                </a:tc>
                <a:tc>
                  <a:txBody>
                    <a:bodyPr wrap="square"/>
                    <a:lstStyle/>
                    <a:p>
                      <a:r>
                        <a:rPr sz="950" b="0" i="0">
                          <a:solidFill>
                            <a:srgbClr val="353B4A"/>
                          </a:solidFill>
                          <a:latin typeface="Inter"/>
                        </a:rPr>
                        <a:t>Left out</a:t>
                      </a:r>
                    </a:p>
                  </a:txBody>
                  <a:tcPr marL="73152" marR="73152" marT="36576" marB="36576" anchor="ctr">
                    <a:solidFill>
                      <a:srgbClr val="FFFFFF"/>
                    </a:solidFill>
                  </a:tcPr>
                </a:tc>
                <a:tc>
                  <a:txBody>
                    <a:bodyPr wrap="square"/>
                    <a:lstStyle/>
                    <a:p>
                      <a:r>
                        <a:rPr sz="950" b="0" i="0">
                          <a:solidFill>
                            <a:srgbClr val="353B4A"/>
                          </a:solidFill>
                          <a:latin typeface="Inter"/>
                        </a:rPr>
                        <a:t>SQLite kept; the path is on the next slide</a:t>
                      </a:r>
                    </a:p>
                  </a:txBody>
                  <a:tcPr marL="73152" marR="73152" marT="36576" marB="36576" anchor="ctr">
                    <a:solidFill>
                      <a:srgbClr val="FFFFFF"/>
                    </a:solidFill>
                  </a:tcPr>
                </a:tc>
              </a:tr>
              <a:tr h="338328">
                <a:tc>
                  <a:txBody>
                    <a:bodyPr wrap="square"/>
                    <a:lstStyle/>
                    <a:p>
                      <a:r>
                        <a:rPr sz="950" b="1" i="0">
                          <a:solidFill>
                            <a:srgbClr val="1B2A55"/>
                          </a:solidFill>
                          <a:latin typeface="Inter"/>
                        </a:rPr>
                        <a:t>POSITION entity</a:t>
                      </a:r>
                    </a:p>
                  </a:txBody>
                  <a:tcPr marL="73152" marR="73152" marT="36576" marB="36576" anchor="ctr">
                    <a:solidFill>
                      <a:srgbClr val="F1F0F6"/>
                    </a:solidFill>
                  </a:tcPr>
                </a:tc>
                <a:tc>
                  <a:txBody>
                    <a:bodyPr wrap="square"/>
                    <a:lstStyle/>
                    <a:p>
                      <a:r>
                        <a:rPr sz="950" b="0" i="0">
                          <a:solidFill>
                            <a:srgbClr val="353B4A"/>
                          </a:solidFill>
                          <a:latin typeface="Inter"/>
                        </a:rPr>
                        <a:t>Left out</a:t>
                      </a:r>
                    </a:p>
                  </a:txBody>
                  <a:tcPr marL="73152" marR="73152" marT="36576" marB="36576" anchor="ctr">
                    <a:solidFill>
                      <a:srgbClr val="F1F0F6"/>
                    </a:solidFill>
                  </a:tcPr>
                </a:tc>
                <a:tc>
                  <a:txBody>
                    <a:bodyPr wrap="square"/>
                    <a:lstStyle/>
                    <a:p>
                      <a:r>
                        <a:rPr sz="950" b="0" i="0">
                          <a:solidFill>
                            <a:srgbClr val="353B4A"/>
                          </a:solidFill>
                          <a:latin typeface="Inter"/>
                        </a:rPr>
                        <a:t>Deferred</a:t>
                      </a:r>
                    </a:p>
                  </a:txBody>
                  <a:tcPr marL="73152" marR="73152" marT="36576" marB="36576" anchor="ctr">
                    <a:solidFill>
                      <a:srgbClr val="F1F0F6"/>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SQLITE · AND THE PATH TO ORACLE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Why SQLite, and how Oracle is possible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56</a:t>
            </a:r>
          </a:p>
        </p:txBody>
      </p:sp>
      <p:sp>
        <p:nvSpPr>
          <p:cNvPr id="6" name="Rounded Rectangle 5"/>
          <p:cNvSpPr/>
          <p:nvPr/>
        </p:nvSpPr>
        <p:spPr>
          <a:xfrm>
            <a:off x="457200" y="1097280"/>
            <a:ext cx="4023360" cy="3063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WHY WE CHOSE SQLITE</a:t>
            </a:r>
          </a:p>
        </p:txBody>
      </p:sp>
      <p:sp>
        <p:nvSpPr>
          <p:cNvPr id="8" name="TextBox 7"/>
          <p:cNvSpPr txBox="1"/>
          <p:nvPr/>
        </p:nvSpPr>
        <p:spPr>
          <a:xfrm>
            <a:off x="64008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Nothing to install:</a:t>
            </a:r>
            <a:r>
              <a:rPr sz="1050" b="0" i="0">
                <a:solidFill>
                  <a:srgbClr val="353B4A"/>
                </a:solidFill>
                <a:latin typeface="Inter"/>
              </a:rPr>
              <a:t> one file, no server; anyone runs it on a laptop or free hosting with one command.</a:t>
            </a:r>
          </a:p>
          <a:p>
            <a:pPr algn="l">
              <a:spcAft>
                <a:spcPts val="400"/>
              </a:spcAft>
            </a:pPr>
            <a:r>
              <a:rPr sz="1050" b="1" i="0">
                <a:solidFill>
                  <a:srgbClr val="1B2A55"/>
                </a:solidFill>
                <a:latin typeface="Inter"/>
              </a:rPr>
              <a:t>•  </a:t>
            </a:r>
            <a:r>
              <a:rPr sz="1050" b="1" i="0">
                <a:solidFill>
                  <a:srgbClr val="1B2A55"/>
                </a:solidFill>
                <a:latin typeface="Inter"/>
              </a:rPr>
              <a:t>Repeatable tests:</a:t>
            </a:r>
            <a:r>
              <a:rPr sz="1050" b="0" i="0">
                <a:solidFill>
                  <a:srgbClr val="353B4A"/>
                </a:solidFill>
                <a:latin typeface="Inter"/>
              </a:rPr>
              <a:t> the evaluation copies the database file into a throwaway sandbox, so all 47 scenarios rerun the same way.</a:t>
            </a:r>
          </a:p>
          <a:p>
            <a:pPr algn="l">
              <a:spcAft>
                <a:spcPts val="400"/>
              </a:spcAft>
            </a:pPr>
            <a:r>
              <a:rPr sz="1050" b="1" i="0">
                <a:solidFill>
                  <a:srgbClr val="1B2A55"/>
                </a:solidFill>
                <a:latin typeface="Inter"/>
              </a:rPr>
              <a:t>•  </a:t>
            </a:r>
            <a:r>
              <a:rPr sz="1050" b="1" i="0">
                <a:solidFill>
                  <a:srgbClr val="1B2A55"/>
                </a:solidFill>
                <a:latin typeface="Inter"/>
              </a:rPr>
              <a:t>Cost and time:</a:t>
            </a:r>
            <a:r>
              <a:rPr sz="1050" b="0" i="0">
                <a:solidFill>
                  <a:srgbClr val="353B4A"/>
                </a:solidFill>
                <a:latin typeface="Inter"/>
              </a:rPr>
              <a:t> Oracle needs a licence or cloud account and set-up that a semester project and a hotspot demo cannot rely on.</a:t>
            </a:r>
          </a:p>
          <a:p>
            <a:pPr algn="l">
              <a:spcAft>
                <a:spcPts val="400"/>
              </a:spcAft>
            </a:pPr>
            <a:r>
              <a:rPr sz="1050" b="1" i="0">
                <a:solidFill>
                  <a:srgbClr val="1B2A55"/>
                </a:solidFill>
                <a:latin typeface="Inter"/>
              </a:rPr>
              <a:t>•  </a:t>
            </a:r>
            <a:r>
              <a:rPr sz="1050" b="1" i="0">
                <a:solidFill>
                  <a:srgbClr val="1B2A55"/>
                </a:solidFill>
                <a:latin typeface="Inter"/>
              </a:rPr>
              <a:t>Trade-off we accept:</a:t>
            </a:r>
            <a:r>
              <a:rPr sz="1050" b="0" i="0">
                <a:solidFill>
                  <a:srgbClr val="353B4A"/>
                </a:solidFill>
                <a:latin typeface="Inter"/>
              </a:rPr>
              <a:t> foreign keys only where switched on, one node, no roles.</a:t>
            </a:r>
          </a:p>
        </p:txBody>
      </p:sp>
      <p:sp>
        <p:nvSpPr>
          <p:cNvPr id="9" name="Rounded Rectangle 8"/>
          <p:cNvSpPr/>
          <p:nvPr/>
        </p:nvSpPr>
        <p:spPr>
          <a:xfrm>
            <a:off x="4663440" y="1097280"/>
            <a:ext cx="4023360" cy="30632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23113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HOW ORACLE WOULD FIT</a:t>
            </a:r>
          </a:p>
        </p:txBody>
      </p:sp>
      <p:sp>
        <p:nvSpPr>
          <p:cNvPr id="11" name="TextBox 10"/>
          <p:cNvSpPr txBox="1"/>
          <p:nvPr/>
        </p:nvSpPr>
        <p:spPr>
          <a:xfrm>
            <a:off x="484632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Schema:</a:t>
            </a:r>
            <a:r>
              <a:rPr sz="1050" b="0" i="0">
                <a:solidFill>
                  <a:srgbClr val="353B4A"/>
                </a:solidFill>
                <a:latin typeface="Inter"/>
              </a:rPr>
              <a:t> the 5 tables, 1 trigger and 2 views sit in one file; turn AUTOINCREMENT into identity columns and the trigger into PL/SQL.</a:t>
            </a:r>
          </a:p>
          <a:p>
            <a:pPr algn="l">
              <a:spcAft>
                <a:spcPts val="400"/>
              </a:spcAft>
            </a:pPr>
            <a:r>
              <a:rPr sz="1050" b="1" i="0">
                <a:solidFill>
                  <a:srgbClr val="1B2A55"/>
                </a:solidFill>
                <a:latin typeface="Inter"/>
              </a:rPr>
              <a:t>•  </a:t>
            </a:r>
            <a:r>
              <a:rPr sz="1050" b="1" i="0">
                <a:solidFill>
                  <a:srgbClr val="1B2A55"/>
                </a:solidFill>
                <a:latin typeface="Inter"/>
              </a:rPr>
              <a:t>Driver:</a:t>
            </a:r>
            <a:r>
              <a:rPr sz="1050" b="0" i="0">
                <a:solidFill>
                  <a:srgbClr val="353B4A"/>
                </a:solidFill>
                <a:latin typeface="Inter"/>
              </a:rPr>
              <a:t> database calls are in a handful of modules; swap sqlite3 for python-oracledb and change the placeholders.</a:t>
            </a:r>
          </a:p>
          <a:p>
            <a:pPr algn="l">
              <a:spcAft>
                <a:spcPts val="400"/>
              </a:spcAft>
            </a:pPr>
            <a:r>
              <a:rPr sz="1050" b="1" i="0">
                <a:solidFill>
                  <a:srgbClr val="1B2A55"/>
                </a:solidFill>
                <a:latin typeface="Inter"/>
              </a:rPr>
              <a:t>•  </a:t>
            </a:r>
            <a:r>
              <a:rPr sz="1050" b="1" i="0">
                <a:solidFill>
                  <a:srgbClr val="1B2A55"/>
                </a:solidFill>
                <a:latin typeface="Inter"/>
              </a:rPr>
              <a:t>Add what SQLite lacks:</a:t>
            </a:r>
            <a:r>
              <a:rPr sz="1050" b="0" i="0">
                <a:solidFill>
                  <a:srgbClr val="353B4A"/>
                </a:solidFill>
                <a:latin typeface="Inter"/>
              </a:rPr>
              <a:t> GRANT-based roles and PL/SQL procedures; foreign keys always on, which closes the one gap our tests found.</a:t>
            </a:r>
          </a:p>
          <a:p>
            <a:pPr algn="l">
              <a:spcAft>
                <a:spcPts val="400"/>
              </a:spcAft>
            </a:pPr>
            <a:r>
              <a:rPr sz="1050" b="1" i="0">
                <a:solidFill>
                  <a:srgbClr val="1B2A55"/>
                </a:solidFill>
                <a:latin typeface="Inter"/>
              </a:rPr>
              <a:t>•  </a:t>
            </a:r>
            <a:r>
              <a:rPr sz="1050" b="1" i="0">
                <a:solidFill>
                  <a:srgbClr val="1B2A55"/>
                </a:solidFill>
                <a:latin typeface="Inter"/>
              </a:rPr>
              <a:t>Unchanged:</a:t>
            </a:r>
            <a:r>
              <a:rPr sz="1050" b="0" i="0">
                <a:solidFill>
                  <a:srgbClr val="353B4A"/>
                </a:solidFill>
                <a:latin typeface="Inter"/>
              </a:rPr>
              <a:t> the MongoDB ledger, the one-time-code module and the React app.</a:t>
            </a:r>
          </a:p>
        </p:txBody>
      </p:sp>
      <p:sp>
        <p:nvSpPr>
          <p:cNvPr id="12" name="Rounded Rectangle 11"/>
          <p:cNvSpPr/>
          <p:nvPr/>
        </p:nvSpPr>
        <p:spPr>
          <a:xfrm>
            <a:off x="457200" y="4297680"/>
            <a:ext cx="8229600" cy="4114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25112"/>
            <a:ext cx="7863840" cy="36576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This is the planned path, not a result: we have not run it on Oracle.</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57</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050" b="0" i="0">
                <a:solidFill>
                  <a:srgbClr val="353B4A"/>
                </a:solidFill>
                <a:latin typeface="Inter"/>
                <a:hlinkClick r:id="rId3"/>
              </a:rPr>
              <a:t>https://github.com/Tharakeshtj/polyvote-election-platform</a:t>
            </a:r>
          </a:p>
          <a:p>
            <a:pPr algn="l">
              <a:spcAft>
                <a:spcPts val="300"/>
              </a:spcAft>
            </a:pPr>
            <a:r>
              <a:rPr sz="1200" b="0" i="0">
                <a:solidFill>
                  <a:srgbClr val="353B4A"/>
                </a:solidFill>
                <a:latin typeface="Inter"/>
              </a:rPr>
              <a:t/>
            </a:r>
          </a:p>
          <a:p>
            <a:pPr algn="l">
              <a:spcAft>
                <a:spcPts val="300"/>
              </a:spcAft>
            </a:pPr>
            <a:r>
              <a:rPr sz="1200" b="1" i="0">
                <a:solidFill>
                  <a:srgbClr val="1B2A55"/>
                </a:solidFill>
                <a:latin typeface="Inter"/>
              </a:rPr>
              <a:t>Live project</a:t>
            </a:r>
          </a:p>
          <a:p>
            <a:pPr algn="l">
              <a:spcAft>
                <a:spcPts val="300"/>
              </a:spcAft>
            </a:pPr>
            <a:r>
              <a:rPr sz="1050" b="0" i="0">
                <a:solidFill>
                  <a:srgbClr val="353B4A"/>
                </a:solidFill>
                <a:latin typeface="Inter"/>
                <a:hlinkClick r:id="rId4"/>
              </a:rPr>
              <a:t>https://polyvote-bacse202.onrender.com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