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14"/>
    <p:sldId id="267" r:id="rId13"/>
    <p:sldId id="268" r:id="rId12"/>
    <p:sldId id="269" r:id="rId11"/>
    <p:sldId id="270" r:id="rId10"/>
    <p:sldId id="271" r:id="rId9"/>
    <p:sldId id="272" r:id="rId8"/>
    <p:sldId id="273" r:id="rId7"/>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8.xml"/><Relationship Id="rId10" Type="http://schemas.openxmlformats.org/officeDocument/2006/relationships/slide" Target="slides/slide7.xml"/><Relationship Id="rId11" Type="http://schemas.openxmlformats.org/officeDocument/2006/relationships/slide" Target="slides/slide6.xml"/><Relationship Id="rId12" Type="http://schemas.openxmlformats.org/officeDocument/2006/relationships/slide" Target="slides/slide5.xml"/><Relationship Id="rId13" Type="http://schemas.openxmlformats.org/officeDocument/2006/relationships/slide" Target="slides/slide4.xml"/><Relationship Id="rId14" Type="http://schemas.openxmlformats.org/officeDocument/2006/relationships/slide" Target="slides/slide3.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quick map of where we are. Review 1 was the design; Review 2 was the working system. At the end of Review 2 we received three pieces of feedback: add a second factor to confirm that the person voting is the person whose credentials are used, finish the MongoDB and hosting items, and show that the design is genuinely better rather than just built. Today answers all three, backed by forty-seven executable test scenarios. What remains open is deliberate: Oracle with PL/SQL and roles, the POSITION entity and a true cloud platform; we have kept SQLite for this project.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were at about seventy-five percent,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Before the new material, the whole project in one slide. The problem: small elections at clubs, councils and classes usually run on form tools or one-table apps, with one password per voter and no way to show afterwards that a vote was not edited. The goal: ranked-choice, instant-runoff elections for many organisations, with ballots kept anonymous in storage and tampering made detectable by checks anyone can rerun. The method: a database project first. The rules live in the database itself; a second store holds a keyed hash-chain ledger; and an executable suite attacks the design and reports what it catches. The three numbers at the bottom come from the evaluation later in this deck: forty-seven test scenarios, 12 of thirteen tampering attacks caught automatically, and three separate stores.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whole system in four screens, all from the real running application. Top left, the voter site: open elections, the receipt check and a plain-language summary of what the system does. Top right, the administrator roster: each voter has a registration number and an email address, which is only used to send the one-time code. Bottom left, the results page: the integrity sweep, with ballots, receipts and voted flags all at forty-six, and below it the instant-runoff tally. Bottom right, the audit ledger: one receipt per ballot, each linked to the one before, with a green banner when the whole chain verifies.</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counting works, using the demo election: forty-six ballots, five candidates. Each voter ranks up to three. The engine counts first choices; if nobody holds a majority of the continuing ballots, the last-place candidate is eliminated and those ballots move to their next choice, and so on. The screenshot shows every round with counts and percentages. In round four there was a twenty-two to twenty-two tie for last place; the engine broke it by internal order and the page says so in a warning line. We do not hide this: a published tie rule, and a statistical audit, are listed as future work. The winner, Chaitanya Reddy, reaches a majority in round five.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the long report and the short paper are available,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Casting a ballot is the one path that touches everything, so it is serialised. After authentication the server takes a write lock, checks the election is open, validates the ranking and confirms the voter has not voted. In one transaction it sets the voted flag and inserts the ranked rows under a random token. Then it appends a sealed block to the ledger and invalidates the session. The ledger append happens after the commit; if the ledger were unreachable at that instant, the ballot would exist without a receipt, and the sweep reports exactly that. We chose the variant that fails visibly.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choices that make it hold up. Codes come from a cryptographically secure generator, so they are unpredictable. Only an HMAC of the code is stored, so the database never holds a usable code. A code lasts five minutes, works once, and allows three guesses. Resends are limited, and so are new challenges per voter, so a resend cannot be used to keep guessing. Emails live in their own database. A test found a real bug here, which we will show in the evaluation.</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comparative study. A tool like this has no single obvious competitor, so we broke it into nine features and compared each against the kinds of systems people actually use. We read thirty-three systems in five groups: eight verifiable or research systems such as Helios and Belenios; ten web services and form tools; two independent security analyses of commercial voting products; two civic platforms; and eleven open-source student or hobby projects from GitHub. We ran twenty-three web searches and twenty repository searches on the twenty-third of October. For each system we read its own page, README or paper, and a feature counts only if it is documented. Not documented is not proof of absence. We did not run these systems ourselves, and every cell has a source URL in our evidence file.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nine features we compare, and next to each the evidence that PolyVote itself has it. F1 ranked counting, shown in the results screen. F2 many organisations, tests B8 and B13. F3 rules inside the database: six of seven direct SQL attempts refused, all thirteen API abuse tests refused, and exactly one of twenty simultaneous casts accepted. F4 no link between ballot and voter, with emails in a separate database, checked by an automated column test. F5 the keyed ledger and sweep: 12 of thirteen attacks caught against 6 for a plain chain. F6 the emailed code: fourteen of fourteen tests. F7 QR voting: a real ballot cast from a phone. F8 the receipt, F9 easy to run. The next slide shows which other systems document which feature, and the five slides after it go feature by feature with sources.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one and two. Ranked-choice counting is common: OpaVote offers instant-runoff, STV and Condorcet with an explanation of each count, and FlexyVotes stores per-round data. BetterVoting lists ranked-choice and has organisations and teams, though we could not verify its round output. Belenios documents Condorcet and STV but not instant-runoff, and Microsoft Forms has a ranking question but no ranked tally. PolyVote counts instant-runoff and shows every round, and several organisations ran in one install in our tests. The honest verdict is that this is a baseline feature. We list it because a voting tool without it would not be usable, not because it sets us apart.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eight and nine. Most systems have some kind of receipt. Helios and Belenios go further, letting a voter verify the ballot cryptographically; our receipt only proves that a ballot is recorded and counted, not what it says, so we are weaker on this one property. On running it, CIVS and BetterVoting are also free and open, and TapVoter has a generous free tier. PolyVote starts with one command, has a free hosted demo configured for Render, and the source is public on GitHub, though we have not yet added a licence file. We do not claim an advantage on these two features.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team asked whether we get the money back. We searched for it and the honest answer is that nothing public says so. VIT's published Research Promotion Policy, approved in April 2019, supports conference registration only for faculty, up to twenty thousand rupees a year within India. The student schemes it lists, the Raman Research Award and the TRA fellowships, are for journal incentives and research fellowships, not conference fees. VIT's own conference pages list normal student fees with no waiver. None of the conferences on the previous slide publishes a student waiver, and Confluence, INDIACom and ICICC state fees are non-refundable. So we will not promise reimbursement. Before paying, ask the School Dean or Programme Chair, the Office of Academic Research and the student welfare office, get the answer in writing, and ask whether VIT credit requires IEEE Xplore indexing. The policy we read is from 2019, so a newer scheme may exist.</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3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is new today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Reviews 1 and 2</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schema, ER and data-flow diagrams, literature; then a working React + FastAPI system, instant-runoff tally, hash-chained receipts and a live tamper test.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1078992"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FEEDBACK</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At Review 2</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Confirm the voter with a second factor (OTP or face ID); finish MongoDB and hosting; show that the design is an improvement, not just a build.</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TODAY</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This review</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Atlas ledger, keyed chain, extended sweep, emailed one-time code, public link and QR, and 47 executable test scenarios with benchmarks.</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000" b="1" i="0">
                <a:solidFill>
                  <a:srgbClr val="1B2A55"/>
                </a:solidFill>
                <a:latin typeface="Inter"/>
              </a:rPr>
              <a:t>47</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test scenarios</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100" b="1" i="0">
                <a:solidFill>
                  <a:srgbClr val="1B2A55"/>
                </a:solidFill>
                <a:latin typeface="Inter"/>
              </a:rPr>
              <a:t>Left open by choice: </a:t>
            </a:r>
            <a:r>
              <a:rPr sz="1100" b="0" i="0">
                <a:solidFill>
                  <a:srgbClr val="353B4A"/>
                </a:solidFill>
                <a:latin typeface="Inter"/>
              </a:rPr>
              <a:t>Oracle with PL/SQL and roles, the POSITION entity, and a true cloud platform. SQLite stays for this project.</a:t>
            </a:r>
          </a:p>
          <a:p>
            <a:pPr algn="l">
              <a:spcAft>
                <a:spcPts val="200"/>
              </a:spcAft>
            </a:pPr>
            <a:r>
              <a:rPr sz="1100" b="0" i="0">
                <a:solidFill>
                  <a:srgbClr val="353B4A"/>
                </a:solidFill>
                <a:latin typeface="Inter"/>
              </a:rPr>
              <a:t/>
            </a:r>
          </a:p>
          <a:p>
            <a:pPr algn="l">
              <a:spcAft>
                <a:spcPts val="200"/>
              </a:spcAft>
            </a:pPr>
            <a:r>
              <a:rPr sz="1100" b="1" i="0">
                <a:solidFill>
                  <a:srgbClr val="1B2A55"/>
                </a:solidFill>
                <a:latin typeface="Inter"/>
              </a:rPr>
              <a:t>Today: </a:t>
            </a:r>
            <a:r>
              <a:rPr sz="1100" b="0" i="0">
                <a:solidFill>
                  <a:srgbClr val="353B4A"/>
                </a:solidFill>
                <a:latin typeface="Inter"/>
              </a:rPr>
              <a:t>recap, new features, evidence, feature-by-feature comparison, privacy, limits, publication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About 75% of the scope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WHOLE PROJECT · WHY IT EXISTS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Small elections need ranked results and proof</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a:t>
            </a:r>
          </a:p>
        </p:txBody>
      </p:sp>
      <p:sp>
        <p:nvSpPr>
          <p:cNvPr id="6" name="Rounded Rectangle 5"/>
          <p:cNvSpPr/>
          <p:nvPr/>
        </p:nvSpPr>
        <p:spPr>
          <a:xfrm>
            <a:off x="457200" y="1097280"/>
            <a:ext cx="2587752" cy="22402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367028"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THE PROBLEM</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Small elections today</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150" b="0" i="0">
                <a:solidFill>
                  <a:srgbClr val="353B4A"/>
                </a:solidFill>
                <a:latin typeface="Inter"/>
              </a:rPr>
              <a:t>Clubs, councils and classes use form tools or one-table apps: one password per voter, results held by whoever has access, and no way to show that a vote was not edited afterwards.</a:t>
            </a:r>
          </a:p>
        </p:txBody>
      </p:sp>
      <p:sp>
        <p:nvSpPr>
          <p:cNvPr id="10" name="Rounded Rectangle 9"/>
          <p:cNvSpPr/>
          <p:nvPr/>
        </p:nvSpPr>
        <p:spPr>
          <a:xfrm>
            <a:off x="3282696" y="1097280"/>
            <a:ext cx="2587752" cy="22402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1078992"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THE GOAL</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What PolyVote does</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150" b="0" i="0">
                <a:solidFill>
                  <a:srgbClr val="353B4A"/>
                </a:solidFill>
                <a:latin typeface="Inter"/>
              </a:rPr>
              <a:t>Run ranked-choice (instant-runoff) elections for many organisations, keep ballots anonymous in storage, and make later tampering detectable with checks anyone can rerun.</a:t>
            </a:r>
          </a:p>
        </p:txBody>
      </p:sp>
      <p:sp>
        <p:nvSpPr>
          <p:cNvPr id="14" name="Rounded Rectangle 13"/>
          <p:cNvSpPr/>
          <p:nvPr/>
        </p:nvSpPr>
        <p:spPr>
          <a:xfrm>
            <a:off x="6108192" y="1097280"/>
            <a:ext cx="2587752" cy="22402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127101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THE METHOD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Database first</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150" b="0" i="0">
                <a:solidFill>
                  <a:srgbClr val="353B4A"/>
                </a:solidFill>
                <a:latin typeface="Inter"/>
              </a:rPr>
              <a:t>Rules live in the database (trigger, CHECK, UNIQUE, foreign keys); a second store holds a keyed hash-chain ledger; an executable suite attacks the design and reports what it catches.</a:t>
            </a:r>
          </a:p>
        </p:txBody>
      </p:sp>
      <p:sp>
        <p:nvSpPr>
          <p:cNvPr id="18" name="Rounded Rectangle 17"/>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566160"/>
            <a:ext cx="1325880" cy="1005840"/>
          </a:xfrm>
          <a:prstGeom prst="rect">
            <a:avLst/>
          </a:prstGeom>
          <a:noFill/>
        </p:spPr>
        <p:txBody>
          <a:bodyPr wrap="square" anchor="ctr" lIns="0" rIns="0" tIns="0" bIns="0">
            <a:spAutoFit/>
          </a:bodyPr>
          <a:lstStyle/>
          <a:p>
            <a:pPr algn="l">
              <a:spcAft>
                <a:spcPts val="0"/>
              </a:spcAft>
            </a:pPr>
            <a:r>
              <a:rPr sz="2600" b="1" i="0">
                <a:solidFill>
                  <a:srgbClr val="1B2A55"/>
                </a:solidFill>
                <a:latin typeface="Inter"/>
              </a:rPr>
              <a:t>47</a:t>
            </a:r>
          </a:p>
        </p:txBody>
      </p:sp>
      <p:sp>
        <p:nvSpPr>
          <p:cNvPr id="20" name="TextBox 19"/>
          <p:cNvSpPr txBox="1"/>
          <p:nvPr/>
        </p:nvSpPr>
        <p:spPr>
          <a:xfrm>
            <a:off x="1920240" y="3611880"/>
            <a:ext cx="105156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executable test scenarios</a:t>
            </a:r>
          </a:p>
        </p:txBody>
      </p:sp>
      <p:sp>
        <p:nvSpPr>
          <p:cNvPr id="21" name="Rounded Rectangle 20"/>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19856" y="3566160"/>
            <a:ext cx="1325880" cy="1005840"/>
          </a:xfrm>
          <a:prstGeom prst="rect">
            <a:avLst/>
          </a:prstGeom>
          <a:noFill/>
        </p:spPr>
        <p:txBody>
          <a:bodyPr wrap="square" anchor="ctr" lIns="0" rIns="0" tIns="0" bIns="0">
            <a:spAutoFit/>
          </a:bodyPr>
          <a:lstStyle/>
          <a:p>
            <a:pPr algn="l">
              <a:spcAft>
                <a:spcPts val="0"/>
              </a:spcAft>
            </a:pPr>
            <a:r>
              <a:rPr sz="2600" b="1" i="0">
                <a:solidFill>
                  <a:srgbClr val="1B2A55"/>
                </a:solidFill>
                <a:latin typeface="Inter"/>
              </a:rPr>
              <a:t>12 of 13</a:t>
            </a:r>
          </a:p>
        </p:txBody>
      </p:sp>
      <p:sp>
        <p:nvSpPr>
          <p:cNvPr id="23" name="TextBox 22"/>
          <p:cNvSpPr txBox="1"/>
          <p:nvPr/>
        </p:nvSpPr>
        <p:spPr>
          <a:xfrm>
            <a:off x="4745736" y="3611880"/>
            <a:ext cx="105156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tampering attacks caught automatically</a:t>
            </a:r>
          </a:p>
        </p:txBody>
      </p:sp>
      <p:sp>
        <p:nvSpPr>
          <p:cNvPr id="24" name="Rounded Rectangle 23"/>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5352" y="3566160"/>
            <a:ext cx="1325880" cy="1005840"/>
          </a:xfrm>
          <a:prstGeom prst="rect">
            <a:avLst/>
          </a:prstGeom>
          <a:noFill/>
        </p:spPr>
        <p:txBody>
          <a:bodyPr wrap="square" anchor="ctr" lIns="0" rIns="0" tIns="0" bIns="0">
            <a:spAutoFit/>
          </a:bodyPr>
          <a:lstStyle/>
          <a:p>
            <a:pPr algn="l">
              <a:spcAft>
                <a:spcPts val="0"/>
              </a:spcAft>
            </a:pPr>
            <a:r>
              <a:rPr sz="2600" b="1" i="0">
                <a:solidFill>
                  <a:srgbClr val="1B2A55"/>
                </a:solidFill>
                <a:latin typeface="Inter"/>
              </a:rPr>
              <a:t>3</a:t>
            </a:r>
          </a:p>
        </p:txBody>
      </p:sp>
      <p:sp>
        <p:nvSpPr>
          <p:cNvPr id="26" name="TextBox 25"/>
          <p:cNvSpPr txBox="1"/>
          <p:nvPr/>
        </p:nvSpPr>
        <p:spPr>
          <a:xfrm>
            <a:off x="7571231" y="3611880"/>
            <a:ext cx="105156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separate stores: election, verification, ledger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WHOLE PROJECT · WHAT IT DOES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whole system in four screens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6</a:t>
            </a:r>
          </a:p>
        </p:txBody>
      </p:sp>
      <p:pic>
        <p:nvPicPr>
          <p:cNvPr id="6" name="Picture 5" descr="tour_web_home.png"/>
          <p:cNvPicPr>
            <a:picLocks noChangeAspect="1"/>
          </p:cNvPicPr>
          <p:nvPr/>
        </p:nvPicPr>
        <p:blipFill>
          <a:blip r:embed="rId2"/>
          <a:stretch>
            <a:fillRect/>
          </a:stretch>
        </p:blipFill>
        <p:spPr>
          <a:xfrm>
            <a:off x="754061" y="1051560"/>
            <a:ext cx="3429637" cy="1536192"/>
          </a:xfrm>
          <a:prstGeom prst="rect">
            <a:avLst/>
          </a:prstGeom>
          <a:ln w="12700">
            <a:solidFill>
              <a:srgbClr val="D9D9E4"/>
            </a:solidFill>
          </a:ln>
        </p:spPr>
      </p:pic>
      <p:sp>
        <p:nvSpPr>
          <p:cNvPr id="7" name="TextBox 6"/>
          <p:cNvSpPr txBox="1"/>
          <p:nvPr/>
        </p:nvSpPr>
        <p:spPr>
          <a:xfrm>
            <a:off x="457200" y="2624328"/>
            <a:ext cx="4023360" cy="274320"/>
          </a:xfrm>
          <a:prstGeom prst="rect">
            <a:avLst/>
          </a:prstGeom>
          <a:noFill/>
        </p:spPr>
        <p:txBody>
          <a:bodyPr wrap="square" anchor="t" lIns="0" rIns="0" tIns="0" bIns="0">
            <a:spAutoFit/>
          </a:bodyPr>
          <a:lstStyle/>
          <a:p>
            <a:pPr algn="ctr">
              <a:spcAft>
                <a:spcPts val="0"/>
              </a:spcAft>
            </a:pPr>
            <a:r>
              <a:rPr sz="950" b="1" i="0">
                <a:solidFill>
                  <a:srgbClr val="1B2A55"/>
                </a:solidFill>
                <a:latin typeface="Inter"/>
              </a:rPr>
              <a:t>Voter site: open elections, receipt check, plain-language features</a:t>
            </a:r>
          </a:p>
        </p:txBody>
      </p:sp>
      <p:pic>
        <p:nvPicPr>
          <p:cNvPr id="8" name="Picture 7" descr="tour_admin_voters_email.png"/>
          <p:cNvPicPr>
            <a:picLocks noChangeAspect="1"/>
          </p:cNvPicPr>
          <p:nvPr/>
        </p:nvPicPr>
        <p:blipFill>
          <a:blip r:embed="rId3"/>
          <a:stretch>
            <a:fillRect/>
          </a:stretch>
        </p:blipFill>
        <p:spPr>
          <a:xfrm>
            <a:off x="4663440" y="1053488"/>
            <a:ext cx="4023360" cy="1532334"/>
          </a:xfrm>
          <a:prstGeom prst="rect">
            <a:avLst/>
          </a:prstGeom>
          <a:ln w="12700">
            <a:solidFill>
              <a:srgbClr val="D9D9E4"/>
            </a:solidFill>
          </a:ln>
        </p:spPr>
      </p:pic>
      <p:sp>
        <p:nvSpPr>
          <p:cNvPr id="9" name="TextBox 8"/>
          <p:cNvSpPr txBox="1"/>
          <p:nvPr/>
        </p:nvSpPr>
        <p:spPr>
          <a:xfrm>
            <a:off x="4663440" y="2624328"/>
            <a:ext cx="4023360" cy="274320"/>
          </a:xfrm>
          <a:prstGeom prst="rect">
            <a:avLst/>
          </a:prstGeom>
          <a:noFill/>
        </p:spPr>
        <p:txBody>
          <a:bodyPr wrap="square" anchor="t" lIns="0" rIns="0" tIns="0" bIns="0">
            <a:spAutoFit/>
          </a:bodyPr>
          <a:lstStyle/>
          <a:p>
            <a:pPr algn="ctr">
              <a:spcAft>
                <a:spcPts val="0"/>
              </a:spcAft>
            </a:pPr>
            <a:r>
              <a:rPr sz="950" b="1" i="0">
                <a:solidFill>
                  <a:srgbClr val="1B2A55"/>
                </a:solidFill>
                <a:latin typeface="Inter"/>
              </a:rPr>
              <a:t>Admin: voter roster with the email used for the one-time code</a:t>
            </a:r>
          </a:p>
        </p:txBody>
      </p:sp>
      <p:pic>
        <p:nvPicPr>
          <p:cNvPr id="10" name="Picture 9" descr="tour_admin_results_clean.png"/>
          <p:cNvPicPr>
            <a:picLocks noChangeAspect="1"/>
          </p:cNvPicPr>
          <p:nvPr/>
        </p:nvPicPr>
        <p:blipFill>
          <a:blip r:embed="rId4"/>
          <a:stretch>
            <a:fillRect/>
          </a:stretch>
        </p:blipFill>
        <p:spPr>
          <a:xfrm>
            <a:off x="631192" y="2971800"/>
            <a:ext cx="3675375" cy="1536192"/>
          </a:xfrm>
          <a:prstGeom prst="rect">
            <a:avLst/>
          </a:prstGeom>
          <a:ln w="12700">
            <a:solidFill>
              <a:srgbClr val="D9D9E4"/>
            </a:solidFill>
          </a:ln>
        </p:spPr>
      </p:pic>
      <p:sp>
        <p:nvSpPr>
          <p:cNvPr id="11" name="TextBox 10"/>
          <p:cNvSpPr txBox="1"/>
          <p:nvPr/>
        </p:nvSpPr>
        <p:spPr>
          <a:xfrm>
            <a:off x="457200" y="4544568"/>
            <a:ext cx="4023360" cy="274320"/>
          </a:xfrm>
          <a:prstGeom prst="rect">
            <a:avLst/>
          </a:prstGeom>
          <a:noFill/>
        </p:spPr>
        <p:txBody>
          <a:bodyPr wrap="square" anchor="t" lIns="0" rIns="0" tIns="0" bIns="0">
            <a:spAutoFit/>
          </a:bodyPr>
          <a:lstStyle/>
          <a:p>
            <a:pPr algn="ctr">
              <a:spcAft>
                <a:spcPts val="0"/>
              </a:spcAft>
            </a:pPr>
            <a:r>
              <a:rPr sz="950" b="1" i="0">
                <a:solidFill>
                  <a:srgbClr val="1B2A55"/>
                </a:solidFill>
                <a:latin typeface="Inter"/>
              </a:rPr>
              <a:t>Admin: integrity sweep (46 / 46 / 46) and the instant-runoff tally</a:t>
            </a:r>
          </a:p>
        </p:txBody>
      </p:sp>
      <p:pic>
        <p:nvPicPr>
          <p:cNvPr id="12" name="Picture 11" descr="tour_admin_ledger.png"/>
          <p:cNvPicPr>
            <a:picLocks noChangeAspect="1"/>
          </p:cNvPicPr>
          <p:nvPr/>
        </p:nvPicPr>
        <p:blipFill>
          <a:blip r:embed="rId5"/>
          <a:stretch>
            <a:fillRect/>
          </a:stretch>
        </p:blipFill>
        <p:spPr>
          <a:xfrm>
            <a:off x="4673877" y="2971800"/>
            <a:ext cx="4002485" cy="1536192"/>
          </a:xfrm>
          <a:prstGeom prst="rect">
            <a:avLst/>
          </a:prstGeom>
          <a:ln w="12700">
            <a:solidFill>
              <a:srgbClr val="D9D9E4"/>
            </a:solidFill>
          </a:ln>
        </p:spPr>
      </p:pic>
      <p:sp>
        <p:nvSpPr>
          <p:cNvPr id="13" name="TextBox 12"/>
          <p:cNvSpPr txBox="1"/>
          <p:nvPr/>
        </p:nvSpPr>
        <p:spPr>
          <a:xfrm>
            <a:off x="4663440" y="4544568"/>
            <a:ext cx="4023360" cy="274320"/>
          </a:xfrm>
          <a:prstGeom prst="rect">
            <a:avLst/>
          </a:prstGeom>
          <a:noFill/>
        </p:spPr>
        <p:txBody>
          <a:bodyPr wrap="square" anchor="t" lIns="0" rIns="0" tIns="0" bIns="0">
            <a:spAutoFit/>
          </a:bodyPr>
          <a:lstStyle/>
          <a:p>
            <a:pPr algn="ctr">
              <a:spcAft>
                <a:spcPts val="0"/>
              </a:spcAft>
            </a:pPr>
            <a:r>
              <a:rPr sz="950" b="1" i="0">
                <a:solidFill>
                  <a:srgbClr val="1B2A55"/>
                </a:solidFill>
                <a:latin typeface="Inter"/>
              </a:rPr>
              <a:t>Admin: audit ledger, chain intact, 46 receipts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WHOLE PROJECT · COUNTING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counting, round by round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7</a:t>
            </a:r>
          </a:p>
        </p:txBody>
      </p:sp>
      <p:sp>
        <p:nvSpPr>
          <p:cNvPr id="6" name="TextBox 5"/>
          <p:cNvSpPr txBox="1"/>
          <p:nvPr/>
        </p:nvSpPr>
        <p:spPr>
          <a:xfrm>
            <a:off x="457200" y="1143000"/>
            <a:ext cx="3931920" cy="35661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1" i="0">
                <a:solidFill>
                  <a:srgbClr val="1B2A55"/>
                </a:solidFill>
                <a:latin typeface="Inter"/>
              </a:rPr>
              <a:t>Rank:</a:t>
            </a:r>
            <a:r>
              <a:rPr sz="1050" b="0" i="0">
                <a:solidFill>
                  <a:srgbClr val="353B4A"/>
                </a:solidFill>
                <a:latin typeface="Inter"/>
              </a:rPr>
              <a:t> each voter ranks up to three candidates.</a:t>
            </a:r>
          </a:p>
          <a:p>
            <a:pPr algn="l">
              <a:spcAft>
                <a:spcPts val="500"/>
              </a:spcAft>
            </a:pPr>
            <a:r>
              <a:rPr sz="1050" b="1" i="0">
                <a:solidFill>
                  <a:srgbClr val="1B2A55"/>
                </a:solidFill>
                <a:latin typeface="Inter"/>
              </a:rPr>
              <a:t>•  </a:t>
            </a:r>
            <a:r>
              <a:rPr sz="1050" b="1" i="0">
                <a:solidFill>
                  <a:srgbClr val="1B2A55"/>
                </a:solidFill>
                <a:latin typeface="Inter"/>
              </a:rPr>
              <a:t>Count:</a:t>
            </a:r>
            <a:r>
              <a:rPr sz="1050" b="0" i="0">
                <a:solidFill>
                  <a:srgbClr val="353B4A"/>
                </a:solidFill>
                <a:latin typeface="Inter"/>
              </a:rPr>
              <a:t> first choices are counted; a majority of continuing ballots wins.</a:t>
            </a:r>
          </a:p>
          <a:p>
            <a:pPr algn="l">
              <a:spcAft>
                <a:spcPts val="500"/>
              </a:spcAft>
            </a:pPr>
            <a:r>
              <a:rPr sz="1050" b="1" i="0">
                <a:solidFill>
                  <a:srgbClr val="1B2A55"/>
                </a:solidFill>
                <a:latin typeface="Inter"/>
              </a:rPr>
              <a:t>•  </a:t>
            </a:r>
            <a:r>
              <a:rPr sz="1050" b="1" i="0">
                <a:solidFill>
                  <a:srgbClr val="1B2A55"/>
                </a:solidFill>
                <a:latin typeface="Inter"/>
              </a:rPr>
              <a:t>Eliminate:</a:t>
            </a:r>
            <a:r>
              <a:rPr sz="1050" b="0" i="0">
                <a:solidFill>
                  <a:srgbClr val="353B4A"/>
                </a:solidFill>
                <a:latin typeface="Inter"/>
              </a:rPr>
              <a:t> otherwise the last-place candidate drops out and those ballots move to their next choice.</a:t>
            </a:r>
          </a:p>
          <a:p>
            <a:pPr algn="l">
              <a:spcAft>
                <a:spcPts val="500"/>
              </a:spcAft>
            </a:pPr>
            <a:r>
              <a:rPr sz="1050" b="1" i="0">
                <a:solidFill>
                  <a:srgbClr val="1B2A55"/>
                </a:solidFill>
                <a:latin typeface="Inter"/>
              </a:rPr>
              <a:t>•  </a:t>
            </a:r>
            <a:r>
              <a:rPr sz="1050" b="1" i="0">
                <a:solidFill>
                  <a:srgbClr val="1B2A55"/>
                </a:solidFill>
                <a:latin typeface="Inter"/>
              </a:rPr>
              <a:t>Repeat:</a:t>
            </a:r>
            <a:r>
              <a:rPr sz="1050" b="0" i="0">
                <a:solidFill>
                  <a:srgbClr val="353B4A"/>
                </a:solidFill>
                <a:latin typeface="Inter"/>
              </a:rPr>
              <a:t> until someone holds a majority.</a:t>
            </a:r>
          </a:p>
          <a:p>
            <a:pPr algn="l">
              <a:spcAft>
                <a:spcPts val="500"/>
              </a:spcAft>
            </a:pPr>
            <a:r>
              <a:rPr sz="1050" b="1" i="0">
                <a:solidFill>
                  <a:srgbClr val="1B2A55"/>
                </a:solidFill>
                <a:latin typeface="Inter"/>
              </a:rPr>
              <a:t>•  </a:t>
            </a:r>
            <a:r>
              <a:rPr sz="1050" b="1" i="0">
                <a:solidFill>
                  <a:srgbClr val="1B2A55"/>
                </a:solidFill>
                <a:latin typeface="Inter"/>
              </a:rPr>
              <a:t>Shown in full:</a:t>
            </a:r>
            <a:r>
              <a:rPr sz="1050" b="0" i="0">
                <a:solidFill>
                  <a:srgbClr val="353B4A"/>
                </a:solidFill>
                <a:latin typeface="Inter"/>
              </a:rPr>
              <a:t> every round, with counts and percentages, so anyone can follow the result.</a:t>
            </a:r>
          </a:p>
          <a:p>
            <a:pPr algn="l">
              <a:spcAft>
                <a:spcPts val="500"/>
              </a:spcAft>
            </a:pPr>
            <a:r>
              <a:rPr sz="1050" b="1" i="0">
                <a:solidFill>
                  <a:srgbClr val="1B2A55"/>
                </a:solidFill>
                <a:latin typeface="Inter"/>
              </a:rPr>
              <a:t>•  </a:t>
            </a:r>
            <a:r>
              <a:rPr sz="1050" b="1" i="0">
                <a:solidFill>
                  <a:srgbClr val="1B2A55"/>
                </a:solidFill>
                <a:latin typeface="Inter"/>
              </a:rPr>
              <a:t>Edge case, flagged:</a:t>
            </a:r>
            <a:r>
              <a:rPr sz="1050" b="0" i="0">
                <a:solidFill>
                  <a:srgbClr val="353B4A"/>
                </a:solidFill>
                <a:latin typeface="Inter"/>
              </a:rPr>
              <a:t> round 4 here is a 22 to 22 tie; the engine eliminated one candidate by internal order and says so on screen. A published tie rule is future work.</a:t>
            </a:r>
          </a:p>
        </p:txBody>
      </p:sp>
      <p:pic>
        <p:nvPicPr>
          <p:cNvPr id="7" name="Picture 6" descr="irv_admin_results_clean.png"/>
          <p:cNvPicPr>
            <a:picLocks noChangeAspect="1"/>
          </p:cNvPicPr>
          <p:nvPr/>
        </p:nvPicPr>
        <p:blipFill>
          <a:blip r:embed="rId2"/>
          <a:stretch>
            <a:fillRect/>
          </a:stretch>
        </p:blipFill>
        <p:spPr>
          <a:xfrm>
            <a:off x="4572000" y="1124018"/>
            <a:ext cx="4114800" cy="3558402"/>
          </a:xfrm>
          <a:prstGeom prst="rect">
            <a:avLst/>
          </a:prstGeom>
          <a:ln w="12700">
            <a:solidFill>
              <a:srgbClr val="D9D9E4"/>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8</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9</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10</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CASTING A BALLOT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serialised, transactional path touches every structure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11</a:t>
            </a:r>
          </a:p>
        </p:txBody>
      </p:sp>
      <p:pic>
        <p:nvPicPr>
          <p:cNvPr id="6" name="Picture 5" descr="cast_transaction.png"/>
          <p:cNvPicPr>
            <a:picLocks noChangeAspect="1"/>
          </p:cNvPicPr>
          <p:nvPr/>
        </p:nvPicPr>
        <p:blipFill>
          <a:blip r:embed="rId2"/>
          <a:stretch>
            <a:fillRect/>
          </a:stretch>
        </p:blipFill>
        <p:spPr>
          <a:xfrm>
            <a:off x="484632" y="1005840"/>
            <a:ext cx="3511296" cy="3840480"/>
          </a:xfrm>
          <a:prstGeom prst="rect">
            <a:avLst/>
          </a:prstGeom>
        </p:spPr>
      </p:pic>
      <p:sp>
        <p:nvSpPr>
          <p:cNvPr id="7" name="TextBox 6"/>
          <p:cNvSpPr txBox="1"/>
          <p:nvPr/>
        </p:nvSpPr>
        <p:spPr>
          <a:xfrm>
            <a:off x="4297680" y="1188720"/>
            <a:ext cx="4389120" cy="3474720"/>
          </a:xfrm>
          <a:prstGeom prst="rect">
            <a:avLst/>
          </a:prstGeom>
          <a:noFill/>
        </p:spPr>
        <p:txBody>
          <a:bodyPr wrap="square" anchor="t" lIns="0" rIns="0" tIns="0" bIns="0">
            <a:spAutoFit/>
          </a:bodyPr>
          <a:lstStyle/>
          <a:p>
            <a:pPr algn="l">
              <a:spcAft>
                <a:spcPts val="500"/>
              </a:spcAft>
            </a:pPr>
            <a:r>
              <a:rPr sz="1200" b="1" i="0">
                <a:solidFill>
                  <a:srgbClr val="1B2A55"/>
                </a:solidFill>
                <a:latin typeface="Inter"/>
              </a:rPr>
              <a:t>•  </a:t>
            </a:r>
            <a:r>
              <a:rPr sz="1200" b="1" i="0">
                <a:solidFill>
                  <a:srgbClr val="1B2A55"/>
                </a:solidFill>
                <a:latin typeface="Inter"/>
              </a:rPr>
              <a:t>Serialised:</a:t>
            </a:r>
            <a:r>
              <a:rPr sz="1200" b="0" i="0">
                <a:solidFill>
                  <a:srgbClr val="353B4A"/>
                </a:solidFill>
                <a:latin typeface="Inter"/>
              </a:rPr>
              <a:t> a write lock plus the voted flag, checked inside the transaction.</a:t>
            </a:r>
          </a:p>
          <a:p>
            <a:pPr algn="l">
              <a:spcAft>
                <a:spcPts val="500"/>
              </a:spcAft>
            </a:pPr>
            <a:r>
              <a:rPr sz="1200" b="1" i="0">
                <a:solidFill>
                  <a:srgbClr val="1B2A55"/>
                </a:solidFill>
                <a:latin typeface="Inter"/>
              </a:rPr>
              <a:t>•  </a:t>
            </a:r>
            <a:r>
              <a:rPr sz="1200" b="1" i="0">
                <a:solidFill>
                  <a:srgbClr val="1B2A55"/>
                </a:solidFill>
                <a:latin typeface="Inter"/>
              </a:rPr>
              <a:t>Atomic:</a:t>
            </a:r>
            <a:r>
              <a:rPr sz="1200" b="0" i="0">
                <a:solidFill>
                  <a:srgbClr val="353B4A"/>
                </a:solidFill>
                <a:latin typeface="Inter"/>
              </a:rPr>
              <a:t> flag and ballot rows commit together or not at all.</a:t>
            </a:r>
          </a:p>
          <a:p>
            <a:pPr algn="l">
              <a:spcAft>
                <a:spcPts val="500"/>
              </a:spcAft>
            </a:pPr>
            <a:r>
              <a:rPr sz="1200" b="1" i="0">
                <a:solidFill>
                  <a:srgbClr val="1B2A55"/>
                </a:solidFill>
                <a:latin typeface="Inter"/>
              </a:rPr>
              <a:t>•  </a:t>
            </a:r>
            <a:r>
              <a:rPr sz="1200" b="1" i="0">
                <a:solidFill>
                  <a:srgbClr val="1B2A55"/>
                </a:solidFill>
                <a:latin typeface="Inter"/>
              </a:rPr>
              <a:t>Anonymous:</a:t>
            </a:r>
            <a:r>
              <a:rPr sz="1200" b="0" i="0">
                <a:solidFill>
                  <a:srgbClr val="353B4A"/>
                </a:solidFill>
                <a:latin typeface="Inter"/>
              </a:rPr>
              <a:t> the ballot is stored under a random token.</a:t>
            </a:r>
          </a:p>
          <a:p>
            <a:pPr algn="l">
              <a:spcAft>
                <a:spcPts val="500"/>
              </a:spcAft>
            </a:pPr>
            <a:r>
              <a:rPr sz="1200" b="1" i="0">
                <a:solidFill>
                  <a:srgbClr val="1B2A55"/>
                </a:solidFill>
                <a:latin typeface="Inter"/>
              </a:rPr>
              <a:t>•  </a:t>
            </a:r>
            <a:r>
              <a:rPr sz="1200" b="1" i="0">
                <a:solidFill>
                  <a:srgbClr val="1B2A55"/>
                </a:solidFill>
                <a:latin typeface="Inter"/>
              </a:rPr>
              <a:t>Sealed:</a:t>
            </a:r>
            <a:r>
              <a:rPr sz="1200" b="0" i="0">
                <a:solidFill>
                  <a:srgbClr val="353B4A"/>
                </a:solidFill>
                <a:latin typeface="Inter"/>
              </a:rPr>
              <a:t> then a block with the ranks hash and roster hash joins the ledger.</a:t>
            </a:r>
          </a:p>
          <a:p>
            <a:pPr algn="l">
              <a:spcAft>
                <a:spcPts val="500"/>
              </a:spcAft>
            </a:pPr>
            <a:r>
              <a:rPr sz="1200" b="1" i="0">
                <a:solidFill>
                  <a:srgbClr val="1B2A55"/>
                </a:solidFill>
                <a:latin typeface="Inter"/>
              </a:rPr>
              <a:t>•  </a:t>
            </a:r>
            <a:r>
              <a:rPr sz="1200" b="1" i="0">
                <a:solidFill>
                  <a:srgbClr val="1B2A55"/>
                </a:solidFill>
                <a:latin typeface="Inter"/>
              </a:rPr>
              <a:t>Fails visibly:</a:t>
            </a:r>
            <a:r>
              <a:rPr sz="1200" b="0" i="0">
                <a:solidFill>
                  <a:srgbClr val="353B4A"/>
                </a:solidFill>
                <a:latin typeface="Inter"/>
              </a:rPr>
              <a:t> if the ledger is down after commit, the sweep reports a ballot with no receipt.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12</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13</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14</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15</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 ·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Small choices that make it hold up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16</a:t>
            </a:r>
          </a:p>
        </p:txBody>
      </p:sp>
      <p:graphicFrame>
        <p:nvGraphicFramePr>
          <p:cNvPr id="6" name="Table 5"/>
          <p:cNvGraphicFramePr>
            <a:graphicFrameLocks noGrp="1"/>
          </p:cNvGraphicFramePr>
          <p:nvPr/>
        </p:nvGraphicFramePr>
        <p:xfrm>
          <a:off x="457200" y="1097280"/>
          <a:ext cx="5120640" cy="3291840"/>
        </p:xfrm>
        <a:graphic>
          <a:graphicData uri="http://schemas.openxmlformats.org/drawingml/2006/table">
            <a:tbl>
              <a:tblPr firstRow="1" bandRow="1">
                <a:tableStyleId>{5C22544A-7EE6-4342-B048-85BDC9FD1C3A}</a:tableStyleId>
              </a:tblPr>
              <a:tblGrid>
                <a:gridCol w="1554480"/>
                <a:gridCol w="3566160"/>
              </a:tblGrid>
              <a:tr h="365760">
                <a:tc>
                  <a:txBody>
                    <a:bodyPr wrap="square"/>
                    <a:lstStyle/>
                    <a:p>
                      <a:r>
                        <a:rPr sz="1000" b="1" i="0">
                          <a:solidFill>
                            <a:srgbClr val="FFFFFF"/>
                          </a:solidFill>
                          <a:latin typeface="Inter"/>
                        </a:rPr>
                        <a:t>Choice</a:t>
                      </a:r>
                    </a:p>
                  </a:txBody>
                  <a:tcPr marL="73152" marR="73152" marT="36576" marB="36576" anchor="ctr">
                    <a:solidFill>
                      <a:srgbClr val="1B2A55"/>
                    </a:solidFill>
                  </a:tcPr>
                </a:tc>
                <a:tc>
                  <a:txBody>
                    <a:bodyPr wrap="square"/>
                    <a:lstStyle/>
                    <a:p>
                      <a:r>
                        <a:rPr sz="1000" b="1" i="0">
                          <a:solidFill>
                            <a:srgbClr val="FFFFFF"/>
                          </a:solidFill>
                          <a:latin typeface="Inter"/>
                        </a:rPr>
                        <a:t>Value</a:t>
                      </a:r>
                    </a:p>
                  </a:txBody>
                  <a:tcPr marL="73152" marR="73152" marT="36576" marB="36576" anchor="ctr">
                    <a:solidFill>
                      <a:srgbClr val="1B2A55"/>
                    </a:solidFill>
                  </a:tcPr>
                </a:tc>
              </a:tr>
              <a:tr h="365760">
                <a:tc>
                  <a:txBody>
                    <a:bodyPr wrap="square"/>
                    <a:lstStyle/>
                    <a:p>
                      <a:r>
                        <a:rPr sz="1000" b="1" i="0">
                          <a:solidFill>
                            <a:srgbClr val="1B2A55"/>
                          </a:solidFill>
                          <a:latin typeface="Inter"/>
                        </a:rPr>
                        <a:t>Code</a:t>
                      </a:r>
                    </a:p>
                  </a:txBody>
                  <a:tcPr marL="73152" marR="73152" marT="36576" marB="36576" anchor="ctr">
                    <a:solidFill>
                      <a:srgbClr val="FFFFFF"/>
                    </a:solidFill>
                  </a:tcPr>
                </a:tc>
                <a:tc>
                  <a:txBody>
                    <a:bodyPr wrap="square"/>
                    <a:lstStyle/>
                    <a:p>
                      <a:r>
                        <a:rPr sz="1000" b="0" i="0">
                          <a:solidFill>
                            <a:srgbClr val="353B4A"/>
                          </a:solidFill>
                          <a:latin typeface="Inter"/>
                        </a:rPr>
                        <a:t>6 digits from a secure generator</a:t>
                      </a:r>
                    </a:p>
                  </a:txBody>
                  <a:tcPr marL="73152" marR="73152" marT="36576" marB="36576" anchor="ctr">
                    <a:solidFill>
                      <a:srgbClr val="FFFFFF"/>
                    </a:solidFill>
                  </a:tcPr>
                </a:tc>
              </a:tr>
              <a:tr h="365760">
                <a:tc>
                  <a:txBody>
                    <a:bodyPr wrap="square"/>
                    <a:lstStyle/>
                    <a:p>
                      <a:r>
                        <a:rPr sz="1000" b="1" i="0">
                          <a:solidFill>
                            <a:srgbClr val="1B2A55"/>
                          </a:solidFill>
                          <a:latin typeface="Inter"/>
                        </a:rPr>
                        <a:t>Stored as</a:t>
                      </a:r>
                    </a:p>
                  </a:txBody>
                  <a:tcPr marL="73152" marR="73152" marT="36576" marB="36576" anchor="ctr">
                    <a:solidFill>
                      <a:srgbClr val="F1F0F6"/>
                    </a:solidFill>
                  </a:tcPr>
                </a:tc>
                <a:tc>
                  <a:txBody>
                    <a:bodyPr wrap="square"/>
                    <a:lstStyle/>
                    <a:p>
                      <a:r>
                        <a:rPr sz="1000" b="0" i="0">
                          <a:solidFill>
                            <a:srgbClr val="353B4A"/>
                          </a:solidFill>
                          <a:latin typeface="Inter"/>
                        </a:rPr>
                        <a:t>HMAC of challenge and code</a:t>
                      </a:r>
                    </a:p>
                  </a:txBody>
                  <a:tcPr marL="73152" marR="73152" marT="36576" marB="36576" anchor="ctr">
                    <a:solidFill>
                      <a:srgbClr val="F1F0F6"/>
                    </a:solidFill>
                  </a:tcPr>
                </a:tc>
              </a:tr>
              <a:tr h="365760">
                <a:tc>
                  <a:txBody>
                    <a:bodyPr wrap="square"/>
                    <a:lstStyle/>
                    <a:p>
                      <a:r>
                        <a:rPr sz="1000" b="1" i="0">
                          <a:solidFill>
                            <a:srgbClr val="1B2A55"/>
                          </a:solidFill>
                          <a:latin typeface="Inter"/>
                        </a:rPr>
                        <a:t>Valid for</a:t>
                      </a:r>
                    </a:p>
                  </a:txBody>
                  <a:tcPr marL="73152" marR="73152" marT="36576" marB="36576" anchor="ctr">
                    <a:solidFill>
                      <a:srgbClr val="FFFFFF"/>
                    </a:solidFill>
                  </a:tcPr>
                </a:tc>
                <a:tc>
                  <a:txBody>
                    <a:bodyPr wrap="square"/>
                    <a:lstStyle/>
                    <a:p>
                      <a:r>
                        <a:rPr sz="1000" b="0" i="0">
                          <a:solidFill>
                            <a:srgbClr val="353B4A"/>
                          </a:solidFill>
                          <a:latin typeface="Inter"/>
                        </a:rPr>
                        <a:t>5 minutes, single use</a:t>
                      </a:r>
                    </a:p>
                  </a:txBody>
                  <a:tcPr marL="73152" marR="73152" marT="36576" marB="36576" anchor="ctr">
                    <a:solidFill>
                      <a:srgbClr val="FFFFFF"/>
                    </a:solidFill>
                  </a:tcPr>
                </a:tc>
              </a:tr>
              <a:tr h="365760">
                <a:tc>
                  <a:txBody>
                    <a:bodyPr wrap="square"/>
                    <a:lstStyle/>
                    <a:p>
                      <a:r>
                        <a:rPr sz="1000" b="1" i="0">
                          <a:solidFill>
                            <a:srgbClr val="1B2A55"/>
                          </a:solidFill>
                          <a:latin typeface="Inter"/>
                        </a:rPr>
                        <a:t>Guesses</a:t>
                      </a:r>
                    </a:p>
                  </a:txBody>
                  <a:tcPr marL="73152" marR="73152" marT="36576" marB="36576" anchor="ctr">
                    <a:solidFill>
                      <a:srgbClr val="F1F0F6"/>
                    </a:solidFill>
                  </a:tcPr>
                </a:tc>
                <a:tc>
                  <a:txBody>
                    <a:bodyPr wrap="square"/>
                    <a:lstStyle/>
                    <a:p>
                      <a:r>
                        <a:rPr sz="1000" b="0" i="0">
                          <a:solidFill>
                            <a:srgbClr val="353B4A"/>
                          </a:solidFill>
                          <a:latin typeface="Inter"/>
                        </a:rPr>
                        <a:t>3 per code, then locked</a:t>
                      </a:r>
                    </a:p>
                  </a:txBody>
                  <a:tcPr marL="73152" marR="73152" marT="36576" marB="36576" anchor="ctr">
                    <a:solidFill>
                      <a:srgbClr val="F1F0F6"/>
                    </a:solidFill>
                  </a:tcPr>
                </a:tc>
              </a:tr>
              <a:tr h="365760">
                <a:tc>
                  <a:txBody>
                    <a:bodyPr wrap="square"/>
                    <a:lstStyle/>
                    <a:p>
                      <a:r>
                        <a:rPr sz="1000" b="1" i="0">
                          <a:solidFill>
                            <a:srgbClr val="1B2A55"/>
                          </a:solidFill>
                          <a:latin typeface="Inter"/>
                        </a:rPr>
                        <a:t>Resend</a:t>
                      </a:r>
                    </a:p>
                  </a:txBody>
                  <a:tcPr marL="73152" marR="73152" marT="36576" marB="36576" anchor="ctr">
                    <a:solidFill>
                      <a:srgbClr val="FFFFFF"/>
                    </a:solidFill>
                  </a:tcPr>
                </a:tc>
                <a:tc>
                  <a:txBody>
                    <a:bodyPr wrap="square"/>
                    <a:lstStyle/>
                    <a:p>
                      <a:r>
                        <a:rPr sz="1000" b="0" i="0">
                          <a:solidFill>
                            <a:srgbClr val="353B4A"/>
                          </a:solidFill>
                          <a:latin typeface="Inter"/>
                        </a:rPr>
                        <a:t>1 per 30 s, 5 per challenge</a:t>
                      </a:r>
                    </a:p>
                  </a:txBody>
                  <a:tcPr marL="73152" marR="73152" marT="36576" marB="36576" anchor="ctr">
                    <a:solidFill>
                      <a:srgbClr val="FFFFFF"/>
                    </a:solidFill>
                  </a:tcPr>
                </a:tc>
              </a:tr>
              <a:tr h="365760">
                <a:tc>
                  <a:txBody>
                    <a:bodyPr wrap="square"/>
                    <a:lstStyle/>
                    <a:p>
                      <a:r>
                        <a:rPr sz="1000" b="1" i="0">
                          <a:solidFill>
                            <a:srgbClr val="1B2A55"/>
                          </a:solidFill>
                          <a:latin typeface="Inter"/>
                        </a:rPr>
                        <a:t>Challenges</a:t>
                      </a:r>
                    </a:p>
                  </a:txBody>
                  <a:tcPr marL="73152" marR="73152" marT="36576" marB="36576" anchor="ctr">
                    <a:solidFill>
                      <a:srgbClr val="F1F0F6"/>
                    </a:solidFill>
                  </a:tcPr>
                </a:tc>
                <a:tc>
                  <a:txBody>
                    <a:bodyPr wrap="square"/>
                    <a:lstStyle/>
                    <a:p>
                      <a:r>
                        <a:rPr sz="1000" b="0" i="0">
                          <a:solidFill>
                            <a:srgbClr val="353B4A"/>
                          </a:solidFill>
                          <a:latin typeface="Inter"/>
                        </a:rPr>
                        <a:t>5 per voter per 15 min</a:t>
                      </a:r>
                    </a:p>
                  </a:txBody>
                  <a:tcPr marL="73152" marR="73152" marT="36576" marB="36576" anchor="ctr">
                    <a:solidFill>
                      <a:srgbClr val="F1F0F6"/>
                    </a:solidFill>
                  </a:tcPr>
                </a:tc>
              </a:tr>
              <a:tr h="365760">
                <a:tc>
                  <a:txBody>
                    <a:bodyPr wrap="square"/>
                    <a:lstStyle/>
                    <a:p>
                      <a:r>
                        <a:rPr sz="1000" b="1" i="0">
                          <a:solidFill>
                            <a:srgbClr val="1B2A55"/>
                          </a:solidFill>
                          <a:latin typeface="Inter"/>
                        </a:rPr>
                        <a:t>Delivery</a:t>
                      </a:r>
                    </a:p>
                  </a:txBody>
                  <a:tcPr marL="73152" marR="73152" marT="36576" marB="36576" anchor="ctr">
                    <a:solidFill>
                      <a:srgbClr val="FFFFFF"/>
                    </a:solidFill>
                  </a:tcPr>
                </a:tc>
                <a:tc>
                  <a:txBody>
                    <a:bodyPr wrap="square"/>
                    <a:lstStyle/>
                    <a:p>
                      <a:r>
                        <a:rPr sz="1000" b="0" i="0">
                          <a:solidFill>
                            <a:srgbClr val="353B4A"/>
                          </a:solidFill>
                          <a:latin typeface="Inter"/>
                        </a:rPr>
                        <a:t>SMTP; failure never blocks sign-in</a:t>
                      </a:r>
                    </a:p>
                  </a:txBody>
                  <a:tcPr marL="73152" marR="73152" marT="36576" marB="36576" anchor="ctr">
                    <a:solidFill>
                      <a:srgbClr val="FFFFFF"/>
                    </a:solidFill>
                  </a:tcPr>
                </a:tc>
              </a:tr>
              <a:tr h="365760">
                <a:tc>
                  <a:txBody>
                    <a:bodyPr wrap="square"/>
                    <a:lstStyle/>
                    <a:p>
                      <a:r>
                        <a:rPr sz="1000" b="1" i="0">
                          <a:solidFill>
                            <a:srgbClr val="1B2A55"/>
                          </a:solidFill>
                          <a:latin typeface="Inter"/>
                        </a:rPr>
                        <a:t>Where emails live</a:t>
                      </a:r>
                    </a:p>
                  </a:txBody>
                  <a:tcPr marL="73152" marR="73152" marT="36576" marB="36576" anchor="ctr">
                    <a:solidFill>
                      <a:srgbClr val="F1F0F6"/>
                    </a:solidFill>
                  </a:tcPr>
                </a:tc>
                <a:tc>
                  <a:txBody>
                    <a:bodyPr wrap="square"/>
                    <a:lstStyle/>
                    <a:p>
                      <a:r>
                        <a:rPr sz="1000" b="0" i="0">
                          <a:solidFill>
                            <a:srgbClr val="353B4A"/>
                          </a:solidFill>
                          <a:latin typeface="Inter"/>
                        </a:rPr>
                        <a:t>Separate database</a:t>
                      </a:r>
                    </a:p>
                  </a:txBody>
                  <a:tcPr marL="73152" marR="73152" marT="36576" marB="36576" anchor="ctr">
                    <a:solidFill>
                      <a:srgbClr val="F1F0F6"/>
                    </a:solidFill>
                  </a:tcPr>
                </a:tc>
              </a:tr>
            </a:tbl>
          </a:graphicData>
        </a:graphic>
      </p:graphicFrame>
      <p:pic>
        <p:nvPicPr>
          <p:cNvPr id="7" name="Picture 6" descr="voter_otp.png"/>
          <p:cNvPicPr>
            <a:picLocks noChangeAspect="1"/>
          </p:cNvPicPr>
          <p:nvPr/>
        </p:nvPicPr>
        <p:blipFill>
          <a:blip r:embed="rId2"/>
          <a:stretch>
            <a:fillRect/>
          </a:stretch>
        </p:blipFill>
        <p:spPr>
          <a:xfrm>
            <a:off x="5806440" y="1162189"/>
            <a:ext cx="2880360" cy="2887701"/>
          </a:xfrm>
          <a:prstGeom prst="rect">
            <a:avLst/>
          </a:prstGeom>
          <a:ln w="12700">
            <a:solidFill>
              <a:srgbClr val="D9D9E4"/>
            </a:solidFill>
          </a:ln>
        </p:spPr>
      </p:pic>
      <p:sp>
        <p:nvSpPr>
          <p:cNvPr id="8" name="TextBox 7"/>
          <p:cNvSpPr txBox="1"/>
          <p:nvPr/>
        </p:nvSpPr>
        <p:spPr>
          <a:xfrm>
            <a:off x="5806440" y="4160520"/>
            <a:ext cx="2880360" cy="457200"/>
          </a:xfrm>
          <a:prstGeom prst="rect">
            <a:avLst/>
          </a:prstGeom>
          <a:noFill/>
        </p:spPr>
        <p:txBody>
          <a:bodyPr wrap="square" anchor="t" lIns="0" rIns="0" tIns="0" bIns="0">
            <a:spAutoFit/>
          </a:bodyPr>
          <a:lstStyle/>
          <a:p>
            <a:pPr algn="ctr">
              <a:spcAft>
                <a:spcPts val="0"/>
              </a:spcAft>
            </a:pPr>
            <a:r>
              <a:rPr sz="1000" b="0" i="1">
                <a:solidFill>
                  <a:srgbClr val="666A78"/>
                </a:solidFill>
                <a:latin typeface="Inter"/>
              </a:rPr>
              <a:t>The voter sees only a masked address.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17</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18</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19</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20</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SCOPE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 compared PolyVote with 33 systems in five groups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sp>
        <p:nvSpPr>
          <p:cNvPr id="6" name="Rounded Rectangle 5"/>
          <p:cNvSpPr/>
          <p:nvPr/>
        </p:nvSpPr>
        <p:spPr>
          <a:xfrm>
            <a:off x="457200" y="1097280"/>
            <a:ext cx="2587752" cy="14173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188720"/>
            <a:ext cx="731520" cy="457200"/>
          </a:xfrm>
          <a:prstGeom prst="rect">
            <a:avLst/>
          </a:prstGeom>
          <a:noFill/>
        </p:spPr>
        <p:txBody>
          <a:bodyPr wrap="square" anchor="t" lIns="0" rIns="0" tIns="0" bIns="0">
            <a:spAutoFit/>
          </a:bodyPr>
          <a:lstStyle/>
          <a:p>
            <a:pPr algn="l">
              <a:spcAft>
                <a:spcPts val="0"/>
              </a:spcAft>
            </a:pPr>
            <a:r>
              <a:rPr sz="2400" b="1" i="0">
                <a:solidFill>
                  <a:srgbClr val="1B2A55"/>
                </a:solidFill>
                <a:latin typeface="Inter"/>
              </a:rPr>
              <a:t>8</a:t>
            </a:r>
          </a:p>
        </p:txBody>
      </p:sp>
      <p:sp>
        <p:nvSpPr>
          <p:cNvPr id="8" name="TextBox 7"/>
          <p:cNvSpPr txBox="1"/>
          <p:nvPr/>
        </p:nvSpPr>
        <p:spPr>
          <a:xfrm>
            <a:off x="1325880" y="1225295"/>
            <a:ext cx="1600200" cy="45720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Verifiable and research</a:t>
            </a:r>
          </a:p>
        </p:txBody>
      </p:sp>
      <p:sp>
        <p:nvSpPr>
          <p:cNvPr id="9" name="TextBox 8"/>
          <p:cNvSpPr txBox="1"/>
          <p:nvPr/>
        </p:nvSpPr>
        <p:spPr>
          <a:xfrm>
            <a:off x="640080" y="1755648"/>
            <a:ext cx="224028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Helios, Belenios, Civitas, ElectionGuard, Zeus, Verificatum, Vocdoni, Aragon</a:t>
            </a:r>
          </a:p>
        </p:txBody>
      </p:sp>
      <p:sp>
        <p:nvSpPr>
          <p:cNvPr id="10" name="Rounded Rectangle 9"/>
          <p:cNvSpPr/>
          <p:nvPr/>
        </p:nvSpPr>
        <p:spPr>
          <a:xfrm>
            <a:off x="3282696" y="1097280"/>
            <a:ext cx="2587752" cy="14173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188720"/>
            <a:ext cx="731520" cy="457200"/>
          </a:xfrm>
          <a:prstGeom prst="rect">
            <a:avLst/>
          </a:prstGeom>
          <a:noFill/>
        </p:spPr>
        <p:txBody>
          <a:bodyPr wrap="square" anchor="t" lIns="0" rIns="0" tIns="0" bIns="0">
            <a:spAutoFit/>
          </a:bodyPr>
          <a:lstStyle/>
          <a:p>
            <a:pPr algn="l">
              <a:spcAft>
                <a:spcPts val="0"/>
              </a:spcAft>
            </a:pPr>
            <a:r>
              <a:rPr sz="2400" b="1" i="0">
                <a:solidFill>
                  <a:srgbClr val="1B2A55"/>
                </a:solidFill>
                <a:latin typeface="Inter"/>
              </a:rPr>
              <a:t>10</a:t>
            </a:r>
          </a:p>
        </p:txBody>
      </p:sp>
      <p:sp>
        <p:nvSpPr>
          <p:cNvPr id="12" name="TextBox 11"/>
          <p:cNvSpPr txBox="1"/>
          <p:nvPr/>
        </p:nvSpPr>
        <p:spPr>
          <a:xfrm>
            <a:off x="4151376" y="1225295"/>
            <a:ext cx="1600200" cy="45720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Web services and form tools</a:t>
            </a:r>
          </a:p>
        </p:txBody>
      </p:sp>
      <p:sp>
        <p:nvSpPr>
          <p:cNvPr id="13" name="TextBox 12"/>
          <p:cNvSpPr txBox="1"/>
          <p:nvPr/>
        </p:nvSpPr>
        <p:spPr>
          <a:xfrm>
            <a:off x="3465576" y="1755648"/>
            <a:ext cx="224028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CIVS, OpaVote, ElectionBuddy, Simply Voting, Election Runner, TapVoter, RankedVote, BetterVoting, Google and Microsoft Forms</a:t>
            </a:r>
          </a:p>
        </p:txBody>
      </p:sp>
      <p:sp>
        <p:nvSpPr>
          <p:cNvPr id="14" name="Rounded Rectangle 13"/>
          <p:cNvSpPr/>
          <p:nvPr/>
        </p:nvSpPr>
        <p:spPr>
          <a:xfrm>
            <a:off x="6108192" y="1097280"/>
            <a:ext cx="2587752" cy="14173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1188720"/>
            <a:ext cx="731520" cy="457200"/>
          </a:xfrm>
          <a:prstGeom prst="rect">
            <a:avLst/>
          </a:prstGeom>
          <a:noFill/>
        </p:spPr>
        <p:txBody>
          <a:bodyPr wrap="square" anchor="t" lIns="0" rIns="0" tIns="0" bIns="0">
            <a:spAutoFit/>
          </a:bodyPr>
          <a:lstStyle/>
          <a:p>
            <a:pPr algn="l">
              <a:spcAft>
                <a:spcPts val="0"/>
              </a:spcAft>
            </a:pPr>
            <a:r>
              <a:rPr sz="2400" b="1" i="0">
                <a:solidFill>
                  <a:srgbClr val="1B2A55"/>
                </a:solidFill>
                <a:latin typeface="Inter"/>
              </a:rPr>
              <a:t>2</a:t>
            </a:r>
          </a:p>
        </p:txBody>
      </p:sp>
      <p:sp>
        <p:nvSpPr>
          <p:cNvPr id="16" name="TextBox 15"/>
          <p:cNvSpPr txBox="1"/>
          <p:nvPr/>
        </p:nvSpPr>
        <p:spPr>
          <a:xfrm>
            <a:off x="6976872" y="1225295"/>
            <a:ext cx="1600200" cy="45720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Independent analyses</a:t>
            </a:r>
          </a:p>
        </p:txBody>
      </p:sp>
      <p:sp>
        <p:nvSpPr>
          <p:cNvPr id="17" name="TextBox 16"/>
          <p:cNvSpPr txBox="1"/>
          <p:nvPr/>
        </p:nvSpPr>
        <p:spPr>
          <a:xfrm>
            <a:off x="6291072" y="1755648"/>
            <a:ext cx="224028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Voatz (USENIX 2020) and Democracy Live (USENIX 2021)</a:t>
            </a:r>
          </a:p>
        </p:txBody>
      </p:sp>
      <p:sp>
        <p:nvSpPr>
          <p:cNvPr id="18" name="Rounded Rectangle 17"/>
          <p:cNvSpPr/>
          <p:nvPr/>
        </p:nvSpPr>
        <p:spPr>
          <a:xfrm>
            <a:off x="457200" y="2697480"/>
            <a:ext cx="2587752" cy="14173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88920"/>
            <a:ext cx="731520" cy="457200"/>
          </a:xfrm>
          <a:prstGeom prst="rect">
            <a:avLst/>
          </a:prstGeom>
          <a:noFill/>
        </p:spPr>
        <p:txBody>
          <a:bodyPr wrap="square" anchor="t" lIns="0" rIns="0" tIns="0" bIns="0">
            <a:spAutoFit/>
          </a:bodyPr>
          <a:lstStyle/>
          <a:p>
            <a:pPr algn="l">
              <a:spcAft>
                <a:spcPts val="0"/>
              </a:spcAft>
            </a:pPr>
            <a:r>
              <a:rPr sz="2400" b="1" i="0">
                <a:solidFill>
                  <a:srgbClr val="1B2A55"/>
                </a:solidFill>
                <a:latin typeface="Inter"/>
              </a:rPr>
              <a:t>2</a:t>
            </a:r>
          </a:p>
        </p:txBody>
      </p:sp>
      <p:sp>
        <p:nvSpPr>
          <p:cNvPr id="20" name="TextBox 19"/>
          <p:cNvSpPr txBox="1"/>
          <p:nvPr/>
        </p:nvSpPr>
        <p:spPr>
          <a:xfrm>
            <a:off x="1325880" y="2825496"/>
            <a:ext cx="1600200" cy="45720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Civic platforms</a:t>
            </a:r>
          </a:p>
        </p:txBody>
      </p:sp>
      <p:sp>
        <p:nvSpPr>
          <p:cNvPr id="21" name="TextBox 20"/>
          <p:cNvSpPr txBox="1"/>
          <p:nvPr/>
        </p:nvSpPr>
        <p:spPr>
          <a:xfrm>
            <a:off x="640080" y="3355848"/>
            <a:ext cx="224028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Decidim and Consul Democracy</a:t>
            </a:r>
          </a:p>
        </p:txBody>
      </p:sp>
      <p:sp>
        <p:nvSpPr>
          <p:cNvPr id="22" name="Rounded Rectangle 21"/>
          <p:cNvSpPr/>
          <p:nvPr/>
        </p:nvSpPr>
        <p:spPr>
          <a:xfrm>
            <a:off x="3282696" y="2697480"/>
            <a:ext cx="2587752" cy="14173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65576" y="2788920"/>
            <a:ext cx="731520" cy="457200"/>
          </a:xfrm>
          <a:prstGeom prst="rect">
            <a:avLst/>
          </a:prstGeom>
          <a:noFill/>
        </p:spPr>
        <p:txBody>
          <a:bodyPr wrap="square" anchor="t" lIns="0" rIns="0" tIns="0" bIns="0">
            <a:spAutoFit/>
          </a:bodyPr>
          <a:lstStyle/>
          <a:p>
            <a:pPr algn="l">
              <a:spcAft>
                <a:spcPts val="0"/>
              </a:spcAft>
            </a:pPr>
            <a:r>
              <a:rPr sz="2400" b="1" i="0">
                <a:solidFill>
                  <a:srgbClr val="1B2A55"/>
                </a:solidFill>
                <a:latin typeface="Inter"/>
              </a:rPr>
              <a:t>11</a:t>
            </a:r>
          </a:p>
        </p:txBody>
      </p:sp>
      <p:sp>
        <p:nvSpPr>
          <p:cNvPr id="24" name="TextBox 23"/>
          <p:cNvSpPr txBox="1"/>
          <p:nvPr/>
        </p:nvSpPr>
        <p:spPr>
          <a:xfrm>
            <a:off x="4151376" y="2825496"/>
            <a:ext cx="1600200" cy="45720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Open-source student projects</a:t>
            </a:r>
          </a:p>
        </p:txBody>
      </p:sp>
      <p:sp>
        <p:nvSpPr>
          <p:cNvPr id="25" name="TextBox 24"/>
          <p:cNvSpPr txBox="1"/>
          <p:nvPr/>
        </p:nvSpPr>
        <p:spPr>
          <a:xfrm>
            <a:off x="3465576" y="3355848"/>
            <a:ext cx="224028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FlexyVotes, VeriVote and nine other GitHub repositories</a:t>
            </a:r>
          </a:p>
        </p:txBody>
      </p:sp>
      <p:sp>
        <p:nvSpPr>
          <p:cNvPr id="26" name="Rounded Rectangle 25"/>
          <p:cNvSpPr/>
          <p:nvPr/>
        </p:nvSpPr>
        <p:spPr>
          <a:xfrm>
            <a:off x="6108192" y="2697480"/>
            <a:ext cx="2587752" cy="14173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2770632"/>
            <a:ext cx="2240280" cy="132588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How</a:t>
            </a:r>
          </a:p>
          <a:p>
            <a:pPr algn="l">
              <a:spcAft>
                <a:spcPts val="300"/>
              </a:spcAft>
            </a:pPr>
            <a:r>
              <a:rPr sz="950" b="0" i="0">
                <a:solidFill>
                  <a:srgbClr val="353B4A"/>
                </a:solidFill>
                <a:latin typeface="Inter"/>
              </a:rPr>
              <a:t>We read each project's own page, README or paper (23 web queries, 20 GitHub searches, 23 Oct 2026). A feature counts only if it is documented. "Not documented" is not proof of absence.</a:t>
            </a:r>
          </a:p>
        </p:txBody>
      </p:sp>
      <p:sp>
        <p:nvSpPr>
          <p:cNvPr id="28" name="TextBox 27"/>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We did not run these systems. Every cell has a source URL in the evidence file; PolyVote's own cells rest on the tests in this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THE NINE FEATURES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Nine features, each with a way to test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graphicFrame>
        <p:nvGraphicFramePr>
          <p:cNvPr id="6" name="Table 5"/>
          <p:cNvGraphicFramePr>
            <a:graphicFrameLocks noGrp="1"/>
          </p:cNvGraphicFramePr>
          <p:nvPr/>
        </p:nvGraphicFramePr>
        <p:xfrm>
          <a:off x="457200" y="1024128"/>
          <a:ext cx="8229599" cy="3566160"/>
        </p:xfrm>
        <a:graphic>
          <a:graphicData uri="http://schemas.openxmlformats.org/drawingml/2006/table">
            <a:tbl>
              <a:tblPr firstRow="1" bandRow="1">
                <a:tableStyleId>{5C22544A-7EE6-4342-B048-85BDC9FD1C3A}</a:tableStyleId>
              </a:tblPr>
              <a:tblGrid>
                <a:gridCol w="411479"/>
                <a:gridCol w="3657600"/>
                <a:gridCol w="4160520"/>
              </a:tblGrid>
              <a:tr h="274320">
                <a:tc>
                  <a:txBody>
                    <a:bodyPr wrap="square"/>
                    <a:lstStyle/>
                    <a:p>
                      <a:r>
                        <a:rPr sz="950" b="1" i="0">
                          <a:solidFill>
                            <a:srgbClr val="FFFFFF"/>
                          </a:solidFill>
                          <a:latin typeface="Inter"/>
                        </a:rPr>
                        <a:t/>
                      </a:r>
                    </a:p>
                  </a:txBody>
                  <a:tcPr marL="73152" marR="73152" marT="36576" marB="36576" anchor="ctr">
                    <a:solidFill>
                      <a:srgbClr val="1B2A55"/>
                    </a:solidFill>
                  </a:tcPr>
                </a:tc>
                <a:tc>
                  <a:txBody>
                    <a:bodyPr wrap="square"/>
                    <a:lstStyle/>
                    <a:p>
                      <a:r>
                        <a:rPr sz="950" b="1" i="0">
                          <a:solidFill>
                            <a:srgbClr val="FFFFFF"/>
                          </a:solidFill>
                          <a:latin typeface="Inter"/>
                        </a:rPr>
                        <a:t>Feature</a:t>
                      </a:r>
                    </a:p>
                  </a:txBody>
                  <a:tcPr marL="73152" marR="73152" marT="36576" marB="36576" anchor="ctr">
                    <a:solidFill>
                      <a:srgbClr val="1B2A55"/>
                    </a:solidFill>
                  </a:tcPr>
                </a:tc>
                <a:tc>
                  <a:txBody>
                    <a:bodyPr wrap="square"/>
                    <a:lstStyle/>
                    <a:p>
                      <a:r>
                        <a:rPr sz="950" b="1" i="0">
                          <a:solidFill>
                            <a:srgbClr val="FFFFFF"/>
                          </a:solidFill>
                          <a:latin typeface="Inter"/>
                        </a:rPr>
                        <a:t>How we prove PolyVote has it</a:t>
                      </a:r>
                    </a:p>
                  </a:txBody>
                  <a:tcPr marL="73152" marR="73152" marT="36576" marB="36576" anchor="ctr">
                    <a:solidFill>
                      <a:srgbClr val="1B2A55"/>
                    </a:solidFill>
                  </a:tcPr>
                </a:tc>
              </a:tr>
              <a:tr h="365760">
                <a:tc>
                  <a:txBody>
                    <a:bodyPr wrap="square"/>
                    <a:lstStyle/>
                    <a:p>
                      <a:r>
                        <a:rPr sz="900" b="1" i="0">
                          <a:solidFill>
                            <a:srgbClr val="1B2A55"/>
                          </a:solidFill>
                          <a:latin typeface="Inter"/>
                        </a:rPr>
                        <a:t>F1</a:t>
                      </a:r>
                    </a:p>
                  </a:txBody>
                  <a:tcPr marL="73152" marR="73152" marT="36576" marB="36576" anchor="ctr">
                    <a:solidFill>
                      <a:srgbClr val="FFFFFF"/>
                    </a:solidFill>
                  </a:tcPr>
                </a:tc>
                <a:tc>
                  <a:txBody>
                    <a:bodyPr wrap="square"/>
                    <a:lstStyle/>
                    <a:p>
                      <a:r>
                        <a:rPr sz="900" b="0" i="0">
                          <a:solidFill>
                            <a:srgbClr val="353B4A"/>
                          </a:solidFill>
                          <a:latin typeface="Inter"/>
                        </a:rPr>
                        <a:t>Ranked-choice counting with a round-by-round transcript</a:t>
                      </a:r>
                    </a:p>
                  </a:txBody>
                  <a:tcPr marL="73152" marR="73152" marT="36576" marB="36576" anchor="ctr">
                    <a:solidFill>
                      <a:srgbClr val="FFFFFF"/>
                    </a:solidFill>
                  </a:tcPr>
                </a:tc>
                <a:tc>
                  <a:txBody>
                    <a:bodyPr wrap="square"/>
                    <a:lstStyle/>
                    <a:p>
                      <a:r>
                        <a:rPr sz="900" b="0" i="0">
                          <a:solidFill>
                            <a:srgbClr val="353B4A"/>
                          </a:solidFill>
                          <a:latin typeface="Inter"/>
                        </a:rPr>
                        <a:t>46-ballot election, 5 rounds shown, tie flagged</a:t>
                      </a:r>
                    </a:p>
                  </a:txBody>
                  <a:tcPr marL="73152" marR="73152" marT="36576" marB="36576" anchor="ctr">
                    <a:solidFill>
                      <a:srgbClr val="FFFFFF"/>
                    </a:solidFill>
                  </a:tcPr>
                </a:tc>
              </a:tr>
              <a:tr h="365760">
                <a:tc>
                  <a:txBody>
                    <a:bodyPr wrap="square"/>
                    <a:lstStyle/>
                    <a:p>
                      <a:r>
                        <a:rPr sz="900" b="1" i="0">
                          <a:solidFill>
                            <a:srgbClr val="1B2A55"/>
                          </a:solidFill>
                          <a:latin typeface="Inter"/>
                        </a:rPr>
                        <a:t>F2</a:t>
                      </a:r>
                    </a:p>
                  </a:txBody>
                  <a:tcPr marL="73152" marR="73152" marT="36576" marB="36576" anchor="ctr">
                    <a:solidFill>
                      <a:srgbClr val="F1F0F6"/>
                    </a:solidFill>
                  </a:tcPr>
                </a:tc>
                <a:tc>
                  <a:txBody>
                    <a:bodyPr wrap="square"/>
                    <a:lstStyle/>
                    <a:p>
                      <a:r>
                        <a:rPr sz="900" b="0" i="0">
                          <a:solidFill>
                            <a:srgbClr val="353B4A"/>
                          </a:solidFill>
                          <a:latin typeface="Inter"/>
                        </a:rPr>
                        <a:t>Many organisations on one install</a:t>
                      </a:r>
                    </a:p>
                  </a:txBody>
                  <a:tcPr marL="73152" marR="73152" marT="36576" marB="36576" anchor="ctr">
                    <a:solidFill>
                      <a:srgbClr val="F1F0F6"/>
                    </a:solidFill>
                  </a:tcPr>
                </a:tc>
                <a:tc>
                  <a:txBody>
                    <a:bodyPr wrap="square"/>
                    <a:lstStyle/>
                    <a:p>
                      <a:r>
                        <a:rPr sz="900" b="0" i="0">
                          <a:solidFill>
                            <a:srgbClr val="353B4A"/>
                          </a:solidFill>
                          <a:latin typeface="Inter"/>
                        </a:rPr>
                        <a:t>Tests B8 and B13</a:t>
                      </a:r>
                    </a:p>
                  </a:txBody>
                  <a:tcPr marL="73152" marR="73152" marT="36576" marB="36576" anchor="ctr">
                    <a:solidFill>
                      <a:srgbClr val="F1F0F6"/>
                    </a:solidFill>
                  </a:tcPr>
                </a:tc>
              </a:tr>
              <a:tr h="365760">
                <a:tc>
                  <a:txBody>
                    <a:bodyPr wrap="square"/>
                    <a:lstStyle/>
                    <a:p>
                      <a:r>
                        <a:rPr sz="900" b="1" i="0">
                          <a:solidFill>
                            <a:srgbClr val="1B2A55"/>
                          </a:solidFill>
                          <a:latin typeface="Inter"/>
                        </a:rPr>
                        <a:t>F3</a:t>
                      </a:r>
                    </a:p>
                  </a:txBody>
                  <a:tcPr marL="73152" marR="73152" marT="36576" marB="36576" anchor="ctr">
                    <a:solidFill>
                      <a:srgbClr val="FFFFFF"/>
                    </a:solidFill>
                  </a:tcPr>
                </a:tc>
                <a:tc>
                  <a:txBody>
                    <a:bodyPr wrap="square"/>
                    <a:lstStyle/>
                    <a:p>
                      <a:r>
                        <a:rPr sz="900" b="0" i="0">
                          <a:solidFill>
                            <a:srgbClr val="353B4A"/>
                          </a:solidFill>
                          <a:latin typeface="Inter"/>
                        </a:rPr>
                        <a:t>Voting rules enforced inside the database</a:t>
                      </a:r>
                    </a:p>
                  </a:txBody>
                  <a:tcPr marL="73152" marR="73152" marT="36576" marB="36576" anchor="ctr">
                    <a:solidFill>
                      <a:srgbClr val="FFFFFF"/>
                    </a:solidFill>
                  </a:tcPr>
                </a:tc>
                <a:tc>
                  <a:txBody>
                    <a:bodyPr wrap="square"/>
                    <a:lstStyle/>
                    <a:p>
                      <a:r>
                        <a:rPr sz="900" b="0" i="0">
                          <a:solidFill>
                            <a:srgbClr val="353B4A"/>
                          </a:solidFill>
                          <a:latin typeface="Inter"/>
                        </a:rPr>
                        <a:t>6 of 7 direct SQL attempts refused; 13 of 13 API abuses refused; 1 of 20 simultaneous casts accepted</a:t>
                      </a:r>
                    </a:p>
                  </a:txBody>
                  <a:tcPr marL="73152" marR="73152" marT="36576" marB="36576" anchor="ctr">
                    <a:solidFill>
                      <a:srgbClr val="FFFFFF"/>
                    </a:solidFill>
                  </a:tcPr>
                </a:tc>
              </a:tr>
              <a:tr h="365760">
                <a:tc>
                  <a:txBody>
                    <a:bodyPr wrap="square"/>
                    <a:lstStyle/>
                    <a:p>
                      <a:r>
                        <a:rPr sz="900" b="1" i="0">
                          <a:solidFill>
                            <a:srgbClr val="1B2A55"/>
                          </a:solidFill>
                          <a:latin typeface="Inter"/>
                        </a:rPr>
                        <a:t>F4</a:t>
                      </a:r>
                    </a:p>
                  </a:txBody>
                  <a:tcPr marL="73152" marR="73152" marT="36576" marB="36576" anchor="ctr">
                    <a:solidFill>
                      <a:srgbClr val="F1F0F6"/>
                    </a:solidFill>
                  </a:tcPr>
                </a:tc>
                <a:tc>
                  <a:txBody>
                    <a:bodyPr wrap="square"/>
                    <a:lstStyle/>
                    <a:p>
                      <a:r>
                        <a:rPr sz="900" b="0" i="0">
                          <a:solidFill>
                            <a:srgbClr val="353B4A"/>
                          </a:solidFill>
                          <a:latin typeface="Inter"/>
                        </a:rPr>
                        <a:t>No link between ballot and voter; emails in a separate database</a:t>
                      </a:r>
                    </a:p>
                  </a:txBody>
                  <a:tcPr marL="73152" marR="73152" marT="36576" marB="36576" anchor="ctr">
                    <a:solidFill>
                      <a:srgbClr val="F1F0F6"/>
                    </a:solidFill>
                  </a:tcPr>
                </a:tc>
                <a:tc>
                  <a:txBody>
                    <a:bodyPr wrap="square"/>
                    <a:lstStyle/>
                    <a:p>
                      <a:r>
                        <a:rPr sz="900" b="0" i="0">
                          <a:solidFill>
                            <a:srgbClr val="353B4A"/>
                          </a:solidFill>
                          <a:latin typeface="Inter"/>
                        </a:rPr>
                        <a:t>Automated check: no shared column, no email column in the election database</a:t>
                      </a:r>
                    </a:p>
                  </a:txBody>
                  <a:tcPr marL="73152" marR="73152" marT="36576" marB="36576" anchor="ctr">
                    <a:solidFill>
                      <a:srgbClr val="F1F0F6"/>
                    </a:solidFill>
                  </a:tcPr>
                </a:tc>
              </a:tr>
              <a:tr h="365760">
                <a:tc>
                  <a:txBody>
                    <a:bodyPr wrap="square"/>
                    <a:lstStyle/>
                    <a:p>
                      <a:r>
                        <a:rPr sz="900" b="1" i="0">
                          <a:solidFill>
                            <a:srgbClr val="1B2A55"/>
                          </a:solidFill>
                          <a:latin typeface="Inter"/>
                        </a:rPr>
                        <a:t>F5</a:t>
                      </a:r>
                    </a:p>
                  </a:txBody>
                  <a:tcPr marL="73152" marR="73152" marT="36576" marB="36576" anchor="ctr">
                    <a:solidFill>
                      <a:srgbClr val="FFFFFF"/>
                    </a:solidFill>
                  </a:tcPr>
                </a:tc>
                <a:tc>
                  <a:txBody>
                    <a:bodyPr wrap="square"/>
                    <a:lstStyle/>
                    <a:p>
                      <a:r>
                        <a:rPr sz="900" b="0" i="0">
                          <a:solidFill>
                            <a:srgbClr val="353B4A"/>
                          </a:solidFill>
                          <a:latin typeface="Inter"/>
                        </a:rPr>
                        <a:t>Keyed audit ledger in a separate store, with a reconciling sweep</a:t>
                      </a:r>
                    </a:p>
                  </a:txBody>
                  <a:tcPr marL="73152" marR="73152" marT="36576" marB="36576" anchor="ctr">
                    <a:solidFill>
                      <a:srgbClr val="FFFFFF"/>
                    </a:solidFill>
                  </a:tcPr>
                </a:tc>
                <a:tc>
                  <a:txBody>
                    <a:bodyPr wrap="square"/>
                    <a:lstStyle/>
                    <a:p>
                      <a:r>
                        <a:rPr sz="900" b="0" i="0">
                          <a:solidFill>
                            <a:srgbClr val="353B4A"/>
                          </a:solidFill>
                          <a:latin typeface="Inter"/>
                        </a:rPr>
                        <a:t>12 of 13 tampering attacks caught (plain chain: 6); identical in 3 runs</a:t>
                      </a:r>
                    </a:p>
                  </a:txBody>
                  <a:tcPr marL="73152" marR="73152" marT="36576" marB="36576" anchor="ctr">
                    <a:solidFill>
                      <a:srgbClr val="FFFFFF"/>
                    </a:solidFill>
                  </a:tcPr>
                </a:tc>
              </a:tr>
              <a:tr h="365760">
                <a:tc>
                  <a:txBody>
                    <a:bodyPr wrap="square"/>
                    <a:lstStyle/>
                    <a:p>
                      <a:r>
                        <a:rPr sz="900" b="1" i="0">
                          <a:solidFill>
                            <a:srgbClr val="1B2A55"/>
                          </a:solidFill>
                          <a:latin typeface="Inter"/>
                        </a:rPr>
                        <a:t>F6</a:t>
                      </a:r>
                    </a:p>
                  </a:txBody>
                  <a:tcPr marL="73152" marR="73152" marT="36576" marB="36576" anchor="ctr">
                    <a:solidFill>
                      <a:srgbClr val="F1F0F6"/>
                    </a:solidFill>
                  </a:tcPr>
                </a:tc>
                <a:tc>
                  <a:txBody>
                    <a:bodyPr wrap="square"/>
                    <a:lstStyle/>
                    <a:p>
                      <a:r>
                        <a:rPr sz="900" b="0" i="0">
                          <a:solidFill>
                            <a:srgbClr val="353B4A"/>
                          </a:solidFill>
                          <a:latin typeface="Inter"/>
                        </a:rPr>
                        <a:t>Emailed one-time code as a second factor</a:t>
                      </a:r>
                    </a:p>
                  </a:txBody>
                  <a:tcPr marL="73152" marR="73152" marT="36576" marB="36576" anchor="ctr">
                    <a:solidFill>
                      <a:srgbClr val="F1F0F6"/>
                    </a:solidFill>
                  </a:tcPr>
                </a:tc>
                <a:tc>
                  <a:txBody>
                    <a:bodyPr wrap="square"/>
                    <a:lstStyle/>
                    <a:p>
                      <a:r>
                        <a:rPr sz="900" b="0" i="0">
                          <a:solidFill>
                            <a:srgbClr val="353B4A"/>
                          </a:solidFill>
                          <a:latin typeface="Inter"/>
                        </a:rPr>
                        <a:t>14 of 14 tests, including replay, expiry and guess limits</a:t>
                      </a:r>
                    </a:p>
                  </a:txBody>
                  <a:tcPr marL="73152" marR="73152" marT="36576" marB="36576" anchor="ctr">
                    <a:solidFill>
                      <a:srgbClr val="F1F0F6"/>
                    </a:solidFill>
                  </a:tcPr>
                </a:tc>
              </a:tr>
              <a:tr h="365760">
                <a:tc>
                  <a:txBody>
                    <a:bodyPr wrap="square"/>
                    <a:lstStyle/>
                    <a:p>
                      <a:r>
                        <a:rPr sz="900" b="1" i="0">
                          <a:solidFill>
                            <a:srgbClr val="1B2A55"/>
                          </a:solidFill>
                          <a:latin typeface="Inter"/>
                        </a:rPr>
                        <a:t>F7</a:t>
                      </a:r>
                    </a:p>
                  </a:txBody>
                  <a:tcPr marL="73152" marR="73152" marT="36576" marB="36576" anchor="ctr">
                    <a:solidFill>
                      <a:srgbClr val="FFFFFF"/>
                    </a:solidFill>
                  </a:tcPr>
                </a:tc>
                <a:tc>
                  <a:txBody>
                    <a:bodyPr wrap="square"/>
                    <a:lstStyle/>
                    <a:p>
                      <a:r>
                        <a:rPr sz="900" b="0" i="0">
                          <a:solidFill>
                            <a:srgbClr val="353B4A"/>
                          </a:solidFill>
                          <a:latin typeface="Inter"/>
                        </a:rPr>
                        <a:t>Scan-to-vote QR code on a phone</a:t>
                      </a:r>
                    </a:p>
                  </a:txBody>
                  <a:tcPr marL="73152" marR="73152" marT="36576" marB="36576" anchor="ctr">
                    <a:solidFill>
                      <a:srgbClr val="FFFFFF"/>
                    </a:solidFill>
                  </a:tcPr>
                </a:tc>
                <a:tc>
                  <a:txBody>
                    <a:bodyPr wrap="square"/>
                    <a:lstStyle/>
                    <a:p>
                      <a:r>
                        <a:rPr sz="900" b="0" i="0">
                          <a:solidFill>
                            <a:srgbClr val="353B4A"/>
                          </a:solidFill>
                          <a:latin typeface="Inter"/>
                        </a:rPr>
                        <a:t>A real ballot cast from a phone through the public link</a:t>
                      </a:r>
                    </a:p>
                  </a:txBody>
                  <a:tcPr marL="73152" marR="73152" marT="36576" marB="36576" anchor="ctr">
                    <a:solidFill>
                      <a:srgbClr val="FFFFFF"/>
                    </a:solidFill>
                  </a:tcPr>
                </a:tc>
              </a:tr>
              <a:tr h="365760">
                <a:tc>
                  <a:txBody>
                    <a:bodyPr wrap="square"/>
                    <a:lstStyle/>
                    <a:p>
                      <a:r>
                        <a:rPr sz="900" b="1" i="0">
                          <a:solidFill>
                            <a:srgbClr val="1B2A55"/>
                          </a:solidFill>
                          <a:latin typeface="Inter"/>
                        </a:rPr>
                        <a:t>F8</a:t>
                      </a:r>
                    </a:p>
                  </a:txBody>
                  <a:tcPr marL="73152" marR="73152" marT="36576" marB="36576" anchor="ctr">
                    <a:solidFill>
                      <a:srgbClr val="F1F0F6"/>
                    </a:solidFill>
                  </a:tcPr>
                </a:tc>
                <a:tc>
                  <a:txBody>
                    <a:bodyPr wrap="square"/>
                    <a:lstStyle/>
                    <a:p>
                      <a:r>
                        <a:rPr sz="900" b="0" i="0">
                          <a:solidFill>
                            <a:srgbClr val="353B4A"/>
                          </a:solidFill>
                          <a:latin typeface="Inter"/>
                        </a:rPr>
                        <a:t>Receipt to check a ballot is recorded and counted</a:t>
                      </a:r>
                    </a:p>
                  </a:txBody>
                  <a:tcPr marL="73152" marR="73152" marT="36576" marB="36576" anchor="ctr">
                    <a:solidFill>
                      <a:srgbClr val="F1F0F6"/>
                    </a:solidFill>
                  </a:tcPr>
                </a:tc>
                <a:tc>
                  <a:txBody>
                    <a:bodyPr wrap="square"/>
                    <a:lstStyle/>
                    <a:p>
                      <a:r>
                        <a:rPr sz="900" b="0" i="0">
                          <a:solidFill>
                            <a:srgbClr val="353B4A"/>
                          </a:solidFill>
                          <a:latin typeface="Inter"/>
                        </a:rPr>
                        <a:t>Receipt check page; one ledger block per ballot</a:t>
                      </a:r>
                    </a:p>
                  </a:txBody>
                  <a:tcPr marL="73152" marR="73152" marT="36576" marB="36576" anchor="ctr">
                    <a:solidFill>
                      <a:srgbClr val="F1F0F6"/>
                    </a:solidFill>
                  </a:tcPr>
                </a:tc>
              </a:tr>
              <a:tr h="365760">
                <a:tc>
                  <a:txBody>
                    <a:bodyPr wrap="square"/>
                    <a:lstStyle/>
                    <a:p>
                      <a:r>
                        <a:rPr sz="900" b="1" i="0">
                          <a:solidFill>
                            <a:srgbClr val="1B2A55"/>
                          </a:solidFill>
                          <a:latin typeface="Inter"/>
                        </a:rPr>
                        <a:t>F9</a:t>
                      </a:r>
                    </a:p>
                  </a:txBody>
                  <a:tcPr marL="73152" marR="73152" marT="36576" marB="36576" anchor="ctr">
                    <a:solidFill>
                      <a:srgbClr val="FFFFFF"/>
                    </a:solidFill>
                  </a:tcPr>
                </a:tc>
                <a:tc>
                  <a:txBody>
                    <a:bodyPr wrap="square"/>
                    <a:lstStyle/>
                    <a:p>
                      <a:r>
                        <a:rPr sz="900" b="0" i="0">
                          <a:solidFill>
                            <a:srgbClr val="353B4A"/>
                          </a:solidFill>
                          <a:latin typeface="Inter"/>
                        </a:rPr>
                        <a:t>Easy to run and host</a:t>
                      </a:r>
                    </a:p>
                  </a:txBody>
                  <a:tcPr marL="73152" marR="73152" marT="36576" marB="36576" anchor="ctr">
                    <a:solidFill>
                      <a:srgbClr val="FFFFFF"/>
                    </a:solidFill>
                  </a:tcPr>
                </a:tc>
                <a:tc>
                  <a:txBody>
                    <a:bodyPr wrap="square"/>
                    <a:lstStyle/>
                    <a:p>
                      <a:r>
                        <a:rPr sz="900" b="0" i="0">
                          <a:solidFill>
                            <a:srgbClr val="353B4A"/>
                          </a:solidFill>
                          <a:latin typeface="Inter"/>
                        </a:rPr>
                        <a:t>One command locally; free hosted demo configured for Render</a:t>
                      </a:r>
                    </a:p>
                  </a:txBody>
                  <a:tcPr marL="73152" marR="73152" marT="36576" marB="36576"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1-2 · COUNTING AND MANY ORGANISATIONS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Ranked counting and many organisations: not unique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OpaVote (web service)</a:t>
                      </a:r>
                    </a:p>
                  </a:txBody>
                  <a:tcPr marL="73152" marR="73152" marT="36576" marB="36576" anchor="ctr">
                    <a:solidFill>
                      <a:srgbClr val="FFFFFF"/>
                    </a:solidFill>
                  </a:tcPr>
                </a:tc>
                <a:tc>
                  <a:txBody>
                    <a:bodyPr wrap="square"/>
                    <a:lstStyle/>
                    <a:p>
                      <a:r>
                        <a:rPr sz="950" b="0" i="0">
                          <a:solidFill>
                            <a:srgbClr val="353B4A"/>
                          </a:solidFill>
                          <a:latin typeface="Inter"/>
                        </a:rPr>
                        <a:t>Instant-runoff, STV and Condorcet with a step-by-step explanation of each count; free up to 25 voters; sub-groups only partly.</a:t>
                      </a:r>
                    </a:p>
                  </a:txBody>
                  <a:tcPr marL="73152" marR="73152" marT="36576" marB="36576" anchor="ctr">
                    <a:solidFill>
                      <a:srgbClr val="FFFFFF"/>
                    </a:solidFill>
                  </a:tcPr>
                </a:tc>
                <a:tc>
                  <a:txBody>
                    <a:bodyPr wrap="square"/>
                    <a:lstStyle/>
                    <a:p>
                      <a:r>
                        <a:rPr sz="950" b="0" i="0">
                          <a:solidFill>
                            <a:srgbClr val="353B4A"/>
                          </a:solidFill>
                          <a:latin typeface="Inter"/>
                        </a:rPr>
                        <a:t>F1 Yes · F2 Part</a:t>
                      </a:r>
                    </a:p>
                  </a:txBody>
                  <a:tcPr marL="73152" marR="73152" marT="36576" marB="36576" anchor="ctr">
                    <a:solidFill>
                      <a:srgbClr val="FFFFFF"/>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1F0F6"/>
                    </a:solidFill>
                  </a:tcPr>
                </a:tc>
                <a:tc>
                  <a:txBody>
                    <a:bodyPr wrap="square"/>
                    <a:lstStyle/>
                    <a:p>
                      <a:r>
                        <a:rPr sz="950" b="0" i="0">
                          <a:solidFill>
                            <a:srgbClr val="353B4A"/>
                          </a:solidFill>
                          <a:latin typeface="Inter"/>
                        </a:rPr>
                        <a:t>Instant-runoff for one seat, STV for several, with per-round data stored; many organisations with scoped roles.</a:t>
                      </a:r>
                    </a:p>
                  </a:txBody>
                  <a:tcPr marL="73152" marR="73152" marT="36576" marB="36576" anchor="ctr">
                    <a:solidFill>
                      <a:srgbClr val="F1F0F6"/>
                    </a:solidFill>
                  </a:tcPr>
                </a:tc>
                <a:tc>
                  <a:txBody>
                    <a:bodyPr wrap="square"/>
                    <a:lstStyle/>
                    <a:p>
                      <a:r>
                        <a:rPr sz="950" b="0" i="0">
                          <a:solidFill>
                            <a:srgbClr val="353B4A"/>
                          </a:solidFill>
                          <a:latin typeface="Inter"/>
                        </a:rPr>
                        <a:t>F1 Yes · F2 Yes</a:t>
                      </a:r>
                    </a:p>
                  </a:txBody>
                  <a:tcPr marL="73152" marR="73152" marT="36576" marB="36576" anchor="ctr">
                    <a:solidFill>
                      <a:srgbClr val="F1F0F6"/>
                    </a:solidFill>
                  </a:tcPr>
                </a:tc>
              </a:tr>
              <a:tr h="420624">
                <a:tc>
                  <a:txBody>
                    <a:bodyPr wrap="square"/>
                    <a:lstStyle/>
                    <a:p>
                      <a:r>
                        <a:rPr sz="950" b="1" i="0">
                          <a:solidFill>
                            <a:srgbClr val="1B2A55"/>
                          </a:solidFill>
                          <a:latin typeface="Inter"/>
                        </a:rPr>
                        <a:t>BetterVoting (GitHub)</a:t>
                      </a:r>
                    </a:p>
                  </a:txBody>
                  <a:tcPr marL="73152" marR="73152" marT="36576" marB="36576" anchor="ctr">
                    <a:solidFill>
                      <a:srgbClr val="FFFFFF"/>
                    </a:solidFill>
                  </a:tcPr>
                </a:tc>
                <a:tc>
                  <a:txBody>
                    <a:bodyPr wrap="square"/>
                    <a:lstStyle/>
                    <a:p>
                      <a:r>
                        <a:rPr sz="950" b="0" i="0">
                          <a:solidFill>
                            <a:srgbClr val="353B4A"/>
                          </a:solidFill>
                          <a:latin typeface="Inter"/>
                        </a:rPr>
                        <a:t>Ranked-choice listed among voting methods; organisations and teams; round-by-round output not verified.</a:t>
                      </a:r>
                    </a:p>
                  </a:txBody>
                  <a:tcPr marL="73152" marR="73152" marT="36576" marB="36576" anchor="ctr">
                    <a:solidFill>
                      <a:srgbClr val="FFFFFF"/>
                    </a:solidFill>
                  </a:tcPr>
                </a:tc>
                <a:tc>
                  <a:txBody>
                    <a:bodyPr wrap="square"/>
                    <a:lstStyle/>
                    <a:p>
                      <a:r>
                        <a:rPr sz="950" b="0" i="0">
                          <a:solidFill>
                            <a:srgbClr val="353B4A"/>
                          </a:solidFill>
                          <a:latin typeface="Inter"/>
                        </a:rPr>
                        <a:t>F1 Part · F2 Yes</a:t>
                      </a:r>
                    </a:p>
                  </a:txBody>
                  <a:tcPr marL="73152" marR="73152" marT="36576" marB="36576" anchor="ctr">
                    <a:solidFill>
                      <a:srgbClr val="FFFFFF"/>
                    </a:solidFill>
                  </a:tcPr>
                </a:tc>
              </a:tr>
              <a:tr h="420624">
                <a:tc>
                  <a:txBody>
                    <a:bodyPr wrap="square"/>
                    <a:lstStyle/>
                    <a:p>
                      <a:r>
                        <a:rPr sz="950" b="1" i="0">
                          <a:solidFill>
                            <a:srgbClr val="1B2A55"/>
                          </a:solidFill>
                          <a:latin typeface="Inter"/>
                        </a:rPr>
                        <a:t>Belenios</a:t>
                      </a:r>
                    </a:p>
                  </a:txBody>
                  <a:tcPr marL="73152" marR="73152" marT="36576" marB="36576" anchor="ctr">
                    <a:solidFill>
                      <a:srgbClr val="F1F0F6"/>
                    </a:solidFill>
                  </a:tcPr>
                </a:tc>
                <a:tc>
                  <a:txBody>
                    <a:bodyPr wrap="square"/>
                    <a:lstStyle/>
                    <a:p>
                      <a:r>
                        <a:rPr sz="950" b="0" i="0">
                          <a:solidFill>
                            <a:srgbClr val="353B4A"/>
                          </a:solidFill>
                          <a:latin typeface="Inter"/>
                        </a:rPr>
                        <a:t>Condorcet-Schulze and STV are documented; instant-runoff and round transcripts are not.</a:t>
                      </a:r>
                    </a:p>
                  </a:txBody>
                  <a:tcPr marL="73152" marR="73152" marT="36576" marB="36576" anchor="ctr">
                    <a:solidFill>
                      <a:srgbClr val="F1F0F6"/>
                    </a:solidFill>
                  </a:tcPr>
                </a:tc>
                <a:tc>
                  <a:txBody>
                    <a:bodyPr wrap="square"/>
                    <a:lstStyle/>
                    <a:p>
                      <a:r>
                        <a:rPr sz="950" b="0" i="0">
                          <a:solidFill>
                            <a:srgbClr val="353B4A"/>
                          </a:solidFill>
                          <a:latin typeface="Inter"/>
                        </a:rPr>
                        <a:t>F1 Part · F2 Part</a:t>
                      </a:r>
                    </a:p>
                  </a:txBody>
                  <a:tcPr marL="73152" marR="73152" marT="36576" marB="36576" anchor="ctr">
                    <a:solidFill>
                      <a:srgbClr val="F1F0F6"/>
                    </a:solidFill>
                  </a:tcPr>
                </a:tc>
              </a:tr>
              <a:tr h="420624">
                <a:tc>
                  <a:txBody>
                    <a:bodyPr wrap="square"/>
                    <a:lstStyle/>
                    <a:p>
                      <a:r>
                        <a:rPr sz="950" b="1" i="0">
                          <a:solidFill>
                            <a:srgbClr val="1B2A55"/>
                          </a:solidFill>
                          <a:latin typeface="Inter"/>
                        </a:rPr>
                        <a:t>Microsoft Forms</a:t>
                      </a:r>
                    </a:p>
                  </a:txBody>
                  <a:tcPr marL="73152" marR="73152" marT="36576" marB="36576" anchor="ctr">
                    <a:solidFill>
                      <a:srgbClr val="FFFFFF"/>
                    </a:solidFill>
                  </a:tcPr>
                </a:tc>
                <a:tc>
                  <a:txBody>
                    <a:bodyPr wrap="square"/>
                    <a:lstStyle/>
                    <a:p>
                      <a:r>
                        <a:rPr sz="950" b="0" i="0">
                          <a:solidFill>
                            <a:srgbClr val="353B4A"/>
                          </a:solidFill>
                          <a:latin typeface="Inter"/>
                        </a:rPr>
                        <a:t>A ranking question exists, but no instant-runoff tally is documented.</a:t>
                      </a:r>
                    </a:p>
                  </a:txBody>
                  <a:tcPr marL="73152" marR="73152" marT="36576" marB="36576" anchor="ctr">
                    <a:solidFill>
                      <a:srgbClr val="FFFFFF"/>
                    </a:solidFill>
                  </a:tcPr>
                </a:tc>
                <a:tc>
                  <a:txBody>
                    <a:bodyPr wrap="square"/>
                    <a:lstStyle/>
                    <a:p>
                      <a:r>
                        <a:rPr sz="950" b="0" i="0">
                          <a:solidFill>
                            <a:srgbClr val="353B4A"/>
                          </a:solidFill>
                          <a:latin typeface="Inter"/>
                        </a:rPr>
                        <a:t>F1 Part</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counts instant-runoff and shows every round (46 ballots, 5 candidates, 5 rounds, tie flagged). Several organisations and elections ran in one install in tests B8 and B13.</a:t>
            </a:r>
          </a:p>
          <a:p>
            <a:pPr algn="l">
              <a:spcAft>
                <a:spcPts val="300"/>
              </a:spcAft>
            </a:pPr>
            <a:r>
              <a:rPr sz="1000" b="1" i="0">
                <a:solidFill>
                  <a:srgbClr val="1B2A55"/>
                </a:solidFill>
                <a:latin typeface="Inter"/>
              </a:rPr>
              <a:t>Verdict: </a:t>
            </a:r>
            <a:r>
              <a:rPr sz="1000" b="0" i="0">
                <a:solidFill>
                  <a:srgbClr val="353B4A"/>
                </a:solidFill>
                <a:latin typeface="Inter"/>
              </a:rPr>
              <a:t>a baseline feature, not our claim. OpaVote and FlexyVotes also count ranked ballots, and OpaVote explains every count.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8-9 · RECEIPT AND EASE OF RUNNING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Receipts, cost and ease of running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Voters can check their ballot cryptographically, a stronger guarantee than a receipt. Helios needs PostgreSQL, RabbitMQ and about nine install steps.</a:t>
                      </a:r>
                    </a:p>
                  </a:txBody>
                  <a:tcPr marL="73152" marR="73152" marT="36576" marB="36576" anchor="ctr">
                    <a:solidFill>
                      <a:srgbClr val="FFFFFF"/>
                    </a:solidFill>
                  </a:tcPr>
                </a:tc>
                <a:tc>
                  <a:txBody>
                    <a:bodyPr wrap="square"/>
                    <a:lstStyle/>
                    <a:p>
                      <a:r>
                        <a:rPr sz="900" b="0" i="0">
                          <a:solidFill>
                            <a:srgbClr val="353B4A"/>
                          </a:solidFill>
                          <a:latin typeface="Inter"/>
                        </a:rPr>
                        <a:t>F8 Yes · F9 Part</a:t>
                      </a:r>
                    </a:p>
                  </a:txBody>
                  <a:tcPr marL="73152" marR="73152" marT="36576" marB="36576" anchor="ctr">
                    <a:solidFill>
                      <a:srgbClr val="FFFFFF"/>
                    </a:solidFill>
                  </a:tcPr>
                </a:tc>
              </a:tr>
              <a:tr h="365760">
                <a:tc>
                  <a:txBody>
                    <a:bodyPr wrap="square"/>
                    <a:lstStyle/>
                    <a:p>
                      <a:r>
                        <a:rPr sz="900" b="1" i="0">
                          <a:solidFill>
                            <a:srgbClr val="1B2A55"/>
                          </a:solidFill>
                          <a:latin typeface="Inter"/>
                        </a:rPr>
                        <a:t>CIVS (Cornell)</a:t>
                      </a:r>
                    </a:p>
                  </a:txBody>
                  <a:tcPr marL="73152" marR="73152" marT="36576" marB="36576" anchor="ctr">
                    <a:solidFill>
                      <a:srgbClr val="F1F0F6"/>
                    </a:solidFill>
                  </a:tcPr>
                </a:tc>
                <a:tc>
                  <a:txBody>
                    <a:bodyPr wrap="square"/>
                    <a:lstStyle/>
                    <a:p>
                      <a:r>
                        <a:rPr sz="900" b="0" i="0">
                          <a:solidFill>
                            <a:srgbClr val="353B4A"/>
                          </a:solidFill>
                          <a:latin typeface="Inter"/>
                        </a:rPr>
                        <a:t>Receipt per voter; free hosted service; MIT-licensed Perl code.</a:t>
                      </a:r>
                    </a:p>
                  </a:txBody>
                  <a:tcPr marL="73152" marR="73152" marT="36576" marB="36576" anchor="ctr">
                    <a:solidFill>
                      <a:srgbClr val="F1F0F6"/>
                    </a:solidFill>
                  </a:tcPr>
                </a:tc>
                <a:tc>
                  <a:txBody>
                    <a:bodyPr wrap="square"/>
                    <a:lstStyle/>
                    <a:p>
                      <a:r>
                        <a:rPr sz="900" b="0" i="0">
                          <a:solidFill>
                            <a:srgbClr val="353B4A"/>
                          </a:solidFill>
                          <a:latin typeface="Inter"/>
                        </a:rPr>
                        <a:t>F8 Yes · F9 Yes</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Receipt codes and a public transparency log; free tier up to 10,000 voters; closed source.</a:t>
                      </a:r>
                    </a:p>
                  </a:txBody>
                  <a:tcPr marL="73152" marR="73152" marT="36576" marB="36576" anchor="ctr">
                    <a:solidFill>
                      <a:srgbClr val="FFFFFF"/>
                    </a:solidFill>
                  </a:tcPr>
                </a:tc>
                <a:tc>
                  <a:txBody>
                    <a:bodyPr wrap="square"/>
                    <a:lstStyle/>
                    <a:p>
                      <a:r>
                        <a:rPr sz="900" b="0" i="0">
                          <a:solidFill>
                            <a:srgbClr val="353B4A"/>
                          </a:solidFill>
                          <a:latin typeface="Inter"/>
                        </a:rPr>
                        <a:t>F8 Yes · F9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Receipt by email; AGPL licence; docker-compose in the repository; free hosted service.</a:t>
                      </a:r>
                    </a:p>
                  </a:txBody>
                  <a:tcPr marL="73152" marR="73152" marT="36576" marB="36576" anchor="ctr">
                    <a:solidFill>
                      <a:srgbClr val="F1F0F6"/>
                    </a:solidFill>
                  </a:tcPr>
                </a:tc>
                <a:tc>
                  <a:txBody>
                    <a:bodyPr wrap="square"/>
                    <a:lstStyle/>
                    <a:p>
                      <a:r>
                        <a:rPr sz="900" b="0" i="0">
                          <a:solidFill>
                            <a:srgbClr val="353B4A"/>
                          </a:solidFill>
                          <a:latin typeface="Inter"/>
                        </a:rPr>
                        <a:t>F8 Yes · F9 Yes</a:t>
                      </a:r>
                    </a:p>
                  </a:txBody>
                  <a:tcPr marL="73152" marR="73152" marT="36576" marB="36576" anchor="ctr">
                    <a:solidFill>
                      <a:srgbClr val="F1F0F6"/>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Per-voter ballot tracker, Merkle proofs and an offline verifier; docker compose; no licence file found.</a:t>
                      </a:r>
                    </a:p>
                  </a:txBody>
                  <a:tcPr marL="73152" marR="73152" marT="36576" marB="36576" anchor="ctr">
                    <a:solidFill>
                      <a:srgbClr val="FFFFFF"/>
                    </a:solidFill>
                  </a:tcPr>
                </a:tc>
                <a:tc>
                  <a:txBody>
                    <a:bodyPr wrap="square"/>
                    <a:lstStyle/>
                    <a:p>
                      <a:r>
                        <a:rPr sz="900" b="0" i="0">
                          <a:solidFill>
                            <a:srgbClr val="353B4A"/>
                          </a:solidFill>
                          <a:latin typeface="Inter"/>
                        </a:rPr>
                        <a:t>F8 Yes · F9 Part</a:t>
                      </a:r>
                    </a:p>
                  </a:txBody>
                  <a:tcPr marL="73152" marR="73152" marT="36576" marB="36576" anchor="ctr">
                    <a:solidFill>
                      <a:srgbClr val="FFFFFF"/>
                    </a:solidFill>
                  </a:tcPr>
                </a:tc>
              </a:tr>
              <a:tr h="365760">
                <a:tc>
                  <a:txBody>
                    <a:bodyPr wrap="square"/>
                    <a:lstStyle/>
                    <a:p>
                      <a:r>
                        <a:rPr sz="900" b="1" i="0">
                          <a:solidFill>
                            <a:srgbClr val="1B2A55"/>
                          </a:solidFill>
                          <a:latin typeface="Inter"/>
                        </a:rPr>
                        <a:t>OpaVote, ElectionBuddy</a:t>
                      </a:r>
                    </a:p>
                  </a:txBody>
                  <a:tcPr marL="73152" marR="73152" marT="36576" marB="36576" anchor="ctr">
                    <a:solidFill>
                      <a:srgbClr val="F1F0F6"/>
                    </a:solidFill>
                  </a:tcPr>
                </a:tc>
                <a:tc>
                  <a:txBody>
                    <a:bodyPr wrap="square"/>
                    <a:lstStyle/>
                    <a:p>
                      <a:r>
                        <a:rPr sz="900" b="0" i="0">
                          <a:solidFill>
                            <a:srgbClr val="353B4A"/>
                          </a:solidFill>
                          <a:latin typeface="Inter"/>
                        </a:rPr>
                        <a:t>Free for 25 and 20 voters; closed source; no receipt documented.</a:t>
                      </a:r>
                    </a:p>
                  </a:txBody>
                  <a:tcPr marL="73152" marR="73152" marT="36576" marB="36576" anchor="ctr">
                    <a:solidFill>
                      <a:srgbClr val="F1F0F6"/>
                    </a:solidFill>
                  </a:tcPr>
                </a:tc>
                <a:tc>
                  <a:txBody>
                    <a:bodyPr wrap="square"/>
                    <a:lstStyle/>
                    <a:p>
                      <a:r>
                        <a:rPr sz="900" b="0" i="0">
                          <a:solidFill>
                            <a:srgbClr val="353B4A"/>
                          </a:solidFill>
                          <a:latin typeface="Inter"/>
                        </a:rPr>
                        <a:t>F9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 receipt proves a ballot is recorded and counted, not what it says, so it is weaker than Helios or Belenios. One command starts it (python -m uvicorn server:app); a free hosted demo is configured for Render; the source is public on GitHub, though without a licence file yet.</a:t>
            </a:r>
          </a:p>
          <a:p>
            <a:pPr algn="l">
              <a:spcAft>
                <a:spcPts val="300"/>
              </a:spcAft>
            </a:pPr>
            <a:r>
              <a:rPr sz="1000" b="1" i="0">
                <a:solidFill>
                  <a:srgbClr val="1B2A55"/>
                </a:solidFill>
                <a:latin typeface="Inter"/>
              </a:rPr>
              <a:t>Verdict: </a:t>
            </a:r>
            <a:r>
              <a:rPr sz="1000" b="0" i="0">
                <a:solidFill>
                  <a:srgbClr val="353B4A"/>
                </a:solidFill>
                <a:latin typeface="Inter"/>
              </a:rPr>
              <a:t>easy to run, but BetterVoting and CIVS are also free and open. We do not claim an advantage here.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CAN WE GET THE MONEY 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Reimbursement: nothing is documented yet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559052"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WE FOUND</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1" i="0">
                <a:solidFill>
                  <a:srgbClr val="1B2A55"/>
                </a:solidFill>
                <a:latin typeface="Inter"/>
              </a:rPr>
              <a:t>VIT:</a:t>
            </a:r>
            <a:r>
              <a:rPr sz="1050" b="0" i="0">
                <a:solidFill>
                  <a:srgbClr val="353B4A"/>
                </a:solidFill>
                <a:latin typeface="Inter"/>
              </a:rPr>
              <a:t> the public Research Promotion Policy (2019) supports conference fees for faculty only, up to INR 20,000 a year in India. The student schemes (Raman Research Award, TRA fellowships) do not cover conference fees.</a:t>
            </a:r>
          </a:p>
          <a:p>
            <a:pPr algn="l">
              <a:spcAft>
                <a:spcPts val="500"/>
              </a:spcAft>
            </a:pPr>
            <a:r>
              <a:rPr sz="1050" b="1" i="0">
                <a:solidFill>
                  <a:srgbClr val="1B2A55"/>
                </a:solidFill>
                <a:latin typeface="Inter"/>
              </a:rPr>
              <a:t>•  </a:t>
            </a:r>
            <a:r>
              <a:rPr sz="1050" b="1" i="0">
                <a:solidFill>
                  <a:srgbClr val="1B2A55"/>
                </a:solidFill>
                <a:latin typeface="Inter"/>
              </a:rPr>
              <a:t>Organisers:</a:t>
            </a:r>
            <a:r>
              <a:rPr sz="1050" b="0" i="0">
                <a:solidFill>
                  <a:srgbClr val="353B4A"/>
                </a:solidFill>
                <a:latin typeface="Inter"/>
              </a:rPr>
              <a:t> none publish a student waiver. Confluence, INDIACom and ICICC say fees are non-refundable.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61518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WHAT TO DO BEFORE PAYING</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Ask the School Dean or Programme Chair, the Office of Academic Research and Student Welfare whether an undergraduate scheme exists, and get the answer in writing.</a:t>
            </a:r>
          </a:p>
          <a:p>
            <a:pPr algn="l">
              <a:spcAft>
                <a:spcPts val="500"/>
              </a:spcAft>
            </a:pPr>
            <a:r>
              <a:rPr sz="1050" b="1" i="0">
                <a:solidFill>
                  <a:srgbClr val="1B2A55"/>
                </a:solidFill>
                <a:latin typeface="Inter"/>
              </a:rPr>
              <a:t>•  </a:t>
            </a:r>
            <a:r>
              <a:rPr sz="1050" b="0" i="0">
                <a:solidFill>
                  <a:srgbClr val="353B4A"/>
                </a:solidFill>
                <a:latin typeface="Inter"/>
              </a:rPr>
              <a:t>Ask whether VIT credit needs IEEE Xplore indexing, before picking a venue.</a:t>
            </a:r>
          </a:p>
          <a:p>
            <a:pPr algn="l">
              <a:spcAft>
                <a:spcPts val="500"/>
              </a:spcAft>
            </a:pPr>
            <a:r>
              <a:rPr sz="1050" b="1" i="0">
                <a:solidFill>
                  <a:srgbClr val="1B2A55"/>
                </a:solidFill>
                <a:latin typeface="Inter"/>
              </a:rPr>
              <a:t>•  </a:t>
            </a:r>
            <a:r>
              <a:rPr sz="1050" b="0" i="0">
                <a:solidFill>
                  <a:srgbClr val="353B4A"/>
                </a:solidFill>
                <a:latin typeface="Inter"/>
              </a:rPr>
              <a:t>Until then, budget the fee as our own cost: about INR 5,900 to 9,440 for the cheaper venues.</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The policy we read is from 2019; a newer or unpublished scheme may exist. We have not found one, and we are not assuming one.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46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a:p>
            <a:pPr algn="l">
              <a:spcAft>
                <a:spcPts val="300"/>
              </a:spcAft>
            </a:pPr>
            <a:r>
              <a:rPr sz="1200" b="0" i="0">
                <a:solidFill>
                  <a:srgbClr val="353B4A"/>
                </a:solidFill>
                <a:latin typeface="Inter"/>
              </a:rPr>
              <a:t/>
            </a:r>
          </a:p>
          <a:p>
            <a:pPr algn="l">
              <a:spcAft>
                <a:spcPts val="300"/>
              </a:spcAft>
            </a:pPr>
            <a:r>
              <a:rPr sz="1200" b="1" i="0">
                <a:solidFill>
                  <a:srgbClr val="1B2A55"/>
                </a:solidFill>
                <a:latin typeface="Inter"/>
              </a:rPr>
              <a:t>Run it: </a:t>
            </a:r>
            <a:r>
              <a:rPr sz="1000" b="0" i="0">
                <a:solidFill>
                  <a:srgbClr val="353B4A"/>
                </a:solidFill>
                <a:latin typeface="Consolas"/>
              </a:rPr>
              <a:t>python -m uvicorn server:app --port 8000</a:t>
            </a:r>
          </a:p>
          <a:p>
            <a:pPr algn="l">
              <a:spcAft>
                <a:spcPts val="300"/>
              </a:spcAft>
            </a:pPr>
            <a:r>
              <a:rPr sz="1200" b="1" i="0">
                <a:solidFill>
                  <a:srgbClr val="1B2A55"/>
                </a:solidFill>
                <a:latin typeface="Inter"/>
              </a:rPr>
              <a:t>Demo copy: </a:t>
            </a:r>
            <a:r>
              <a:rPr sz="1200" b="0" i="0">
                <a:solidFill>
                  <a:srgbClr val="353B4A"/>
                </a:solidFill>
                <a:latin typeface="Inter"/>
              </a:rPr>
              <a:t>Sample PolyVote, with email verification on</a:t>
            </a:r>
          </a:p>
          <a:p>
            <a:pPr algn="l">
              <a:spcAft>
                <a:spcPts val="300"/>
              </a:spcAft>
            </a:pPr>
            <a:r>
              <a:rPr sz="1200" b="1" i="0">
                <a:solidFill>
                  <a:srgbClr val="1B2A55"/>
                </a:solidFill>
                <a:latin typeface="Inter"/>
              </a:rPr>
              <a:t>Reports: </a:t>
            </a:r>
            <a:r>
              <a:rPr sz="1200" b="0" i="0">
                <a:solidFill>
                  <a:srgbClr val="353B4A"/>
                </a:solidFill>
                <a:latin typeface="Inter"/>
              </a:rPr>
              <a:t>Review 3 report (44 pages) and IEEE-style paper</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