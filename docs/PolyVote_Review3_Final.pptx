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ahead. Review 1 presented the design. Review 2, today, is the working implementation at about seventy-five percent with live outputs and a tamper demonstration. For the final review we will move to Oracle with PL/SQL procedures and DCL roles, move the ledger to MongoDB Atlas, deploy to the cloud, add the POSITION entity, and compare PolyVote with existing e-voting systems. We also plan to add detection of ballots injected without a receipt.</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Let me start with a short recap and what has changed. In Review 1 we submitted the design: the three weaknesses we target, six database techniques, a literature review, the relational schema and ER diagram, and an architecture planned on Oracle, MongoDB and Streamlit.</a:t>
            </a:r>
          </a:p>
          <a:p>
            <a:r>
              <a:t>Since then we built a working system: a React voter booth and admin console, a FastAPI service, a SQLite schema with a trigger and views, an instant-runoff engine, hash-chained receipts, and a live tamper test.</a:t>
            </a:r>
          </a:p>
          <a:p>
            <a:r>
              <a:t>Three things changed from the plan. SQLite stands in for Oracle, a JSON document ledger stands in for MongoDB, and React plus FastAPI now sits beside Streamlit, which we kept. We also added one table, ADMIN_USERS, for officer logins.</a:t>
            </a:r>
          </a:p>
          <a:p>
            <a:r>
              <a:t>Overall about seventy-five percent of the Review 1 scope is done. What remains is the final-review work: Oracle with PL/SQL, MongoDB Atlas, cloud deployment and the POSITION entity. The next slides revisit the design quickly, show the updated diagrams, then walk through the running system.</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were at about seventy-five percent,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changed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BUILT</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Since Review 1</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CHANGED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And why</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SQLite stands in for Oracle and a JSON document ledger for MongoDB; React + FastAPI now sits beside Streamlit; an ADMIN_USERS table was added.</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75%</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of the Review 1 scope</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Left for the final review: </a:t>
            </a:r>
            <a:r>
              <a:rPr sz="1200" b="0" i="0">
                <a:solidFill>
                  <a:srgbClr val="353B4A"/>
                </a:solidFill>
                <a:latin typeface="Inter"/>
              </a:rPr>
              <a:t>Oracle with PL/SQL procedures and DCL, MongoDB Atlas, cloud deployment, and the POSITION entity.</a:t>
            </a:r>
          </a:p>
          <a:p>
            <a:pPr algn="l">
              <a:spcAft>
                <a:spcPts val="200"/>
              </a:spcAft>
            </a:pPr>
            <a:r>
              <a:rPr sz="1200" b="0" i="0">
                <a:solidFill>
                  <a:srgbClr val="353B4A"/>
                </a:solidFill>
                <a:latin typeface="Inter"/>
              </a:rPr>
              <a:t/>
            </a:r>
          </a:p>
          <a:p>
            <a:pPr algn="l">
              <a:spcAft>
                <a:spcPts val="200"/>
              </a:spcAft>
            </a:pPr>
            <a:r>
              <a:rPr sz="1200" b="1" i="0">
                <a:solidFill>
                  <a:srgbClr val="1B2A55"/>
                </a:solidFill>
                <a:latin typeface="Inter"/>
              </a:rPr>
              <a:t>Next: </a:t>
            </a:r>
            <a:r>
              <a:rPr sz="1200" b="0" i="0">
                <a:solidFill>
                  <a:srgbClr val="353B4A"/>
                </a:solidFill>
                <a:latin typeface="Inter"/>
              </a:rPr>
              <a:t>the design recap, updated diagrams, then the running system and its outputs.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NOW</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about 75% of the planned scope,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FINAL REVIEW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Oracle + PL/SQL, MongoDB Atlas, cloud deployment, POSITION entity, then comparison with existing e-voting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Remaining · Application: </a:t>
            </a:r>
            <a:r>
              <a:rPr b="0" i="0" lang="en-US" sz="1300" u="none" cap="none" strike="noStrike">
                <a:solidFill>
                  <a:srgbClr val="000000"/>
                </a:solidFill>
                <a:latin typeface="Inter"/>
                <a:ea typeface="Inter"/>
                <a:cs typeface="Inter"/>
                <a:sym typeface="Inter"/>
              </a:rPr>
              <a:t>host the platform live in the cloud</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Database: </a:t>
            </a:r>
            <a:r>
              <a:rPr b="0" i="0" lang="en-US" sz="1300" u="none" cap="none" strike="noStrike">
                <a:solidFill>
                  <a:srgbClr val="000000"/>
                </a:solidFill>
                <a:latin typeface="Inter"/>
                <a:ea typeface="Inter"/>
                <a:cs typeface="Inter"/>
                <a:sym typeface="Inter"/>
              </a:rPr>
              <a:t>PL/SQL procedures, DCL roles, Oracle and MongoDB scripts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Verification: </a:t>
            </a:r>
            <a:r>
              <a:rPr b="0" i="0" lang="en-US" sz="1300" u="none" cap="none" strike="noStrike">
                <a:solidFill>
                  <a:srgbClr val="000000"/>
                </a:solidFill>
                <a:latin typeface="Inter"/>
                <a:ea typeface="Inter"/>
                <a:cs typeface="Inter"/>
                <a:sym typeface="Inter"/>
              </a:rPr>
              <a:t>detect ballots injected without a receipt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3" name="TextBox 182"/>
          <p:cNvSpPr txBox="1"/>
          <p:nvPr/>
        </p:nvSpPr>
        <p:spPr>
          <a:xfrm>
            <a:off x="6263640" y="2852928"/>
            <a:ext cx="2331720" cy="457200"/>
          </a:xfrm>
          <a:prstGeom prst="rect">
            <a:avLst/>
          </a:prstGeom>
          <a:noFill/>
        </p:spPr>
        <p:txBody>
          <a:bodyPr wrap="square" anchor="t" lIns="0" rIns="0" tIns="0" bIns="0">
            <a:spAutoFit/>
          </a:bodyPr>
          <a:lstStyle/>
          <a:p>
            <a:pPr algn="l">
              <a:spcAft>
                <a:spcPts val="0"/>
              </a:spcAft>
            </a:pPr>
            <a:r>
              <a:rPr sz="850" b="0" i="1">
                <a:solidFill>
                  <a:srgbClr val="1B2A55"/>
                </a:solidFill>
                <a:latin typeface="Inter"/>
              </a:rPr>
              <a:t>Final review: MongoDB and hosting delivered; Oracle, PL/SQL, DCL roles and POSITION left out, SQLite kept.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About 75% of the scope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