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ahead. Review 1 presented the design. Review 2, today, is the working implementation at about seventy-five percent with live outputs and a tamper demonstration. For the final review we will move to Oracle with PL/SQL procedures and DCL roles, move the ledger to MongoDB Atlas, deploy to the cloud, add the POSITION entity, and compare PolyVote with existing e-voting systems. We also plan to add detection of ballots injected without a receipt.</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the long report and the short paper are available,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Let me start with a short recap and what has changed. In Review 1 we submitted the design: the three weaknesses we target, six database techniques, a literature review, the relational schema and ER diagram, and an architecture planned on Oracle, MongoDB and Streamlit.</a:t>
            </a:r>
          </a:p>
          <a:p>
            <a:r>
              <a:t>Since then we built a working system: a React voter booth and admin console, a FastAPI service, a SQLite schema with a trigger and views, an instant-runoff engine, hash-chained receipts, and a live tamper test.</a:t>
            </a:r>
          </a:p>
          <a:p>
            <a:r>
              <a:t>Three things changed from the plan. SQLite stands in for Oracle, a JSON document ledger stands in for MongoDB, and React plus FastAPI now sits beside Streamlit, which we kept. We also added one table, ADMIN_USERS, for officer logins.</a:t>
            </a:r>
          </a:p>
          <a:p>
            <a:r>
              <a:t>Overall about seventy-five percent of the Review 1 scope is done. What remains is the final-review work: Oracle with PL/SQL, MongoDB Atlas, cloud deployment and the POSITION entity. The next slides revisit the design quickly, show the updated diagrams, then walk through the running system.</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were at about seventy-five percent,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team asked whether we get the money back. We searched for it and the honest answer is that nothing public says so. VIT's published Research Promotion Policy, approved in April 2019, supports conference registration only for faculty, up to twenty thousand rupees a year within India. The student schemes it lists, the Raman Research Award and the TRA fellowships, are for journal incentives and research fellowships, not conference fees. VIT's own conference pages list normal student fees with no waiver. None of the conferences on the previous slide publishes a student waiver, and Confluence, INDIACom and ICICC state fees are non-refundable. So we will not promise reimbursement. Before paying, ask the School Dean or Programme Chair, the Office of Academic Research and the student welfare office, get the answer in writing, and ask whether VIT credit requires IEEE Xplore indexing. The policy we read is from 2019, so a newer scheme may exist.</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changed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BUILT</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Since Review 1</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CHANGED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And why</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SQLite stands in for Oracle and a JSON document ledger for MongoDB; React + FastAPI now sits beside Streamlit; an ADMIN_USERS table was added.</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75%</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of the Review 1 scope</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Left for the final review: </a:t>
            </a:r>
            <a:r>
              <a:rPr sz="1200" b="0" i="0">
                <a:solidFill>
                  <a:srgbClr val="353B4A"/>
                </a:solidFill>
                <a:latin typeface="Inter"/>
              </a:rPr>
              <a:t>Oracle with PL/SQL procedures and DCL, MongoDB Atlas, cloud deployment, and the POSITION entity.</a:t>
            </a:r>
          </a:p>
          <a:p>
            <a:pPr algn="l">
              <a:spcAft>
                <a:spcPts val="200"/>
              </a:spcAft>
            </a:pPr>
            <a:r>
              <a:rPr sz="1200" b="0" i="0">
                <a:solidFill>
                  <a:srgbClr val="353B4A"/>
                </a:solidFill>
                <a:latin typeface="Inter"/>
              </a:rPr>
              <a:t/>
            </a:r>
          </a:p>
          <a:p>
            <a:pPr algn="l">
              <a:spcAft>
                <a:spcPts val="200"/>
              </a:spcAft>
            </a:pPr>
            <a:r>
              <a:rPr sz="1200" b="1" i="0">
                <a:solidFill>
                  <a:srgbClr val="1B2A55"/>
                </a:solidFill>
                <a:latin typeface="Inter"/>
              </a:rPr>
              <a:t>Next: </a:t>
            </a:r>
            <a:r>
              <a:rPr sz="1200" b="0" i="0">
                <a:solidFill>
                  <a:srgbClr val="353B4A"/>
                </a:solidFill>
                <a:latin typeface="Inter"/>
              </a:rPr>
              <a:t>the design recap, updated diagrams, then the running system and its outputs.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NOW</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about 75% of the planned scope,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FINAL REVIEW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Oracle + PL/SQL, MongoDB Atlas, cloud deployment, POSITION entity, then comparison with existing e-voting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Remaining · Application: </a:t>
            </a:r>
            <a:r>
              <a:rPr b="0" i="0" lang="en-US" sz="1300" u="none" cap="none" strike="noStrike">
                <a:solidFill>
                  <a:srgbClr val="000000"/>
                </a:solidFill>
                <a:latin typeface="Inter"/>
                <a:ea typeface="Inter"/>
                <a:cs typeface="Inter"/>
                <a:sym typeface="Inter"/>
              </a:rPr>
              <a:t>host the platform live in the cloud</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Database: </a:t>
            </a:r>
            <a:r>
              <a:rPr b="0" i="0" lang="en-US" sz="1300" u="none" cap="none" strike="noStrike">
                <a:solidFill>
                  <a:srgbClr val="000000"/>
                </a:solidFill>
                <a:latin typeface="Inter"/>
                <a:ea typeface="Inter"/>
                <a:cs typeface="Inter"/>
                <a:sym typeface="Inter"/>
              </a:rPr>
              <a:t>PL/SQL procedures, DCL roles, Oracle and MongoDB scripts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Verification: </a:t>
            </a:r>
            <a:r>
              <a:rPr b="0" i="0" lang="en-US" sz="1300" u="none" cap="none" strike="noStrike">
                <a:solidFill>
                  <a:srgbClr val="000000"/>
                </a:solidFill>
                <a:latin typeface="Inter"/>
                <a:ea typeface="Inter"/>
                <a:cs typeface="Inter"/>
                <a:sym typeface="Inter"/>
              </a:rPr>
              <a:t>detect ballots injected without a receipt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About 75% of the scope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CAN WE GET THE MONEY 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Reimbursement: nothing is documented yet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559052"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WE FOUND</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1" i="0">
                <a:solidFill>
                  <a:srgbClr val="1B2A55"/>
                </a:solidFill>
                <a:latin typeface="Inter"/>
              </a:rPr>
              <a:t>VIT:</a:t>
            </a:r>
            <a:r>
              <a:rPr sz="1050" b="0" i="0">
                <a:solidFill>
                  <a:srgbClr val="353B4A"/>
                </a:solidFill>
                <a:latin typeface="Inter"/>
              </a:rPr>
              <a:t> the public Research Promotion Policy (2019) supports conference fees for faculty only, up to INR 20,000 a year in India. The student schemes (Raman Research Award, TRA fellowships) do not cover conference fees.</a:t>
            </a:r>
          </a:p>
          <a:p>
            <a:pPr algn="l">
              <a:spcAft>
                <a:spcPts val="500"/>
              </a:spcAft>
            </a:pPr>
            <a:r>
              <a:rPr sz="1050" b="1" i="0">
                <a:solidFill>
                  <a:srgbClr val="1B2A55"/>
                </a:solidFill>
                <a:latin typeface="Inter"/>
              </a:rPr>
              <a:t>•  </a:t>
            </a:r>
            <a:r>
              <a:rPr sz="1050" b="1" i="0">
                <a:solidFill>
                  <a:srgbClr val="1B2A55"/>
                </a:solidFill>
                <a:latin typeface="Inter"/>
              </a:rPr>
              <a:t>Organisers:</a:t>
            </a:r>
            <a:r>
              <a:rPr sz="1050" b="0" i="0">
                <a:solidFill>
                  <a:srgbClr val="353B4A"/>
                </a:solidFill>
                <a:latin typeface="Inter"/>
              </a:rPr>
              <a:t> none publish a student waiver. Confluence, INDIACom and ICICC say fees are non-refundable.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61518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TO DO BEFORE PAYING</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Ask the School Dean or Programme Chair, the Office of Academic Research and Student Welfare whether an undergraduate scheme exists, and get the answer in writing.</a:t>
            </a:r>
          </a:p>
          <a:p>
            <a:pPr algn="l">
              <a:spcAft>
                <a:spcPts val="500"/>
              </a:spcAft>
            </a:pPr>
            <a:r>
              <a:rPr sz="1050" b="1" i="0">
                <a:solidFill>
                  <a:srgbClr val="1B2A55"/>
                </a:solidFill>
                <a:latin typeface="Inter"/>
              </a:rPr>
              <a:t>•  </a:t>
            </a:r>
            <a:r>
              <a:rPr sz="1050" b="0" i="0">
                <a:solidFill>
                  <a:srgbClr val="353B4A"/>
                </a:solidFill>
                <a:latin typeface="Inter"/>
              </a:rPr>
              <a:t>Ask whether VIT credit needs IEEE Xplore indexing, before picking a venue.</a:t>
            </a:r>
          </a:p>
          <a:p>
            <a:pPr algn="l">
              <a:spcAft>
                <a:spcPts val="500"/>
              </a:spcAft>
            </a:pPr>
            <a:r>
              <a:rPr sz="1050" b="1" i="0">
                <a:solidFill>
                  <a:srgbClr val="1B2A55"/>
                </a:solidFill>
                <a:latin typeface="Inter"/>
              </a:rPr>
              <a:t>•  </a:t>
            </a:r>
            <a:r>
              <a:rPr sz="1050" b="0" i="0">
                <a:solidFill>
                  <a:srgbClr val="353B4A"/>
                </a:solidFill>
                <a:latin typeface="Inter"/>
              </a:rPr>
              <a:t>Until then, budget the fee as our own cost: about INR 5,900 to 9,440 for the cheaper venues.</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The policy we read is from 2019; a newer or unpublished scheme may exist. We have not found one, and we are not assuming one.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53</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a:p>
            <a:pPr algn="l">
              <a:spcAft>
                <a:spcPts val="300"/>
              </a:spcAft>
            </a:pPr>
            <a:r>
              <a:rPr sz="1200" b="0" i="0">
                <a:solidFill>
                  <a:srgbClr val="353B4A"/>
                </a:solidFill>
                <a:latin typeface="Inter"/>
              </a:rPr>
              <a:t/>
            </a:r>
          </a:p>
          <a:p>
            <a:pPr algn="l">
              <a:spcAft>
                <a:spcPts val="300"/>
              </a:spcAft>
            </a:pPr>
            <a:r>
              <a:rPr sz="1200" b="1" i="0">
                <a:solidFill>
                  <a:srgbClr val="1B2A55"/>
                </a:solidFill>
                <a:latin typeface="Inter"/>
              </a:rPr>
              <a:t>Run it: </a:t>
            </a:r>
            <a:r>
              <a:rPr sz="1000" b="0" i="0">
                <a:solidFill>
                  <a:srgbClr val="353B4A"/>
                </a:solidFill>
                <a:latin typeface="Consolas"/>
              </a:rPr>
              <a:t>python -m uvicorn server:app --port 8000</a:t>
            </a:r>
          </a:p>
          <a:p>
            <a:pPr algn="l">
              <a:spcAft>
                <a:spcPts val="300"/>
              </a:spcAft>
            </a:pPr>
            <a:r>
              <a:rPr sz="1200" b="1" i="0">
                <a:solidFill>
                  <a:srgbClr val="1B2A55"/>
                </a:solidFill>
                <a:latin typeface="Inter"/>
              </a:rPr>
              <a:t>Demo copy: </a:t>
            </a:r>
            <a:r>
              <a:rPr sz="1200" b="0" i="0">
                <a:solidFill>
                  <a:srgbClr val="353B4A"/>
                </a:solidFill>
                <a:latin typeface="Inter"/>
              </a:rPr>
              <a:t>Sample PolyVote, with email verification on</a:t>
            </a:r>
          </a:p>
          <a:p>
            <a:pPr algn="l">
              <a:spcAft>
                <a:spcPts val="300"/>
              </a:spcAft>
            </a:pPr>
            <a:r>
              <a:rPr sz="1200" b="1" i="0">
                <a:solidFill>
                  <a:srgbClr val="1B2A55"/>
                </a:solidFill>
                <a:latin typeface="Inter"/>
              </a:rPr>
              <a:t>Reports: </a:t>
            </a:r>
            <a:r>
              <a:rPr sz="1200" b="0" i="0">
                <a:solidFill>
                  <a:srgbClr val="353B4A"/>
                </a:solidFill>
                <a:latin typeface="Inter"/>
              </a:rPr>
              <a:t>Review 3 report (44 pages) and IEEE-style paper</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