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1" r:id="rId4"/>
  </p:sldMasterIdLst>
  <p:notesMasterIdLst>
    <p:notesMasterId r:id="rId5"/>
  </p:notesMasterIdLst>
  <p:sldIdLst>
    <p:sldId id="256" r:id="rId6"/>
    <p:sldId id="266" r:id="rId26"/>
    <p:sldId id="257" r:id="rId7"/>
    <p:sldId id="258" r:id="rId8"/>
    <p:sldId id="259" r:id="rId9"/>
    <p:sldId id="260" r:id="rId10"/>
    <p:sldId id="261" r:id="rId11"/>
    <p:sldId id="262" r:id="rId12"/>
    <p:sldId id="263" r:id="rId13"/>
    <p:sldId id="267" r:id="rId27"/>
    <p:sldId id="268" r:id="rId28"/>
    <p:sldId id="269" r:id="rId29"/>
    <p:sldId id="270" r:id="rId30"/>
    <p:sldId id="271" r:id="rId31"/>
    <p:sldId id="272" r:id="rId32"/>
    <p:sldId id="273" r:id="rId33"/>
    <p:sldId id="274" r:id="rId34"/>
    <p:sldId id="275" r:id="rId35"/>
    <p:sldId id="276" r:id="rId36"/>
    <p:sldId id="264" r:id="rId14"/>
    <p:sldId id="277" r:id="rId37"/>
    <p:sldId id="278" r:id="rId38"/>
    <p:sldId id="279" r:id="rId39"/>
    <p:sldId id="280" r:id="rId40"/>
    <p:sldId id="281" r:id="rId41"/>
    <p:sldId id="282" r:id="rId42"/>
    <p:sldId id="283" r:id="rId43"/>
    <p:sldId id="284" r:id="rId44"/>
    <p:sldId id="285" r:id="rId45"/>
    <p:sldId id="286" r:id="rId46"/>
    <p:sldId id="287" r:id="rId47"/>
    <p:sldId id="288" r:id="rId48"/>
    <p:sldId id="289" r:id="rId49"/>
    <p:sldId id="290" r:id="rId50"/>
    <p:sldId id="291" r:id="rId51"/>
    <p:sldId id="292" r:id="rId52"/>
    <p:sldId id="293" r:id="rId53"/>
    <p:sldId id="294" r:id="rId54"/>
    <p:sldId id="295" r:id="rId55"/>
    <p:sldId id="296" r:id="rId56"/>
    <p:sldId id="297" r:id="rId57"/>
    <p:sldId id="298" r:id="rId58"/>
    <p:sldId id="299" r:id="rId59"/>
    <p:sldId id="300" r:id="rId60"/>
    <p:sldId id="301" r:id="rId61"/>
    <p:sldId id="302" r:id="rId62"/>
    <p:sldId id="303" r:id="rId63"/>
    <p:sldId id="304" r:id="rId64"/>
    <p:sldId id="305" r:id="rId65"/>
    <p:sldId id="306" r:id="rId66"/>
    <p:sldId id="307" r:id="rId67"/>
    <p:sldId id="308" r:id="rId68"/>
    <p:sldId id="309" r:id="rId69"/>
    <p:sldId id="265" r:id="rId15"/>
  </p:sldIdLst>
  <p:sldSz cy="5143500" cx="9144000"/>
  <p:notesSz cx="5143500" cy="9144000"/>
  <p:embeddedFontLst>
    <p:embeddedFont>
      <p:font typeface="Inter SemiBold"/>
      <p:regular r:id="rId16"/>
      <p:bold r:id="rId17"/>
      <p:italic r:id="rId18"/>
      <p:boldItalic r:id="rId19"/>
    </p:embeddedFont>
    <p:embeddedFont>
      <p:font typeface="Inter"/>
      <p:bold r:id="rId20"/>
      <p:boldItalic r:id="rId21"/>
    </p:embeddedFont>
    <p:embeddedFont>
      <p:font typeface="Inter Medium"/>
      <p:regular r:id="rId22"/>
      <p:bold r:id="rId23"/>
      <p:italic r:id="rId24"/>
      <p:boldItalic r:id="rId2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CF56F632-080D-41BD-B1F7-19A39A7C3095}">
  <a:tblStyle styleId="{CF56F632-080D-41BD-B1F7-19A39A7C3095}"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20.xml"/><Relationship Id="rId15" Type="http://schemas.openxmlformats.org/officeDocument/2006/relationships/slide" Target="slides/slide90.xml"/><Relationship Id="rId16" Type="http://schemas.openxmlformats.org/officeDocument/2006/relationships/font" Target="fonts/InterSemiBold-regular.fntdata"/><Relationship Id="rId17" Type="http://schemas.openxmlformats.org/officeDocument/2006/relationships/font" Target="fonts/InterSemiBold-bold.fntdata"/><Relationship Id="rId18" Type="http://schemas.openxmlformats.org/officeDocument/2006/relationships/font" Target="fonts/InterSemiBold-italic.fntdata"/><Relationship Id="rId19" Type="http://schemas.openxmlformats.org/officeDocument/2006/relationships/font" Target="fonts/InterSemiBold-boldItalic.fntdata"/><Relationship Id="rId20" Type="http://schemas.openxmlformats.org/officeDocument/2006/relationships/font" Target="fonts/Inter-bold.fntdata"/><Relationship Id="rId21" Type="http://schemas.openxmlformats.org/officeDocument/2006/relationships/font" Target="fonts/Inter-boldItalic.fntdata"/><Relationship Id="rId22" Type="http://schemas.openxmlformats.org/officeDocument/2006/relationships/font" Target="fonts/InterMedium-regular.fntdata"/><Relationship Id="rId23" Type="http://schemas.openxmlformats.org/officeDocument/2006/relationships/font" Target="fonts/InterMedium-bold.fntdata"/><Relationship Id="rId24" Type="http://schemas.openxmlformats.org/officeDocument/2006/relationships/font" Target="fonts/InterMedium-italic.fntdata"/><Relationship Id="rId25" Type="http://schemas.openxmlformats.org/officeDocument/2006/relationships/font" Target="fonts/InterMedium-boldItalic.fntdata"/><Relationship Id="rId26" Type="http://schemas.openxmlformats.org/officeDocument/2006/relationships/slide" Target="slides/slide2.xml"/><Relationship Id="rId27" Type="http://schemas.openxmlformats.org/officeDocument/2006/relationships/slide" Target="slides/slide10.xml"/><Relationship Id="rId28" Type="http://schemas.openxmlformats.org/officeDocument/2006/relationships/slide" Target="slides/slide11.xml"/><Relationship Id="rId29" Type="http://schemas.openxmlformats.org/officeDocument/2006/relationships/slide" Target="slides/slide12.xml"/><Relationship Id="rId30" Type="http://schemas.openxmlformats.org/officeDocument/2006/relationships/slide" Target="slides/slide13.xml"/><Relationship Id="rId31" Type="http://schemas.openxmlformats.org/officeDocument/2006/relationships/slide" Target="slides/slide14.xml"/><Relationship Id="rId32" Type="http://schemas.openxmlformats.org/officeDocument/2006/relationships/slide" Target="slides/slide15.xml"/><Relationship Id="rId33" Type="http://schemas.openxmlformats.org/officeDocument/2006/relationships/slide" Target="slides/slide16.xml"/><Relationship Id="rId34" Type="http://schemas.openxmlformats.org/officeDocument/2006/relationships/slide" Target="slides/slide17.xml"/><Relationship Id="rId35" Type="http://schemas.openxmlformats.org/officeDocument/2006/relationships/slide" Target="slides/slide18.xml"/><Relationship Id="rId36" Type="http://schemas.openxmlformats.org/officeDocument/2006/relationships/slide" Target="slides/slide19.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slide" Target="slides/slide31.xml"/><Relationship Id="rId47" Type="http://schemas.openxmlformats.org/officeDocument/2006/relationships/slide" Target="slides/slide32.xml"/><Relationship Id="rId48" Type="http://schemas.openxmlformats.org/officeDocument/2006/relationships/slide" Target="slides/slide33.xml"/><Relationship Id="rId49" Type="http://schemas.openxmlformats.org/officeDocument/2006/relationships/slide" Target="slides/slide34.xml"/><Relationship Id="rId50" Type="http://schemas.openxmlformats.org/officeDocument/2006/relationships/slide" Target="slides/slide35.xml"/><Relationship Id="rId51" Type="http://schemas.openxmlformats.org/officeDocument/2006/relationships/slide" Target="slides/slide36.xml"/><Relationship Id="rId52" Type="http://schemas.openxmlformats.org/officeDocument/2006/relationships/slide" Target="slides/slide37.xml"/><Relationship Id="rId53" Type="http://schemas.openxmlformats.org/officeDocument/2006/relationships/slide" Target="slides/slide38.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 Id="rId66" Type="http://schemas.openxmlformats.org/officeDocument/2006/relationships/slide" Target="slides/slide51.xml"/><Relationship Id="rId67" Type="http://schemas.openxmlformats.org/officeDocument/2006/relationships/slide" Target="slides/slide52.xml"/><Relationship Id="rId68" Type="http://schemas.openxmlformats.org/officeDocument/2006/relationships/slide" Target="slides/slide53.xml"/><Relationship Id="rId69" Type="http://schemas.openxmlformats.org/officeDocument/2006/relationships/slide" Target="slides/slide5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Chaitanya Reddy</c:v>
                </c:pt>
              </c:strCache>
            </c:strRef>
          </c:tx>
          <c:spPr>
            <a:solidFill>
              <a:srgbClr val="1A7F37"/>
            </a:solidFill>
          </c:spPr>
          <c:dLbls>
            <c:numFmt formatCode="0" sourceLinked="0"/>
            <c:txPr>
              <a:bodyPr/>
              <a:lstStyle/>
              <a:p>
                <a:pPr>
                  <a:defRPr sz="1000">
                    <a:solidFill>
                      <a:srgbClr val="FFFFFF"/>
                    </a:solidFill>
                    <a:latin typeface="Inter"/>
                  </a:defRPr>
                </a:pPr>
              </a:p>
            </c:txPr>
            <c:dLblPos val="ctr"/>
            <c:showLegendKey val="0"/>
            <c:showVal val="1"/>
            <c:showCatName val="0"/>
            <c:showSerName val="0"/>
            <c:showPercent val="0"/>
            <c:showBubbleSize val="0"/>
            <c:showLeaderLines val="1"/>
          </c:dLbls>
          <c:cat>
            <c:strRef>
              <c:f>Sheet1!$A$2:$A$5</c:f>
              <c:strCache>
                <c:ptCount val="4"/>
                <c:pt idx="0">
                  <c:v>Round 1</c:v>
                </c:pt>
                <c:pt idx="1">
                  <c:v>Round 2</c:v>
                </c:pt>
                <c:pt idx="2">
                  <c:v>Round 3</c:v>
                </c:pt>
                <c:pt idx="3">
                  <c:v>Round 4</c:v>
                </c:pt>
              </c:strCache>
            </c:strRef>
          </c:cat>
          <c:val>
            <c:numRef>
              <c:f>Sheet1!$B$2:$B$5</c:f>
              <c:numCache>
                <c:formatCode>General</c:formatCode>
                <c:ptCount val="4"/>
                <c:pt idx="0">
                  <c:v>9</c:v>
                </c:pt>
                <c:pt idx="1">
                  <c:v>11</c:v>
                </c:pt>
                <c:pt idx="2">
                  <c:v>15</c:v>
                </c:pt>
                <c:pt idx="3">
                  <c:v>23</c:v>
                </c:pt>
              </c:numCache>
            </c:numRef>
          </c:val>
        </c:ser>
        <c:ser>
          <c:idx val="1"/>
          <c:order val="1"/>
          <c:tx>
            <c:strRef>
              <c:f>Sheet1!$C$1</c:f>
              <c:strCache>
                <c:ptCount val="1"/>
                <c:pt idx="0">
                  <c:v>Diya Sharma</c:v>
                </c:pt>
              </c:strCache>
            </c:strRef>
          </c:tx>
          <c:spPr>
            <a:solidFill>
              <a:srgbClr val="1B2A55"/>
            </a:solidFill>
          </c:spPr>
          <c:dLbls>
            <c:numFmt formatCode="0" sourceLinked="0"/>
            <c:txPr>
              <a:bodyPr/>
              <a:lstStyle/>
              <a:p>
                <a:pPr>
                  <a:defRPr sz="1000">
                    <a:solidFill>
                      <a:srgbClr val="FFFFFF"/>
                    </a:solidFill>
                    <a:latin typeface="Inter"/>
                  </a:defRPr>
                </a:pPr>
              </a:p>
            </c:txPr>
            <c:dLblPos val="ctr"/>
            <c:showLegendKey val="0"/>
            <c:showVal val="1"/>
            <c:showCatName val="0"/>
            <c:showSerName val="0"/>
            <c:showPercent val="0"/>
            <c:showBubbleSize val="0"/>
            <c:showLeaderLines val="1"/>
          </c:dLbls>
          <c:cat>
            <c:strRef>
              <c:f>Sheet1!$A$2:$A$5</c:f>
              <c:strCache>
                <c:ptCount val="4"/>
                <c:pt idx="0">
                  <c:v>Round 1</c:v>
                </c:pt>
                <c:pt idx="1">
                  <c:v>Round 2</c:v>
                </c:pt>
                <c:pt idx="2">
                  <c:v>Round 3</c:v>
                </c:pt>
                <c:pt idx="3">
                  <c:v>Round 4</c:v>
                </c:pt>
              </c:strCache>
            </c:strRef>
          </c:cat>
          <c:val>
            <c:numRef>
              <c:f>Sheet1!$C$2:$C$5</c:f>
              <c:numCache>
                <c:formatCode>General</c:formatCode>
                <c:ptCount val="4"/>
                <c:pt idx="0">
                  <c:v>10</c:v>
                </c:pt>
                <c:pt idx="1">
                  <c:v>13</c:v>
                </c:pt>
                <c:pt idx="2">
                  <c:v>16</c:v>
                </c:pt>
                <c:pt idx="3">
                  <c:v>22</c:v>
                </c:pt>
              </c:numCache>
            </c:numRef>
          </c:val>
        </c:ser>
        <c:ser>
          <c:idx val="2"/>
          <c:order val="2"/>
          <c:tx>
            <c:strRef>
              <c:f>Sheet1!$D$1</c:f>
              <c:strCache>
                <c:ptCount val="1"/>
                <c:pt idx="0">
                  <c:v>Arun Kumar</c:v>
                </c:pt>
              </c:strCache>
            </c:strRef>
          </c:tx>
          <c:spPr>
            <a:solidFill>
              <a:srgbClr val="8DA0D0"/>
            </a:solidFill>
          </c:spPr>
          <c:dLbls>
            <c:numFmt formatCode="0" sourceLinked="0"/>
            <c:txPr>
              <a:bodyPr/>
              <a:lstStyle/>
              <a:p>
                <a:pPr>
                  <a:defRPr sz="1000">
                    <a:solidFill>
                      <a:srgbClr val="1B2A55"/>
                    </a:solidFill>
                    <a:latin typeface="Inter"/>
                  </a:defRPr>
                </a:pPr>
              </a:p>
            </c:txPr>
            <c:dLblPos val="ctr"/>
            <c:showLegendKey val="0"/>
            <c:showVal val="1"/>
            <c:showCatName val="0"/>
            <c:showSerName val="0"/>
            <c:showPercent val="0"/>
            <c:showBubbleSize val="0"/>
            <c:showLeaderLines val="1"/>
          </c:dLbls>
          <c:cat>
            <c:strRef>
              <c:f>Sheet1!$A$2:$A$5</c:f>
              <c:strCache>
                <c:ptCount val="4"/>
                <c:pt idx="0">
                  <c:v>Round 1</c:v>
                </c:pt>
                <c:pt idx="1">
                  <c:v>Round 2</c:v>
                </c:pt>
                <c:pt idx="2">
                  <c:v>Round 3</c:v>
                </c:pt>
                <c:pt idx="3">
                  <c:v>Round 4</c:v>
                </c:pt>
              </c:strCache>
            </c:strRef>
          </c:cat>
          <c:val>
            <c:numRef>
              <c:f>Sheet1!$D$2:$D$5</c:f>
              <c:numCache>
                <c:formatCode>General</c:formatCode>
                <c:ptCount val="4"/>
                <c:pt idx="0">
                  <c:v>10</c:v>
                </c:pt>
                <c:pt idx="1">
                  <c:v>12</c:v>
                </c:pt>
                <c:pt idx="2">
                  <c:v>14</c:v>
                </c:pt>
              </c:numCache>
            </c:numRef>
          </c:val>
        </c:ser>
        <c:ser>
          <c:idx val="3"/>
          <c:order val="3"/>
          <c:tx>
            <c:strRef>
              <c:f>Sheet1!$E$1</c:f>
              <c:strCache>
                <c:ptCount val="1"/>
                <c:pt idx="0">
                  <c:v>Eshaan Iyer</c:v>
                </c:pt>
              </c:strCache>
            </c:strRef>
          </c:tx>
          <c:spPr>
            <a:solidFill>
              <a:srgbClr val="C8CEE3"/>
            </a:solidFill>
          </c:spPr>
          <c:dLbls>
            <c:numFmt formatCode="0" sourceLinked="0"/>
            <c:txPr>
              <a:bodyPr/>
              <a:lstStyle/>
              <a:p>
                <a:pPr>
                  <a:defRPr sz="1000">
                    <a:solidFill>
                      <a:srgbClr val="1B2A55"/>
                    </a:solidFill>
                    <a:latin typeface="Inter"/>
                  </a:defRPr>
                </a:pPr>
              </a:p>
            </c:txPr>
            <c:dLblPos val="ctr"/>
            <c:showLegendKey val="0"/>
            <c:showVal val="1"/>
            <c:showCatName val="0"/>
            <c:showSerName val="0"/>
            <c:showPercent val="0"/>
            <c:showBubbleSize val="0"/>
            <c:showLeaderLines val="1"/>
          </c:dLbls>
          <c:cat>
            <c:strRef>
              <c:f>Sheet1!$A$2:$A$5</c:f>
              <c:strCache>
                <c:ptCount val="4"/>
                <c:pt idx="0">
                  <c:v>Round 1</c:v>
                </c:pt>
                <c:pt idx="1">
                  <c:v>Round 2</c:v>
                </c:pt>
                <c:pt idx="2">
                  <c:v>Round 3</c:v>
                </c:pt>
                <c:pt idx="3">
                  <c:v>Round 4</c:v>
                </c:pt>
              </c:strCache>
            </c:strRef>
          </c:cat>
          <c:val>
            <c:numRef>
              <c:f>Sheet1!$E$2:$E$5</c:f>
              <c:numCache>
                <c:formatCode>General</c:formatCode>
                <c:ptCount val="4"/>
                <c:pt idx="0">
                  <c:v>8</c:v>
                </c:pt>
                <c:pt idx="1">
                  <c:v>9</c:v>
                </c:pt>
              </c:numCache>
            </c:numRef>
          </c:val>
        </c:ser>
        <c:ser>
          <c:idx val="4"/>
          <c:order val="4"/>
          <c:tx>
            <c:strRef>
              <c:f>Sheet1!$F$1</c:f>
              <c:strCache>
                <c:ptCount val="1"/>
                <c:pt idx="0">
                  <c:v>Bhavya Singh</c:v>
                </c:pt>
              </c:strCache>
            </c:strRef>
          </c:tx>
          <c:spPr>
            <a:solidFill>
              <a:srgbClr val="E4E6F0"/>
            </a:solidFill>
          </c:spPr>
          <c:dLbls>
            <c:numFmt formatCode="0" sourceLinked="0"/>
            <c:txPr>
              <a:bodyPr/>
              <a:lstStyle/>
              <a:p>
                <a:pPr>
                  <a:defRPr sz="1000">
                    <a:solidFill>
                      <a:srgbClr val="1B2A55"/>
                    </a:solidFill>
                    <a:latin typeface="Inter"/>
                  </a:defRPr>
                </a:pPr>
              </a:p>
            </c:txPr>
            <c:dLblPos val="ctr"/>
            <c:showLegendKey val="0"/>
            <c:showVal val="1"/>
            <c:showCatName val="0"/>
            <c:showSerName val="0"/>
            <c:showPercent val="0"/>
            <c:showBubbleSize val="0"/>
            <c:showLeaderLines val="1"/>
          </c:dLbls>
          <c:cat>
            <c:strRef>
              <c:f>Sheet1!$A$2:$A$5</c:f>
              <c:strCache>
                <c:ptCount val="4"/>
                <c:pt idx="0">
                  <c:v>Round 1</c:v>
                </c:pt>
                <c:pt idx="1">
                  <c:v>Round 2</c:v>
                </c:pt>
                <c:pt idx="2">
                  <c:v>Round 3</c:v>
                </c:pt>
                <c:pt idx="3">
                  <c:v>Round 4</c:v>
                </c:pt>
              </c:strCache>
            </c:strRef>
          </c:cat>
          <c:val>
            <c:numRef>
              <c:f>Sheet1!$F$2:$F$5</c:f>
              <c:numCache>
                <c:formatCode>General</c:formatCode>
                <c:ptCount val="4"/>
                <c:pt idx="0">
                  <c:v>8</c:v>
                </c:pt>
              </c:numCache>
            </c:numRef>
          </c:val>
        </c:ser>
        <c:gapWidth val="45"/>
        <c:overlap val="100"/>
        <c:axId val="-2068027336"/>
        <c:axId val="-2113994440"/>
      </c:barChart>
      <c:catAx>
        <c:axId val="-2068027336"/>
        <c:scaling>
          <c:orientation val="minMax"/>
        </c:scaling>
        <c:delete val="0"/>
        <c:axPos val="b"/>
        <c:majorTickMark val="out"/>
        <c:minorTickMark val="none"/>
        <c:tickLblPos val="nextTo"/>
        <c:spPr>
          <a:ln>
            <a:solidFill>
              <a:srgbClr val="D9D9E4"/>
            </a:solidFill>
          </a:ln>
        </c:spPr>
        <c:txPr>
          <a:bodyPr/>
          <a:lstStyle/>
          <a:p>
            <a:pPr>
              <a:defRPr sz="1050">
                <a:solidFill>
                  <a:srgbClr val="353B4A"/>
                </a:solidFill>
                <a:latin typeface="Inter"/>
              </a:defRPr>
            </a:pPr>
          </a:p>
        </c:txPr>
        <c:crossAx val="-2113994440"/>
        <c:crosses val="autoZero"/>
        <c:auto val="1"/>
        <c:lblAlgn val="ctr"/>
        <c:lblOffset val="100"/>
        <c:noMultiLvlLbl val="0"/>
      </c:catAx>
      <c:valAx>
        <c:axId val="-2113994440"/>
        <c:scaling>
          <c:max val="45.0"/>
          <c:min val="0.0"/>
        </c:scaling>
        <c:delete val="0"/>
        <c:axPos val="l"/>
        <c:majorGridlines>
          <c:spPr>
            <a:ln>
              <a:solidFill>
                <a:srgbClr val="D9D9E4"/>
              </a:solidFill>
            </a:ln>
          </c:spPr>
        </c:majorGridlines>
        <c:majorTickMark val="out"/>
        <c:minorTickMark val="none"/>
        <c:tickLblPos val="nextTo"/>
        <c:spPr>
          <a:ln>
            <a:noFill/>
          </a:ln>
        </c:spPr>
        <c:txPr>
          <a:bodyPr/>
          <a:lstStyle/>
          <a:p>
            <a:pPr>
              <a:defRPr sz="1000">
                <a:solidFill>
                  <a:srgbClr val="666A78"/>
                </a:solidFill>
                <a:latin typeface="Inter"/>
              </a:defRPr>
            </a:pPr>
          </a:p>
        </c:txPr>
        <c:crossAx val="-2068027336"/>
        <c:crosses val="autoZero"/>
        <c:majorUnit val="15.0"/>
      </c:valAx>
    </c:plotArea>
    <c:legend>
      <c:legendPos val="b"/>
      <c:overlay val="0"/>
      <c:txPr>
        <a:bodyPr/>
        <a:lstStyle/>
        <a:p>
          <a:pPr>
            <a:defRPr sz="1000">
              <a:solidFill>
                <a:srgbClr val="353B4A"/>
              </a:solidFill>
              <a:latin typeface="Inter"/>
            </a:defRPr>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Implemented</c:v>
                </c:pt>
              </c:strCache>
            </c:strRef>
          </c:tx>
          <c:spPr>
            <a:solidFill>
              <a:srgbClr val="1B2A55"/>
            </a:solidFill>
          </c:spPr>
          <c:dPt>
            <c:idx val="3"/>
            <c:spPr>
              <a:solidFill>
                <a:srgbClr val="1A7F37"/>
              </a:solidFill>
            </c:spPr>
          </c:dPt>
          <c:dLbls>
            <c:numFmt formatCode="0&quot;%&quot;" sourceLinked="0"/>
            <c:txPr>
              <a:bodyPr/>
              <a:lstStyle/>
              <a:p>
                <a:pPr>
                  <a:defRPr sz="1200" b="1">
                    <a:solidFill>
                      <a:srgbClr val="1B2A55"/>
                    </a:solidFill>
                    <a:latin typeface="Inter"/>
                  </a:defRPr>
                </a:pPr>
              </a:p>
            </c:txPr>
            <c:dLblPos val="outEnd"/>
            <c:showLegendKey val="0"/>
            <c:showVal val="1"/>
            <c:showCatName val="0"/>
            <c:showSerName val="0"/>
            <c:showPercent val="0"/>
            <c:showBubbleSize val="0"/>
            <c:showLeaderLines val="1"/>
          </c:dLbls>
          <c:cat>
            <c:strRef>
              <c:f>Sheet1!$A$2:$A$5</c:f>
              <c:strCache>
                <c:ptCount val="4"/>
                <c:pt idx="0">
                  <c:v>Core features (7)</c:v>
                </c:pt>
                <c:pt idx="1">
                  <c:v>Modules (4)</c:v>
                </c:pt>
                <c:pt idx="2">
                  <c:v>Deliverables (3)</c:v>
                </c:pt>
                <c:pt idx="3">
                  <c:v>Overall (14)</c:v>
                </c:pt>
              </c:strCache>
            </c:strRef>
          </c:cat>
          <c:val>
            <c:numRef>
              <c:f>Sheet1!$B$2:$B$5</c:f>
              <c:numCache>
                <c:formatCode>General</c:formatCode>
                <c:ptCount val="4"/>
                <c:pt idx="0">
                  <c:v>64</c:v>
                </c:pt>
                <c:pt idx="1">
                  <c:v>91</c:v>
                </c:pt>
                <c:pt idx="2">
                  <c:v>80</c:v>
                </c:pt>
                <c:pt idx="3">
                  <c:v>75</c:v>
                </c:pt>
              </c:numCache>
            </c:numRef>
          </c:val>
        </c:ser>
        <c:gapWidth val="55"/>
        <c:axId val="-2068027336"/>
        <c:axId val="-2113994440"/>
      </c:barChart>
      <c:catAx>
        <c:axId val="-2068027336"/>
        <c:scaling>
          <c:orientation val="minMax"/>
        </c:scaling>
        <c:delete val="0"/>
        <c:axPos val="b"/>
        <c:majorTickMark val="out"/>
        <c:minorTickMark val="none"/>
        <c:tickLblPos val="nextTo"/>
        <c:spPr>
          <a:ln>
            <a:solidFill>
              <a:srgbClr val="D9D9E4"/>
            </a:solidFill>
          </a:ln>
        </c:spPr>
        <c:txPr>
          <a:bodyPr/>
          <a:lstStyle/>
          <a:p>
            <a:pPr>
              <a:defRPr sz="1050">
                <a:solidFill>
                  <a:srgbClr val="353B4A"/>
                </a:solidFill>
                <a:latin typeface="Inter"/>
              </a:defRPr>
            </a:pPr>
          </a:p>
        </c:txPr>
        <c:crossAx val="-2113994440"/>
        <c:crosses val="autoZero"/>
        <c:auto val="1"/>
        <c:lblAlgn val="ctr"/>
        <c:lblOffset val="100"/>
        <c:noMultiLvlLbl val="0"/>
      </c:catAx>
      <c:valAx>
        <c:axId val="-2113994440"/>
        <c:scaling>
          <c:max val="100.0"/>
          <c:min val="0.0"/>
        </c:scaling>
        <c:delete val="0"/>
        <c:axPos val="l"/>
        <c:majorGridlines>
          <c:spPr>
            <a:ln>
              <a:solidFill>
                <a:srgbClr val="D9D9E4"/>
              </a:solidFill>
            </a:ln>
          </c:spPr>
        </c:majorGridlines>
        <c:numFmt formatCode="0&quot;%&quot;" sourceLinked="0"/>
        <c:majorTickMark val="out"/>
        <c:minorTickMark val="none"/>
        <c:tickLblPos val="nextTo"/>
        <c:spPr>
          <a:ln>
            <a:noFill/>
          </a:ln>
        </c:spPr>
        <c:txPr>
          <a:bodyPr/>
          <a:lstStyle/>
          <a:p>
            <a:pPr>
              <a:defRPr sz="1000">
                <a:solidFill>
                  <a:srgbClr val="666A78"/>
                </a:solidFill>
                <a:latin typeface="Inter"/>
              </a:defRPr>
            </a:pPr>
          </a:p>
        </c:txPr>
        <c:crossAx val="-2068027336"/>
        <c:crosses val="autoZero"/>
        <c:majorUnit val="25.0"/>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 name="Shape 17"/>
        <p:cNvGrpSpPr/>
        <p:nvPr/>
      </p:nvGrpSpPr>
      <p:grpSpPr>
        <a:xfrm>
          <a:off x="0" y="0"/>
          <a:ext cx="0" cy="0"/>
          <a:chOff x="0" y="0"/>
          <a:chExt cx="0" cy="0"/>
        </a:xfrm>
      </p:grpSpPr>
      <p:sp>
        <p:nvSpPr>
          <p:cNvPr id="18" name="Google Shape;18;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 name="Google Shape;19;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Good morning, sir, and everyone. This deck has two parts: slides 2 to 20 are the Review 2 presentation, and from slide 21 we continue with Review 3. This is Review 3, the final review of PolyVote, our ranked-choice election platform with a tamper-evident audit trail. Review 1 presented the design and Review 2 showed the working system. Today we show the completed system: a MongoDB Atlas ledger, a keyed hash chain, a second authentication factor using emailed one-time codes, public hosting, and an evaluation that tests our claims instead of asserting them. We will also show a short live demonstration of the version with email verification switched on.</a:t>
            </a:r>
          </a:p>
        </p:txBody>
      </p:sp>
      <p:sp>
        <p:nvSpPr>
          <p:cNvPr id="20" name="Google Shape;20;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 name="Shape 31"/>
        <p:cNvGrpSpPr/>
        <p:nvPr/>
      </p:nvGrpSpPr>
      <p:grpSpPr>
        <a:xfrm>
          <a:off x="0" y="0"/>
          <a:ext cx="0" cy="0"/>
          <a:chOff x="0" y="0"/>
          <a:chExt cx="0" cy="0"/>
        </a:xfrm>
      </p:grpSpPr>
      <p:sp>
        <p:nvSpPr>
          <p:cNvPr id="32" name="Google Shape;3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 name="Google Shape;3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Quick reminder of why we built this. Plurality voting can crown a winner without majority support, single-election systems are hard to reuse, and an administrator with UPDATE access can silently change results. Our answer is ranked-choice voting, one shared multi-tenant schema, voter identity separated from ballot content, and a hash chain over the audit records. The outcome is a reusable service. One update on this slide: it runs today as a web service, and hosting it in the cloud is planned for the final review.</a:t>
            </a:r>
          </a:p>
        </p:txBody>
      </p:sp>
      <p:sp>
        <p:nvSpPr>
          <p:cNvPr id="34" name="Google Shape;3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 name="Google Shape;57;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These are the six techniques from Review 1, unchanged in principle. What differs is how far each has got. Techniques one, two and three, multi-tenancy, instant-runoff and hash chaining, are fully working. Four, polyglot persistence, runs today as a relational store plus an append-only JSON ledger in the MongoDB document model, with Oracle and MongoDB hosting still to come. Five, integrity, is enforced by constraints and a trigger now, with PL/SQL packages arriving with Oracle. Six, deployment, works as a single web service, and cloud hosting is the remaining step.</a:t>
            </a:r>
          </a:p>
        </p:txBody>
      </p:sp>
      <p:sp>
        <p:nvSpPr>
          <p:cNvPr id="58" name="Google Shape;58;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 name="Google Shape;96;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This is the literature table from Review 1, unchanged. Aulbach for multi-tenant schemas, Haber and Stornetta for hash chains, Sadalage and Fowler for polyglot persistence, Chaum for receipts that keep the ballot secret, Crosby and Wallach for tamper-evident logs, and Blom for auditing ranked-choice elections. We treat these as the foundation, and the next slide shows how our implementation closes the gaps they leave.</a:t>
            </a:r>
          </a:p>
        </p:txBody>
      </p:sp>
      <p:sp>
        <p:nvSpPr>
          <p:cNvPr id="97" name="Google Shape;97;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 name="Google Shape;106;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These are the four gaps from the literature. The one we want you to hold on to is gap two, passive audit logs. A hash chain alone proves nothing unless something actively verifies it. That is why we built the integrity sweep, which recomputes every ballot from the database and compares it with its sealed receipt. You will see it catch tampering live in a few slides.</a:t>
            </a:r>
          </a:p>
        </p:txBody>
      </p:sp>
      <p:sp>
        <p:nvSpPr>
          <p:cNvPr id="107" name="Google Shape;107;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 name="Google Shape;132;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The four modules are the same as planned, with the technology as it stands today. Module one is the relational core, SQLite today with Oracle planned. Module two is the Python tally engine. Module three is the ledger of hash-chained JSON receipts, with MongoDB planned. Module four is the application, now React plus FastAPI, with Streamlit retained. The core entities are now six tables, including ADMIN_USERS, and POSITION is deferred. The privacy boundary is unchanged: only an anonymous token connects a voter to a ballot.</a:t>
            </a:r>
          </a:p>
        </p:txBody>
      </p:sp>
      <p:sp>
        <p:nvSpPr>
          <p:cNvPr id="133" name="Google Shape;133;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 name="Google Shape;143;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This is the updated data flow diagram, redrawn to match what we built. At the top is the React app with the voter booth, receipt check and admin console, plus DB Studio, which simulates a rogue database administrator. Everything passes through one FastAPI layer.</a:t>
            </a:r>
          </a:p>
          <a:p>
            <a:r>
              <a:t>Below that are two stores. Flows one to six create organizations, elections, candidates and voters, and store anonymous ranks in the relational schema. Flow seven appends the SHA-256 receipt to the separate ledger.</a:t>
            </a:r>
          </a:p>
          <a:p>
            <a:r>
              <a:t>At the bottom is the Python engine. Eight feeds ranks to the instant-runoff tally. Nine recomputes ballot hashes, and ten cross-checks them against the ledger. The red dashed arrow, twelve, is the tampering path that DB Studio simulates and the sweep is built to expose.</a:t>
            </a:r>
          </a:p>
        </p:txBody>
      </p:sp>
      <p:sp>
        <p:nvSpPr>
          <p:cNvPr id="144" name="Google Shape;144;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h76c2e4d2857ee8e7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54" name="Google Shape;154;h76c2e4d2857ee8e7_2_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r>
              <a:t>This is the updated ER diagram. The five Review 1 tables are unchanged: ORGANIZATION hosts ELECTIONS, which have CANDIDATES and VOTER_PARTICIPATION, and BALLOT_RANKS ties candidates to anonymous ballot tokens. What is new is, first, ADMIN_USERS, a standalone table for officer logins with no link to ballots. Second, the constraints are now visible: the CHECK on has_voted, the one-to-three CHECK on preference_rank, and the UNIQUE rule on registration number per election. Third, the grey dashed box is the ledger block, a JSON document linked to a ballot by its token, not by a foreign key. Note there is no voter identifier anywhere in BALLOT_RANKS.</a:t>
            </a:r>
          </a:p>
        </p:txBody>
      </p:sp>
      <p:sp>
        <p:nvSpPr>
          <p:cNvPr id="155" name="Google Shape;155;h76c2e4d2857ee8e7_2_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 name="Google Shape;162;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Looking ahead. Review 1 presented the design. Review 2, today, is the working implementation at about seventy-five percent with live outputs and a tamper demonstration. For the final review we will move to Oracle with PL/SQL procedures and DCL roles, move the ledger to MongoDB Atlas, deploy to the cloud, add the POSITION entity, and compare PolyVote with existing e-voting systems. We also plan to add detection of ballots injected without a receipt.</a:t>
            </a:r>
          </a:p>
        </p:txBody>
      </p:sp>
      <p:sp>
        <p:nvSpPr>
          <p:cNvPr id="163" name="Google Shape;163;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 name="Google Shape;185;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Thank you. To summarise: PolyVote now enforces election rules in the database, seals every ballot in a keyed ledger on MongoDB Atlas, confirms voters with an emailed one-time code, runs publicly, and is evaluated by an executable suite that shows automatic detection of tampering rising from six to twelve of thirteen scenarios, with the remaining gaps stated openly. The code and documents are on GitHub, and we are happy to take questions or run any part of the demonstration again.</a:t>
            </a:r>
          </a:p>
        </p:txBody>
      </p:sp>
      <p:sp>
        <p:nvSpPr>
          <p:cNvPr id="186" name="Google Shape;186;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Let me start with a short recap and what has changed. In Review 1 we submitted the design: the three weaknesses we target, six database techniques, a literature review, the relational schema and ER diagram, and an architecture planned on Oracle, MongoDB and Streamlit.</a:t>
            </a:r>
          </a:p>
          <a:p>
            <a:r>
              <a:t>Since then we built a working system: a React voter booth and admin console, a FastAPI service, a SQLite schema with a trigger and views, an instant-runoff engine, hash-chained receipts, and a live tamper test.</a:t>
            </a:r>
          </a:p>
          <a:p>
            <a:r>
              <a:t>Three things changed from the plan. SQLite stands in for Oracle, a JSON document ledger stands in for MongoDB, and React plus FastAPI now sits beside Streamlit, which we kept. We also added one table, ADMIN_USERS, for officer logins.</a:t>
            </a:r>
          </a:p>
          <a:p>
            <a:r>
              <a:t>Overall about seventy-five percent of the Review 1 scope is done. What remains is the final-review work: Oracle with PL/SQL, MongoDB Atlas, cloud deployment and the POSITION entity. The next slides revisit the design quickly, show the updated diagrams, then walk through the running system.</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Now the implementation, starting at the database. The point of this slide is that the database refuses invalid votes by itself, regardless of the application.</a:t>
            </a:r>
          </a:p>
          <a:p>
            <a:r>
              <a:t>We tried to break four rules directly in SQL. A second vote by the same voter hits our trigger and is aborted with a trigger violation. A rank of four fails the CHECK constraint. Ranking the same candidate twice fails the composite primary key. A candidate that does not exist fails the foreign key. These are the database's own messages, not ours, and each statement was rolled back afterwards.</a:t>
            </a:r>
          </a:p>
          <a:p>
            <a:r>
              <a:t>Below, two views, turnout and first preferences, feed the dashboards. In the demo election, forty-five of sixty voters have voted, seventy-five percent turnout.</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voter side, three steps. First, the voter picks an open election; only elections in the Voting phase can be entered. Second, the voter ranks three candidates in order of preference, with a review step before casting. Third, the voter gets a receipt token.</a:t>
            </a:r>
          </a:p>
          <a:p>
            <a:r>
              <a:t>The guards matter. A wrong password is rejected, a voter who already voted is refused, and a ballot cannot be changed once cast. The receipt proves the ballot is sealed, not how you voted.</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heart of the privacy design. When a voter casts a ballot, one database transaction does two things. On the identity side, it sets has_voted to one in VOTER_PARTICIPATION. On the ballot side, it stores a random ballot token with the three ranked candidates in BALLOT_RANKS. There is no voter identifier stored with the ballot, so the two records cannot be joined.</a:t>
            </a:r>
          </a:p>
          <a:p>
            <a:r>
              <a:t>After the commit, the system appends a receipt to the ledger: a SHA-256 hash of the ranks chained to the previous block. The token goes back to the voter.</a:t>
            </a:r>
          </a:p>
          <a:p>
            <a:r>
              <a:t>The three boxes underneath summarise why it is safe: the writes are atomic, a server-side lock serializes simultaneous ballots, and voters can verify later without revealing their choices.</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tallying engine, instant-runoff voting, run on the demo election with forty-five ballots. Each bar is a round. In round one, nobody has a majority, and Bhavya Singh and Eshaan Iyer tie for last with eight each, so one is eliminated and those ballots move to their next choice. After round two Eshaan goes, after round three Arun goes, and in round four Chaitanya Reddy has twenty-three of forty-five continuing ballots, fifty-one percent, against twenty-two for Diya Sharma.</a:t>
            </a:r>
          </a:p>
          <a:p>
            <a:r>
              <a:t>The engine also handles exhausted ballots and empty elections, and the interface flags a last-place tie, as in round one, because the tie-break rule is something we plan to formalise.</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audit ledger. Each ballot gets one block with its token, a vote hash, which is SHA-256 of the ranked choices, the previous block's hash, and the block's own hash. Look at the green values: block two's prev_hash is exactly block one's curr_hash, and block three links to block two. Change any block and every link after it breaks.</a:t>
            </a:r>
          </a:p>
          <a:p>
            <a:r>
              <a:t>We verify at two levels. The chain check recomputes every hash and link, and all forty-five blocks are intact. The integrity sweep recomputes each ballot from the database and compares it with its receipt.</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administrator side. The election list shows each organization's election, its phase and turnout. Inside an election the officer works through a guarded lifecycle. In Nominations, they add candidates and build the roster by hand or in bulk. In Voting, candidates are locked and voters cast ballots. In Closed, no more votes are accepted, and the officer runs the sweep and the count. Each transition asks for confirmation and a closed election cannot be reopened.</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Now the live tamper test, the main thing the ledger exists for. In DB Studio, which simulates a rogue DBA, we re-assigned one ballot's first choice and deleted two ballot rows, including a voter's own ballot. Then we ran the integrity sweep. It reported tampering detected: three ballots no longer match their receipts, one modified and two deleted, each identified by token. The counts also stop agreeing: forty-three ballots against forty-five receipts and forty-five voters marked as voted.</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To summarise the evidence, here are seven checks with expected and observed results. A second vote is refused and a wrong password rejected. The hash chain is intact across all forty-five receipts. After tampering, all three altered ballots are flagged, the voter's receipt check warns that the ballot is recorded but missing from the count, and the count mismatch is visible. And the tally gives a winner with a real majority. Every observed result came from the running system.</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Here is our honest progress against Review 1. We scored each of the fourteen promised items as done, partly done or not started. Core features come to sixty-four percent, because database commands beyond DML, stored procedures and cloud deployment are still open. The four modules come to ninety-one percent, the three deliverables to eighty percent, and overall seventy-five percent. On the right, what is done and what remains for the final review.</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table explains every place the build differs from the plan. Oracle became SQLite for zero-setup development, with the schema kept portable. MongoDB became hash-chained JSON documents using the same document model. Streamlit gained a React and FastAPI front end for separate voter and admin experiences. We added ADMIN_USERS and deferred POSITION. And lifecycle became guarded transitions because SQLite has no stored procedures. The targets themselves, Oracle with PL/SQL, MongoDB Atlas and cloud, are unchanged, and the code is structured so they are migrations, not rewrites.</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We pick up exactly where Review 2 ended. At Review 2 we were at about seventy-five percent, with MongoDB Atlas, hosting and injected-ballot detection still open, and the faculty comment that we should confirm the person voting is the person whose credentials are used. Two new features lead this review. First, the emailed one-time code: a correct password is no longer enough, because a six-digit code goes to the voter's email, valid for five minutes, usable once, with three guesses. Second, QR voting: the vote page shows a QR code for the public link, so any phone can open the ballot in seconds, and the same phone can receive the emailed code. The rest of the deck shows how they work, the evidence, and how this compares with similar systems.</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slide is the direct response to the Review 2 comments. The second factor became an emailed one-time code with its own database and fourteen passing tests. MongoDB is done and live on Atlas. Hosting is a public HTTPS link with a QR code, so a phone can vote. And to prove the design is better, we built a forty-seven scenario suite and ran it against both the Review 2 design and the final one. The weaknesses we knew about, such as injected ballots, forged receipts and renamed candidates, each have a test and a fix. Where we still say future work, we explain why.</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 security claim means nothing without a threat model, so we start there. Seven adversaries, ordered by capability. A voter with a leaked password is stopped by the emailed code. A rogue database administrator and a ledger-store administrator are detected by the sweep and the keyed chain. An insider with both stores but no secrets is detected, because they cannot recompute the keyed chain. Three are not covered: a network observer, beyond the tunnel's encryption; an insider who also holds the key; and roster injection through the admin path. We say so now rather than have it found later.</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architecture. One FastAPI service that also serves the React app, exposed through a tunnel. Behind it three stores. The election database holds the roster, candidates and anonymous ballots. The verification database is a separate file that holds voter emails and one-time-code challenges, and it is never joined to ballots. The ledger is a MongoDB Atlas collection. Secrets live in an environment file outside all three. The point of the separation is that an administrator of one store cannot touch the others; only the application host sees all three, which is why host compromise is outside our model.</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updated ER diagram. The left frame is the election database, unchanged in structure from Review 2 apart from what it protects. The dashed box is a ledger block, a JSON document linked to a ballot by its token, not by a foreign key. The right frame is new: the verification database with voter contacts, challenges and a mail log. Notice there is deliberately no line from it to the ballot table. A voter's email can never be joined to a ballot.</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key idea of the integrity story. Each block holds the ranks hash, the roster hash, the previous block's hash and its own hash. In Review 2 the block hash was plain SHA-256, so someone who could write the store could change a ballot and recompute every later hash. The chain was consistent but not authenticated. Now the block hash is an HMAC under a secret key held outside both stores. An attacker without the key can rebuild a chain, but it fails verification at the first block. Older blocks still verify. The limit is stated on the slide: whoever holds the key can still forge, which needs an external witness.</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sweep recomputes the state of an election from the database and compares it with the ledger. Rules one and two were in Review 2. Rule three finds a ballot in the database that has no receipt. Rule four compares the current candidate names with the sealed hash. Rule five compares voter flags, ballots and receipts. The chain check, which verifies every block, is separate and complementary: it finds edits inside the ledger, while the sweep finds edits to the database.</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MongoDB. Each block is a document in a collection with a unique index on the block position. That index is our compare-and-swap: two simultaneous writers cannot both take the same slot, so the chain cannot fork. Appending reads only the last block and inserts one document, so the cost does not grow with the chain. If no connection string is set, or Atlas is unreachable, the system falls back to the local file, and the health endpoint says which backend is active. A migration script moved our existing blocks and verified the chain. The connection string lives only in the environment file.</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second factor. The voter enters the registration number and password. If they are right, the server does not issue a session; it issues a challenge, generates a six-digit code, stores only a keyed hash of it, and emails the code from a background thread so the page never waits on the mail server. The voter types the code, the server compares it in constant time, checks the attempt count and the single-use flag, and only then issues the voting session. A failed email never blocks sign-in because the code is also visible in the administrator outbox.</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what a voter sees. One: sign in with registration number and password; the QR code lets a phone open the same ballot. Two: the new step, the code sent to the address on file. Three: rank three candidates in order; there is a review step before the irreversible cast. Four: the receipt token and the ledger block number. The token shows that a ballot is recorded and counted; it does not reveal how anyone voted.</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Hosting. We expose the service through a Cloudflare quick tunnel, which gives a temporary public HTTPS address without opening ports. The voter page shows a QR code for it, so a phone scans and votes; we cast a real ballot from a phone this way. To be precise, this is public hosting from a laptop, not cloud deployment: the laptop has to stay on and the address changes when the tunnel restarts. A real cloud platform is part of the Oracle migration planned next. The repository contains only a template for the environment file, never the secrets.</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Now a short live demonstration, on a separate copy of the project we call Sample PolyVote. It is identical except that email verification is switched on, and it has its own database and its own Atlas collection so it cannot disturb the main system. The flow: show the admin view with voter emails and the outbox; sign in as a voter, and note that the right password is not enough; take the code from the outbox, or from the inbox if mail is configured; rank and cast; check the receipt and show the new block in Atlas. Then the tamper test: edit a ballot in DB Studio and run the sweep, and edit a block in Atlas to show the chain breaking. If email is slow, the code is always in the outbox.</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To prove the design is better we built a suite instead of arguing. Forty-seven scenarios: seven database-level prevention tests, thirteen API abuse tests, thirteen tampering scenarios, and fourteen one-time-code tests, plus benchmarks at one hundred, one thousand and ten thousand ballots. The suite runs on a throwaway copy, drives the real API, and plays the rogue administrator by editing the database and ledger files directly. The baseline is the Review 2 design, run unchanged, and the attacker scripts never see the ledger key. We repeat each run three times; the outcomes were identical every time.</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prevention results. Six of seven database statements are rejected by the engine with its own error message, and all thirteen API abuse tests are refused, including twenty simultaneous casts by one voter of which exactly one is stored. The one gap is instructive: SQLite enforces foreign keys only on connections that turn the setting on. Our application does; a console opened with default settings does not. So a rogue administrator can insert a ballot for a candidate that does not exist. The sweep reports it as injected, but the lesson is that a constraint is only as strong as the engine's enforcement, which is one reason for the move to a server database.</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central result. Thirteen scenarios of tampering by someone with direct storage access. Under the Review 2 design, 6 are detected automatically, three are visible only if an officer compares the counters by eye, and four are not detected at all. Under the final design, 12 are detected automatically, none depend on the counters, and one is not detected: adding a ghost voter to the roster and voting as them. We report that one openly. The detection bar shows each scenario, colour-coded.</a:t>
            </a:r>
          </a:p>
        </p:txBody>
      </p:sp>
      <p:sp>
        <p:nvSpPr>
          <p:cNvPr id="4" name="Slide Number Placeholder 3"/>
          <p:cNvSpPr>
            <a:spLocks noGrp="1"/>
          </p:cNvSpPr>
          <p:nvPr>
            <p:ph type="sldNum" idx="12"/>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Here is why counters alone are not enough. On the left, one ballot was deleted and another injected, so the counters still read forty-six, forty-six, forty-six and look perfectly healthy. The sweep nevertheless names both ballots, one deleted and one without a receipt. On the right, a single edited block makes the audit ledger page show a red banner: data tampered at block twenty.</a:t>
            </a:r>
          </a:p>
        </p:txBody>
      </p:sp>
      <p:sp>
        <p:nvSpPr>
          <p:cNvPr id="4" name="Slide Number Placeholder 3"/>
          <p:cNvSpPr>
            <a:spLocks noGrp="1"/>
          </p:cNvSpPr>
          <p:nvPr>
            <p:ph type="sldNum" idx="12"/>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Six scenarios the old design missed or only half caught. A ballot injected without a receipt, and a truncated ledger, were visible only in the counters; the new injected-ballot and reconciliation rules catch them. Renaming candidates after voting was invisible; the sealed roster hash catches it. The two serious ones are ballot stuffing with a forged receipt and a consistent rewrite of the whole chain. Both were completely undetected, because a plain hash chain lets an attacker recompute every hash. With the key, the forged or rebuilt blocks fail verification.</a:t>
            </a:r>
          </a:p>
        </p:txBody>
      </p:sp>
      <p:sp>
        <p:nvSpPr>
          <p:cNvPr id="4" name="Slide Number Placeholder 3"/>
          <p:cNvSpPr>
            <a:spLocks noGrp="1"/>
          </p:cNvSpPr>
          <p:nvPr>
            <p:ph type="sldNum" idx="12"/>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All fourteen one-time-code tests pass: no session from a password alone, replay refused, three wrong guesses lock the challenge, expiry, resend limits, privacy of stored codes, and resilience to a failed mail server. But it did not start that way. Test F4 failed. The attempt counter was updated inside a database context manager and the handler then raised an HTTP error; SQLite rolls back when an exception leaves the context, so every failed guess was recorded and then undone, which meant unlimited guessing. We fixed it by committing before the error propagates. It is a good argument for executable tests over review for security logic.</a:t>
            </a:r>
          </a:p>
        </p:txBody>
      </p:sp>
      <p:sp>
        <p:nvSpPr>
          <p:cNvPr id="4" name="Slide Number Placeholder 3"/>
          <p:cNvSpPr>
            <a:spLocks noGrp="1"/>
          </p:cNvSpPr>
          <p:nvPr>
            <p:ph type="sldNum" idx="12"/>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Performance. The keyed chain and the three extra rules cost little: the sweep at ten thousand ballots takes about 147 milliseconds, roughly 15 percent slower than before. The file ledger is the one that grows: a cast goes from about 9 milliseconds at a hundred ballots to 205 at ten thousand, because every append rewrites the whole file. Against Atlas an append costs about 147 milliseconds at any size, which is mostly network time on a mobile hotspot. So Atlas is not about raw speed at small sizes; it is about flat growth, concurrency control, and holding the ledger off the application machine.</a:t>
            </a:r>
          </a:p>
        </p:txBody>
      </p:sp>
      <p:sp>
        <p:nvSpPr>
          <p:cNvPr id="4" name="Slide Number Placeholder 3"/>
          <p:cNvSpPr>
            <a:spLocks noGrp="1"/>
          </p:cNvSpPr>
          <p:nvPr>
            <p:ph type="sldNum" idx="12"/>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matrix shows eleven of the thirty-three systems against the nine features. Green means documented, amber partly, red documented as absent, and a dash means we found nothing on the pages we read, which is not the same as absent. The bottom row is PolyVote, and it is all green only because those are the cells our own tests back. Read the other rows for what they show: FlexyVotes is nearly as complete and is the closest project we found; it is missing QR voting and has a weaker form of the ledger. BetterVoting covers many features but not database rules or a ledger of ballots. The cryptographic systems, Helios and Belenios, score amber on most of these because they solve the problem differently, with encryption. Feature five is judged strictly, which is why most rows are amber there. Nothing in the matrix says PolyVote is better overall; it says that one free small-election tool documenting every column is not something we found.</a:t>
            </a:r>
          </a:p>
        </p:txBody>
      </p:sp>
      <p:sp>
        <p:nvSpPr>
          <p:cNvPr id="4" name="Slide Number Placeholder 3"/>
          <p:cNvSpPr>
            <a:spLocks noGrp="1"/>
          </p:cNvSpPr>
          <p:nvPr>
            <p:ph type="sldNum" idx="12"/>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Features three and four. FlexyVotes is the strongest comparison here: its unique indexes and append-only triggers refuse changes even from a raw SQL session, and its ballot rows have no voter key, although voters and encrypted emails live in the same PostgreSQL database. VeriVote stores ballots without identity but documents no database rules. CIVS erases voter emails once the election begins. Helios and Belenios get secrecy from encryption rather than from the schema. And the independent analysis of Democracy Live reported voter identity being sent to the vendor. For PolyVote, six of seven direct SQL attempts are refused, all thirteen API abuses are refused, and one of twenty simultaneous casts is accepted. An automated check finds no column shared by ballots and voters, and emails live in a separate file. We say plainly that FlexyVotes is stronger on database rules, and that our one miss is SQLite foreign keys, which apply per connection.</a:t>
            </a:r>
          </a:p>
        </p:txBody>
      </p:sp>
      <p:sp>
        <p:nvSpPr>
          <p:cNvPr id="4" name="Slide Number Placeholder 3"/>
          <p:cNvSpPr>
            <a:spLocks noGrp="1"/>
          </p:cNvSpPr>
          <p:nvPr>
            <p:ph type="sldNum" idx="12"/>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Feature five, the audit ledger. Hash-chained logs are common: FlexyVotes keeps one per organisation in PostgreSQL and verifies it every six hours, VeriVote keeps one in MongoDB, SecureVote has a hash-linked ledger, and BetterVoting has an audit log of administrator actions. Helios and Belenios use a public verifiable ballot box, which is a stronger guarantee by a different mechanism, and Voatz claimed a blockchain that analysts could not verify. What we did not find documented elsewhere is the combination of a keyed chain, a separate store, a sweep that reconciles ballots, receipts, flags and candidates, and published attack results. In our suite that combination catches 12 of thirteen attacks against 6 for a plain chain, identical across three runs. The limit: whoever holds the key can still forge, and cryptographic systems remain stronger on verification.</a:t>
            </a:r>
          </a:p>
        </p:txBody>
      </p:sp>
      <p:sp>
        <p:nvSpPr>
          <p:cNvPr id="4" name="Slide Number Placeholder 3"/>
          <p:cNvSpPr>
            <a:spLocks noGrp="1"/>
          </p:cNvSpPr>
          <p:nvPr>
            <p:ph type="sldNum" idx="12"/>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Features six and seven. Emailed one-time codes are not new: FlexyVotes and SecureVote hash the code and limit attempts, VeriVote rate-limits it, and Belenios sends a short code by default. BetterVoting and TapVoter use single-use links or keys, and both share them by QR. PolyVote adds a six-digit code, hashed, valid five minutes, single use, three guesses, with resend limits, and fourteen of fourteen tests pass, including the one that found a real defect. A QR code on the vote page opens the ballot on any phone, and we cast a real ballot from one. So feature six alone is not unique. The combination of scan-to-vote with an emailed code is what we did not find documented elsewhere, and we say so in those words.</a:t>
            </a:r>
          </a:p>
        </p:txBody>
      </p:sp>
      <p:sp>
        <p:nvSpPr>
          <p:cNvPr id="4" name="Slide Number Placeholder 3"/>
          <p:cNvSpPr>
            <a:spLocks noGrp="1"/>
          </p:cNvSpPr>
          <p:nvPr>
            <p:ph type="sldNum" idx="12"/>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three closest projects. FlexyVotes, a Django and PostgreSQL project created in August, is the nearest: it has many organisations, instant-runoff and STV, triggers that block raw SQL, ballots with no voter key, a hash-chained audit log and hashed email codes. We did not find in it QR scan-to-vote, an HMAC-keyed chain, a separate document store or email database, a sweep that reconciles ballots, receipts, flags and candidates, or published attack results. VeriVote has a SHA-256 chain in MongoDB with an audit endpoint and email codes, but no ranked counting, organisations or database rules. BetterVoting has ranked-choice, teams, QR sharing and receipts, but no database rules, ballot ledger or one-time code. So our claim is narrow and checkable: every feature exists somewhere, and we found no free small-election tool documenting all of them together. We do not claim to be more secure than the cryptographic systems. The search had limits, which we state.</a:t>
            </a:r>
          </a:p>
        </p:txBody>
      </p:sp>
      <p:sp>
        <p:nvSpPr>
          <p:cNvPr id="4" name="Slide Number Placeholder 3"/>
          <p:cNvSpPr>
            <a:spLocks noGrp="1"/>
          </p:cNvSpPr>
          <p:nvPr>
            <p:ph type="sldNum" idx="12"/>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verdict. For the problem we target, small and medium elections such as clubs, councils and classes, PolyVote is a good fit: ranked-choice results, an afternoon to set up, free to run, proof that edits and deletions are caught, and voters who confirm by email and can vote from a phone. The cryptographic systems are the better choice when the administrator cannot be trusted, when voters must verify their own ballot content, when coercion is a threat, or when a public cryptographic audit is required. We say this openly because it makes the claim credible. Our claim is modest: for small elections PolyVote adds database-level rules and tested tamper detection to an easy setup, and it is not the strongest on verifiability.</a:t>
            </a:r>
          </a:p>
        </p:txBody>
      </p:sp>
      <p:sp>
        <p:nvSpPr>
          <p:cNvPr id="4" name="Slide Number Placeholder 3"/>
          <p:cNvSpPr>
            <a:spLocks noGrp="1"/>
          </p:cNvSpPr>
          <p:nvPr>
            <p:ph type="sldNum" idx="12"/>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summary of improvements over our own Review 2 design. Automatic detection of tampering rises from six to twelve of thirteen. Forged receipts, rebuilt chains and renamed candidates move from undetected to detected. Authentication goes from password only to password plus an emailed code. The ledger moves to Atlas, and the system becomes publicly reachable. The cost is small: the sweep at ten thousand ballots goes from about one hundred and twenty-nine to about one hundred and forty-seven milliseconds.</a:t>
            </a:r>
          </a:p>
        </p:txBody>
      </p:sp>
      <p:sp>
        <p:nvSpPr>
          <p:cNvPr id="4" name="Slide Number Placeholder 3"/>
          <p:cNvSpPr>
            <a:spLocks noGrp="1"/>
          </p:cNvSpPr>
          <p:nvPr>
            <p:ph type="sldNum" idx="12"/>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 friend shared a launch checklist for websites, and we turned it into an automated check. The script experiments/web_checklist.py tests a running copy of the site against twenty-one items and prints pass, fail or not applicable with the evidence. Result on a local run of the current code: 17 pass, 4 not applicable, 0 fail. The pass items include a pre-rendered page shell with one heading and unique title and description for each page, robots.txt and a sitemap, canonical tags, a link-preview image, a custom 404 page, 301 redirects, lazy-loaded routes, structured data for the organisation and breadcrumbs, a privacy policy, and a contact form that stores messages and ignores bots. The four not-applicable items are HTTPS, because a local run is plain http and the hosting provider supplies it; WebP, because the pages have no raster images; and Google Analytics and Search Console, which need the owner's own identifiers and are built in but switched off. To be exact, the page shell is pre-rendered HTML that the React app then replaces; it is not full server-side rendering. We will rerun the same script against the public link after the next deploy.</a:t>
            </a:r>
          </a:p>
        </p:txBody>
      </p:sp>
      <p:sp>
        <p:nvSpPr>
          <p:cNvPr id="4" name="Slide Number Placeholder 3"/>
          <p:cNvSpPr>
            <a:spLocks noGrp="1"/>
          </p:cNvSpPr>
          <p:nvPr>
            <p:ph type="sldNum" idx="12"/>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Privacy and ethics, taken from our own privacy page. The table shows where each piece of data lives. The registration number and a password hash are in the election database. The voter's email address is in a separate verification database and is never stored with ballots. The one-time code is stored only as a keyed hash and lasts five minutes. The ballot is stored under a random token with no voter column, and the receipt block holds the token and a hash of the ranks. Contact messages are readable by administrators only. The ethical points we want to be upfront about. The demo uses sample data and resets when the server restarts. Election officers can see the roster, the emails and an outbox that lists codes for ten minutes; we kept the outbox so a live demo never stalls on a slow email, and a real election should switch it off. A receipt shows a ballot is counted but not what it says, though anyone holding both the token and database access could see that one ballot. There are no tracking cookies. And this is a course project with no independent security review and plain SHA-256 password hashing, so it is not for binding elections yet.</a:t>
            </a:r>
          </a:p>
        </p:txBody>
      </p:sp>
      <p:sp>
        <p:nvSpPr>
          <p:cNvPr id="4" name="Slide Number Placeholder 3"/>
          <p:cNvSpPr>
            <a:spLocks noGrp="1"/>
          </p:cNvSpPr>
          <p:nvPr>
            <p:ph type="sldNum" idx="12"/>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we do not claim. An insider holding the key and both stores can still forge a chain; the remedy is an external witness for the chain head. Roster injection is not detected; we need a committed roster. We are not end-to-end verifiable. Passwords are stored with plain SHA-256, which we know should be a salted slow hash. Email is a weak factor compared with an authenticator app. Ties in instant-runoff are broken arbitrarily. And SQLite is a single-node engine with per-connection foreign keys, so the planned move to Oracle with PL/SQL and roles also fixes that.</a:t>
            </a:r>
          </a:p>
        </p:txBody>
      </p:sp>
      <p:sp>
        <p:nvSpPr>
          <p:cNvPr id="4" name="Slide Number Placeholder 3"/>
          <p:cNvSpPr>
            <a:spLocks noGrp="1"/>
          </p:cNvSpPr>
          <p:nvPr>
            <p:ph type="sldNum" idx="12"/>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 glossary for anyone new to these words. A hash is a fingerprint of data. An HMAC is a hash made with a secret key, so only the key holder can produce a valid one. A hash chain links records so that editing one breaks all later links. The ledger is the append-only list of receipts, one block per ballot. Instant-runoff is the counting method: rank candidates, and each round the last-place candidate drops out and their ballots move to their next choice until someone has a majority. An OTP is a one-time password, a short code that works once and expires. The roster hash is a fingerprint of the candidate list sealed into every block. The receipt token shows a ballot is recorded but not how it voted. Triggers, CHECK and UNIQUE constraints are rules the database enforces itself. The integrity sweep recomputes the election from the database and compares it with the ledger. Polyglot persistence means using different databases for different jobs, and multi-tenant means many organisations share one install.</a:t>
            </a:r>
          </a:p>
        </p:txBody>
      </p:sp>
      <p:sp>
        <p:nvSpPr>
          <p:cNvPr id="4" name="Slide Number Placeholder 3"/>
          <p:cNvSpPr>
            <a:spLocks noGrp="1"/>
          </p:cNvSpPr>
          <p:nvPr>
            <p:ph type="sldNum" idx="12"/>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back-up slide for any question that starts with how do you know. Each claim in the deck maps to something that can be rerun or opened. The tampering numbers come from the executable suite, run three times with identical outcomes. The prevention and one-time-code results come from the same experiments script. The benchmark numbers are medians of three runs, with the Atlas figures from a separate script. The website checklist is an automated script with its output saved. And everything we say about other systems comes from their own pages, READMEs and papers, with a URL for every cell in the evidence file. The search method and its limits are at the bottom: twenty-three web queries, twenty GitHub repository searches, thirty-three systems, on the twenty-third of October, without GitHub code search or non-English and private repositories.</a:t>
            </a:r>
          </a:p>
        </p:txBody>
      </p:sp>
      <p:sp>
        <p:nvSpPr>
          <p:cNvPr id="4" name="Slide Number Placeholder 3"/>
          <p:cNvSpPr>
            <a:spLocks noGrp="1"/>
          </p:cNvSpPr>
          <p:nvPr>
            <p:ph type="sldNum" idx="12"/>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We narrowed the list to conferences held in India and hosted by an institution in the NIRF top one hundred, using the 2025 India Rankings, which are the latest published; a 2026 edition has not been released, so ranks could change. The cheapest is SCES at Motilal Nehru National Institute in Prayagraj, about five thousand nine hundred rupees. SANKALP at the IIIT in Gwalior costs seven thousand and shows an IEEE record number. ICESICSC at KIIT closes on the thirtieth of October. Confluence at Amity Noida is nine thousand four hundred and forty with tax and also shows an IEEE record number. INDIACom and ICICC are borderline, because only the parent university is ranked, not the institute or college that hosts. i-PACT is on our own campus at VIT. Indexing: a record number on an official page is not confirmation of IEEE Xplore, and every other venue only claims it. We dropped ICRCICN, IEM-ICDC, iConCISE and ICPCSN because their hosts are not in the top one hundred.</a:t>
            </a:r>
          </a:p>
        </p:txBody>
      </p:sp>
      <p:sp>
        <p:nvSpPr>
          <p:cNvPr id="4" name="Slide Number Placeholder 3"/>
          <p:cNvSpPr>
            <a:spLocks noGrp="1"/>
          </p:cNvSpPr>
          <p:nvPr>
            <p:ph type="sldNum" idx="12"/>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recommended order within the India and NIRF filter, remembering that we cannot submit to two venues at the same time. SANKALP at the IIIT in Gwalior is first: it shows an IEEE record number, has security and distributed-database tracks, and costs seven thousand rupees. Confluence at Amity Noida is second, also with an IEEE record number. ICESICSC at KIIT closes on the thirtieth of October, so it is only realistic if the paper already fits its template. INDIACom is borderline because only the parent university is ranked. i-PACT is on our own campus but is a power-engineering conference. Before submitting, verify each record number on the IEEE site, recheck deadlines and the NIRF edition, remove author names for double-blind venues, and follow each venue's AI-disclosure policy.</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gamma.app/?utm_source=made-with-gamma" TargetMode="External"/><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master 1">
  <p:cSld name="Slide master 1">
    <p:bg>
      <p:bgPr>
        <a:solidFill>
          <a:srgbClr val="FFFFFF"/>
        </a:solidFill>
      </p:bgPr>
    </p:bg>
    <p:spTree>
      <p:nvGrpSpPr>
        <p:cNvPr id="10" name="Shape 10"/>
        <p:cNvGrpSpPr/>
        <p:nvPr/>
      </p:nvGrpSpPr>
      <p:grpSpPr>
        <a:xfrm>
          <a:off x="0" y="0"/>
          <a:ext cx="0" cy="0"/>
          <a:chOff x="0" y="0"/>
          <a:chExt cx="0" cy="0"/>
        </a:xfrm>
      </p:grpSpPr>
      <p:pic>
        <p:nvPicPr>
          <p:cNvPr descr="preencoded.png" id="11" name="Google Shape;11;p2">
            <a:hlinkClick r:id="rId2"/>
          </p:cNvPr>
          <p:cNvPicPr preferRelativeResize="0"/>
          <p:nvPr/>
        </p:nvPicPr>
        <p:blipFill rotWithShape="1">
          <a:blip r:embed="rId3">
            <a:alphaModFix/>
          </a:blip>
          <a:srcRect b="0" l="0" r="0" t="0"/>
          <a:stretch/>
        </p:blipFill>
        <p:spPr>
          <a:xfrm>
            <a:off x="8029180" y="4844491"/>
            <a:ext cx="1071843" cy="25603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2" name="Shape 12"/>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p:cSld name="CONTENT">
    <p:bg>
      <p:bgPr>
        <a:solidFill>
          <a:schemeClr val="lt1"/>
        </a:solidFill>
      </p:bgPr>
    </p:bg>
    <p:spTree>
      <p:nvGrpSpPr>
        <p:cNvPr id="13" name="Shape 13"/>
        <p:cNvGrpSpPr/>
        <p:nvPr/>
      </p:nvGrpSpPr>
      <p:grpSpPr>
        <a:xfrm>
          <a:off x="0" y="0"/>
          <a:ext cx="0" cy="0"/>
          <a:chOff x="0" y="0"/>
          <a:chExt cx="0" cy="0"/>
        </a:xfrm>
      </p:grpSpPr>
      <p:sp>
        <p:nvSpPr>
          <p:cNvPr id="14" name="Google Shape;14;p4"/>
          <p:cNvSpPr txBox="1"/>
          <p:nvPr>
            <p:ph type="title"/>
          </p:nvPr>
        </p:nvSpPr>
        <p:spPr>
          <a:xfrm>
            <a:off x="411480" y="240030"/>
            <a:ext cx="8318700" cy="617100"/>
          </a:xfrm>
          <a:prstGeom prst="rect">
            <a:avLst/>
          </a:prstGeom>
          <a:noFill/>
          <a:ln>
            <a:noFill/>
          </a:ln>
        </p:spPr>
        <p:txBody>
          <a:bodyPr anchorCtr="0" anchor="t" bIns="34275" lIns="68575" spcFirstLastPara="1" rIns="68575" wrap="square" tIns="34275">
            <a:noAutofit/>
          </a:bodyPr>
          <a:lstStyle>
            <a:lvl1pPr lvl="0" marR="0" algn="l">
              <a:spcBef>
                <a:spcPts val="0"/>
              </a:spcBef>
              <a:spcAft>
                <a:spcPts val="0"/>
              </a:spcAft>
              <a:buClr>
                <a:schemeClr val="dk2"/>
              </a:buClr>
              <a:buSzPts val="2400"/>
              <a:buFont typeface="Cambria"/>
              <a:buNone/>
              <a:defRPr b="1" i="0" sz="2400" u="none" cap="none" strike="noStrike">
                <a:solidFill>
                  <a:schemeClr val="dk2"/>
                </a:solidFill>
                <a:latin typeface="Cambria"/>
                <a:ea typeface="Cambria"/>
                <a:cs typeface="Cambria"/>
                <a:sym typeface="Cambria"/>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p:txBody>
      </p:sp>
      <p:sp>
        <p:nvSpPr>
          <p:cNvPr id="15" name="Google Shape;15;p4"/>
          <p:cNvSpPr/>
          <p:nvPr/>
        </p:nvSpPr>
        <p:spPr>
          <a:xfrm>
            <a:off x="411480" y="4800600"/>
            <a:ext cx="6172200" cy="20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5"/>
              </a:buClr>
              <a:buSzPts val="800"/>
              <a:buFont typeface="Calibri"/>
              <a:buNone/>
            </a:pPr>
            <a:r>
              <a:rPr b="0" i="0" lang="en-US" sz="800" u="none" cap="none" strike="noStrike">
                <a:solidFill>
                  <a:schemeClr val="accent5"/>
                </a:solidFill>
                <a:latin typeface="Calibri"/>
                <a:ea typeface="Calibri"/>
                <a:cs typeface="Calibri"/>
                <a:sym typeface="Calibri"/>
              </a:rPr>
              <a:t>BACSE291 – Innovative Design Project  |  First Review  |  Fall Semester 2026</a:t>
            </a:r>
            <a:endParaRPr b="0" i="0" sz="800" u="none" cap="none" strike="noStrike">
              <a:solidFill>
                <a:schemeClr val="dk1"/>
              </a:solidFill>
              <a:latin typeface="Calibri"/>
              <a:ea typeface="Calibri"/>
              <a:cs typeface="Calibri"/>
              <a:sym typeface="Calibri"/>
            </a:endParaRPr>
          </a:p>
        </p:txBody>
      </p:sp>
      <p:sp>
        <p:nvSpPr>
          <p:cNvPr id="16" name="Google Shape;16;p4"/>
          <p:cNvSpPr txBox="1"/>
          <p:nvPr>
            <p:ph idx="12" type="sldNum"/>
          </p:nvPr>
        </p:nvSpPr>
        <p:spPr>
          <a:xfrm>
            <a:off x="8181594" y="4800600"/>
            <a:ext cx="548400" cy="205800"/>
          </a:xfrm>
          <a:prstGeom prst="rect">
            <a:avLst/>
          </a:prstGeom>
          <a:noFill/>
          <a:ln>
            <a:noFill/>
          </a:ln>
        </p:spPr>
        <p:txBody>
          <a:bodyPr anchorCtr="0" anchor="t" bIns="34275" lIns="68575" spcFirstLastPara="1" rIns="68575" wrap="square" tIns="34275">
            <a:noAutofit/>
          </a:bodyPr>
          <a:lstStyle>
            <a:lvl1pPr indent="0" lvl="0" marL="0" marR="0" algn="r">
              <a:spcBef>
                <a:spcPts val="0"/>
              </a:spcBef>
              <a:buNone/>
              <a:defRPr b="0" i="0" sz="800" u="none" cap="none" strike="noStrike">
                <a:solidFill>
                  <a:schemeClr val="accent5"/>
                </a:solidFill>
                <a:latin typeface="Calibri"/>
                <a:ea typeface="Calibri"/>
                <a:cs typeface="Calibri"/>
                <a:sym typeface="Calibri"/>
              </a:defRPr>
            </a:lvl1pPr>
            <a:lvl2pPr indent="0" lvl="1" marL="0" marR="0" algn="r">
              <a:spcBef>
                <a:spcPts val="0"/>
              </a:spcBef>
              <a:buNone/>
              <a:defRPr b="0" i="0" sz="800" u="none" cap="none" strike="noStrike">
                <a:solidFill>
                  <a:schemeClr val="accent5"/>
                </a:solidFill>
                <a:latin typeface="Calibri"/>
                <a:ea typeface="Calibri"/>
                <a:cs typeface="Calibri"/>
                <a:sym typeface="Calibri"/>
              </a:defRPr>
            </a:lvl2pPr>
            <a:lvl3pPr indent="0" lvl="2" marL="0" marR="0" algn="r">
              <a:spcBef>
                <a:spcPts val="0"/>
              </a:spcBef>
              <a:buNone/>
              <a:defRPr b="0" i="0" sz="800" u="none" cap="none" strike="noStrike">
                <a:solidFill>
                  <a:schemeClr val="accent5"/>
                </a:solidFill>
                <a:latin typeface="Calibri"/>
                <a:ea typeface="Calibri"/>
                <a:cs typeface="Calibri"/>
                <a:sym typeface="Calibri"/>
              </a:defRPr>
            </a:lvl3pPr>
            <a:lvl4pPr indent="0" lvl="3" marL="0" marR="0" algn="r">
              <a:spcBef>
                <a:spcPts val="0"/>
              </a:spcBef>
              <a:buNone/>
              <a:defRPr b="0" i="0" sz="800" u="none" cap="none" strike="noStrike">
                <a:solidFill>
                  <a:schemeClr val="accent5"/>
                </a:solidFill>
                <a:latin typeface="Calibri"/>
                <a:ea typeface="Calibri"/>
                <a:cs typeface="Calibri"/>
                <a:sym typeface="Calibri"/>
              </a:defRPr>
            </a:lvl4pPr>
            <a:lvl5pPr indent="0" lvl="4" marL="0" marR="0" algn="r">
              <a:spcBef>
                <a:spcPts val="0"/>
              </a:spcBef>
              <a:buNone/>
              <a:defRPr b="0" i="0" sz="800" u="none" cap="none" strike="noStrike">
                <a:solidFill>
                  <a:schemeClr val="accent5"/>
                </a:solidFill>
                <a:latin typeface="Calibri"/>
                <a:ea typeface="Calibri"/>
                <a:cs typeface="Calibri"/>
                <a:sym typeface="Calibri"/>
              </a:defRPr>
            </a:lvl5pPr>
            <a:lvl6pPr indent="0" lvl="5" marL="0" marR="0" algn="r">
              <a:spcBef>
                <a:spcPts val="0"/>
              </a:spcBef>
              <a:buNone/>
              <a:defRPr b="0" i="0" sz="800" u="none" cap="none" strike="noStrike">
                <a:solidFill>
                  <a:schemeClr val="accent5"/>
                </a:solidFill>
                <a:latin typeface="Calibri"/>
                <a:ea typeface="Calibri"/>
                <a:cs typeface="Calibri"/>
                <a:sym typeface="Calibri"/>
              </a:defRPr>
            </a:lvl6pPr>
            <a:lvl7pPr indent="0" lvl="6" marL="0" marR="0" algn="r">
              <a:spcBef>
                <a:spcPts val="0"/>
              </a:spcBef>
              <a:buNone/>
              <a:defRPr b="0" i="0" sz="800" u="none" cap="none" strike="noStrike">
                <a:solidFill>
                  <a:schemeClr val="accent5"/>
                </a:solidFill>
                <a:latin typeface="Calibri"/>
                <a:ea typeface="Calibri"/>
                <a:cs typeface="Calibri"/>
                <a:sym typeface="Calibri"/>
              </a:defRPr>
            </a:lvl7pPr>
            <a:lvl8pPr indent="0" lvl="7" marL="0" marR="0" algn="r">
              <a:spcBef>
                <a:spcPts val="0"/>
              </a:spcBef>
              <a:buNone/>
              <a:defRPr b="0" i="0" sz="800" u="none" cap="none" strike="noStrike">
                <a:solidFill>
                  <a:schemeClr val="accent5"/>
                </a:solidFill>
                <a:latin typeface="Calibri"/>
                <a:ea typeface="Calibri"/>
                <a:cs typeface="Calibri"/>
                <a:sym typeface="Calibri"/>
              </a:defRPr>
            </a:lvl8pPr>
            <a:lvl9pPr indent="0" lvl="8" marL="0" marR="0" algn="r">
              <a:spcBef>
                <a:spcPts val="0"/>
              </a:spcBef>
              <a:buNone/>
              <a:defRPr b="0" i="0" sz="800" u="none" cap="none" strike="noStrike">
                <a:solidFill>
                  <a:schemeClr val="accent5"/>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5.jp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notesSlide" Target="../notesSlides/notesSlide1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1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notesSlide" Target="../notesSlides/notesSlide1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notesSlide" Target="../notesSlides/notesSlide2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 name="Shape 21"/>
        <p:cNvGrpSpPr/>
        <p:nvPr/>
      </p:nvGrpSpPr>
      <p:grpSpPr>
        <a:xfrm>
          <a:off x="0" y="0"/>
          <a:ext cx="0" cy="0"/>
          <a:chOff x="0" y="0"/>
          <a:chExt cx="0" cy="0"/>
        </a:xfrm>
      </p:grpSpPr>
      <p:sp>
        <p:nvSpPr>
          <p:cNvPr id="22" name="Google Shape;22;p5"/>
          <p:cNvSpPr/>
          <p:nvPr/>
        </p:nvSpPr>
        <p:spPr>
          <a:xfrm>
            <a:off x="342900" y="304800"/>
            <a:ext cx="2281238"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 name="Google Shape;23;p5"/>
          <p:cNvSpPr/>
          <p:nvPr/>
        </p:nvSpPr>
        <p:spPr>
          <a:xfrm>
            <a:off x="440010" y="353318"/>
            <a:ext cx="2544217"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BACSE202 · Fall Semester 2026</a:t>
            </a:r>
            <a:endParaRPr b="0" i="0" sz="1000" u="none" cap="none" strike="noStrike">
              <a:solidFill>
                <a:schemeClr val="dk1"/>
              </a:solidFill>
              <a:latin typeface="Calibri"/>
              <a:ea typeface="Calibri"/>
              <a:cs typeface="Calibri"/>
              <a:sym typeface="Calibri"/>
            </a:endParaRPr>
          </a:p>
        </p:txBody>
      </p:sp>
      <p:sp>
        <p:nvSpPr>
          <p:cNvPr id="24" name="Google Shape;24;p5"/>
          <p:cNvSpPr/>
          <p:nvPr/>
        </p:nvSpPr>
        <p:spPr>
          <a:xfrm>
            <a:off x="342900" y="700996"/>
            <a:ext cx="5181600" cy="398115"/>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2850"/>
              <a:buFont typeface="Inter"/>
              <a:buNone/>
            </a:pPr>
            <a:r>
              <a:rPr b="1" i="0" lang="en-US" sz="2850" u="none" cap="none" strike="noStrike">
                <a:solidFill>
                  <a:srgbClr val="1B2A55"/>
                </a:solidFill>
                <a:latin typeface="Inter"/>
                <a:ea typeface="Inter"/>
                <a:cs typeface="Inter"/>
                <a:sym typeface="Inter"/>
              </a:rPr>
              <a:t>PolyVote</a:t>
            </a:r>
            <a:endParaRPr b="0" i="0" sz="2850" u="none" cap="none" strike="noStrike">
              <a:solidFill>
                <a:schemeClr val="dk1"/>
              </a:solidFill>
              <a:latin typeface="Calibri"/>
              <a:ea typeface="Calibri"/>
              <a:cs typeface="Calibri"/>
              <a:sym typeface="Calibri"/>
            </a:endParaRPr>
          </a:p>
        </p:txBody>
      </p:sp>
      <p:sp>
        <p:nvSpPr>
          <p:cNvPr id="25" name="Google Shape;25;p5"/>
          <p:cNvSpPr/>
          <p:nvPr/>
        </p:nvSpPr>
        <p:spPr>
          <a:xfrm>
            <a:off x="342900" y="1250677"/>
            <a:ext cx="5181600" cy="441871"/>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200"/>
              <a:buFont typeface="Inter"/>
              <a:buNone/>
            </a:pPr>
            <a:r>
              <a:rPr b="1" i="0" lang="en-US" sz="1200" u="none" cap="none" strike="noStrike">
                <a:solidFill>
                  <a:srgbClr val="1B2A55"/>
                </a:solidFill>
                <a:latin typeface="Inter"/>
                <a:ea typeface="Inter"/>
                <a:cs typeface="Inter"/>
                <a:sym typeface="Inter"/>
              </a:rPr>
              <a:t>A Multi-Tenant, Ranked-Choice Election Platform with a Tamper-Evident Audit Trail</a:t>
            </a:r>
            <a:endParaRPr b="0" i="0" sz="1200" u="none" cap="none" strike="noStrike">
              <a:solidFill>
                <a:schemeClr val="dk1"/>
              </a:solidFill>
              <a:latin typeface="Calibri"/>
              <a:ea typeface="Calibri"/>
              <a:cs typeface="Calibri"/>
              <a:sym typeface="Calibri"/>
            </a:endParaRPr>
          </a:p>
        </p:txBody>
      </p:sp>
      <p:sp>
        <p:nvSpPr>
          <p:cNvPr id="26" name="Google Shape;26;p5"/>
          <p:cNvSpPr/>
          <p:nvPr/>
        </p:nvSpPr>
        <p:spPr>
          <a:xfrm>
            <a:off x="342900" y="1837804"/>
            <a:ext cx="54483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Reviews 2 and 3 · Final Project Review · Guide: Dr. Katari Balakrishna</a:t>
            </a:r>
            <a:endParaRPr b="0" i="0" sz="950" u="none" cap="none" strike="noStrike">
              <a:solidFill>
                <a:schemeClr val="dk1"/>
              </a:solidFill>
              <a:latin typeface="Calibri"/>
              <a:ea typeface="Calibri"/>
              <a:cs typeface="Calibri"/>
              <a:sym typeface="Calibri"/>
            </a:endParaRPr>
          </a:p>
        </p:txBody>
      </p:sp>
      <p:graphicFrame>
        <p:nvGraphicFramePr>
          <p:cNvPr id="27" name="Google Shape;27;p5"/>
          <p:cNvGraphicFramePr/>
          <p:nvPr/>
        </p:nvGraphicFramePr>
        <p:xfrm>
          <a:off x="342900" y="3147864"/>
          <a:ext cx="3000000" cy="3000000"/>
        </p:xfrm>
        <a:graphic>
          <a:graphicData uri="http://schemas.openxmlformats.org/drawingml/2006/table">
            <a:tbl>
              <a:tblPr>
                <a:noFill/>
                <a:tableStyleId>{CF56F632-080D-41BD-B1F7-19A39A7C3095}</a:tableStyleId>
              </a:tblPr>
              <a:tblGrid>
                <a:gridCol w="628350"/>
                <a:gridCol w="2586875"/>
                <a:gridCol w="1966350"/>
              </a:tblGrid>
              <a:tr h="373775">
                <a:tc>
                  <a:txBody>
                    <a:bodyPr/>
                    <a:lstStyle/>
                    <a:p>
                      <a:pPr indent="0" lvl="0" marL="0" marR="0" rtl="0" algn="l">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S.No</a:t>
                      </a:r>
                      <a:endParaRPr sz="1300" u="none" cap="none" strike="noStrike">
                        <a:latin typeface="Inter"/>
                        <a:ea typeface="Inter"/>
                        <a:cs typeface="Inter"/>
                        <a:sym typeface="Inter"/>
                      </a:endParaRPr>
                    </a:p>
                  </a:txBody>
                  <a:tcPr marT="64775" marB="64775" marR="121450" marL="121450" anchor="ctr">
                    <a:lnL cap="flat" cmpd="sng" w="12700">
                      <a:solidFill>
                        <a:srgbClr val="D9D9E4"/>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Name</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Register No</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373775">
                <a:tc>
                  <a:txBody>
                    <a:bodyPr/>
                    <a:lstStyle/>
                    <a:p>
                      <a:pPr indent="0" lvl="0" marL="0" marR="0" rtl="0" algn="l">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1</a:t>
                      </a:r>
                      <a:endParaRPr sz="1300" u="none" cap="none" strike="noStrike">
                        <a:latin typeface="Inter"/>
                        <a:ea typeface="Inter"/>
                        <a:cs typeface="Inter"/>
                        <a:sym typeface="Inter"/>
                      </a:endParaRPr>
                    </a:p>
                  </a:txBody>
                  <a:tcPr marT="64775" marB="64775" marR="121450" marL="121450" anchor="ctr">
                    <a:lnL cap="flat" cmpd="sng" w="12700">
                      <a:solidFill>
                        <a:srgbClr val="D9D9E4"/>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Tharakesharasu Thennarasu</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25BCE2699</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373775">
                <a:tc>
                  <a:txBody>
                    <a:bodyPr/>
                    <a:lstStyle/>
                    <a:p>
                      <a:pPr indent="0" lvl="0" marL="0" marR="0" rtl="0" algn="l">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2</a:t>
                      </a:r>
                      <a:endParaRPr sz="1300" u="none" cap="none" strike="noStrike">
                        <a:latin typeface="Inter"/>
                        <a:ea typeface="Inter"/>
                        <a:cs typeface="Inter"/>
                        <a:sym typeface="Inter"/>
                      </a:endParaRPr>
                    </a:p>
                  </a:txBody>
                  <a:tcPr marT="64775" marB="64775" marR="121450" marL="121450" anchor="ctr">
                    <a:lnL cap="flat" cmpd="sng" w="12700">
                      <a:solidFill>
                        <a:srgbClr val="D9D9E4"/>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Pawan Durga Karthik</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25BCE27</a:t>
                      </a:r>
                      <a:r>
                        <a:rPr lang="en-US" sz="1300">
                          <a:solidFill>
                            <a:srgbClr val="1B2A55"/>
                          </a:solidFill>
                          <a:latin typeface="Inter"/>
                          <a:ea typeface="Inter"/>
                          <a:cs typeface="Inter"/>
                          <a:sym typeface="Inter"/>
                        </a:rPr>
                        <a:t>12</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364250">
                <a:tc>
                  <a:txBody>
                    <a:bodyPr/>
                    <a:lstStyle/>
                    <a:p>
                      <a:pPr indent="0" lvl="0" marL="0" marR="0" rtl="0" algn="l">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3</a:t>
                      </a:r>
                      <a:endParaRPr sz="1300" u="none" cap="none" strike="noStrike">
                        <a:latin typeface="Inter"/>
                        <a:ea typeface="Inter"/>
                        <a:cs typeface="Inter"/>
                        <a:sym typeface="Inter"/>
                      </a:endParaRPr>
                    </a:p>
                  </a:txBody>
                  <a:tcPr marT="64775" marB="64775" marR="121450" marL="121450" anchor="ctr">
                    <a:lnL cap="flat" cmpd="sng" w="12700">
                      <a:solidFill>
                        <a:srgbClr val="D9D9E4"/>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Shivam Malge</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25BCE0386</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bl>
          </a:graphicData>
        </a:graphic>
      </p:graphicFrame>
      <p:sp>
        <p:nvSpPr>
          <p:cNvPr id="28" name="Google Shape;28;p5"/>
          <p:cNvSpPr/>
          <p:nvPr/>
        </p:nvSpPr>
        <p:spPr>
          <a:xfrm>
            <a:off x="342900" y="4785866"/>
            <a:ext cx="54483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3 | Fall Semester 2026 · Slide 1</a:t>
            </a:r>
            <a:endParaRPr b="0" i="0" sz="950" u="none" cap="none" strike="noStrike">
              <a:solidFill>
                <a:schemeClr val="dk1"/>
              </a:solidFill>
              <a:latin typeface="Calibri"/>
              <a:ea typeface="Calibri"/>
              <a:cs typeface="Calibri"/>
              <a:sym typeface="Calibri"/>
            </a:endParaRPr>
          </a:p>
        </p:txBody>
      </p:sp>
      <p:sp>
        <p:nvSpPr>
          <p:cNvPr id="29" name="Google Shape;29;p5"/>
          <p:cNvSpPr/>
          <p:nvPr/>
        </p:nvSpPr>
        <p:spPr>
          <a:xfrm>
            <a:off x="5791200" y="0"/>
            <a:ext cx="3352800" cy="5143500"/>
          </a:xfrm>
          <a:prstGeom prst="rect">
            <a:avLst/>
          </a:prstGeom>
          <a:solidFill>
            <a:srgbClr val="F1F0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0" name="Google Shape;30;p5"/>
          <p:cNvPicPr preferRelativeResize="0"/>
          <p:nvPr/>
        </p:nvPicPr>
        <p:blipFill rotWithShape="1">
          <a:blip r:embed="rId3">
            <a:alphaModFix/>
          </a:blip>
          <a:srcRect b="0" l="0" r="0" t="0"/>
          <a:stretch/>
        </p:blipFill>
        <p:spPr>
          <a:xfrm>
            <a:off x="6019800" y="828526"/>
            <a:ext cx="2895600" cy="3505498"/>
          </a:xfrm>
          <a:prstGeom prst="rect">
            <a:avLst/>
          </a:prstGeom>
          <a:noFill/>
          <a:ln>
            <a:noFill/>
          </a:ln>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REVIEW 2 · WHERE WE STAND</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What we submitted, what we built, what changed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2</a:t>
            </a:r>
          </a:p>
        </p:txBody>
      </p:sp>
      <p:sp>
        <p:nvSpPr>
          <p:cNvPr id="6" name="Rounded Rectangle 5"/>
          <p:cNvSpPr/>
          <p:nvPr/>
        </p:nvSpPr>
        <p:spPr>
          <a:xfrm>
            <a:off x="457200" y="1097280"/>
            <a:ext cx="2587752" cy="22860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225296"/>
            <a:ext cx="117500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SUBMITTED</a:t>
            </a:r>
          </a:p>
        </p:txBody>
      </p:sp>
      <p:sp>
        <p:nvSpPr>
          <p:cNvPr id="8" name="TextBox 7"/>
          <p:cNvSpPr txBox="1"/>
          <p:nvPr/>
        </p:nvSpPr>
        <p:spPr>
          <a:xfrm>
            <a:off x="640080" y="1572768"/>
            <a:ext cx="2240280" cy="256032"/>
          </a:xfrm>
          <a:prstGeom prst="rect">
            <a:avLst/>
          </a:prstGeom>
          <a:noFill/>
        </p:spPr>
        <p:txBody>
          <a:bodyPr wrap="square" anchor="t" lIns="0" rIns="0" tIns="0" bIns="0">
            <a:spAutoFit/>
          </a:bodyPr>
          <a:lstStyle/>
          <a:p>
            <a:pPr algn="l">
              <a:spcAft>
                <a:spcPts val="0"/>
              </a:spcAft>
            </a:pPr>
            <a:r>
              <a:rPr sz="1500" b="1" i="0">
                <a:solidFill>
                  <a:srgbClr val="1B2A55"/>
                </a:solidFill>
                <a:latin typeface="Inter"/>
              </a:rPr>
              <a:t>Review 1</a:t>
            </a:r>
          </a:p>
        </p:txBody>
      </p:sp>
      <p:sp>
        <p:nvSpPr>
          <p:cNvPr id="9" name="TextBox 8"/>
          <p:cNvSpPr txBox="1"/>
          <p:nvPr/>
        </p:nvSpPr>
        <p:spPr>
          <a:xfrm>
            <a:off x="640080" y="1901952"/>
            <a:ext cx="2240280" cy="1371600"/>
          </a:xfrm>
          <a:prstGeom prst="rect">
            <a:avLst/>
          </a:prstGeom>
          <a:noFill/>
        </p:spPr>
        <p:txBody>
          <a:bodyPr wrap="square" anchor="t" lIns="0" rIns="0" tIns="0" bIns="0">
            <a:spAutoFit/>
          </a:bodyPr>
          <a:lstStyle/>
          <a:p>
            <a:pPr algn="l">
              <a:spcAft>
                <a:spcPts val="0"/>
              </a:spcAft>
            </a:pPr>
            <a:r>
              <a:rPr sz="1200" b="0" i="0">
                <a:solidFill>
                  <a:srgbClr val="353B4A"/>
                </a:solidFill>
                <a:latin typeface="Inter"/>
              </a:rPr>
              <a:t>Design, relational schema and ER diagram, security approach, literature review, and a planned architecture on Oracle, MongoDB and Streamlit.</a:t>
            </a:r>
          </a:p>
        </p:txBody>
      </p:sp>
      <p:sp>
        <p:nvSpPr>
          <p:cNvPr id="10" name="Rounded Rectangle 9"/>
          <p:cNvSpPr/>
          <p:nvPr/>
        </p:nvSpPr>
        <p:spPr>
          <a:xfrm>
            <a:off x="3282696" y="1097280"/>
            <a:ext cx="2587752" cy="22860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465576" y="1225296"/>
            <a:ext cx="79095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BUILT</a:t>
            </a:r>
          </a:p>
        </p:txBody>
      </p:sp>
      <p:sp>
        <p:nvSpPr>
          <p:cNvPr id="12" name="TextBox 11"/>
          <p:cNvSpPr txBox="1"/>
          <p:nvPr/>
        </p:nvSpPr>
        <p:spPr>
          <a:xfrm>
            <a:off x="3465576" y="1572768"/>
            <a:ext cx="2240280" cy="256032"/>
          </a:xfrm>
          <a:prstGeom prst="rect">
            <a:avLst/>
          </a:prstGeom>
          <a:noFill/>
        </p:spPr>
        <p:txBody>
          <a:bodyPr wrap="square" anchor="t" lIns="0" rIns="0" tIns="0" bIns="0">
            <a:spAutoFit/>
          </a:bodyPr>
          <a:lstStyle/>
          <a:p>
            <a:pPr algn="l">
              <a:spcAft>
                <a:spcPts val="0"/>
              </a:spcAft>
            </a:pPr>
            <a:r>
              <a:rPr sz="1500" b="1" i="0">
                <a:solidFill>
                  <a:srgbClr val="1B2A55"/>
                </a:solidFill>
                <a:latin typeface="Inter"/>
              </a:rPr>
              <a:t>Since Review 1</a:t>
            </a:r>
          </a:p>
        </p:txBody>
      </p:sp>
      <p:sp>
        <p:nvSpPr>
          <p:cNvPr id="13" name="TextBox 12"/>
          <p:cNvSpPr txBox="1"/>
          <p:nvPr/>
        </p:nvSpPr>
        <p:spPr>
          <a:xfrm>
            <a:off x="3465576" y="1901952"/>
            <a:ext cx="2240280" cy="1371600"/>
          </a:xfrm>
          <a:prstGeom prst="rect">
            <a:avLst/>
          </a:prstGeom>
          <a:noFill/>
        </p:spPr>
        <p:txBody>
          <a:bodyPr wrap="square" anchor="t" lIns="0" rIns="0" tIns="0" bIns="0">
            <a:spAutoFit/>
          </a:bodyPr>
          <a:lstStyle/>
          <a:p>
            <a:pPr algn="l">
              <a:spcAft>
                <a:spcPts val="0"/>
              </a:spcAft>
            </a:pPr>
            <a:r>
              <a:rPr sz="1200" b="0" i="0">
                <a:solidFill>
                  <a:srgbClr val="353B4A"/>
                </a:solidFill>
                <a:latin typeface="Inter"/>
              </a:rPr>
              <a:t>A working system: React voter booth and admin console, FastAPI service, SQLite schema with trigger and views, instant-runoff tally, hash-chained receipts and a live tamper test.</a:t>
            </a:r>
          </a:p>
        </p:txBody>
      </p:sp>
      <p:sp>
        <p:nvSpPr>
          <p:cNvPr id="14" name="Rounded Rectangle 13"/>
          <p:cNvSpPr/>
          <p:nvPr/>
        </p:nvSpPr>
        <p:spPr>
          <a:xfrm>
            <a:off x="6108192" y="1097280"/>
            <a:ext cx="2587752" cy="22860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91072" y="1225296"/>
            <a:ext cx="98298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CHANGED</a:t>
            </a:r>
          </a:p>
        </p:txBody>
      </p:sp>
      <p:sp>
        <p:nvSpPr>
          <p:cNvPr id="16" name="TextBox 15"/>
          <p:cNvSpPr txBox="1"/>
          <p:nvPr/>
        </p:nvSpPr>
        <p:spPr>
          <a:xfrm>
            <a:off x="6291072" y="1572768"/>
            <a:ext cx="2240280" cy="256032"/>
          </a:xfrm>
          <a:prstGeom prst="rect">
            <a:avLst/>
          </a:prstGeom>
          <a:noFill/>
        </p:spPr>
        <p:txBody>
          <a:bodyPr wrap="square" anchor="t" lIns="0" rIns="0" tIns="0" bIns="0">
            <a:spAutoFit/>
          </a:bodyPr>
          <a:lstStyle/>
          <a:p>
            <a:pPr algn="l">
              <a:spcAft>
                <a:spcPts val="0"/>
              </a:spcAft>
            </a:pPr>
            <a:r>
              <a:rPr sz="1500" b="1" i="0">
                <a:solidFill>
                  <a:srgbClr val="1B2A55"/>
                </a:solidFill>
                <a:latin typeface="Inter"/>
              </a:rPr>
              <a:t>And why</a:t>
            </a:r>
          </a:p>
        </p:txBody>
      </p:sp>
      <p:sp>
        <p:nvSpPr>
          <p:cNvPr id="17" name="TextBox 16"/>
          <p:cNvSpPr txBox="1"/>
          <p:nvPr/>
        </p:nvSpPr>
        <p:spPr>
          <a:xfrm>
            <a:off x="6291072" y="1901952"/>
            <a:ext cx="2240280" cy="1371600"/>
          </a:xfrm>
          <a:prstGeom prst="rect">
            <a:avLst/>
          </a:prstGeom>
          <a:noFill/>
        </p:spPr>
        <p:txBody>
          <a:bodyPr wrap="square" anchor="t" lIns="0" rIns="0" tIns="0" bIns="0">
            <a:spAutoFit/>
          </a:bodyPr>
          <a:lstStyle/>
          <a:p>
            <a:pPr algn="l">
              <a:spcAft>
                <a:spcPts val="0"/>
              </a:spcAft>
            </a:pPr>
            <a:r>
              <a:rPr sz="1200" b="0" i="0">
                <a:solidFill>
                  <a:srgbClr val="353B4A"/>
                </a:solidFill>
                <a:latin typeface="Inter"/>
              </a:rPr>
              <a:t>SQLite stands in for Oracle and a JSON document ledger for MongoDB; React + FastAPI now sits beside Streamlit; an ADMIN_USERS table was added.</a:t>
            </a:r>
          </a:p>
        </p:txBody>
      </p:sp>
      <p:sp>
        <p:nvSpPr>
          <p:cNvPr id="18" name="Rounded Rectangle 17"/>
          <p:cNvSpPr/>
          <p:nvPr/>
        </p:nvSpPr>
        <p:spPr>
          <a:xfrm>
            <a:off x="457200" y="3547872"/>
            <a:ext cx="8229600" cy="10972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621024"/>
            <a:ext cx="1554480" cy="640080"/>
          </a:xfrm>
          <a:prstGeom prst="rect">
            <a:avLst/>
          </a:prstGeom>
          <a:noFill/>
        </p:spPr>
        <p:txBody>
          <a:bodyPr wrap="square" anchor="ctr" lIns="0" rIns="0" tIns="0" bIns="0">
            <a:spAutoFit/>
          </a:bodyPr>
          <a:lstStyle/>
          <a:p>
            <a:pPr algn="l">
              <a:spcAft>
                <a:spcPts val="0"/>
              </a:spcAft>
            </a:pPr>
            <a:r>
              <a:rPr sz="4400" b="1" i="0">
                <a:solidFill>
                  <a:srgbClr val="1B2A55"/>
                </a:solidFill>
                <a:latin typeface="Inter"/>
              </a:rPr>
              <a:t>75%</a:t>
            </a:r>
          </a:p>
        </p:txBody>
      </p:sp>
      <p:sp>
        <p:nvSpPr>
          <p:cNvPr id="20" name="TextBox 19"/>
          <p:cNvSpPr txBox="1"/>
          <p:nvPr/>
        </p:nvSpPr>
        <p:spPr>
          <a:xfrm>
            <a:off x="685800" y="4242816"/>
            <a:ext cx="1737360" cy="274320"/>
          </a:xfrm>
          <a:prstGeom prst="rect">
            <a:avLst/>
          </a:prstGeom>
          <a:noFill/>
        </p:spPr>
        <p:txBody>
          <a:bodyPr wrap="square" anchor="t" lIns="0" rIns="0" tIns="0" bIns="0">
            <a:spAutoFit/>
          </a:bodyPr>
          <a:lstStyle/>
          <a:p>
            <a:pPr algn="l">
              <a:spcAft>
                <a:spcPts val="0"/>
              </a:spcAft>
            </a:pPr>
            <a:r>
              <a:rPr sz="1100" b="0" i="0">
                <a:solidFill>
                  <a:srgbClr val="666A78"/>
                </a:solidFill>
                <a:latin typeface="Inter"/>
              </a:rPr>
              <a:t>of the Review 1 scope</a:t>
            </a:r>
          </a:p>
        </p:txBody>
      </p:sp>
      <p:sp>
        <p:nvSpPr>
          <p:cNvPr id="21" name="TextBox 20"/>
          <p:cNvSpPr txBox="1"/>
          <p:nvPr/>
        </p:nvSpPr>
        <p:spPr>
          <a:xfrm>
            <a:off x="2560320" y="3675887"/>
            <a:ext cx="5943600" cy="914400"/>
          </a:xfrm>
          <a:prstGeom prst="rect">
            <a:avLst/>
          </a:prstGeom>
          <a:noFill/>
        </p:spPr>
        <p:txBody>
          <a:bodyPr wrap="square" anchor="t" lIns="0" rIns="0" tIns="0" bIns="0">
            <a:spAutoFit/>
          </a:bodyPr>
          <a:lstStyle/>
          <a:p>
            <a:pPr algn="l">
              <a:spcAft>
                <a:spcPts val="200"/>
              </a:spcAft>
            </a:pPr>
            <a:r>
              <a:rPr sz="1200" b="1" i="0">
                <a:solidFill>
                  <a:srgbClr val="1B2A55"/>
                </a:solidFill>
                <a:latin typeface="Inter"/>
              </a:rPr>
              <a:t>Left for the final review: </a:t>
            </a:r>
            <a:r>
              <a:rPr sz="1200" b="0" i="0">
                <a:solidFill>
                  <a:srgbClr val="353B4A"/>
                </a:solidFill>
                <a:latin typeface="Inter"/>
              </a:rPr>
              <a:t>Oracle with PL/SQL procedures and DCL, MongoDB Atlas, cloud deployment, and the POSITION entity.</a:t>
            </a:r>
          </a:p>
          <a:p>
            <a:pPr algn="l">
              <a:spcAft>
                <a:spcPts val="200"/>
              </a:spcAft>
            </a:pPr>
            <a:r>
              <a:rPr sz="1200" b="0" i="0">
                <a:solidFill>
                  <a:srgbClr val="353B4A"/>
                </a:solidFill>
                <a:latin typeface="Inter"/>
              </a:rPr>
              <a:t/>
            </a:r>
          </a:p>
          <a:p>
            <a:pPr algn="l">
              <a:spcAft>
                <a:spcPts val="200"/>
              </a:spcAft>
            </a:pPr>
            <a:r>
              <a:rPr sz="1200" b="1" i="0">
                <a:solidFill>
                  <a:srgbClr val="1B2A55"/>
                </a:solidFill>
                <a:latin typeface="Inter"/>
              </a:rPr>
              <a:t>Next: </a:t>
            </a:r>
            <a:r>
              <a:rPr sz="1200" b="0" i="0">
                <a:solidFill>
                  <a:srgbClr val="353B4A"/>
                </a:solidFill>
                <a:latin typeface="Inter"/>
              </a:rPr>
              <a:t>the design recap, updated diagrams, then the running system and its outputs.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 name="Shape 35"/>
        <p:cNvGrpSpPr/>
        <p:nvPr/>
      </p:nvGrpSpPr>
      <p:grpSpPr>
        <a:xfrm>
          <a:off x="0" y="0"/>
          <a:ext cx="0" cy="0"/>
          <a:chOff x="0" y="0"/>
          <a:chExt cx="0" cy="0"/>
        </a:xfrm>
      </p:grpSpPr>
      <p:sp>
        <p:nvSpPr>
          <p:cNvPr id="36" name="Google Shape;36;p6"/>
          <p:cNvSpPr/>
          <p:nvPr/>
        </p:nvSpPr>
        <p:spPr>
          <a:xfrm>
            <a:off x="457200" y="457200"/>
            <a:ext cx="8686800" cy="14853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950"/>
              <a:buFont typeface="Inter"/>
              <a:buNone/>
            </a:pPr>
            <a:r>
              <a:rPr b="1" i="0" lang="en-US" sz="950" u="none" cap="none" strike="noStrike">
                <a:solidFill>
                  <a:srgbClr val="1B2A55"/>
                </a:solidFill>
                <a:latin typeface="Inter"/>
                <a:ea typeface="Inter"/>
                <a:cs typeface="Inter"/>
                <a:sym typeface="Inter"/>
              </a:rPr>
              <a:t>SYSTEM RATIONALE</a:t>
            </a:r>
            <a:endParaRPr b="0" i="0" sz="950" u="none" cap="none" strike="noStrike">
              <a:solidFill>
                <a:schemeClr val="dk1"/>
              </a:solidFill>
              <a:latin typeface="Calibri"/>
              <a:ea typeface="Calibri"/>
              <a:cs typeface="Calibri"/>
              <a:sym typeface="Calibri"/>
            </a:endParaRPr>
          </a:p>
        </p:txBody>
      </p:sp>
      <p:sp>
        <p:nvSpPr>
          <p:cNvPr id="37" name="Google Shape;37;p6"/>
          <p:cNvSpPr/>
          <p:nvPr/>
        </p:nvSpPr>
        <p:spPr>
          <a:xfrm>
            <a:off x="457200" y="675382"/>
            <a:ext cx="8229600" cy="314325"/>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2250"/>
              <a:buFont typeface="Inter"/>
              <a:buNone/>
            </a:pPr>
            <a:r>
              <a:rPr b="1" i="0" lang="en-US" sz="2250" u="none" cap="none" strike="noStrike">
                <a:solidFill>
                  <a:srgbClr val="1B2A55"/>
                </a:solidFill>
                <a:latin typeface="Inter"/>
                <a:ea typeface="Inter"/>
                <a:cs typeface="Inter"/>
                <a:sym typeface="Inter"/>
              </a:rPr>
              <a:t>PolyVote tackles three weaknesses in digital elections</a:t>
            </a:r>
            <a:endParaRPr b="0" i="0" sz="2250" u="none" cap="none" strike="noStrike">
              <a:solidFill>
                <a:schemeClr val="dk1"/>
              </a:solidFill>
              <a:latin typeface="Calibri"/>
              <a:ea typeface="Calibri"/>
              <a:cs typeface="Calibri"/>
              <a:sym typeface="Calibri"/>
            </a:endParaRPr>
          </a:p>
        </p:txBody>
      </p:sp>
      <p:sp>
        <p:nvSpPr>
          <p:cNvPr id="38" name="Google Shape;38;p6"/>
          <p:cNvSpPr/>
          <p:nvPr/>
        </p:nvSpPr>
        <p:spPr>
          <a:xfrm>
            <a:off x="457200" y="1079599"/>
            <a:ext cx="2590800" cy="3294311"/>
          </a:xfrm>
          <a:prstGeom prst="roundRect">
            <a:avLst>
              <a:gd fmla="val 5294"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 name="Google Shape;39;p6"/>
          <p:cNvSpPr/>
          <p:nvPr/>
        </p:nvSpPr>
        <p:spPr>
          <a:xfrm>
            <a:off x="638175" y="1203424"/>
            <a:ext cx="839242"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6"/>
          <p:cNvSpPr/>
          <p:nvPr/>
        </p:nvSpPr>
        <p:spPr>
          <a:xfrm>
            <a:off x="735285" y="1251942"/>
            <a:ext cx="1102221"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PROBLEM</a:t>
            </a:r>
            <a:endParaRPr b="0" i="0" sz="1000" u="none" cap="none" strike="noStrike">
              <a:solidFill>
                <a:schemeClr val="dk1"/>
              </a:solidFill>
              <a:latin typeface="Calibri"/>
              <a:ea typeface="Calibri"/>
              <a:cs typeface="Calibri"/>
              <a:sym typeface="Calibri"/>
            </a:endParaRPr>
          </a:p>
        </p:txBody>
      </p:sp>
      <p:sp>
        <p:nvSpPr>
          <p:cNvPr id="41" name="Google Shape;41;p6"/>
          <p:cNvSpPr/>
          <p:nvPr/>
        </p:nvSpPr>
        <p:spPr>
          <a:xfrm>
            <a:off x="638175" y="1551161"/>
            <a:ext cx="222885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500"/>
              <a:buFont typeface="Inter"/>
              <a:buNone/>
            </a:pPr>
            <a:r>
              <a:rPr b="1" i="0" lang="en-US" sz="1500" u="none" cap="none" strike="noStrike">
                <a:solidFill>
                  <a:srgbClr val="1B2A55"/>
                </a:solidFill>
                <a:latin typeface="Inter"/>
                <a:ea typeface="Inter"/>
                <a:cs typeface="Inter"/>
                <a:sym typeface="Inter"/>
              </a:rPr>
              <a:t>Plurality &amp; Insider Risk</a:t>
            </a:r>
            <a:endParaRPr b="0" i="0" sz="1500" u="none" cap="none" strike="noStrike">
              <a:solidFill>
                <a:schemeClr val="dk1"/>
              </a:solidFill>
              <a:latin typeface="Calibri"/>
              <a:ea typeface="Calibri"/>
              <a:cs typeface="Calibri"/>
              <a:sym typeface="Calibri"/>
            </a:endParaRPr>
          </a:p>
        </p:txBody>
      </p:sp>
      <p:sp>
        <p:nvSpPr>
          <p:cNvPr id="42" name="Google Shape;42;p6"/>
          <p:cNvSpPr/>
          <p:nvPr/>
        </p:nvSpPr>
        <p:spPr>
          <a:xfrm>
            <a:off x="638175" y="1896450"/>
            <a:ext cx="2131200" cy="2100600"/>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200" u="none" cap="none" strike="noStrike">
                <a:solidFill>
                  <a:srgbClr val="1B2A55"/>
                </a:solidFill>
                <a:latin typeface="Inter"/>
                <a:ea typeface="Inter"/>
                <a:cs typeface="Inter"/>
                <a:sym typeface="Inter"/>
              </a:rPr>
              <a:t>Plurality records one choice and can split support across three or more candidates, producing a winner without majority backing. Single-election systems are hard to reuse across organizations, and an administrator with </a:t>
            </a:r>
            <a:r>
              <a:rPr b="0" i="0" lang="en-US" sz="1200" u="none" cap="none" strike="noStrike">
                <a:solidFill>
                  <a:srgbClr val="1B2A55"/>
                </a:solidFill>
                <a:highlight>
                  <a:srgbClr val="F1F0F6"/>
                </a:highlight>
                <a:latin typeface="Consolas"/>
                <a:ea typeface="Consolas"/>
                <a:cs typeface="Consolas"/>
                <a:sym typeface="Consolas"/>
              </a:rPr>
              <a:t>UPDATE</a:t>
            </a:r>
            <a:r>
              <a:rPr b="0" i="0" lang="en-US" sz="1200" u="none" cap="none" strike="noStrike">
                <a:solidFill>
                  <a:srgbClr val="1B2A55"/>
                </a:solidFill>
                <a:latin typeface="Inter"/>
                <a:ea typeface="Inter"/>
                <a:cs typeface="Inter"/>
                <a:sym typeface="Inter"/>
              </a:rPr>
              <a:t> access can silently alter results. </a:t>
            </a:r>
            <a:endParaRPr b="0" i="0" sz="1200" u="none" cap="none" strike="noStrike">
              <a:solidFill>
                <a:schemeClr val="dk1"/>
              </a:solidFill>
              <a:latin typeface="Calibri"/>
              <a:ea typeface="Calibri"/>
              <a:cs typeface="Calibri"/>
              <a:sym typeface="Calibri"/>
            </a:endParaRPr>
          </a:p>
        </p:txBody>
      </p:sp>
      <p:sp>
        <p:nvSpPr>
          <p:cNvPr id="43" name="Google Shape;43;p6"/>
          <p:cNvSpPr/>
          <p:nvPr/>
        </p:nvSpPr>
        <p:spPr>
          <a:xfrm>
            <a:off x="3276600" y="1079599"/>
            <a:ext cx="2590800" cy="3294311"/>
          </a:xfrm>
          <a:prstGeom prst="roundRect">
            <a:avLst>
              <a:gd fmla="val 5294"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p6"/>
          <p:cNvSpPr/>
          <p:nvPr/>
        </p:nvSpPr>
        <p:spPr>
          <a:xfrm>
            <a:off x="3457575" y="1203424"/>
            <a:ext cx="888727"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 name="Google Shape;45;p6"/>
          <p:cNvSpPr/>
          <p:nvPr/>
        </p:nvSpPr>
        <p:spPr>
          <a:xfrm>
            <a:off x="3554685" y="1251942"/>
            <a:ext cx="1151706"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SOLUTION</a:t>
            </a:r>
            <a:endParaRPr b="0" i="0" sz="1000" u="none" cap="none" strike="noStrike">
              <a:solidFill>
                <a:schemeClr val="dk1"/>
              </a:solidFill>
              <a:latin typeface="Calibri"/>
              <a:ea typeface="Calibri"/>
              <a:cs typeface="Calibri"/>
              <a:sym typeface="Calibri"/>
            </a:endParaRPr>
          </a:p>
        </p:txBody>
      </p:sp>
      <p:sp>
        <p:nvSpPr>
          <p:cNvPr id="46" name="Google Shape;46;p6"/>
          <p:cNvSpPr/>
          <p:nvPr/>
        </p:nvSpPr>
        <p:spPr>
          <a:xfrm>
            <a:off x="3457575" y="1551161"/>
            <a:ext cx="222885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500"/>
              <a:buFont typeface="Inter"/>
              <a:buNone/>
            </a:pPr>
            <a:r>
              <a:rPr b="1" i="0" lang="en-US" sz="1500" u="none" cap="none" strike="noStrike">
                <a:solidFill>
                  <a:srgbClr val="1B2A55"/>
                </a:solidFill>
                <a:latin typeface="Inter"/>
                <a:ea typeface="Inter"/>
                <a:cs typeface="Inter"/>
                <a:sym typeface="Inter"/>
              </a:rPr>
              <a:t>Ranked Choice &amp; Hash Chain</a:t>
            </a:r>
            <a:endParaRPr b="0" i="0" sz="1500" u="none" cap="none" strike="noStrike">
              <a:solidFill>
                <a:schemeClr val="dk1"/>
              </a:solidFill>
              <a:latin typeface="Calibri"/>
              <a:ea typeface="Calibri"/>
              <a:cs typeface="Calibri"/>
              <a:sym typeface="Calibri"/>
            </a:endParaRPr>
          </a:p>
        </p:txBody>
      </p:sp>
      <p:sp>
        <p:nvSpPr>
          <p:cNvPr id="47" name="Google Shape;47;p6"/>
          <p:cNvSpPr/>
          <p:nvPr/>
        </p:nvSpPr>
        <p:spPr>
          <a:xfrm>
            <a:off x="3457575" y="2125042"/>
            <a:ext cx="2228850" cy="1878211"/>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300" u="none" cap="none" strike="noStrike">
                <a:solidFill>
                  <a:srgbClr val="1B2A55"/>
                </a:solidFill>
                <a:latin typeface="Inter"/>
                <a:ea typeface="Inter"/>
                <a:cs typeface="Inter"/>
                <a:sym typeface="Inter"/>
              </a:rPr>
              <a:t>Let voters rank candidates, then use Instant-Runoff Voting (IRV). Host organizations in one tenant-scoped schema; separate voter identity from ballot content; link audit records in a hash chain. </a:t>
            </a:r>
            <a:endParaRPr b="0" i="0" sz="1300" u="none" cap="none" strike="noStrike">
              <a:solidFill>
                <a:schemeClr val="dk1"/>
              </a:solidFill>
              <a:latin typeface="Calibri"/>
              <a:ea typeface="Calibri"/>
              <a:cs typeface="Calibri"/>
              <a:sym typeface="Calibri"/>
            </a:endParaRPr>
          </a:p>
        </p:txBody>
      </p:sp>
      <p:sp>
        <p:nvSpPr>
          <p:cNvPr id="48" name="Google Shape;48;p6"/>
          <p:cNvSpPr/>
          <p:nvPr/>
        </p:nvSpPr>
        <p:spPr>
          <a:xfrm>
            <a:off x="6096000" y="1079599"/>
            <a:ext cx="2590800" cy="3294311"/>
          </a:xfrm>
          <a:prstGeom prst="roundRect">
            <a:avLst>
              <a:gd fmla="val 5294"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 name="Google Shape;49;p6"/>
          <p:cNvSpPr/>
          <p:nvPr/>
        </p:nvSpPr>
        <p:spPr>
          <a:xfrm>
            <a:off x="6276975" y="1203424"/>
            <a:ext cx="884039"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6"/>
          <p:cNvSpPr/>
          <p:nvPr/>
        </p:nvSpPr>
        <p:spPr>
          <a:xfrm>
            <a:off x="6374085" y="1251942"/>
            <a:ext cx="1147018"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OUTCOME</a:t>
            </a:r>
            <a:endParaRPr b="0" i="0" sz="1000" u="none" cap="none" strike="noStrike">
              <a:solidFill>
                <a:schemeClr val="dk1"/>
              </a:solidFill>
              <a:latin typeface="Calibri"/>
              <a:ea typeface="Calibri"/>
              <a:cs typeface="Calibri"/>
              <a:sym typeface="Calibri"/>
            </a:endParaRPr>
          </a:p>
        </p:txBody>
      </p:sp>
      <p:sp>
        <p:nvSpPr>
          <p:cNvPr id="51" name="Google Shape;51;p6"/>
          <p:cNvSpPr/>
          <p:nvPr/>
        </p:nvSpPr>
        <p:spPr>
          <a:xfrm>
            <a:off x="6276975" y="1551161"/>
            <a:ext cx="222885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500"/>
              <a:buFont typeface="Inter"/>
              <a:buNone/>
            </a:pPr>
            <a:r>
              <a:rPr b="1" i="0" lang="en-US" sz="1500" u="none" cap="none" strike="noStrike">
                <a:solidFill>
                  <a:srgbClr val="1B2A55"/>
                </a:solidFill>
                <a:latin typeface="Inter"/>
                <a:ea typeface="Inter"/>
                <a:cs typeface="Inter"/>
                <a:sym typeface="Inter"/>
              </a:rPr>
              <a:t>Reusable Web Service</a:t>
            </a:r>
            <a:endParaRPr b="0" i="0" sz="1500" u="none" cap="none" strike="noStrike">
              <a:solidFill>
                <a:schemeClr val="dk1"/>
              </a:solidFill>
              <a:latin typeface="Calibri"/>
              <a:ea typeface="Calibri"/>
              <a:cs typeface="Calibri"/>
              <a:sym typeface="Calibri"/>
            </a:endParaRPr>
          </a:p>
        </p:txBody>
      </p:sp>
      <p:sp>
        <p:nvSpPr>
          <p:cNvPr id="52" name="Google Shape;52;p6"/>
          <p:cNvSpPr/>
          <p:nvPr/>
        </p:nvSpPr>
        <p:spPr>
          <a:xfrm>
            <a:off x="6276975" y="1896442"/>
            <a:ext cx="2228850" cy="1408658"/>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300" u="none" cap="none" strike="noStrike">
                <a:solidFill>
                  <a:srgbClr val="1B2A55"/>
                </a:solidFill>
                <a:latin typeface="Inter"/>
                <a:ea typeface="Inter"/>
                <a:cs typeface="Inter"/>
                <a:sym typeface="Inter"/>
              </a:rPr>
              <a:t>A reusable, multi-organization web service (cloud hosting is planned for the final review), designed for a continuing-ballot majority winner, detectable record changes, and a secret ballot.</a:t>
            </a:r>
            <a:endParaRPr b="0" i="0" sz="1300" u="none" cap="none" strike="noStrike">
              <a:solidFill>
                <a:schemeClr val="dk1"/>
              </a:solidFill>
              <a:latin typeface="Calibri"/>
              <a:ea typeface="Calibri"/>
              <a:cs typeface="Calibri"/>
              <a:sym typeface="Calibri"/>
            </a:endParaRPr>
          </a:p>
        </p:txBody>
      </p:sp>
      <p:sp>
        <p:nvSpPr>
          <p:cNvPr id="53" name="Google Shape;53;p6"/>
          <p:cNvSpPr/>
          <p:nvPr/>
        </p:nvSpPr>
        <p:spPr>
          <a:xfrm>
            <a:off x="457200" y="4519166"/>
            <a:ext cx="86868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2 | Fall Semester 2026 · Slide 3</a:t>
            </a:r>
            <a:endParaRPr b="0" i="0" sz="950" u="none" cap="none" strike="noStrike">
              <a:solidFill>
                <a:schemeClr val="dk1"/>
              </a:solidFill>
              <a:latin typeface="Calibri"/>
              <a:ea typeface="Calibri"/>
              <a:cs typeface="Calibri"/>
              <a:sym typeface="Calibri"/>
            </a:endParaRPr>
          </a:p>
        </p:txBody>
      </p:sp>
      <p:sp>
        <p:nvSpPr>
          <p:cNvPr id="54" name="Google Shape;54;p6"/>
          <p:cNvSpPr/>
          <p:nvPr/>
        </p:nvSpPr>
        <p:spPr>
          <a:xfrm>
            <a:off x="8061875" y="4839725"/>
            <a:ext cx="1015800" cy="2424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7"/>
          <p:cNvSpPr/>
          <p:nvPr/>
        </p:nvSpPr>
        <p:spPr>
          <a:xfrm>
            <a:off x="457200" y="457200"/>
            <a:ext cx="8686800" cy="14123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950"/>
              <a:buFont typeface="Inter"/>
              <a:buNone/>
            </a:pPr>
            <a:r>
              <a:rPr b="1" i="0" lang="en-US" sz="950" u="none" cap="none" strike="noStrike">
                <a:solidFill>
                  <a:srgbClr val="1B2A55"/>
                </a:solidFill>
                <a:latin typeface="Inter"/>
                <a:ea typeface="Inter"/>
                <a:cs typeface="Inter"/>
                <a:sym typeface="Inter"/>
              </a:rPr>
              <a:t>CORE ARCHITECTURE</a:t>
            </a:r>
            <a:endParaRPr b="0" i="0" sz="950" u="none" cap="none" strike="noStrike">
              <a:solidFill>
                <a:schemeClr val="dk1"/>
              </a:solidFill>
              <a:latin typeface="Calibri"/>
              <a:ea typeface="Calibri"/>
              <a:cs typeface="Calibri"/>
              <a:sym typeface="Calibri"/>
            </a:endParaRPr>
          </a:p>
        </p:txBody>
      </p:sp>
      <p:sp>
        <p:nvSpPr>
          <p:cNvPr id="61" name="Google Shape;61;p7"/>
          <p:cNvSpPr/>
          <p:nvPr/>
        </p:nvSpPr>
        <p:spPr>
          <a:xfrm>
            <a:off x="457200" y="663582"/>
            <a:ext cx="8229600" cy="298772"/>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2150"/>
              <a:buFont typeface="Inter"/>
              <a:buNone/>
            </a:pPr>
            <a:r>
              <a:rPr b="1" i="0" lang="en-US" sz="2150" u="none" cap="none" strike="noStrike">
                <a:solidFill>
                  <a:srgbClr val="1B2A55"/>
                </a:solidFill>
                <a:latin typeface="Inter"/>
                <a:ea typeface="Inter"/>
                <a:cs typeface="Inter"/>
                <a:sym typeface="Inter"/>
              </a:rPr>
              <a:t>Six database techniques make the platform work</a:t>
            </a:r>
            <a:endParaRPr b="0" i="0" sz="2150" u="none" cap="none" strike="noStrike">
              <a:solidFill>
                <a:schemeClr val="dk1"/>
              </a:solidFill>
              <a:latin typeface="Calibri"/>
              <a:ea typeface="Calibri"/>
              <a:cs typeface="Calibri"/>
              <a:sym typeface="Calibri"/>
            </a:endParaRPr>
          </a:p>
        </p:txBody>
      </p:sp>
      <p:sp>
        <p:nvSpPr>
          <p:cNvPr id="62" name="Google Shape;62;p7"/>
          <p:cNvSpPr/>
          <p:nvPr/>
        </p:nvSpPr>
        <p:spPr>
          <a:xfrm>
            <a:off x="457200" y="1086445"/>
            <a:ext cx="268605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7"/>
          <p:cNvSpPr/>
          <p:nvPr/>
        </p:nvSpPr>
        <p:spPr>
          <a:xfrm>
            <a:off x="619125" y="1229320"/>
            <a:ext cx="269304" cy="269304"/>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4;p7"/>
          <p:cNvSpPr/>
          <p:nvPr/>
        </p:nvSpPr>
        <p:spPr>
          <a:xfrm>
            <a:off x="704924" y="1248594"/>
            <a:ext cx="554831"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1</a:t>
            </a:r>
            <a:endParaRPr b="0" i="0" sz="1800" u="none" cap="none" strike="noStrike">
              <a:solidFill>
                <a:schemeClr val="dk1"/>
              </a:solidFill>
              <a:latin typeface="Calibri"/>
              <a:ea typeface="Calibri"/>
              <a:cs typeface="Calibri"/>
              <a:sym typeface="Calibri"/>
            </a:endParaRPr>
          </a:p>
        </p:txBody>
      </p:sp>
      <p:sp>
        <p:nvSpPr>
          <p:cNvPr id="65" name="Google Shape;65;p7"/>
          <p:cNvSpPr/>
          <p:nvPr/>
        </p:nvSpPr>
        <p:spPr>
          <a:xfrm>
            <a:off x="964629" y="1272406"/>
            <a:ext cx="2016696" cy="217215"/>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Multi-Tenant Schema</a:t>
            </a:r>
            <a:endParaRPr b="0" i="0" sz="1450" u="none" cap="none" strike="noStrike">
              <a:solidFill>
                <a:schemeClr val="dk1"/>
              </a:solidFill>
              <a:latin typeface="Calibri"/>
              <a:ea typeface="Calibri"/>
              <a:cs typeface="Calibri"/>
              <a:sym typeface="Calibri"/>
            </a:endParaRPr>
          </a:p>
        </p:txBody>
      </p:sp>
      <p:sp>
        <p:nvSpPr>
          <p:cNvPr id="66" name="Google Shape;66;p7"/>
          <p:cNvSpPr/>
          <p:nvPr/>
        </p:nvSpPr>
        <p:spPr>
          <a:xfrm>
            <a:off x="964629" y="1594991"/>
            <a:ext cx="2016696" cy="767953"/>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One shared relational schema isolates tenant institutions through foreign-key predicates and row-level policies.</a:t>
            </a:r>
            <a:endParaRPr b="0" i="0" sz="1050" u="none" cap="none" strike="noStrike">
              <a:solidFill>
                <a:schemeClr val="dk1"/>
              </a:solidFill>
              <a:latin typeface="Calibri"/>
              <a:ea typeface="Calibri"/>
              <a:cs typeface="Calibri"/>
              <a:sym typeface="Calibri"/>
            </a:endParaRPr>
          </a:p>
        </p:txBody>
      </p:sp>
      <p:sp>
        <p:nvSpPr>
          <p:cNvPr id="67" name="Google Shape;67;p7"/>
          <p:cNvSpPr/>
          <p:nvPr/>
        </p:nvSpPr>
        <p:spPr>
          <a:xfrm>
            <a:off x="3257550" y="1086445"/>
            <a:ext cx="262890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7"/>
          <p:cNvSpPr/>
          <p:nvPr/>
        </p:nvSpPr>
        <p:spPr>
          <a:xfrm>
            <a:off x="3419475" y="1229320"/>
            <a:ext cx="269304" cy="269304"/>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 name="Google Shape;69;p7"/>
          <p:cNvSpPr/>
          <p:nvPr/>
        </p:nvSpPr>
        <p:spPr>
          <a:xfrm>
            <a:off x="3482206" y="1248594"/>
            <a:ext cx="601042"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2</a:t>
            </a:r>
            <a:endParaRPr b="0" i="0" sz="1800" u="none" cap="none" strike="noStrike">
              <a:solidFill>
                <a:schemeClr val="dk1"/>
              </a:solidFill>
              <a:latin typeface="Calibri"/>
              <a:ea typeface="Calibri"/>
              <a:cs typeface="Calibri"/>
              <a:sym typeface="Calibri"/>
            </a:endParaRPr>
          </a:p>
        </p:txBody>
      </p:sp>
      <p:sp>
        <p:nvSpPr>
          <p:cNvPr id="70" name="Google Shape;70;p7"/>
          <p:cNvSpPr/>
          <p:nvPr/>
        </p:nvSpPr>
        <p:spPr>
          <a:xfrm>
            <a:off x="3764979" y="1272406"/>
            <a:ext cx="1959546" cy="217215"/>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Instant-Runoff Tally</a:t>
            </a:r>
            <a:endParaRPr b="0" i="0" sz="1450" u="none" cap="none" strike="noStrike">
              <a:solidFill>
                <a:schemeClr val="dk1"/>
              </a:solidFill>
              <a:latin typeface="Calibri"/>
              <a:ea typeface="Calibri"/>
              <a:cs typeface="Calibri"/>
              <a:sym typeface="Calibri"/>
            </a:endParaRPr>
          </a:p>
        </p:txBody>
      </p:sp>
      <p:sp>
        <p:nvSpPr>
          <p:cNvPr id="71" name="Google Shape;71;p7"/>
          <p:cNvSpPr/>
          <p:nvPr/>
        </p:nvSpPr>
        <p:spPr>
          <a:xfrm>
            <a:off x="3764979" y="1594991"/>
            <a:ext cx="1959546" cy="767953"/>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Tallies first choices, eliminates lowest candidates iteratively, and redistributes votes until reaching a true majority.</a:t>
            </a:r>
            <a:endParaRPr b="0" i="0" sz="1050" u="none" cap="none" strike="noStrike">
              <a:solidFill>
                <a:schemeClr val="dk1"/>
              </a:solidFill>
              <a:latin typeface="Calibri"/>
              <a:ea typeface="Calibri"/>
              <a:cs typeface="Calibri"/>
              <a:sym typeface="Calibri"/>
            </a:endParaRPr>
          </a:p>
        </p:txBody>
      </p:sp>
      <p:sp>
        <p:nvSpPr>
          <p:cNvPr id="72" name="Google Shape;72;p7"/>
          <p:cNvSpPr/>
          <p:nvPr/>
        </p:nvSpPr>
        <p:spPr>
          <a:xfrm>
            <a:off x="6000750" y="1086445"/>
            <a:ext cx="268605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7"/>
          <p:cNvSpPr/>
          <p:nvPr/>
        </p:nvSpPr>
        <p:spPr>
          <a:xfrm>
            <a:off x="6162675" y="1229320"/>
            <a:ext cx="271463" cy="271463"/>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7"/>
          <p:cNvSpPr/>
          <p:nvPr/>
        </p:nvSpPr>
        <p:spPr>
          <a:xfrm>
            <a:off x="6224960" y="1249635"/>
            <a:ext cx="604093"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3</a:t>
            </a:r>
            <a:endParaRPr b="0" i="0" sz="1800" u="none" cap="none" strike="noStrike">
              <a:solidFill>
                <a:schemeClr val="dk1"/>
              </a:solidFill>
              <a:latin typeface="Calibri"/>
              <a:ea typeface="Calibri"/>
              <a:cs typeface="Calibri"/>
              <a:sym typeface="Calibri"/>
            </a:endParaRPr>
          </a:p>
        </p:txBody>
      </p:sp>
      <p:sp>
        <p:nvSpPr>
          <p:cNvPr id="75" name="Google Shape;75;p7"/>
          <p:cNvSpPr/>
          <p:nvPr/>
        </p:nvSpPr>
        <p:spPr>
          <a:xfrm>
            <a:off x="6510338" y="1273448"/>
            <a:ext cx="2014538" cy="434429"/>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SHA-256 Hash Chaining</a:t>
            </a:r>
            <a:endParaRPr b="0" i="0" sz="1450" u="none" cap="none" strike="noStrike">
              <a:solidFill>
                <a:schemeClr val="dk1"/>
              </a:solidFill>
              <a:latin typeface="Calibri"/>
              <a:ea typeface="Calibri"/>
              <a:cs typeface="Calibri"/>
              <a:sym typeface="Calibri"/>
            </a:endParaRPr>
          </a:p>
        </p:txBody>
      </p:sp>
      <p:sp>
        <p:nvSpPr>
          <p:cNvPr id="76" name="Google Shape;76;p7"/>
          <p:cNvSpPr/>
          <p:nvPr/>
        </p:nvSpPr>
        <p:spPr>
          <a:xfrm>
            <a:off x="6510338" y="1813247"/>
            <a:ext cx="2014538" cy="959941"/>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Every vote event cryptographically references its prior block digest, rendering unauthorized retro-edits instantly invalid.</a:t>
            </a:r>
            <a:endParaRPr b="0" i="0" sz="1050" u="none" cap="none" strike="noStrike">
              <a:solidFill>
                <a:schemeClr val="dk1"/>
              </a:solidFill>
              <a:latin typeface="Calibri"/>
              <a:ea typeface="Calibri"/>
              <a:cs typeface="Calibri"/>
              <a:sym typeface="Calibri"/>
            </a:endParaRPr>
          </a:p>
        </p:txBody>
      </p:sp>
      <p:sp>
        <p:nvSpPr>
          <p:cNvPr id="77" name="Google Shape;77;p7"/>
          <p:cNvSpPr/>
          <p:nvPr/>
        </p:nvSpPr>
        <p:spPr>
          <a:xfrm>
            <a:off x="457200" y="3030364"/>
            <a:ext cx="268605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7"/>
          <p:cNvSpPr/>
          <p:nvPr/>
        </p:nvSpPr>
        <p:spPr>
          <a:xfrm>
            <a:off x="619125" y="3173239"/>
            <a:ext cx="278309" cy="278309"/>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7"/>
          <p:cNvSpPr/>
          <p:nvPr/>
        </p:nvSpPr>
        <p:spPr>
          <a:xfrm>
            <a:off x="681410" y="3196977"/>
            <a:ext cx="610939"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4</a:t>
            </a:r>
            <a:endParaRPr b="0" i="0" sz="1800" u="none" cap="none" strike="noStrike">
              <a:solidFill>
                <a:schemeClr val="dk1"/>
              </a:solidFill>
              <a:latin typeface="Calibri"/>
              <a:ea typeface="Calibri"/>
              <a:cs typeface="Calibri"/>
              <a:sym typeface="Calibri"/>
            </a:endParaRPr>
          </a:p>
        </p:txBody>
      </p:sp>
      <p:sp>
        <p:nvSpPr>
          <p:cNvPr id="80" name="Google Shape;80;p7"/>
          <p:cNvSpPr/>
          <p:nvPr/>
        </p:nvSpPr>
        <p:spPr>
          <a:xfrm>
            <a:off x="973634" y="3220789"/>
            <a:ext cx="2007691" cy="217215"/>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Polyglot Persistence</a:t>
            </a:r>
            <a:endParaRPr b="0" i="0" sz="1450" u="none" cap="none" strike="noStrike">
              <a:solidFill>
                <a:schemeClr val="dk1"/>
              </a:solidFill>
              <a:latin typeface="Calibri"/>
              <a:ea typeface="Calibri"/>
              <a:cs typeface="Calibri"/>
              <a:sym typeface="Calibri"/>
            </a:endParaRPr>
          </a:p>
        </p:txBody>
      </p:sp>
      <p:sp>
        <p:nvSpPr>
          <p:cNvPr id="81" name="Google Shape;81;p7"/>
          <p:cNvSpPr/>
          <p:nvPr/>
        </p:nvSpPr>
        <p:spPr>
          <a:xfrm>
            <a:off x="973634" y="3543374"/>
            <a:ext cx="2007691" cy="959941"/>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A relational store keeps structured entities; an append-only JSON event ledger (MongoDB document model) supports audit. Oracle and MongoDB hosting follow.</a:t>
            </a:r>
            <a:endParaRPr b="0" i="0" sz="1050" u="none" cap="none" strike="noStrike">
              <a:solidFill>
                <a:schemeClr val="dk1"/>
              </a:solidFill>
              <a:latin typeface="Calibri"/>
              <a:ea typeface="Calibri"/>
              <a:cs typeface="Calibri"/>
              <a:sym typeface="Calibri"/>
            </a:endParaRPr>
          </a:p>
        </p:txBody>
      </p:sp>
      <p:sp>
        <p:nvSpPr>
          <p:cNvPr id="82" name="Google Shape;82;p7"/>
          <p:cNvSpPr/>
          <p:nvPr/>
        </p:nvSpPr>
        <p:spPr>
          <a:xfrm>
            <a:off x="3257550" y="3030364"/>
            <a:ext cx="262890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7"/>
          <p:cNvSpPr/>
          <p:nvPr/>
        </p:nvSpPr>
        <p:spPr>
          <a:xfrm>
            <a:off x="3419475" y="3173239"/>
            <a:ext cx="269304" cy="269304"/>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7"/>
          <p:cNvSpPr/>
          <p:nvPr/>
        </p:nvSpPr>
        <p:spPr>
          <a:xfrm>
            <a:off x="3483397" y="3192512"/>
            <a:ext cx="598587"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5</a:t>
            </a:r>
            <a:endParaRPr b="0" i="0" sz="1800" u="none" cap="none" strike="noStrike">
              <a:solidFill>
                <a:schemeClr val="dk1"/>
              </a:solidFill>
              <a:latin typeface="Calibri"/>
              <a:ea typeface="Calibri"/>
              <a:cs typeface="Calibri"/>
              <a:sym typeface="Calibri"/>
            </a:endParaRPr>
          </a:p>
        </p:txBody>
      </p:sp>
      <p:sp>
        <p:nvSpPr>
          <p:cNvPr id="85" name="Google Shape;85;p7"/>
          <p:cNvSpPr/>
          <p:nvPr/>
        </p:nvSpPr>
        <p:spPr>
          <a:xfrm>
            <a:off x="3764979" y="3216325"/>
            <a:ext cx="1959546" cy="217215"/>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Integrity</a:t>
            </a:r>
            <a:endParaRPr b="0" i="0" sz="1450" u="none" cap="none" strike="noStrike">
              <a:solidFill>
                <a:schemeClr val="dk1"/>
              </a:solidFill>
              <a:latin typeface="Calibri"/>
              <a:ea typeface="Calibri"/>
              <a:cs typeface="Calibri"/>
              <a:sym typeface="Calibri"/>
            </a:endParaRPr>
          </a:p>
        </p:txBody>
      </p:sp>
      <p:sp>
        <p:nvSpPr>
          <p:cNvPr id="86" name="Google Shape;86;p7"/>
          <p:cNvSpPr/>
          <p:nvPr/>
        </p:nvSpPr>
        <p:spPr>
          <a:xfrm>
            <a:off x="3764979" y="3538910"/>
            <a:ext cx="1959546" cy="959941"/>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UNIQUE and CHECK constraints plus a trigger block duplicate participation independently of application logic; PL/SQL packages follow with Oracle.</a:t>
            </a:r>
            <a:endParaRPr b="0" i="0" sz="1050" u="none" cap="none" strike="noStrike">
              <a:solidFill>
                <a:schemeClr val="dk1"/>
              </a:solidFill>
              <a:latin typeface="Calibri"/>
              <a:ea typeface="Calibri"/>
              <a:cs typeface="Calibri"/>
              <a:sym typeface="Calibri"/>
            </a:endParaRPr>
          </a:p>
        </p:txBody>
      </p:sp>
      <p:sp>
        <p:nvSpPr>
          <p:cNvPr id="87" name="Google Shape;87;p7"/>
          <p:cNvSpPr/>
          <p:nvPr/>
        </p:nvSpPr>
        <p:spPr>
          <a:xfrm>
            <a:off x="6000750" y="3030364"/>
            <a:ext cx="268605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7"/>
          <p:cNvSpPr/>
          <p:nvPr/>
        </p:nvSpPr>
        <p:spPr>
          <a:xfrm>
            <a:off x="6162675" y="3173239"/>
            <a:ext cx="272281" cy="272281"/>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 name="Google Shape;89;p7"/>
          <p:cNvSpPr/>
          <p:nvPr/>
        </p:nvSpPr>
        <p:spPr>
          <a:xfrm>
            <a:off x="6224960" y="3194000"/>
            <a:ext cx="604912"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6</a:t>
            </a:r>
            <a:endParaRPr b="0" i="0" sz="1800" u="none" cap="none" strike="noStrike">
              <a:solidFill>
                <a:schemeClr val="dk1"/>
              </a:solidFill>
              <a:latin typeface="Calibri"/>
              <a:ea typeface="Calibri"/>
              <a:cs typeface="Calibri"/>
              <a:sym typeface="Calibri"/>
            </a:endParaRPr>
          </a:p>
        </p:txBody>
      </p:sp>
      <p:sp>
        <p:nvSpPr>
          <p:cNvPr id="90" name="Google Shape;90;p7"/>
          <p:cNvSpPr/>
          <p:nvPr/>
        </p:nvSpPr>
        <p:spPr>
          <a:xfrm>
            <a:off x="6511156" y="3217813"/>
            <a:ext cx="2013719" cy="217215"/>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Cloud Deployment</a:t>
            </a:r>
            <a:endParaRPr b="0" i="0" sz="1450" u="none" cap="none" strike="noStrike">
              <a:solidFill>
                <a:schemeClr val="dk1"/>
              </a:solidFill>
              <a:latin typeface="Calibri"/>
              <a:ea typeface="Calibri"/>
              <a:cs typeface="Calibri"/>
              <a:sym typeface="Calibri"/>
            </a:endParaRPr>
          </a:p>
        </p:txBody>
      </p:sp>
      <p:sp>
        <p:nvSpPr>
          <p:cNvPr id="91" name="Google Shape;91;p7"/>
          <p:cNvSpPr/>
          <p:nvPr/>
        </p:nvSpPr>
        <p:spPr>
          <a:xfrm>
            <a:off x="6511156" y="3540398"/>
            <a:ext cx="2013719" cy="959941"/>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Runs today as one web service (API and UI). Hosting it on a cloud platform is the remaining deployment step.</a:t>
            </a:r>
            <a:endParaRPr b="0" i="0" sz="1050" u="none" cap="none" strike="noStrike">
              <a:solidFill>
                <a:schemeClr val="dk1"/>
              </a:solidFill>
              <a:latin typeface="Calibri"/>
              <a:ea typeface="Calibri"/>
              <a:cs typeface="Calibri"/>
              <a:sym typeface="Calibri"/>
            </a:endParaRPr>
          </a:p>
        </p:txBody>
      </p:sp>
      <p:sp>
        <p:nvSpPr>
          <p:cNvPr id="92" name="Google Shape;92;p7"/>
          <p:cNvSpPr/>
          <p:nvPr/>
        </p:nvSpPr>
        <p:spPr>
          <a:xfrm>
            <a:off x="457200" y="4991174"/>
            <a:ext cx="8686800" cy="15887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2 | Fall Semester 2026 · Slide 4</a:t>
            </a:r>
            <a:endParaRPr b="0" i="0" sz="950" u="none" cap="none" strike="noStrike">
              <a:solidFill>
                <a:schemeClr val="dk1"/>
              </a:solidFill>
              <a:latin typeface="Calibri"/>
              <a:ea typeface="Calibri"/>
              <a:cs typeface="Calibri"/>
              <a:sym typeface="Calibri"/>
            </a:endParaRPr>
          </a:p>
        </p:txBody>
      </p:sp>
      <p:sp>
        <p:nvSpPr>
          <p:cNvPr id="93" name="Google Shape;93;p7"/>
          <p:cNvSpPr/>
          <p:nvPr/>
        </p:nvSpPr>
        <p:spPr>
          <a:xfrm>
            <a:off x="8061875" y="4860400"/>
            <a:ext cx="1043700" cy="2310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8"/>
          <p:cNvSpPr/>
          <p:nvPr/>
        </p:nvSpPr>
        <p:spPr>
          <a:xfrm>
            <a:off x="457200" y="457200"/>
            <a:ext cx="8686800" cy="106859"/>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700"/>
              <a:buFont typeface="Inter"/>
              <a:buNone/>
            </a:pPr>
            <a:r>
              <a:rPr b="1" i="0" lang="en-US" sz="700" u="none" cap="none" strike="noStrike">
                <a:solidFill>
                  <a:srgbClr val="1B2A55"/>
                </a:solidFill>
                <a:latin typeface="Inter"/>
                <a:ea typeface="Inter"/>
                <a:cs typeface="Inter"/>
                <a:sym typeface="Inter"/>
              </a:rPr>
              <a:t>THEORETICAL FOUNDATION</a:t>
            </a:r>
            <a:endParaRPr b="0" i="0" sz="700" u="none" cap="none" strike="noStrike">
              <a:solidFill>
                <a:schemeClr val="dk1"/>
              </a:solidFill>
              <a:latin typeface="Calibri"/>
              <a:ea typeface="Calibri"/>
              <a:cs typeface="Calibri"/>
              <a:sym typeface="Calibri"/>
            </a:endParaRPr>
          </a:p>
        </p:txBody>
      </p:sp>
      <p:sp>
        <p:nvSpPr>
          <p:cNvPr id="100" name="Google Shape;100;p8"/>
          <p:cNvSpPr/>
          <p:nvPr/>
        </p:nvSpPr>
        <p:spPr>
          <a:xfrm>
            <a:off x="457200" y="602068"/>
            <a:ext cx="8229600" cy="226144"/>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1600"/>
              <a:buFont typeface="Inter"/>
              <a:buNone/>
            </a:pPr>
            <a:r>
              <a:rPr b="1" i="0" lang="en-US" sz="1600" u="none" cap="none" strike="noStrike">
                <a:solidFill>
                  <a:srgbClr val="1B2A55"/>
                </a:solidFill>
                <a:latin typeface="Inter"/>
                <a:ea typeface="Inter"/>
                <a:cs typeface="Inter"/>
                <a:sym typeface="Inter"/>
              </a:rPr>
              <a:t>Six studies frame PolyVote’s design choices</a:t>
            </a:r>
            <a:endParaRPr b="0" i="0" sz="1600" u="none" cap="none" strike="noStrike">
              <a:solidFill>
                <a:schemeClr val="dk1"/>
              </a:solidFill>
              <a:latin typeface="Calibri"/>
              <a:ea typeface="Calibri"/>
              <a:cs typeface="Calibri"/>
              <a:sym typeface="Calibri"/>
            </a:endParaRPr>
          </a:p>
        </p:txBody>
      </p:sp>
      <p:graphicFrame>
        <p:nvGraphicFramePr>
          <p:cNvPr id="101" name="Google Shape;101;p8"/>
          <p:cNvGraphicFramePr/>
          <p:nvPr/>
        </p:nvGraphicFramePr>
        <p:xfrm>
          <a:off x="457188" y="866224"/>
          <a:ext cx="3000000" cy="3000000"/>
        </p:xfrm>
        <a:graphic>
          <a:graphicData uri="http://schemas.openxmlformats.org/drawingml/2006/table">
            <a:tbl>
              <a:tblPr>
                <a:noFill/>
                <a:tableStyleId>{CF56F632-080D-41BD-B1F7-19A39A7C3095}</a:tableStyleId>
              </a:tblPr>
              <a:tblGrid>
                <a:gridCol w="493750"/>
                <a:gridCol w="1481300"/>
                <a:gridCol w="1234400"/>
                <a:gridCol w="1399025"/>
                <a:gridCol w="1152125"/>
                <a:gridCol w="1316675"/>
                <a:gridCol w="1152350"/>
              </a:tblGrid>
              <a:tr h="241100">
                <a:tc>
                  <a:txBody>
                    <a:bodyPr/>
                    <a:lstStyle/>
                    <a:p>
                      <a:pPr indent="0" lvl="0" marL="0" marR="0" rtl="0" algn="l">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Ref</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Author / Year</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Theme</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Technique</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Tools / Data</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Key Finding</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Limitation</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5291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[1]</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Aulbach et al. (2008)</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Multi-tenant Data</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Schema Mapping</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Relational DBs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Shared schema minimizes SaaS operational costs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DB privileges cannot block insider table edits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r>
              <a:tr h="5291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[2]</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Haber &amp; Stornetta (1991)</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Audit Trails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Hash Chaining</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Timestamps, SHA</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Chained block digests establish tamper evidence</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Requires external verification monitor</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6731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[3]</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Sadalage &amp; Fowler (2012)</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Polyglot Data</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Hybrid SQL/NoSQL</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Dual DB Engines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Specialized engines optimize discrete access patterns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Cross-database distributed consistency overhead</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r>
              <a:tr h="6731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[4]</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Chaum (2004)</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Voter Privacy</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Pseudonym Receipts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Crypto Receipts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Decouples eligibility registry from cast ballots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Relies on physical printer hardware verification</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6731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[5]</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Crosby &amp; Wallach (2009)</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Authenticated Logs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Merkle History Trees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Tree-based Hashes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Enables lightweight, verifiable history membership</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Tree generation adds computational latency</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r>
              <a:tr h="6684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[6]</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Blom et al. (2019)</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IRV Auditing</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Risk-Limiting Audit</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Cast Vote Records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Mathematical audit proofs across elimination rounds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Assumes physical paper ballots for recount</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bl>
          </a:graphicData>
        </a:graphic>
      </p:graphicFrame>
      <p:sp>
        <p:nvSpPr>
          <p:cNvPr id="102" name="Google Shape;102;p8"/>
          <p:cNvSpPr/>
          <p:nvPr/>
        </p:nvSpPr>
        <p:spPr>
          <a:xfrm>
            <a:off x="457200" y="5052566"/>
            <a:ext cx="8686800" cy="120179"/>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666A78"/>
              </a:buClr>
              <a:buSzPts val="700"/>
              <a:buFont typeface="Inter Medium"/>
              <a:buNone/>
            </a:pPr>
            <a:r>
              <a:rPr b="0" i="0" lang="en-US" sz="700" u="none" cap="none" strike="noStrike">
                <a:solidFill>
                  <a:srgbClr val="666A78"/>
                </a:solidFill>
                <a:latin typeface="Inter Medium"/>
                <a:ea typeface="Inter Medium"/>
                <a:cs typeface="Inter Medium"/>
                <a:sym typeface="Inter Medium"/>
              </a:rPr>
              <a:t>BACSE202 – Database Systems | Review 2 | Fall Semester 2026 · Slide 5</a:t>
            </a:r>
            <a:endParaRPr b="0" i="0" sz="700" u="none" cap="none" strike="noStrike">
              <a:solidFill>
                <a:schemeClr val="dk1"/>
              </a:solidFill>
              <a:latin typeface="Calibri"/>
              <a:ea typeface="Calibri"/>
              <a:cs typeface="Calibri"/>
              <a:sym typeface="Calibri"/>
            </a:endParaRPr>
          </a:p>
        </p:txBody>
      </p:sp>
      <p:sp>
        <p:nvSpPr>
          <p:cNvPr id="103" name="Google Shape;103;p8"/>
          <p:cNvSpPr/>
          <p:nvPr/>
        </p:nvSpPr>
        <p:spPr>
          <a:xfrm>
            <a:off x="8051300" y="4872600"/>
            <a:ext cx="1037400" cy="2262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 name="Shape 108"/>
        <p:cNvGrpSpPr/>
        <p:nvPr/>
      </p:nvGrpSpPr>
      <p:grpSpPr>
        <a:xfrm>
          <a:off x="0" y="0"/>
          <a:ext cx="0" cy="0"/>
          <a:chOff x="0" y="0"/>
          <a:chExt cx="0" cy="0"/>
        </a:xfrm>
      </p:grpSpPr>
      <p:sp>
        <p:nvSpPr>
          <p:cNvPr id="109" name="Google Shape;109;p9"/>
          <p:cNvSpPr/>
          <p:nvPr/>
        </p:nvSpPr>
        <p:spPr>
          <a:xfrm>
            <a:off x="457200" y="457200"/>
            <a:ext cx="8686800" cy="12501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800"/>
              <a:buFont typeface="Inter"/>
              <a:buNone/>
            </a:pPr>
            <a:r>
              <a:rPr b="1" i="0" lang="en-US" sz="800" u="none" cap="none" strike="noStrike">
                <a:solidFill>
                  <a:srgbClr val="1B2A55"/>
                </a:solidFill>
                <a:latin typeface="Inter"/>
                <a:ea typeface="Inter"/>
                <a:cs typeface="Inter"/>
                <a:sym typeface="Inter"/>
              </a:rPr>
              <a:t>RESEARCH GAPS &amp; TAMPER MODEL</a:t>
            </a:r>
            <a:endParaRPr b="0" i="0" sz="800" u="none" cap="none" strike="noStrike">
              <a:solidFill>
                <a:schemeClr val="dk1"/>
              </a:solidFill>
              <a:latin typeface="Calibri"/>
              <a:ea typeface="Calibri"/>
              <a:cs typeface="Calibri"/>
              <a:sym typeface="Calibri"/>
            </a:endParaRPr>
          </a:p>
        </p:txBody>
      </p:sp>
      <p:sp>
        <p:nvSpPr>
          <p:cNvPr id="110" name="Google Shape;110;p9"/>
          <p:cNvSpPr/>
          <p:nvPr/>
        </p:nvSpPr>
        <p:spPr>
          <a:xfrm>
            <a:off x="457200" y="633067"/>
            <a:ext cx="8229600" cy="264393"/>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1900"/>
              <a:buFont typeface="Inter"/>
              <a:buNone/>
            </a:pPr>
            <a:r>
              <a:rPr b="1" i="0" lang="en-US" sz="1900" u="none" cap="none" strike="noStrike">
                <a:solidFill>
                  <a:srgbClr val="1B2A55"/>
                </a:solidFill>
                <a:latin typeface="Inter"/>
                <a:ea typeface="Inter"/>
                <a:cs typeface="Inter"/>
                <a:sym typeface="Inter"/>
              </a:rPr>
              <a:t>Four gaps remain between auditability and usable digital voting</a:t>
            </a:r>
            <a:endParaRPr b="0" i="0" sz="1900" u="none" cap="none" strike="noStrike">
              <a:solidFill>
                <a:schemeClr val="dk1"/>
              </a:solidFill>
              <a:latin typeface="Calibri"/>
              <a:ea typeface="Calibri"/>
              <a:cs typeface="Calibri"/>
              <a:sym typeface="Calibri"/>
            </a:endParaRPr>
          </a:p>
        </p:txBody>
      </p:sp>
      <p:sp>
        <p:nvSpPr>
          <p:cNvPr id="111" name="Google Shape;111;p9"/>
          <p:cNvSpPr/>
          <p:nvPr/>
        </p:nvSpPr>
        <p:spPr>
          <a:xfrm>
            <a:off x="457200" y="994767"/>
            <a:ext cx="3733800" cy="965374"/>
          </a:xfrm>
          <a:prstGeom prst="roundRect">
            <a:avLst>
              <a:gd fmla="val 14208"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9"/>
          <p:cNvSpPr/>
          <p:nvPr/>
        </p:nvSpPr>
        <p:spPr>
          <a:xfrm>
            <a:off x="600075" y="1099542"/>
            <a:ext cx="3448050" cy="19221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Inter"/>
              <a:buNone/>
            </a:pPr>
            <a:r>
              <a:rPr b="1" i="0" lang="en-US" sz="1250" u="none" cap="none" strike="noStrike">
                <a:solidFill>
                  <a:srgbClr val="000000"/>
                </a:solidFill>
                <a:latin typeface="Inter"/>
                <a:ea typeface="Inter"/>
                <a:cs typeface="Inter"/>
                <a:sym typeface="Inter"/>
              </a:rPr>
              <a:t>G1 · Multi-Tenant Isolation [1]</a:t>
            </a:r>
            <a:endParaRPr b="0" i="0" sz="1250" u="none" cap="none" strike="noStrike">
              <a:solidFill>
                <a:schemeClr val="dk1"/>
              </a:solidFill>
              <a:latin typeface="Calibri"/>
              <a:ea typeface="Calibri"/>
              <a:cs typeface="Calibri"/>
              <a:sym typeface="Calibri"/>
            </a:endParaRPr>
          </a:p>
        </p:txBody>
      </p:sp>
      <p:sp>
        <p:nvSpPr>
          <p:cNvPr id="113" name="Google Shape;113;p9"/>
          <p:cNvSpPr/>
          <p:nvPr/>
        </p:nvSpPr>
        <p:spPr>
          <a:xfrm>
            <a:off x="600075" y="1374279"/>
            <a:ext cx="3448050" cy="481087"/>
          </a:xfrm>
          <a:prstGeom prst="rect">
            <a:avLst/>
          </a:prstGeom>
          <a:noFill/>
          <a:ln>
            <a:noFill/>
          </a:ln>
        </p:spPr>
        <p:txBody>
          <a:bodyPr anchorCtr="0" anchor="t" bIns="0" lIns="0" spcFirstLastPara="1" rIns="0" wrap="square" tIns="0">
            <a:noAutofit/>
          </a:bodyPr>
          <a:lstStyle/>
          <a:p>
            <a:pPr indent="0" lvl="0" marL="0" marR="0" rtl="0" algn="l">
              <a:lnSpc>
                <a:spcPct val="111000"/>
              </a:lnSpc>
              <a:spcBef>
                <a:spcPts val="0"/>
              </a:spcBef>
              <a:spcAft>
                <a:spcPts val="0"/>
              </a:spcAft>
              <a:buClr>
                <a:srgbClr val="000000"/>
              </a:buClr>
              <a:buSzPts val="950"/>
              <a:buFont typeface="Inter"/>
              <a:buNone/>
            </a:pPr>
            <a:r>
              <a:rPr b="0" i="0" lang="en-US" sz="950" u="none" cap="none" strike="noStrike">
                <a:solidFill>
                  <a:srgbClr val="000000"/>
                </a:solidFill>
                <a:latin typeface="Inter"/>
                <a:ea typeface="Inter"/>
                <a:cs typeface="Inter"/>
                <a:sym typeface="Inter"/>
              </a:rPr>
              <a:t>Shared schemas rely on DBMS privileges; rogue root DBAs can modify election rows undetected without cryptographic ledgers.</a:t>
            </a:r>
            <a:endParaRPr b="0" i="0" sz="950" u="none" cap="none" strike="noStrike">
              <a:solidFill>
                <a:schemeClr val="dk1"/>
              </a:solidFill>
              <a:latin typeface="Calibri"/>
              <a:ea typeface="Calibri"/>
              <a:cs typeface="Calibri"/>
              <a:sym typeface="Calibri"/>
            </a:endParaRPr>
          </a:p>
        </p:txBody>
      </p:sp>
      <p:sp>
        <p:nvSpPr>
          <p:cNvPr id="114" name="Google Shape;114;p9"/>
          <p:cNvSpPr/>
          <p:nvPr/>
        </p:nvSpPr>
        <p:spPr>
          <a:xfrm>
            <a:off x="457200" y="2074441"/>
            <a:ext cx="3733800" cy="965374"/>
          </a:xfrm>
          <a:prstGeom prst="roundRect">
            <a:avLst>
              <a:gd fmla="val 14208"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9"/>
          <p:cNvSpPr/>
          <p:nvPr/>
        </p:nvSpPr>
        <p:spPr>
          <a:xfrm>
            <a:off x="600075" y="2179216"/>
            <a:ext cx="3448050" cy="19221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Inter"/>
              <a:buNone/>
            </a:pPr>
            <a:r>
              <a:rPr b="1" i="0" lang="en-US" sz="1250" u="none" cap="none" strike="noStrike">
                <a:solidFill>
                  <a:srgbClr val="000000"/>
                </a:solidFill>
                <a:latin typeface="Inter"/>
                <a:ea typeface="Inter"/>
                <a:cs typeface="Inter"/>
                <a:sym typeface="Inter"/>
              </a:rPr>
              <a:t>G2 · Passive Audit Logs [2, 5]</a:t>
            </a:r>
            <a:endParaRPr b="0" i="0" sz="1250" u="none" cap="none" strike="noStrike">
              <a:solidFill>
                <a:schemeClr val="dk1"/>
              </a:solidFill>
              <a:latin typeface="Calibri"/>
              <a:ea typeface="Calibri"/>
              <a:cs typeface="Calibri"/>
              <a:sym typeface="Calibri"/>
            </a:endParaRPr>
          </a:p>
        </p:txBody>
      </p:sp>
      <p:sp>
        <p:nvSpPr>
          <p:cNvPr id="116" name="Google Shape;116;p9"/>
          <p:cNvSpPr/>
          <p:nvPr/>
        </p:nvSpPr>
        <p:spPr>
          <a:xfrm>
            <a:off x="600075" y="2453953"/>
            <a:ext cx="3448050" cy="481087"/>
          </a:xfrm>
          <a:prstGeom prst="rect">
            <a:avLst/>
          </a:prstGeom>
          <a:noFill/>
          <a:ln>
            <a:noFill/>
          </a:ln>
        </p:spPr>
        <p:txBody>
          <a:bodyPr anchorCtr="0" anchor="t" bIns="0" lIns="0" spcFirstLastPara="1" rIns="0" wrap="square" tIns="0">
            <a:noAutofit/>
          </a:bodyPr>
          <a:lstStyle/>
          <a:p>
            <a:pPr indent="0" lvl="0" marL="0" marR="0" rtl="0" algn="l">
              <a:lnSpc>
                <a:spcPct val="111000"/>
              </a:lnSpc>
              <a:spcBef>
                <a:spcPts val="0"/>
              </a:spcBef>
              <a:spcAft>
                <a:spcPts val="0"/>
              </a:spcAft>
              <a:buClr>
                <a:srgbClr val="000000"/>
              </a:buClr>
              <a:buSzPts val="950"/>
              <a:buFont typeface="Inter"/>
              <a:buNone/>
            </a:pPr>
            <a:r>
              <a:rPr b="0" i="0" lang="en-US" sz="950" u="none" cap="none" strike="noStrike">
                <a:solidFill>
                  <a:srgbClr val="000000"/>
                </a:solidFill>
                <a:latin typeface="Inter"/>
                <a:ea typeface="Inter"/>
                <a:cs typeface="Inter"/>
                <a:sym typeface="Inter"/>
              </a:rPr>
              <a:t>Hash chains record history, but tamper evidence fails unless active automated verification routines routinely validate digests.</a:t>
            </a:r>
            <a:endParaRPr b="0" i="0" sz="950" u="none" cap="none" strike="noStrike">
              <a:solidFill>
                <a:schemeClr val="dk1"/>
              </a:solidFill>
              <a:latin typeface="Calibri"/>
              <a:ea typeface="Calibri"/>
              <a:cs typeface="Calibri"/>
              <a:sym typeface="Calibri"/>
            </a:endParaRPr>
          </a:p>
        </p:txBody>
      </p:sp>
      <p:sp>
        <p:nvSpPr>
          <p:cNvPr id="117" name="Google Shape;117;p9"/>
          <p:cNvSpPr/>
          <p:nvPr/>
        </p:nvSpPr>
        <p:spPr>
          <a:xfrm>
            <a:off x="457200" y="3154114"/>
            <a:ext cx="3733800" cy="805011"/>
          </a:xfrm>
          <a:prstGeom prst="roundRect">
            <a:avLst>
              <a:gd fmla="val 17038"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9"/>
          <p:cNvSpPr/>
          <p:nvPr/>
        </p:nvSpPr>
        <p:spPr>
          <a:xfrm>
            <a:off x="600075" y="3258889"/>
            <a:ext cx="3448050" cy="19221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Inter"/>
              <a:buNone/>
            </a:pPr>
            <a:r>
              <a:rPr b="1" i="0" lang="en-US" sz="1250" u="none" cap="none" strike="noStrike">
                <a:solidFill>
                  <a:srgbClr val="000000"/>
                </a:solidFill>
                <a:latin typeface="Inter"/>
                <a:ea typeface="Inter"/>
                <a:cs typeface="Inter"/>
                <a:sym typeface="Inter"/>
              </a:rPr>
              <a:t>G3 · Paper-Dependent Privacy [4]</a:t>
            </a:r>
            <a:endParaRPr b="0" i="0" sz="1250" u="none" cap="none" strike="noStrike">
              <a:solidFill>
                <a:schemeClr val="dk1"/>
              </a:solidFill>
              <a:latin typeface="Calibri"/>
              <a:ea typeface="Calibri"/>
              <a:cs typeface="Calibri"/>
              <a:sym typeface="Calibri"/>
            </a:endParaRPr>
          </a:p>
        </p:txBody>
      </p:sp>
      <p:sp>
        <p:nvSpPr>
          <p:cNvPr id="119" name="Google Shape;119;p9"/>
          <p:cNvSpPr/>
          <p:nvPr/>
        </p:nvSpPr>
        <p:spPr>
          <a:xfrm>
            <a:off x="600075" y="3533626"/>
            <a:ext cx="3448050" cy="320725"/>
          </a:xfrm>
          <a:prstGeom prst="rect">
            <a:avLst/>
          </a:prstGeom>
          <a:noFill/>
          <a:ln>
            <a:noFill/>
          </a:ln>
        </p:spPr>
        <p:txBody>
          <a:bodyPr anchorCtr="0" anchor="t" bIns="0" lIns="0" spcFirstLastPara="1" rIns="0" wrap="square" tIns="0">
            <a:noAutofit/>
          </a:bodyPr>
          <a:lstStyle/>
          <a:p>
            <a:pPr indent="0" lvl="0" marL="0" marR="0" rtl="0" algn="l">
              <a:lnSpc>
                <a:spcPct val="111000"/>
              </a:lnSpc>
              <a:spcBef>
                <a:spcPts val="0"/>
              </a:spcBef>
              <a:spcAft>
                <a:spcPts val="0"/>
              </a:spcAft>
              <a:buClr>
                <a:srgbClr val="000000"/>
              </a:buClr>
              <a:buSzPts val="950"/>
              <a:buFont typeface="Inter"/>
              <a:buNone/>
            </a:pPr>
            <a:r>
              <a:rPr b="0" i="0" lang="en-US" sz="950" u="none" cap="none" strike="noStrike">
                <a:solidFill>
                  <a:srgbClr val="000000"/>
                </a:solidFill>
                <a:latin typeface="Inter"/>
                <a:ea typeface="Inter"/>
                <a:cs typeface="Inter"/>
                <a:sym typeface="Inter"/>
              </a:rPr>
              <a:t>Cryptographic receipts traditionally demand specialized in-person printers, proving unusable for fully digital web voting.</a:t>
            </a:r>
            <a:endParaRPr b="0" i="0" sz="950" u="none" cap="none" strike="noStrike">
              <a:solidFill>
                <a:schemeClr val="dk1"/>
              </a:solidFill>
              <a:latin typeface="Calibri"/>
              <a:ea typeface="Calibri"/>
              <a:cs typeface="Calibri"/>
              <a:sym typeface="Calibri"/>
            </a:endParaRPr>
          </a:p>
        </p:txBody>
      </p:sp>
      <p:sp>
        <p:nvSpPr>
          <p:cNvPr id="120" name="Google Shape;120;p9"/>
          <p:cNvSpPr/>
          <p:nvPr/>
        </p:nvSpPr>
        <p:spPr>
          <a:xfrm>
            <a:off x="457200" y="4073426"/>
            <a:ext cx="3733800" cy="805011"/>
          </a:xfrm>
          <a:prstGeom prst="roundRect">
            <a:avLst>
              <a:gd fmla="val 17038"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9"/>
          <p:cNvSpPr/>
          <p:nvPr/>
        </p:nvSpPr>
        <p:spPr>
          <a:xfrm>
            <a:off x="600075" y="4178201"/>
            <a:ext cx="3448050" cy="19221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Inter"/>
              <a:buNone/>
            </a:pPr>
            <a:r>
              <a:rPr b="1" i="0" lang="en-US" sz="1250" u="none" cap="none" strike="noStrike">
                <a:solidFill>
                  <a:srgbClr val="000000"/>
                </a:solidFill>
                <a:latin typeface="Inter"/>
                <a:ea typeface="Inter"/>
                <a:cs typeface="Inter"/>
                <a:sym typeface="Inter"/>
              </a:rPr>
              <a:t>G4 · Paper-Reliant IRV Auditing [6]</a:t>
            </a:r>
            <a:endParaRPr b="0" i="0" sz="1250" u="none" cap="none" strike="noStrike">
              <a:solidFill>
                <a:schemeClr val="dk1"/>
              </a:solidFill>
              <a:latin typeface="Calibri"/>
              <a:ea typeface="Calibri"/>
              <a:cs typeface="Calibri"/>
              <a:sym typeface="Calibri"/>
            </a:endParaRPr>
          </a:p>
        </p:txBody>
      </p:sp>
      <p:sp>
        <p:nvSpPr>
          <p:cNvPr id="122" name="Google Shape;122;p9"/>
          <p:cNvSpPr/>
          <p:nvPr/>
        </p:nvSpPr>
        <p:spPr>
          <a:xfrm>
            <a:off x="600075" y="4452938"/>
            <a:ext cx="3448050" cy="320725"/>
          </a:xfrm>
          <a:prstGeom prst="rect">
            <a:avLst/>
          </a:prstGeom>
          <a:noFill/>
          <a:ln>
            <a:noFill/>
          </a:ln>
        </p:spPr>
        <p:txBody>
          <a:bodyPr anchorCtr="0" anchor="t" bIns="0" lIns="0" spcFirstLastPara="1" rIns="0" wrap="square" tIns="0">
            <a:noAutofit/>
          </a:bodyPr>
          <a:lstStyle/>
          <a:p>
            <a:pPr indent="0" lvl="0" marL="0" marR="0" rtl="0" algn="l">
              <a:lnSpc>
                <a:spcPct val="111000"/>
              </a:lnSpc>
              <a:spcBef>
                <a:spcPts val="0"/>
              </a:spcBef>
              <a:spcAft>
                <a:spcPts val="0"/>
              </a:spcAft>
              <a:buClr>
                <a:srgbClr val="000000"/>
              </a:buClr>
              <a:buSzPts val="950"/>
              <a:buFont typeface="Inter"/>
              <a:buNone/>
            </a:pPr>
            <a:r>
              <a:rPr b="0" i="0" lang="en-US" sz="950" u="none" cap="none" strike="noStrike">
                <a:solidFill>
                  <a:srgbClr val="000000"/>
                </a:solidFill>
                <a:latin typeface="Inter"/>
                <a:ea typeface="Inter"/>
                <a:cs typeface="Inter"/>
                <a:sym typeface="Inter"/>
              </a:rPr>
              <a:t>Risk-limiting audits assume physical ballot boxes for manual recount; purely digital IRV workflows lack native auditability.</a:t>
            </a:r>
            <a:endParaRPr b="0" i="0" sz="950" u="none" cap="none" strike="noStrike">
              <a:solidFill>
                <a:schemeClr val="dk1"/>
              </a:solidFill>
              <a:latin typeface="Calibri"/>
              <a:ea typeface="Calibri"/>
              <a:cs typeface="Calibri"/>
              <a:sym typeface="Calibri"/>
            </a:endParaRPr>
          </a:p>
        </p:txBody>
      </p:sp>
      <p:sp>
        <p:nvSpPr>
          <p:cNvPr id="123" name="Google Shape;123;p9"/>
          <p:cNvSpPr/>
          <p:nvPr/>
        </p:nvSpPr>
        <p:spPr>
          <a:xfrm>
            <a:off x="4419526" y="994767"/>
            <a:ext cx="4267274" cy="3883670"/>
          </a:xfrm>
          <a:prstGeom prst="roundRect">
            <a:avLst>
              <a:gd fmla="val 3532"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9"/>
          <p:cNvSpPr/>
          <p:nvPr/>
        </p:nvSpPr>
        <p:spPr>
          <a:xfrm>
            <a:off x="4600501" y="1175742"/>
            <a:ext cx="3905324" cy="19221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250"/>
              <a:buFont typeface="Inter"/>
              <a:buNone/>
            </a:pPr>
            <a:r>
              <a:rPr b="1" i="0" lang="en-US" sz="1250" u="none" cap="none" strike="noStrike">
                <a:solidFill>
                  <a:srgbClr val="1B2A55"/>
                </a:solidFill>
                <a:latin typeface="Inter"/>
                <a:ea typeface="Inter"/>
                <a:cs typeface="Inter"/>
                <a:sym typeface="Inter"/>
              </a:rPr>
              <a:t>PolyVote Hash Chain &amp; Tamper Verification</a:t>
            </a:r>
            <a:endParaRPr b="0" i="0" sz="1250" u="none" cap="none" strike="noStrike">
              <a:solidFill>
                <a:schemeClr val="dk1"/>
              </a:solidFill>
              <a:latin typeface="Calibri"/>
              <a:ea typeface="Calibri"/>
              <a:cs typeface="Calibri"/>
              <a:sym typeface="Calibri"/>
            </a:endParaRPr>
          </a:p>
        </p:txBody>
      </p:sp>
      <p:sp>
        <p:nvSpPr>
          <p:cNvPr id="125" name="Google Shape;125;p9"/>
          <p:cNvSpPr/>
          <p:nvPr/>
        </p:nvSpPr>
        <p:spPr>
          <a:xfrm>
            <a:off x="4600501" y="1450479"/>
            <a:ext cx="3905324" cy="320725"/>
          </a:xfrm>
          <a:prstGeom prst="rect">
            <a:avLst/>
          </a:prstGeom>
          <a:noFill/>
          <a:ln>
            <a:noFill/>
          </a:ln>
        </p:spPr>
        <p:txBody>
          <a:bodyPr anchorCtr="0" anchor="t" bIns="0" lIns="0" spcFirstLastPara="1" rIns="0" wrap="square" tIns="0">
            <a:noAutofit/>
          </a:bodyPr>
          <a:lstStyle/>
          <a:p>
            <a:pPr indent="0" lvl="0" marL="0" marR="0" rtl="0" algn="l">
              <a:lnSpc>
                <a:spcPct val="111000"/>
              </a:lnSpc>
              <a:spcBef>
                <a:spcPts val="0"/>
              </a:spcBef>
              <a:spcAft>
                <a:spcPts val="0"/>
              </a:spcAft>
              <a:buClr>
                <a:srgbClr val="1B2A55"/>
              </a:buClr>
              <a:buSzPts val="950"/>
              <a:buFont typeface="Inter"/>
              <a:buNone/>
            </a:pPr>
            <a:r>
              <a:rPr b="0" i="0" lang="en-US" sz="950" u="none" cap="none" strike="noStrike">
                <a:solidFill>
                  <a:srgbClr val="1B2A55"/>
                </a:solidFill>
                <a:latin typeface="Inter"/>
                <a:ea typeface="Inter"/>
                <a:cs typeface="Inter"/>
                <a:sym typeface="Inter"/>
              </a:rPr>
              <a:t>Each cast ballot generates an append-only JSON record linking its payload to the prior record hash.</a:t>
            </a:r>
            <a:endParaRPr b="0" i="0" sz="950" u="none" cap="none" strike="noStrike">
              <a:solidFill>
                <a:schemeClr val="dk1"/>
              </a:solidFill>
              <a:latin typeface="Calibri"/>
              <a:ea typeface="Calibri"/>
              <a:cs typeface="Calibri"/>
              <a:sym typeface="Calibri"/>
            </a:endParaRPr>
          </a:p>
        </p:txBody>
      </p:sp>
      <p:pic>
        <p:nvPicPr>
          <p:cNvPr descr="preencoded.png" id="126" name="Google Shape;126;p9"/>
          <p:cNvPicPr preferRelativeResize="0"/>
          <p:nvPr/>
        </p:nvPicPr>
        <p:blipFill rotWithShape="1">
          <a:blip r:embed="rId3">
            <a:alphaModFix/>
          </a:blip>
          <a:srcRect b="0" l="0" r="0" t="0"/>
          <a:stretch/>
        </p:blipFill>
        <p:spPr>
          <a:xfrm>
            <a:off x="4600501" y="1866454"/>
            <a:ext cx="3905324" cy="1638895"/>
          </a:xfrm>
          <a:prstGeom prst="rect">
            <a:avLst/>
          </a:prstGeom>
          <a:noFill/>
          <a:ln>
            <a:noFill/>
          </a:ln>
        </p:spPr>
      </p:pic>
      <p:sp>
        <p:nvSpPr>
          <p:cNvPr id="127" name="Google Shape;127;p9"/>
          <p:cNvSpPr/>
          <p:nvPr/>
        </p:nvSpPr>
        <p:spPr>
          <a:xfrm>
            <a:off x="4600501" y="4416177"/>
            <a:ext cx="3905324" cy="281285"/>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666A78"/>
              </a:buClr>
              <a:buSzPts val="800"/>
              <a:buFont typeface="Inter Medium"/>
              <a:buNone/>
            </a:pPr>
            <a:r>
              <a:rPr b="0" i="0" lang="en-US" sz="800" u="none" cap="none" strike="noStrike">
                <a:solidFill>
                  <a:srgbClr val="666A78"/>
                </a:solidFill>
                <a:latin typeface="Inter Medium"/>
                <a:ea typeface="Inter Medium"/>
                <a:cs typeface="Inter Medium"/>
                <a:sym typeface="Inter Medium"/>
              </a:rPr>
              <a:t>PolyVote Design Challenge: unifies multi-tenant reuse, automated integrity checks, and tokenized voter privacy.</a:t>
            </a:r>
            <a:endParaRPr b="0" i="0" sz="800" u="none" cap="none" strike="noStrike">
              <a:solidFill>
                <a:schemeClr val="dk1"/>
              </a:solidFill>
              <a:latin typeface="Calibri"/>
              <a:ea typeface="Calibri"/>
              <a:cs typeface="Calibri"/>
              <a:sym typeface="Calibri"/>
            </a:endParaRPr>
          </a:p>
        </p:txBody>
      </p:sp>
      <p:sp>
        <p:nvSpPr>
          <p:cNvPr id="128" name="Google Shape;128;p9"/>
          <p:cNvSpPr/>
          <p:nvPr/>
        </p:nvSpPr>
        <p:spPr>
          <a:xfrm>
            <a:off x="457200" y="4981129"/>
            <a:ext cx="8686800" cy="140643"/>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666A78"/>
              </a:buClr>
              <a:buSzPts val="800"/>
              <a:buFont typeface="Inter Medium"/>
              <a:buNone/>
            </a:pPr>
            <a:r>
              <a:rPr b="0" i="0" lang="en-US" sz="800" u="none" cap="none" strike="noStrike">
                <a:solidFill>
                  <a:srgbClr val="666A78"/>
                </a:solidFill>
                <a:latin typeface="Inter Medium"/>
                <a:ea typeface="Inter Medium"/>
                <a:cs typeface="Inter Medium"/>
                <a:sym typeface="Inter Medium"/>
              </a:rPr>
              <a:t>BACSE202 – Database Systems | Review 2 | Fall Semester 2026 · Slide 6</a:t>
            </a:r>
            <a:endParaRPr b="0" i="0" sz="800" u="none" cap="none" strike="noStrike">
              <a:solidFill>
                <a:schemeClr val="dk1"/>
              </a:solidFill>
              <a:latin typeface="Calibri"/>
              <a:ea typeface="Calibri"/>
              <a:cs typeface="Calibri"/>
              <a:sym typeface="Calibri"/>
            </a:endParaRPr>
          </a:p>
        </p:txBody>
      </p:sp>
      <p:sp>
        <p:nvSpPr>
          <p:cNvPr id="129" name="Google Shape;129;p9"/>
          <p:cNvSpPr/>
          <p:nvPr/>
        </p:nvSpPr>
        <p:spPr>
          <a:xfrm>
            <a:off x="8052575" y="4878500"/>
            <a:ext cx="1091400" cy="19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 name="Shape 134"/>
        <p:cNvGrpSpPr/>
        <p:nvPr/>
      </p:nvGrpSpPr>
      <p:grpSpPr>
        <a:xfrm>
          <a:off x="0" y="0"/>
          <a:ext cx="0" cy="0"/>
          <a:chOff x="0" y="0"/>
          <a:chExt cx="0" cy="0"/>
        </a:xfrm>
      </p:grpSpPr>
      <p:sp>
        <p:nvSpPr>
          <p:cNvPr id="135" name="Google Shape;135;p10"/>
          <p:cNvSpPr/>
          <p:nvPr/>
        </p:nvSpPr>
        <p:spPr>
          <a:xfrm>
            <a:off x="457200" y="462558"/>
            <a:ext cx="8229600" cy="314325"/>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2250"/>
              <a:buFont typeface="Inter"/>
              <a:buNone/>
            </a:pPr>
            <a:r>
              <a:rPr b="1" i="0" lang="en-US" sz="2250" u="none" cap="none" strike="noStrike">
                <a:solidFill>
                  <a:srgbClr val="1B2A55"/>
                </a:solidFill>
                <a:latin typeface="Inter"/>
                <a:ea typeface="Inter"/>
                <a:cs typeface="Inter"/>
                <a:sym typeface="Inter"/>
              </a:rPr>
              <a:t>Four modules separate identity, tallying, and audit</a:t>
            </a:r>
            <a:endParaRPr b="0" i="0" sz="2250" u="none" cap="none" strike="noStrike">
              <a:solidFill>
                <a:schemeClr val="dk1"/>
              </a:solidFill>
              <a:latin typeface="Calibri"/>
              <a:ea typeface="Calibri"/>
              <a:cs typeface="Calibri"/>
              <a:sym typeface="Calibri"/>
            </a:endParaRPr>
          </a:p>
        </p:txBody>
      </p:sp>
      <p:graphicFrame>
        <p:nvGraphicFramePr>
          <p:cNvPr id="136" name="Google Shape;136;p10"/>
          <p:cNvGraphicFramePr/>
          <p:nvPr/>
        </p:nvGraphicFramePr>
        <p:xfrm>
          <a:off x="457200" y="933450"/>
          <a:ext cx="3000000" cy="3000000"/>
        </p:xfrm>
        <a:graphic>
          <a:graphicData uri="http://schemas.openxmlformats.org/drawingml/2006/table">
            <a:tbl>
              <a:tblPr>
                <a:noFill/>
                <a:tableStyleId>{CF56F632-080D-41BD-B1F7-19A39A7C3095}</a:tableStyleId>
              </a:tblPr>
              <a:tblGrid>
                <a:gridCol w="8229600"/>
              </a:tblGrid>
              <a:tr h="608550">
                <a:tc>
                  <a:txBody>
                    <a:bodyPr/>
                    <a:lstStyle/>
                    <a:p>
                      <a:pPr indent="0" lvl="0" marL="0" marR="0" rtl="0" algn="l">
                        <a:spcBef>
                          <a:spcPts val="0"/>
                        </a:spcBef>
                        <a:spcAft>
                          <a:spcPts val="0"/>
                        </a:spcAft>
                        <a:buClr>
                          <a:srgbClr val="1B2A55"/>
                        </a:buClr>
                        <a:buSzPts val="1300"/>
                        <a:buFont typeface="Inter"/>
                        <a:buNone/>
                      </a:pPr>
                      <a:r>
                        <a:rPr b="1" lang="en-US" sz="1300" u="none" cap="none" strike="noStrike">
                          <a:solidFill>
                            <a:srgbClr val="1B2A55"/>
                          </a:solidFill>
                          <a:latin typeface="Inter"/>
                          <a:ea typeface="Inter"/>
                          <a:cs typeface="Inter"/>
                          <a:sym typeface="Inter"/>
                        </a:rPr>
                        <a:t>Relational core (SQLite now, Oracle planned): Stores organizations, elections, candidates, voters and admin accounts; constraints, a trigger and views enforce integrity.</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D9D9E4"/>
                      </a:solidFill>
                      <a:prstDash val="solid"/>
                      <a:round/>
                      <a:headEnd len="sm" w="sm" type="none"/>
                      <a:tailEnd len="sm" w="sm" type="none"/>
                    </a:lnB>
                  </a:tcPr>
                </a:tc>
              </a:tr>
              <a:tr h="608550">
                <a:tc>
                  <a:txBody>
                    <a:bodyPr/>
                    <a:lstStyle/>
                    <a:p>
                      <a:pPr indent="0" lvl="0" marL="0" marR="0" rtl="0" algn="l">
                        <a:spcBef>
                          <a:spcPts val="0"/>
                        </a:spcBef>
                        <a:spcAft>
                          <a:spcPts val="0"/>
                        </a:spcAft>
                        <a:buClr>
                          <a:srgbClr val="1B2A55"/>
                        </a:buClr>
                        <a:buSzPts val="1300"/>
                        <a:buFont typeface="Inter"/>
                        <a:buNone/>
                      </a:pPr>
                      <a:r>
                        <a:rPr b="1" lang="en-US" sz="1300" u="none" cap="none" strike="noStrike">
                          <a:solidFill>
                            <a:srgbClr val="1B2A55"/>
                          </a:solidFill>
                          <a:latin typeface="Inter"/>
                          <a:ea typeface="Inter"/>
                          <a:cs typeface="Inter"/>
                          <a:sym typeface="Inter"/>
                        </a:rPr>
                        <a:t>Python · tally engine: Counts rankings, eliminates the lowest candidate, redistributes ballots, and handles empty elections and exhausted ballots; last-place ties are flagged.</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608550">
                <a:tc>
                  <a:txBody>
                    <a:bodyPr/>
                    <a:lstStyle/>
                    <a:p>
                      <a:pPr indent="0" lvl="0" marL="0" marR="0" rtl="0" algn="l">
                        <a:spcBef>
                          <a:spcPts val="0"/>
                        </a:spcBef>
                        <a:spcAft>
                          <a:spcPts val="0"/>
                        </a:spcAft>
                        <a:buClr>
                          <a:srgbClr val="1B2A55"/>
                        </a:buClr>
                        <a:buSzPts val="1300"/>
                        <a:buFont typeface="Inter"/>
                        <a:buNone/>
                      </a:pPr>
                      <a:r>
                        <a:rPr b="1" lang="en-US" sz="1300" u="none" cap="none" strike="noStrike">
                          <a:solidFill>
                            <a:srgbClr val="1B2A55"/>
                          </a:solidFill>
                          <a:latin typeface="Inter"/>
                          <a:ea typeface="Inter"/>
                          <a:cs typeface="Inter"/>
                          <a:sym typeface="Inter"/>
                        </a:rPr>
                        <a:t>JSON audit ledger (MongoDB planned): Stores one hash-chained receipt per ballot, each linked to its predecessor and re-checked by the integrity sweep.</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599025">
                <a:tc>
                  <a:txBody>
                    <a:bodyPr/>
                    <a:lstStyle/>
                    <a:p>
                      <a:pPr indent="0" lvl="0" marL="0" marR="0" rtl="0" algn="l">
                        <a:spcBef>
                          <a:spcPts val="0"/>
                        </a:spcBef>
                        <a:spcAft>
                          <a:spcPts val="0"/>
                        </a:spcAft>
                        <a:buClr>
                          <a:srgbClr val="1B2A55"/>
                        </a:buClr>
                        <a:buSzPts val="1300"/>
                        <a:buFont typeface="Inter"/>
                        <a:buNone/>
                      </a:pPr>
                      <a:r>
                        <a:rPr b="1" lang="en-US" sz="1300" u="none" cap="none" strike="noStrike">
                          <a:solidFill>
                            <a:srgbClr val="1B2A55"/>
                          </a:solidFill>
                          <a:latin typeface="Inter"/>
                          <a:ea typeface="Inter"/>
                          <a:cs typeface="Inter"/>
                          <a:sym typeface="Inter"/>
                        </a:rPr>
                        <a:t>React + FastAPI · application: Voter booth, receipt check and admin console over a REST API; coordinates the anonymous dual write. Streamlit is retained.</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FFFFFF"/>
                      </a:solidFill>
                      <a:prstDash val="solid"/>
                      <a:round/>
                      <a:headEnd len="sm" w="sm" type="none"/>
                      <a:tailEnd len="sm" w="sm" type="none"/>
                    </a:lnB>
                  </a:tcPr>
                </a:tc>
              </a:tr>
            </a:tbl>
          </a:graphicData>
        </a:graphic>
      </p:graphicFrame>
      <p:sp>
        <p:nvSpPr>
          <p:cNvPr id="137" name="Google Shape;137;p10"/>
          <p:cNvSpPr/>
          <p:nvPr/>
        </p:nvSpPr>
        <p:spPr>
          <a:xfrm>
            <a:off x="457200" y="3503414"/>
            <a:ext cx="8229600" cy="872356"/>
          </a:xfrm>
          <a:prstGeom prst="roundRect">
            <a:avLst>
              <a:gd fmla="val 15723"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10"/>
          <p:cNvSpPr/>
          <p:nvPr/>
        </p:nvSpPr>
        <p:spPr>
          <a:xfrm>
            <a:off x="638175" y="3608189"/>
            <a:ext cx="7867650" cy="662806"/>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200"/>
              <a:buFont typeface="Inter"/>
              <a:buNone/>
            </a:pPr>
            <a:r>
              <a:rPr b="1" i="0" lang="en-US" sz="1200" u="none" cap="none" strike="noStrike">
                <a:solidFill>
                  <a:srgbClr val="1B2A55"/>
                </a:solidFill>
                <a:latin typeface="Inter"/>
                <a:ea typeface="Inter"/>
                <a:cs typeface="Inter"/>
                <a:sym typeface="Inter"/>
              </a:rPr>
              <a:t>Core entities:</a:t>
            </a:r>
            <a:r>
              <a:rPr b="0" i="0" lang="en-US" sz="1200" u="none" cap="none" strike="noStrike">
                <a:solidFill>
                  <a:srgbClr val="1B2A55"/>
                </a:solidFill>
                <a:latin typeface="Inter"/>
                <a:ea typeface="Inter"/>
                <a:cs typeface="Inter"/>
                <a:sym typeface="Inter"/>
              </a:rPr>
              <a:t> ORGANIZATION · ELECTION · CANDIDATE · VOTER_PARTICIPATION · BALLOT_RANKS · ADMIN_USERS (POSITION is deferred). </a:t>
            </a:r>
            <a:r>
              <a:rPr b="1" i="0" lang="en-US" sz="1200" u="none" cap="none" strike="noStrike">
                <a:solidFill>
                  <a:srgbClr val="1B2A55"/>
                </a:solidFill>
                <a:latin typeface="Inter"/>
                <a:ea typeface="Inter"/>
                <a:cs typeface="Inter"/>
                <a:sym typeface="Inter"/>
              </a:rPr>
              <a:t>Privacy boundary:</a:t>
            </a:r>
            <a:r>
              <a:rPr b="0" i="0" lang="en-US" sz="1200" u="none" cap="none" strike="noStrike">
                <a:solidFill>
                  <a:srgbClr val="1B2A55"/>
                </a:solidFill>
                <a:latin typeface="Inter"/>
                <a:ea typeface="Inter"/>
                <a:cs typeface="Inter"/>
                <a:sym typeface="Inter"/>
              </a:rPr>
              <a:t> VOTER_PARTICIPATION and BALLOT_RANKS remain separate; only an anonymous token connects voter participation to ballot content.</a:t>
            </a:r>
            <a:endParaRPr b="0" i="0" sz="1200" u="none" cap="none" strike="noStrike">
              <a:solidFill>
                <a:schemeClr val="dk1"/>
              </a:solidFill>
              <a:latin typeface="Calibri"/>
              <a:ea typeface="Calibri"/>
              <a:cs typeface="Calibri"/>
              <a:sym typeface="Calibri"/>
            </a:endParaRPr>
          </a:p>
        </p:txBody>
      </p:sp>
      <p:sp>
        <p:nvSpPr>
          <p:cNvPr id="139" name="Google Shape;139;p10"/>
          <p:cNvSpPr/>
          <p:nvPr/>
        </p:nvSpPr>
        <p:spPr>
          <a:xfrm>
            <a:off x="457200" y="4521026"/>
            <a:ext cx="86868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2 | Fall Semester 2026 · Slide 7</a:t>
            </a:r>
            <a:endParaRPr b="0" i="0" sz="950" u="none" cap="none" strike="noStrike">
              <a:solidFill>
                <a:schemeClr val="dk1"/>
              </a:solidFill>
              <a:latin typeface="Calibri"/>
              <a:ea typeface="Calibri"/>
              <a:cs typeface="Calibri"/>
              <a:sym typeface="Calibri"/>
            </a:endParaRPr>
          </a:p>
        </p:txBody>
      </p:sp>
      <p:sp>
        <p:nvSpPr>
          <p:cNvPr id="140" name="Google Shape;140;p10"/>
          <p:cNvSpPr/>
          <p:nvPr/>
        </p:nvSpPr>
        <p:spPr>
          <a:xfrm>
            <a:off x="8034150" y="4864025"/>
            <a:ext cx="1054500" cy="2316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 name="Shape 145"/>
        <p:cNvGrpSpPr/>
        <p:nvPr/>
      </p:nvGrpSpPr>
      <p:grpSpPr>
        <a:xfrm>
          <a:off x="0" y="0"/>
          <a:ext cx="0" cy="0"/>
          <a:chOff x="0" y="0"/>
          <a:chExt cx="0" cy="0"/>
        </a:xfrm>
      </p:grpSpPr>
      <p:sp>
        <p:nvSpPr>
          <p:cNvPr id="146"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SYSTEM ARCHITECTURE</a:t>
            </a:r>
          </a:p>
        </p:txBody>
      </p:sp>
      <p:sp>
        <p:nvSpPr>
          <p:cNvPr id="148"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Data flows through three layers, with the ledger kept apart</a:t>
            </a:r>
          </a:p>
        </p:txBody>
      </p:sp>
      <p:sp>
        <p:nvSpPr>
          <p:cNvPr id="149"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8</a:t>
            </a:r>
          </a:p>
        </p:txBody>
      </p:sp>
      <p:sp>
        <p:nvSpPr>
          <p:cNvPr id="150" name="Rounded Rectangle 149"/>
          <p:cNvSpPr/>
          <p:nvPr/>
        </p:nvSpPr>
        <p:spPr>
          <a:xfrm>
            <a:off x="457200" y="1097280"/>
            <a:ext cx="8229600" cy="749808"/>
          </a:xfrm>
          <a:prstGeom prst="roundRect">
            <a:avLst>
              <a:gd name="adj" fmla="val 8000"/>
            </a:avLst>
          </a:prstGeom>
          <a:solidFill>
            <a:srgbClr val="F1F0F6"/>
          </a:solidFill>
          <a:ln w="15875">
            <a:solidFill>
              <a:srgbClr val="D9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594360" y="1152144"/>
            <a:ext cx="5029200" cy="146304"/>
          </a:xfrm>
          <a:prstGeom prst="rect">
            <a:avLst/>
          </a:prstGeom>
          <a:noFill/>
        </p:spPr>
        <p:txBody>
          <a:bodyPr wrap="square" anchor="t" lIns="0" rIns="0" tIns="0" bIns="0">
            <a:spAutoFit/>
          </a:bodyPr>
          <a:lstStyle/>
          <a:p>
            <a:pPr algn="l">
              <a:spcAft>
                <a:spcPts val="0"/>
              </a:spcAft>
            </a:pPr>
            <a:r>
              <a:rPr sz="900" b="1" i="0">
                <a:solidFill>
                  <a:srgbClr val="1B2A55"/>
                </a:solidFill>
                <a:latin typeface="Inter"/>
              </a:rPr>
              <a:t>Presentation layer · React + TypeScript single-page app</a:t>
            </a:r>
          </a:p>
        </p:txBody>
      </p:sp>
      <p:sp>
        <p:nvSpPr>
          <p:cNvPr id="152" name="Rounded Rectangle 151"/>
          <p:cNvSpPr/>
          <p:nvPr/>
        </p:nvSpPr>
        <p:spPr>
          <a:xfrm>
            <a:off x="594360" y="1371600"/>
            <a:ext cx="1737360" cy="347472"/>
          </a:xfrm>
          <a:prstGeom prst="roundRect">
            <a:avLst>
              <a:gd name="adj" fmla="val 12000"/>
            </a:avLst>
          </a:prstGeom>
          <a:solidFill>
            <a:srgbClr val="FFFFFF"/>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Voter booth</a:t>
            </a:r>
          </a:p>
        </p:txBody>
      </p:sp>
      <p:sp>
        <p:nvSpPr>
          <p:cNvPr id="153" name="Rounded Rectangle 152"/>
          <p:cNvSpPr/>
          <p:nvPr/>
        </p:nvSpPr>
        <p:spPr>
          <a:xfrm>
            <a:off x="2468880" y="1371600"/>
            <a:ext cx="1737360" cy="347472"/>
          </a:xfrm>
          <a:prstGeom prst="roundRect">
            <a:avLst>
              <a:gd name="adj" fmla="val 12000"/>
            </a:avLst>
          </a:prstGeom>
          <a:solidFill>
            <a:srgbClr val="FFFFFF"/>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Receipt check</a:t>
            </a:r>
          </a:p>
        </p:txBody>
      </p:sp>
      <p:sp>
        <p:nvSpPr>
          <p:cNvPr id="154" name="Rounded Rectangle 153"/>
          <p:cNvSpPr/>
          <p:nvPr/>
        </p:nvSpPr>
        <p:spPr>
          <a:xfrm>
            <a:off x="4343400" y="1371600"/>
            <a:ext cx="1737360" cy="347472"/>
          </a:xfrm>
          <a:prstGeom prst="roundRect">
            <a:avLst>
              <a:gd name="adj" fmla="val 12000"/>
            </a:avLst>
          </a:prstGeom>
          <a:solidFill>
            <a:srgbClr val="FFFFFF"/>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Admin console</a:t>
            </a:r>
          </a:p>
        </p:txBody>
      </p:sp>
      <p:sp>
        <p:nvSpPr>
          <p:cNvPr id="155" name="Rounded Rectangle 154"/>
          <p:cNvSpPr/>
          <p:nvPr/>
        </p:nvSpPr>
        <p:spPr>
          <a:xfrm>
            <a:off x="6720840" y="1371600"/>
            <a:ext cx="1828800" cy="347472"/>
          </a:xfrm>
          <a:prstGeom prst="roundRect">
            <a:avLst>
              <a:gd name="adj" fmla="val 12000"/>
            </a:avLst>
          </a:prstGeom>
          <a:solidFill>
            <a:srgbClr val="FFFFFF"/>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DB Studio (simulated DBA)</a:t>
            </a:r>
          </a:p>
        </p:txBody>
      </p:sp>
      <p:sp>
        <p:nvSpPr>
          <p:cNvPr id="156" name="Rounded Rectangle 155"/>
          <p:cNvSpPr/>
          <p:nvPr/>
        </p:nvSpPr>
        <p:spPr>
          <a:xfrm>
            <a:off x="457200" y="2212848"/>
            <a:ext cx="8229600" cy="457200"/>
          </a:xfrm>
          <a:prstGeom prst="roundRect">
            <a:avLst>
              <a:gd name="adj" fmla="val 10000"/>
            </a:avLst>
          </a:prstGeom>
          <a:solidFill>
            <a:srgbClr val="FFFFFF"/>
          </a:solidFill>
          <a:ln w="1905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1B2A55"/>
                </a:solidFill>
                <a:latin typeface="Inter"/>
              </a:rPr>
              <a:t>Application layer · FastAPI REST API</a:t>
            </a:r>
            <a:r>
              <a:rPr sz="900" b="0" i="0">
                <a:solidFill>
                  <a:srgbClr val="1B2A55"/>
                </a:solidFill>
                <a:latin typeface="Inter"/>
              </a:rPr>
              <a:t>   auth &amp; sessions · election lifecycle &amp; roster · ballot cast (dual write under WRITE_LOCK) · sweep, tally, ledger &amp; receipt endpoints</a:t>
            </a:r>
          </a:p>
        </p:txBody>
      </p:sp>
      <p:cxnSp>
        <p:nvCxnSpPr>
          <p:cNvPr id="157" name="Connector 156"/>
          <p:cNvCxnSpPr/>
          <p:nvPr/>
        </p:nvCxnSpPr>
        <p:spPr>
          <a:xfrm>
            <a:off x="1463040" y="1737360"/>
            <a:ext cx="0" cy="475488"/>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a:off x="3337560" y="1737360"/>
            <a:ext cx="0" cy="475488"/>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a:off x="5212080" y="1737360"/>
            <a:ext cx="0" cy="475488"/>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7635240" y="1737360"/>
            <a:ext cx="0" cy="475488"/>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61" name="Rounded Rectangle 160"/>
          <p:cNvSpPr/>
          <p:nvPr/>
        </p:nvSpPr>
        <p:spPr>
          <a:xfrm>
            <a:off x="594360" y="1920240"/>
            <a:ext cx="91440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0" i="0">
                <a:solidFill>
                  <a:srgbClr val="353B4A"/>
                </a:solidFill>
                <a:latin typeface="Inter"/>
              </a:rPr>
              <a:t>JSON / HTTP</a:t>
            </a:r>
          </a:p>
        </p:txBody>
      </p:sp>
      <p:sp>
        <p:nvSpPr>
          <p:cNvPr id="162" name="Rounded Rectangle 161"/>
          <p:cNvSpPr/>
          <p:nvPr/>
        </p:nvSpPr>
        <p:spPr>
          <a:xfrm>
            <a:off x="457200" y="3063240"/>
            <a:ext cx="6172200" cy="914400"/>
          </a:xfrm>
          <a:prstGeom prst="roundRect">
            <a:avLst>
              <a:gd name="adj" fmla="val 6000"/>
            </a:avLst>
          </a:prstGeom>
          <a:solidFill>
            <a:srgbClr val="ECF4FB"/>
          </a:solidFill>
          <a:ln w="15875">
            <a:solidFill>
              <a:srgbClr val="8FB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566928" y="3108960"/>
            <a:ext cx="5852160" cy="146304"/>
          </a:xfrm>
          <a:prstGeom prst="rect">
            <a:avLst/>
          </a:prstGeom>
          <a:noFill/>
        </p:spPr>
        <p:txBody>
          <a:bodyPr wrap="square" anchor="t" lIns="0" rIns="0" tIns="0" bIns="0">
            <a:spAutoFit/>
          </a:bodyPr>
          <a:lstStyle/>
          <a:p>
            <a:pPr algn="l">
              <a:spcAft>
                <a:spcPts val="0"/>
              </a:spcAft>
            </a:pPr>
            <a:r>
              <a:rPr sz="900" b="1" i="0">
                <a:solidFill>
                  <a:srgbClr val="1B2A55"/>
                </a:solidFill>
                <a:latin typeface="Inter"/>
              </a:rPr>
              <a:t>Relational schema · SQLite · foreign keys ON · trigger · views</a:t>
            </a:r>
          </a:p>
        </p:txBody>
      </p:sp>
      <p:sp>
        <p:nvSpPr>
          <p:cNvPr id="164" name="Rounded Rectangle 163"/>
          <p:cNvSpPr/>
          <p:nvPr/>
        </p:nvSpPr>
        <p:spPr>
          <a:xfrm>
            <a:off x="566928"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0" i="0">
                <a:solidFill>
                  <a:srgbClr val="1B2A55"/>
                </a:solidFill>
                <a:latin typeface="Inter"/>
              </a:rPr>
              <a:t>ORGAN-
IZATION</a:t>
            </a:r>
          </a:p>
        </p:txBody>
      </p:sp>
      <p:sp>
        <p:nvSpPr>
          <p:cNvPr id="165" name="Rounded Rectangle 164"/>
          <p:cNvSpPr/>
          <p:nvPr/>
        </p:nvSpPr>
        <p:spPr>
          <a:xfrm>
            <a:off x="1554480"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0" i="0">
                <a:solidFill>
                  <a:srgbClr val="1B2A55"/>
                </a:solidFill>
                <a:latin typeface="Inter"/>
              </a:rPr>
              <a:t>ELECTION</a:t>
            </a:r>
          </a:p>
        </p:txBody>
      </p:sp>
      <p:sp>
        <p:nvSpPr>
          <p:cNvPr id="166" name="Rounded Rectangle 165"/>
          <p:cNvSpPr/>
          <p:nvPr/>
        </p:nvSpPr>
        <p:spPr>
          <a:xfrm>
            <a:off x="2542032"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0" i="0">
                <a:solidFill>
                  <a:srgbClr val="1B2A55"/>
                </a:solidFill>
                <a:latin typeface="Inter"/>
              </a:rPr>
              <a:t>CANDIDATE</a:t>
            </a:r>
          </a:p>
        </p:txBody>
      </p:sp>
      <p:sp>
        <p:nvSpPr>
          <p:cNvPr id="167" name="Rounded Rectangle 166"/>
          <p:cNvSpPr/>
          <p:nvPr/>
        </p:nvSpPr>
        <p:spPr>
          <a:xfrm>
            <a:off x="3529584"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0" i="0">
                <a:solidFill>
                  <a:srgbClr val="1B2A55"/>
                </a:solidFill>
                <a:latin typeface="Inter"/>
              </a:rPr>
              <a:t>VOTER_
PARTICIPATION</a:t>
            </a:r>
          </a:p>
        </p:txBody>
      </p:sp>
      <p:sp>
        <p:nvSpPr>
          <p:cNvPr id="168" name="Rounded Rectangle 167"/>
          <p:cNvSpPr/>
          <p:nvPr/>
        </p:nvSpPr>
        <p:spPr>
          <a:xfrm>
            <a:off x="4517136"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1" i="0">
                <a:solidFill>
                  <a:srgbClr val="1B2A55"/>
                </a:solidFill>
                <a:latin typeface="Inter"/>
              </a:rPr>
              <a:t>BALLOT_
RANKS</a:t>
            </a:r>
          </a:p>
        </p:txBody>
      </p:sp>
      <p:sp>
        <p:nvSpPr>
          <p:cNvPr id="169" name="Rounded Rectangle 168"/>
          <p:cNvSpPr/>
          <p:nvPr/>
        </p:nvSpPr>
        <p:spPr>
          <a:xfrm>
            <a:off x="5504688"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0" i="0">
                <a:solidFill>
                  <a:srgbClr val="1B2A55"/>
                </a:solidFill>
                <a:latin typeface="Inter"/>
              </a:rPr>
              <a:t>ADMIN_
USERS</a:t>
            </a:r>
          </a:p>
        </p:txBody>
      </p:sp>
      <p:sp>
        <p:nvSpPr>
          <p:cNvPr id="170" name="Rounded Rectangle 169"/>
          <p:cNvSpPr/>
          <p:nvPr/>
        </p:nvSpPr>
        <p:spPr>
          <a:xfrm>
            <a:off x="6812280" y="3063240"/>
            <a:ext cx="1874519" cy="914400"/>
          </a:xfrm>
          <a:prstGeom prst="roundRect">
            <a:avLst>
              <a:gd name="adj" fmla="val 6000"/>
            </a:avLst>
          </a:prstGeom>
          <a:solidFill>
            <a:srgbClr val="FFF4E6"/>
          </a:solidFill>
          <a:ln w="15875">
            <a:solidFill>
              <a:srgbClr val="F0B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6903720" y="3108960"/>
            <a:ext cx="1737360" cy="146304"/>
          </a:xfrm>
          <a:prstGeom prst="rect">
            <a:avLst/>
          </a:prstGeom>
          <a:noFill/>
        </p:spPr>
        <p:txBody>
          <a:bodyPr wrap="square" anchor="t" lIns="0" rIns="0" tIns="0" bIns="0">
            <a:spAutoFit/>
          </a:bodyPr>
          <a:lstStyle/>
          <a:p>
            <a:pPr algn="l">
              <a:spcAft>
                <a:spcPts val="0"/>
              </a:spcAft>
            </a:pPr>
            <a:r>
              <a:rPr sz="900" b="1" i="0">
                <a:solidFill>
                  <a:srgbClr val="1B2A55"/>
                </a:solidFill>
                <a:latin typeface="Inter"/>
              </a:rPr>
              <a:t>Tamper-evident ledger</a:t>
            </a:r>
          </a:p>
        </p:txBody>
      </p:sp>
      <p:sp>
        <p:nvSpPr>
          <p:cNvPr id="172" name="Rounded Rectangle 171"/>
          <p:cNvSpPr/>
          <p:nvPr/>
        </p:nvSpPr>
        <p:spPr>
          <a:xfrm>
            <a:off x="6922008" y="3346704"/>
            <a:ext cx="1655064"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0" i="0">
                <a:solidFill>
                  <a:srgbClr val="1B2A55"/>
                </a:solidFill>
                <a:latin typeface="Inter"/>
              </a:rPr>
              <a:t>Hash-chained JSON receipts</a:t>
            </a:r>
          </a:p>
        </p:txBody>
      </p:sp>
      <p:cxnSp>
        <p:nvCxnSpPr>
          <p:cNvPr id="173" name="Connector 172"/>
          <p:cNvCxnSpPr/>
          <p:nvPr/>
        </p:nvCxnSpPr>
        <p:spPr>
          <a:xfrm>
            <a:off x="2377440" y="2670048"/>
            <a:ext cx="0" cy="393192"/>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74" name="Rounded Rectangle 173"/>
          <p:cNvSpPr/>
          <p:nvPr/>
        </p:nvSpPr>
        <p:spPr>
          <a:xfrm>
            <a:off x="1417320" y="2770632"/>
            <a:ext cx="192024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0" i="0">
                <a:solidFill>
                  <a:srgbClr val="353B4A"/>
                </a:solidFill>
                <a:latin typeface="Inter"/>
              </a:rPr>
              <a:t>1–6 · read / write rows</a:t>
            </a:r>
          </a:p>
        </p:txBody>
      </p:sp>
      <p:cxnSp>
        <p:nvCxnSpPr>
          <p:cNvPr id="175" name="Connector 174"/>
          <p:cNvCxnSpPr/>
          <p:nvPr/>
        </p:nvCxnSpPr>
        <p:spPr>
          <a:xfrm>
            <a:off x="4937760" y="2670048"/>
            <a:ext cx="0" cy="393192"/>
          </a:xfrm>
          <a:prstGeom prst="line">
            <a:avLst/>
          </a:prstGeom>
          <a:ln w="19050">
            <a:solidFill>
              <a:srgbClr val="C0392B"/>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76" name="Rounded Rectangle 175"/>
          <p:cNvSpPr/>
          <p:nvPr/>
        </p:nvSpPr>
        <p:spPr>
          <a:xfrm>
            <a:off x="3520440" y="2770632"/>
            <a:ext cx="2377440" cy="182880"/>
          </a:xfrm>
          <a:prstGeom prst="roundRect">
            <a:avLst>
              <a:gd name="adj" fmla="val 20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0" i="0">
                <a:solidFill>
                  <a:srgbClr val="C0392B"/>
                </a:solidFill>
                <a:latin typeface="Inter"/>
              </a:rPr>
              <a:t>12 · direct UPDATE / DELETE</a:t>
            </a:r>
          </a:p>
        </p:txBody>
      </p:sp>
      <p:cxnSp>
        <p:nvCxnSpPr>
          <p:cNvPr id="177" name="Connector 176"/>
          <p:cNvCxnSpPr/>
          <p:nvPr/>
        </p:nvCxnSpPr>
        <p:spPr>
          <a:xfrm>
            <a:off x="7772400" y="2670048"/>
            <a:ext cx="0" cy="393192"/>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78" name="Rounded Rectangle 177"/>
          <p:cNvSpPr/>
          <p:nvPr/>
        </p:nvSpPr>
        <p:spPr>
          <a:xfrm>
            <a:off x="6812280" y="2770632"/>
            <a:ext cx="182880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0" i="0">
                <a:solidFill>
                  <a:srgbClr val="353B4A"/>
                </a:solidFill>
                <a:latin typeface="Inter"/>
              </a:rPr>
              <a:t>7 · append SHA-256 receipt</a:t>
            </a:r>
          </a:p>
        </p:txBody>
      </p:sp>
      <p:sp>
        <p:nvSpPr>
          <p:cNvPr id="179" name="Rounded Rectangle 178"/>
          <p:cNvSpPr/>
          <p:nvPr/>
        </p:nvSpPr>
        <p:spPr>
          <a:xfrm>
            <a:off x="457200" y="4343400"/>
            <a:ext cx="8229600" cy="457200"/>
          </a:xfrm>
          <a:prstGeom prst="roundRect">
            <a:avLst>
              <a:gd name="adj" fmla="val 8000"/>
            </a:avLst>
          </a:prstGeom>
          <a:solidFill>
            <a:srgbClr val="EEF8F0"/>
          </a:solidFill>
          <a:ln w="15875">
            <a:solidFill>
              <a:srgbClr val="7CCF9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Rounded Rectangle 179"/>
          <p:cNvSpPr/>
          <p:nvPr/>
        </p:nvSpPr>
        <p:spPr>
          <a:xfrm>
            <a:off x="594360" y="4389120"/>
            <a:ext cx="2468880" cy="365760"/>
          </a:xfrm>
          <a:prstGeom prst="roundRect">
            <a:avLst>
              <a:gd name="adj" fmla="val 10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50" b="1" i="0">
                <a:solidFill>
                  <a:srgbClr val="1B2A55"/>
                </a:solidFill>
                <a:latin typeface="Inter"/>
              </a:rPr>
              <a:t>Instant-runoff tally (pandas)</a:t>
            </a:r>
          </a:p>
        </p:txBody>
      </p:sp>
      <p:sp>
        <p:nvSpPr>
          <p:cNvPr id="181" name="Rounded Rectangle 180"/>
          <p:cNvSpPr/>
          <p:nvPr/>
        </p:nvSpPr>
        <p:spPr>
          <a:xfrm>
            <a:off x="3337560" y="4389120"/>
            <a:ext cx="2468880" cy="365760"/>
          </a:xfrm>
          <a:prstGeom prst="roundRect">
            <a:avLst>
              <a:gd name="adj" fmla="val 10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50" b="1" i="0">
                <a:solidFill>
                  <a:srgbClr val="1B2A55"/>
                </a:solidFill>
                <a:latin typeface="Inter"/>
              </a:rPr>
              <a:t>Integrity sweep</a:t>
            </a:r>
          </a:p>
        </p:txBody>
      </p:sp>
      <p:sp>
        <p:nvSpPr>
          <p:cNvPr id="182" name="Rounded Rectangle 181"/>
          <p:cNvSpPr/>
          <p:nvPr/>
        </p:nvSpPr>
        <p:spPr>
          <a:xfrm>
            <a:off x="6080760" y="4389120"/>
            <a:ext cx="2468880" cy="365760"/>
          </a:xfrm>
          <a:prstGeom prst="roundRect">
            <a:avLst>
              <a:gd name="adj" fmla="val 10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50" b="1" i="0">
                <a:solidFill>
                  <a:srgbClr val="1B2A55"/>
                </a:solidFill>
                <a:latin typeface="Inter"/>
              </a:rPr>
              <a:t>Chain verification</a:t>
            </a:r>
          </a:p>
        </p:txBody>
      </p:sp>
      <p:cxnSp>
        <p:nvCxnSpPr>
          <p:cNvPr id="183" name="Connector 182"/>
          <p:cNvCxnSpPr/>
          <p:nvPr/>
        </p:nvCxnSpPr>
        <p:spPr>
          <a:xfrm>
            <a:off x="1828800" y="3977639"/>
            <a:ext cx="0" cy="411481"/>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84" name="Rounded Rectangle 183"/>
          <p:cNvSpPr/>
          <p:nvPr/>
        </p:nvSpPr>
        <p:spPr>
          <a:xfrm>
            <a:off x="566928" y="4069080"/>
            <a:ext cx="128016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0" i="0">
                <a:solidFill>
                  <a:srgbClr val="353B4A"/>
                </a:solidFill>
                <a:latin typeface="Inter"/>
              </a:rPr>
              <a:t>8 · ranks</a:t>
            </a:r>
          </a:p>
        </p:txBody>
      </p:sp>
      <p:cxnSp>
        <p:nvCxnSpPr>
          <p:cNvPr id="185" name="Connector 184"/>
          <p:cNvCxnSpPr/>
          <p:nvPr/>
        </p:nvCxnSpPr>
        <p:spPr>
          <a:xfrm>
            <a:off x="4206240" y="3977639"/>
            <a:ext cx="0" cy="411481"/>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86" name="Rounded Rectangle 185"/>
          <p:cNvSpPr/>
          <p:nvPr/>
        </p:nvSpPr>
        <p:spPr>
          <a:xfrm>
            <a:off x="2926080" y="4069080"/>
            <a:ext cx="141732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0" i="0">
                <a:solidFill>
                  <a:srgbClr val="353B4A"/>
                </a:solidFill>
                <a:latin typeface="Inter"/>
              </a:rPr>
              <a:t>9 · recompute hashes</a:t>
            </a:r>
          </a:p>
        </p:txBody>
      </p:sp>
      <p:cxnSp>
        <p:nvCxnSpPr>
          <p:cNvPr id="187" name="Connector 186"/>
          <p:cNvCxnSpPr/>
          <p:nvPr/>
        </p:nvCxnSpPr>
        <p:spPr>
          <a:xfrm flipH="1">
            <a:off x="5394960" y="3977639"/>
            <a:ext cx="1828800" cy="411481"/>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88" name="Rounded Rectangle 187"/>
          <p:cNvSpPr/>
          <p:nvPr/>
        </p:nvSpPr>
        <p:spPr>
          <a:xfrm>
            <a:off x="5852160" y="4069080"/>
            <a:ext cx="141732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0" i="0">
                <a:solidFill>
                  <a:srgbClr val="353B4A"/>
                </a:solidFill>
                <a:latin typeface="Inter"/>
              </a:rPr>
              <a:t>10 · cross-check</a:t>
            </a:r>
          </a:p>
        </p:txBody>
      </p:sp>
      <p:cxnSp>
        <p:nvCxnSpPr>
          <p:cNvPr id="189" name="Connector 188"/>
          <p:cNvCxnSpPr/>
          <p:nvPr/>
        </p:nvCxnSpPr>
        <p:spPr>
          <a:xfrm>
            <a:off x="8138160" y="3977639"/>
            <a:ext cx="0" cy="411481"/>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90" name="Rounded Rectangle 189"/>
          <p:cNvSpPr/>
          <p:nvPr/>
        </p:nvSpPr>
        <p:spPr>
          <a:xfrm>
            <a:off x="7406640" y="4114800"/>
            <a:ext cx="100584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0" i="0">
                <a:solidFill>
                  <a:srgbClr val="353B4A"/>
                </a:solidFill>
                <a:latin typeface="Inter"/>
              </a:rPr>
              <a:t>verify links</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 name="Shape 156"/>
        <p:cNvGrpSpPr/>
        <p:nvPr/>
      </p:nvGrpSpPr>
      <p:grpSpPr>
        <a:xfrm>
          <a:off x="0" y="0"/>
          <a:ext cx="0" cy="0"/>
          <a:chOff x="0" y="0"/>
          <a:chExt cx="0" cy="0"/>
        </a:xfrm>
      </p:grpSpPr>
      <p:sp>
        <p:nvSpPr>
          <p:cNvPr id="157"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ER DIAGRAM &amp; RELATIONAL SCHEMA</a:t>
            </a:r>
          </a:p>
        </p:txBody>
      </p:sp>
      <p:sp>
        <p:nvSpPr>
          <p:cNvPr id="159"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Tables and ledger are linked by token, not by identity</a:t>
            </a:r>
          </a:p>
        </p:txBody>
      </p:sp>
      <p:sp>
        <p:nvSpPr>
          <p:cNvPr id="160"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9</a:t>
            </a:r>
          </a:p>
        </p:txBody>
      </p:sp>
      <p:pic>
        <p:nvPicPr>
          <p:cNvPr id="161" name="Picture 160" descr="er_slide.png"/>
          <p:cNvPicPr>
            <a:picLocks noChangeAspect="1"/>
          </p:cNvPicPr>
          <p:nvPr/>
        </p:nvPicPr>
        <p:blipFill>
          <a:blip r:embed="rId4"/>
          <a:stretch>
            <a:fillRect/>
          </a:stretch>
        </p:blipFill>
        <p:spPr>
          <a:xfrm>
            <a:off x="777240" y="1051560"/>
            <a:ext cx="7589520" cy="379476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DATABASE INTEGRITY</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The database itself refuses invalid votes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10</a:t>
            </a:r>
          </a:p>
        </p:txBody>
      </p:sp>
      <p:graphicFrame>
        <p:nvGraphicFramePr>
          <p:cNvPr id="6" name="Table 5"/>
          <p:cNvGraphicFramePr>
            <a:graphicFrameLocks noGrp="1"/>
          </p:cNvGraphicFramePr>
          <p:nvPr/>
        </p:nvGraphicFramePr>
        <p:xfrm>
          <a:off x="457200" y="1097280"/>
          <a:ext cx="8229599" cy="2560320"/>
        </p:xfrm>
        <a:graphic>
          <a:graphicData uri="http://schemas.openxmlformats.org/drawingml/2006/table">
            <a:tbl>
              <a:tblPr firstRow="1" bandRow="1">
                <a:tableStyleId>{5C22544A-7EE6-4342-B048-85BDC9FD1C3A}</a:tableStyleId>
              </a:tblPr>
              <a:tblGrid>
                <a:gridCol w="2011680"/>
                <a:gridCol w="2743200"/>
                <a:gridCol w="3474719"/>
              </a:tblGrid>
              <a:tr h="365760">
                <a:tc>
                  <a:txBody>
                    <a:bodyPr wrap="square"/>
                    <a:lstStyle/>
                    <a:p>
                      <a:r>
                        <a:rPr sz="1000" b="1" i="0">
                          <a:solidFill>
                            <a:srgbClr val="FFFFFF"/>
                          </a:solidFill>
                          <a:latin typeface="Inter"/>
                        </a:rPr>
                        <a:t>Rule</a:t>
                      </a:r>
                    </a:p>
                  </a:txBody>
                  <a:tcPr marL="73152" marR="73152" marT="36576" marB="36576" anchor="ctr">
                    <a:solidFill>
                      <a:srgbClr val="1B2A55"/>
                    </a:solidFill>
                  </a:tcPr>
                </a:tc>
                <a:tc>
                  <a:txBody>
                    <a:bodyPr wrap="square"/>
                    <a:lstStyle/>
                    <a:p>
                      <a:r>
                        <a:rPr sz="1000" b="1" i="0">
                          <a:solidFill>
                            <a:srgbClr val="FFFFFF"/>
                          </a:solidFill>
                          <a:latin typeface="Inter"/>
                        </a:rPr>
                        <a:t>Enforced by</a:t>
                      </a:r>
                    </a:p>
                  </a:txBody>
                  <a:tcPr marL="73152" marR="73152" marT="36576" marB="36576" anchor="ctr">
                    <a:solidFill>
                      <a:srgbClr val="1B2A55"/>
                    </a:solidFill>
                  </a:tcPr>
                </a:tc>
                <a:tc>
                  <a:txBody>
                    <a:bodyPr wrap="square"/>
                    <a:lstStyle/>
                    <a:p>
                      <a:r>
                        <a:rPr sz="1000" b="1" i="0">
                          <a:solidFill>
                            <a:srgbClr val="FFFFFF"/>
                          </a:solidFill>
                          <a:latin typeface="Inter"/>
                        </a:rPr>
                        <a:t>Response when we tried to break it</a:t>
                      </a:r>
                    </a:p>
                  </a:txBody>
                  <a:tcPr marL="73152" marR="73152" marT="36576" marB="36576" anchor="ctr">
                    <a:solidFill>
                      <a:srgbClr val="1B2A55"/>
                    </a:solidFill>
                  </a:tcPr>
                </a:tc>
              </a:tr>
              <a:tr h="548640">
                <a:tc>
                  <a:txBody>
                    <a:bodyPr wrap="square"/>
                    <a:lstStyle/>
                    <a:p>
                      <a:r>
                        <a:rPr sz="1000" b="1" i="0">
                          <a:solidFill>
                            <a:srgbClr val="1B2A55"/>
                          </a:solidFill>
                          <a:latin typeface="Inter"/>
                        </a:rPr>
                        <a:t>One vote per voter</a:t>
                      </a:r>
                    </a:p>
                  </a:txBody>
                  <a:tcPr marL="73152" marR="73152" marT="36576" marB="36576" anchor="ctr">
                    <a:solidFill>
                      <a:srgbClr val="FFFFFF"/>
                    </a:solidFill>
                  </a:tcPr>
                </a:tc>
                <a:tc>
                  <a:txBody>
                    <a:bodyPr wrap="square"/>
                    <a:lstStyle/>
                    <a:p>
                      <a:r>
                        <a:rPr sz="1000" b="0" i="0">
                          <a:solidFill>
                            <a:srgbClr val="353B4A"/>
                          </a:solidFill>
                          <a:latin typeface="Consolas"/>
                        </a:rPr>
                        <a:t>TRIGGER trg_block_duplicate_vote</a:t>
                      </a:r>
                    </a:p>
                  </a:txBody>
                  <a:tcPr marL="73152" marR="73152" marT="36576" marB="36576" anchor="ctr">
                    <a:solidFill>
                      <a:srgbClr val="FFFFFF"/>
                    </a:solidFill>
                  </a:tcPr>
                </a:tc>
                <a:tc>
                  <a:txBody>
                    <a:bodyPr wrap="square"/>
                    <a:lstStyle/>
                    <a:p>
                      <a:r>
                        <a:rPr sz="1000" b="0" i="0">
                          <a:solidFill>
                            <a:srgbClr val="353B4A"/>
                          </a:solidFill>
                          <a:latin typeface="Inter"/>
                        </a:rPr>
                        <a:t>DBMS Trigger Violation: Voter has already submitted a ballot.</a:t>
                      </a:r>
                    </a:p>
                  </a:txBody>
                  <a:tcPr marL="73152" marR="73152" marT="36576" marB="36576" anchor="ctr">
                    <a:solidFill>
                      <a:srgbClr val="FFFFFF"/>
                    </a:solidFill>
                  </a:tcPr>
                </a:tc>
              </a:tr>
              <a:tr h="548640">
                <a:tc>
                  <a:txBody>
                    <a:bodyPr wrap="square"/>
                    <a:lstStyle/>
                    <a:p>
                      <a:r>
                        <a:rPr sz="1000" b="1" i="0">
                          <a:solidFill>
                            <a:srgbClr val="1B2A55"/>
                          </a:solidFill>
                          <a:latin typeface="Inter"/>
                        </a:rPr>
                        <a:t>Top three ranks only</a:t>
                      </a:r>
                    </a:p>
                  </a:txBody>
                  <a:tcPr marL="73152" marR="73152" marT="36576" marB="36576" anchor="ctr">
                    <a:solidFill>
                      <a:srgbClr val="F1F0F6"/>
                    </a:solidFill>
                  </a:tcPr>
                </a:tc>
                <a:tc>
                  <a:txBody>
                    <a:bodyPr wrap="square"/>
                    <a:lstStyle/>
                    <a:p>
                      <a:r>
                        <a:rPr sz="1000" b="0" i="0">
                          <a:solidFill>
                            <a:srgbClr val="353B4A"/>
                          </a:solidFill>
                          <a:latin typeface="Consolas"/>
                        </a:rPr>
                        <a:t>CHECK (preference_rank BETWEEN 1 AND 3)</a:t>
                      </a:r>
                    </a:p>
                  </a:txBody>
                  <a:tcPr marL="73152" marR="73152" marT="36576" marB="36576" anchor="ctr">
                    <a:solidFill>
                      <a:srgbClr val="F1F0F6"/>
                    </a:solidFill>
                  </a:tcPr>
                </a:tc>
                <a:tc>
                  <a:txBody>
                    <a:bodyPr wrap="square"/>
                    <a:lstStyle/>
                    <a:p>
                      <a:r>
                        <a:rPr sz="1000" b="0" i="0">
                          <a:solidFill>
                            <a:srgbClr val="353B4A"/>
                          </a:solidFill>
                          <a:latin typeface="Inter"/>
                        </a:rPr>
                        <a:t>CHECK constraint failed: preference_rank BETWEEN 1 AND 3</a:t>
                      </a:r>
                    </a:p>
                  </a:txBody>
                  <a:tcPr marL="73152" marR="73152" marT="36576" marB="36576" anchor="ctr">
                    <a:solidFill>
                      <a:srgbClr val="F1F0F6"/>
                    </a:solidFill>
                  </a:tcPr>
                </a:tc>
              </a:tr>
              <a:tr h="548640">
                <a:tc>
                  <a:txBody>
                    <a:bodyPr wrap="square"/>
                    <a:lstStyle/>
                    <a:p>
                      <a:r>
                        <a:rPr sz="1000" b="1" i="0">
                          <a:solidFill>
                            <a:srgbClr val="1B2A55"/>
                          </a:solidFill>
                          <a:latin typeface="Inter"/>
                        </a:rPr>
                        <a:t>No candidate twice on one ballot</a:t>
                      </a:r>
                    </a:p>
                  </a:txBody>
                  <a:tcPr marL="73152" marR="73152" marT="36576" marB="36576" anchor="ctr">
                    <a:solidFill>
                      <a:srgbClr val="FFFFFF"/>
                    </a:solidFill>
                  </a:tcPr>
                </a:tc>
                <a:tc>
                  <a:txBody>
                    <a:bodyPr wrap="square"/>
                    <a:lstStyle/>
                    <a:p>
                      <a:r>
                        <a:rPr sz="1000" b="0" i="0">
                          <a:solidFill>
                            <a:srgbClr val="353B4A"/>
                          </a:solidFill>
                          <a:latin typeface="Consolas"/>
                        </a:rPr>
                        <a:t>PRIMARY KEY (ballot_token, candidate_id)</a:t>
                      </a:r>
                    </a:p>
                  </a:txBody>
                  <a:tcPr marL="73152" marR="73152" marT="36576" marB="36576" anchor="ctr">
                    <a:solidFill>
                      <a:srgbClr val="FFFFFF"/>
                    </a:solidFill>
                  </a:tcPr>
                </a:tc>
                <a:tc>
                  <a:txBody>
                    <a:bodyPr wrap="square"/>
                    <a:lstStyle/>
                    <a:p>
                      <a:r>
                        <a:rPr sz="1000" b="0" i="0">
                          <a:solidFill>
                            <a:srgbClr val="353B4A"/>
                          </a:solidFill>
                          <a:latin typeface="Inter"/>
                        </a:rPr>
                        <a:t>UNIQUE constraint failed: BALLOT_RANKS.ballot_token, BALLOT_RANKS.candidate_id</a:t>
                      </a:r>
                    </a:p>
                  </a:txBody>
                  <a:tcPr marL="73152" marR="73152" marT="36576" marB="36576" anchor="ctr">
                    <a:solidFill>
                      <a:srgbClr val="FFFFFF"/>
                    </a:solidFill>
                  </a:tcPr>
                </a:tc>
              </a:tr>
              <a:tr h="548640">
                <a:tc>
                  <a:txBody>
                    <a:bodyPr wrap="square"/>
                    <a:lstStyle/>
                    <a:p>
                      <a:r>
                        <a:rPr sz="1000" b="1" i="0">
                          <a:solidFill>
                            <a:srgbClr val="1B2A55"/>
                          </a:solidFill>
                          <a:latin typeface="Inter"/>
                        </a:rPr>
                        <a:t>Only real candidates</a:t>
                      </a:r>
                    </a:p>
                  </a:txBody>
                  <a:tcPr marL="73152" marR="73152" marT="36576" marB="36576" anchor="ctr">
                    <a:solidFill>
                      <a:srgbClr val="F1F0F6"/>
                    </a:solidFill>
                  </a:tcPr>
                </a:tc>
                <a:tc>
                  <a:txBody>
                    <a:bodyPr wrap="square"/>
                    <a:lstStyle/>
                    <a:p>
                      <a:r>
                        <a:rPr sz="1000" b="0" i="0">
                          <a:solidFill>
                            <a:srgbClr val="353B4A"/>
                          </a:solidFill>
                          <a:latin typeface="Consolas"/>
                        </a:rPr>
                        <a:t>FOREIGN KEY → CANDIDATE</a:t>
                      </a:r>
                    </a:p>
                  </a:txBody>
                  <a:tcPr marL="73152" marR="73152" marT="36576" marB="36576" anchor="ctr">
                    <a:solidFill>
                      <a:srgbClr val="F1F0F6"/>
                    </a:solidFill>
                  </a:tcPr>
                </a:tc>
                <a:tc>
                  <a:txBody>
                    <a:bodyPr wrap="square"/>
                    <a:lstStyle/>
                    <a:p>
                      <a:r>
                        <a:rPr sz="1000" b="0" i="0">
                          <a:solidFill>
                            <a:srgbClr val="353B4A"/>
                          </a:solidFill>
                          <a:latin typeface="Inter"/>
                        </a:rPr>
                        <a:t>FOREIGN KEY constraint failed</a:t>
                      </a:r>
                    </a:p>
                  </a:txBody>
                  <a:tcPr marL="73152" marR="73152" marT="36576" marB="36576" anchor="ctr">
                    <a:solidFill>
                      <a:srgbClr val="F1F0F6"/>
                    </a:solidFill>
                  </a:tcPr>
                </a:tc>
              </a:tr>
            </a:tbl>
          </a:graphicData>
        </a:graphic>
      </p:graphicFrame>
      <p:sp>
        <p:nvSpPr>
          <p:cNvPr id="7" name="Rounded Rectangle 6"/>
          <p:cNvSpPr/>
          <p:nvPr/>
        </p:nvSpPr>
        <p:spPr>
          <a:xfrm>
            <a:off x="457200" y="3840480"/>
            <a:ext cx="4023360" cy="86868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3931920"/>
            <a:ext cx="3749039" cy="731520"/>
          </a:xfrm>
          <a:prstGeom prst="rect">
            <a:avLst/>
          </a:prstGeom>
          <a:noFill/>
        </p:spPr>
        <p:txBody>
          <a:bodyPr wrap="square" anchor="t" lIns="0" rIns="0" tIns="0" bIns="0">
            <a:spAutoFit/>
          </a:bodyPr>
          <a:lstStyle/>
          <a:p>
            <a:pPr algn="l">
              <a:spcAft>
                <a:spcPts val="300"/>
              </a:spcAft>
            </a:pPr>
            <a:r>
              <a:rPr sz="1100" b="1" i="0">
                <a:solidFill>
                  <a:srgbClr val="1B2A55"/>
                </a:solidFill>
                <a:latin typeface="Inter"/>
              </a:rPr>
              <a:t>Live views</a:t>
            </a:r>
          </a:p>
          <a:p>
            <a:pPr algn="l">
              <a:spcAft>
                <a:spcPts val="300"/>
              </a:spcAft>
            </a:pPr>
            <a:r>
              <a:rPr sz="1100" b="0" i="0">
                <a:solidFill>
                  <a:srgbClr val="353B4A"/>
                </a:solidFill>
                <a:latin typeface="Inter"/>
              </a:rPr>
              <a:t>VIEW_ELECTION_TURNOUT and VIEW_FIRST_PREFERENCES feed the dashboards: 45 of 60 voters, 75% turnout.</a:t>
            </a:r>
          </a:p>
        </p:txBody>
      </p:sp>
      <p:sp>
        <p:nvSpPr>
          <p:cNvPr id="9" name="Rounded Rectangle 8"/>
          <p:cNvSpPr/>
          <p:nvPr/>
        </p:nvSpPr>
        <p:spPr>
          <a:xfrm>
            <a:off x="4663440" y="3840480"/>
            <a:ext cx="4023360" cy="86868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28032" y="3931920"/>
            <a:ext cx="3749039" cy="731520"/>
          </a:xfrm>
          <a:prstGeom prst="rect">
            <a:avLst/>
          </a:prstGeom>
          <a:noFill/>
        </p:spPr>
        <p:txBody>
          <a:bodyPr wrap="square" anchor="t" lIns="0" rIns="0" tIns="0" bIns="0">
            <a:spAutoFit/>
          </a:bodyPr>
          <a:lstStyle/>
          <a:p>
            <a:pPr algn="l">
              <a:spcAft>
                <a:spcPts val="300"/>
              </a:spcAft>
            </a:pPr>
            <a:r>
              <a:rPr sz="1100" b="1" i="0">
                <a:solidFill>
                  <a:srgbClr val="1B2A55"/>
                </a:solidFill>
                <a:latin typeface="Inter"/>
              </a:rPr>
              <a:t>Each statement ran on the live database</a:t>
            </a:r>
          </a:p>
          <a:p>
            <a:pPr algn="l">
              <a:spcAft>
                <a:spcPts val="300"/>
              </a:spcAft>
            </a:pPr>
            <a:r>
              <a:rPr sz="1100" b="0" i="0">
                <a:solidFill>
                  <a:srgbClr val="353B4A"/>
                </a:solidFill>
                <a:latin typeface="Inter"/>
              </a:rPr>
              <a:t>and was rolled back; the messages shown are the database’s own, not the application’s.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VOTER SIDE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Voting takes three steps and ends with a receipt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11</a:t>
            </a:r>
          </a:p>
        </p:txBody>
      </p:sp>
      <p:pic>
        <p:nvPicPr>
          <p:cNvPr id="6" name="Picture 5" descr="01_voter_home.png"/>
          <p:cNvPicPr>
            <a:picLocks noChangeAspect="1"/>
          </p:cNvPicPr>
          <p:nvPr/>
        </p:nvPicPr>
        <p:blipFill>
          <a:blip r:embed="rId2"/>
          <a:stretch>
            <a:fillRect/>
          </a:stretch>
        </p:blipFill>
        <p:spPr>
          <a:xfrm>
            <a:off x="457200" y="1143000"/>
            <a:ext cx="2103634" cy="2057400"/>
          </a:xfrm>
          <a:prstGeom prst="rect">
            <a:avLst/>
          </a:prstGeom>
          <a:ln w="12700">
            <a:solidFill>
              <a:srgbClr val="D9D9E4"/>
            </a:solidFill>
          </a:ln>
        </p:spPr>
      </p:pic>
      <p:sp>
        <p:nvSpPr>
          <p:cNvPr id="7" name="TextBox 6"/>
          <p:cNvSpPr txBox="1"/>
          <p:nvPr/>
        </p:nvSpPr>
        <p:spPr>
          <a:xfrm>
            <a:off x="457200" y="3310128"/>
            <a:ext cx="2194560" cy="228600"/>
          </a:xfrm>
          <a:prstGeom prst="rect">
            <a:avLst/>
          </a:prstGeom>
          <a:noFill/>
        </p:spPr>
        <p:txBody>
          <a:bodyPr wrap="square" anchor="t" lIns="0" rIns="0" tIns="0" bIns="0">
            <a:spAutoFit/>
          </a:bodyPr>
          <a:lstStyle/>
          <a:p>
            <a:pPr algn="l">
              <a:spcAft>
                <a:spcPts val="0"/>
              </a:spcAft>
            </a:pPr>
            <a:r>
              <a:rPr sz="1250" b="1" i="0">
                <a:solidFill>
                  <a:srgbClr val="1B2A55"/>
                </a:solidFill>
                <a:latin typeface="Inter"/>
              </a:rPr>
              <a:t>1 · Choose an open election</a:t>
            </a:r>
          </a:p>
        </p:txBody>
      </p:sp>
      <p:sp>
        <p:nvSpPr>
          <p:cNvPr id="8" name="TextBox 7"/>
          <p:cNvSpPr txBox="1"/>
          <p:nvPr/>
        </p:nvSpPr>
        <p:spPr>
          <a:xfrm>
            <a:off x="457200" y="3584448"/>
            <a:ext cx="2103120" cy="502920"/>
          </a:xfrm>
          <a:prstGeom prst="rect">
            <a:avLst/>
          </a:prstGeom>
          <a:noFill/>
        </p:spPr>
        <p:txBody>
          <a:bodyPr wrap="square" anchor="t" lIns="0" rIns="0" tIns="0" bIns="0">
            <a:spAutoFit/>
          </a:bodyPr>
          <a:lstStyle/>
          <a:p>
            <a:pPr algn="l">
              <a:spcAft>
                <a:spcPts val="0"/>
              </a:spcAft>
            </a:pPr>
            <a:r>
              <a:rPr sz="1100" b="0" i="0">
                <a:solidFill>
                  <a:srgbClr val="353B4A"/>
                </a:solidFill>
                <a:latin typeface="Inter"/>
              </a:rPr>
              <a:t>Only elections in the Voting phase can be entered.</a:t>
            </a:r>
          </a:p>
        </p:txBody>
      </p:sp>
      <p:pic>
        <p:nvPicPr>
          <p:cNvPr id="9" name="Picture 8" descr="03_ballot_partial.png"/>
          <p:cNvPicPr>
            <a:picLocks noChangeAspect="1"/>
          </p:cNvPicPr>
          <p:nvPr/>
        </p:nvPicPr>
        <p:blipFill>
          <a:blip r:embed="rId3"/>
          <a:stretch>
            <a:fillRect/>
          </a:stretch>
        </p:blipFill>
        <p:spPr>
          <a:xfrm>
            <a:off x="2761065" y="1143000"/>
            <a:ext cx="3481067" cy="2057400"/>
          </a:xfrm>
          <a:prstGeom prst="rect">
            <a:avLst/>
          </a:prstGeom>
          <a:ln w="12700">
            <a:solidFill>
              <a:srgbClr val="D9D9E4"/>
            </a:solidFill>
          </a:ln>
        </p:spPr>
      </p:pic>
      <p:sp>
        <p:nvSpPr>
          <p:cNvPr id="10" name="TextBox 9"/>
          <p:cNvSpPr txBox="1"/>
          <p:nvPr/>
        </p:nvSpPr>
        <p:spPr>
          <a:xfrm>
            <a:off x="2761065" y="3310128"/>
            <a:ext cx="3481067" cy="228600"/>
          </a:xfrm>
          <a:prstGeom prst="rect">
            <a:avLst/>
          </a:prstGeom>
          <a:noFill/>
        </p:spPr>
        <p:txBody>
          <a:bodyPr wrap="square" anchor="t" lIns="0" rIns="0" tIns="0" bIns="0">
            <a:spAutoFit/>
          </a:bodyPr>
          <a:lstStyle/>
          <a:p>
            <a:pPr algn="l">
              <a:spcAft>
                <a:spcPts val="0"/>
              </a:spcAft>
            </a:pPr>
            <a:r>
              <a:rPr sz="1250" b="1" i="0">
                <a:solidFill>
                  <a:srgbClr val="1B2A55"/>
                </a:solidFill>
                <a:latin typeface="Inter"/>
              </a:rPr>
              <a:t>2 · Rank three candidates</a:t>
            </a:r>
          </a:p>
        </p:txBody>
      </p:sp>
      <p:sp>
        <p:nvSpPr>
          <p:cNvPr id="11" name="TextBox 10"/>
          <p:cNvSpPr txBox="1"/>
          <p:nvPr/>
        </p:nvSpPr>
        <p:spPr>
          <a:xfrm>
            <a:off x="2761065" y="3584448"/>
            <a:ext cx="3389627" cy="502920"/>
          </a:xfrm>
          <a:prstGeom prst="rect">
            <a:avLst/>
          </a:prstGeom>
          <a:noFill/>
        </p:spPr>
        <p:txBody>
          <a:bodyPr wrap="square" anchor="t" lIns="0" rIns="0" tIns="0" bIns="0">
            <a:spAutoFit/>
          </a:bodyPr>
          <a:lstStyle/>
          <a:p>
            <a:pPr algn="l">
              <a:spcAft>
                <a:spcPts val="0"/>
              </a:spcAft>
            </a:pPr>
            <a:r>
              <a:rPr sz="1100" b="0" i="0">
                <a:solidFill>
                  <a:srgbClr val="353B4A"/>
                </a:solidFill>
                <a:latin typeface="Inter"/>
              </a:rPr>
              <a:t>Tap in order of preference; review before casting.</a:t>
            </a:r>
          </a:p>
        </p:txBody>
      </p:sp>
      <p:pic>
        <p:nvPicPr>
          <p:cNvPr id="12" name="Picture 11" descr="05_receipt.png"/>
          <p:cNvPicPr>
            <a:picLocks noChangeAspect="1"/>
          </p:cNvPicPr>
          <p:nvPr/>
        </p:nvPicPr>
        <p:blipFill>
          <a:blip r:embed="rId4"/>
          <a:stretch>
            <a:fillRect/>
          </a:stretch>
        </p:blipFill>
        <p:spPr>
          <a:xfrm>
            <a:off x="6442363" y="1143000"/>
            <a:ext cx="2244436" cy="2057400"/>
          </a:xfrm>
          <a:prstGeom prst="rect">
            <a:avLst/>
          </a:prstGeom>
          <a:ln w="12700">
            <a:solidFill>
              <a:srgbClr val="D9D9E4"/>
            </a:solidFill>
          </a:ln>
        </p:spPr>
      </p:pic>
      <p:sp>
        <p:nvSpPr>
          <p:cNvPr id="13" name="TextBox 12"/>
          <p:cNvSpPr txBox="1"/>
          <p:nvPr/>
        </p:nvSpPr>
        <p:spPr>
          <a:xfrm>
            <a:off x="6442363" y="3310128"/>
            <a:ext cx="2244436" cy="228600"/>
          </a:xfrm>
          <a:prstGeom prst="rect">
            <a:avLst/>
          </a:prstGeom>
          <a:noFill/>
        </p:spPr>
        <p:txBody>
          <a:bodyPr wrap="square" anchor="t" lIns="0" rIns="0" tIns="0" bIns="0">
            <a:spAutoFit/>
          </a:bodyPr>
          <a:lstStyle/>
          <a:p>
            <a:pPr algn="l">
              <a:spcAft>
                <a:spcPts val="0"/>
              </a:spcAft>
            </a:pPr>
            <a:r>
              <a:rPr sz="1250" b="1" i="0">
                <a:solidFill>
                  <a:srgbClr val="1B2A55"/>
                </a:solidFill>
                <a:latin typeface="Inter"/>
              </a:rPr>
              <a:t>3 · Keep the receipt token</a:t>
            </a:r>
          </a:p>
        </p:txBody>
      </p:sp>
      <p:sp>
        <p:nvSpPr>
          <p:cNvPr id="14" name="TextBox 13"/>
          <p:cNvSpPr txBox="1"/>
          <p:nvPr/>
        </p:nvSpPr>
        <p:spPr>
          <a:xfrm>
            <a:off x="6442363" y="3584448"/>
            <a:ext cx="2152996" cy="502920"/>
          </a:xfrm>
          <a:prstGeom prst="rect">
            <a:avLst/>
          </a:prstGeom>
          <a:noFill/>
        </p:spPr>
        <p:txBody>
          <a:bodyPr wrap="square" anchor="t" lIns="0" rIns="0" tIns="0" bIns="0">
            <a:spAutoFit/>
          </a:bodyPr>
          <a:lstStyle/>
          <a:p>
            <a:pPr algn="l">
              <a:spcAft>
                <a:spcPts val="0"/>
              </a:spcAft>
            </a:pPr>
            <a:r>
              <a:rPr sz="1100" b="0" i="0">
                <a:solidFill>
                  <a:srgbClr val="353B4A"/>
                </a:solidFill>
                <a:latin typeface="Inter"/>
              </a:rPr>
              <a:t>It proves the ballot is sealed, not how you voted.</a:t>
            </a:r>
          </a:p>
        </p:txBody>
      </p:sp>
      <p:sp>
        <p:nvSpPr>
          <p:cNvPr id="15" name="Rounded Rectangle 14"/>
          <p:cNvSpPr/>
          <p:nvPr/>
        </p:nvSpPr>
        <p:spPr>
          <a:xfrm>
            <a:off x="457200" y="4114800"/>
            <a:ext cx="8229600" cy="64008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187952"/>
            <a:ext cx="7863840" cy="502920"/>
          </a:xfrm>
          <a:prstGeom prst="rect">
            <a:avLst/>
          </a:prstGeom>
          <a:noFill/>
        </p:spPr>
        <p:txBody>
          <a:bodyPr wrap="square" anchor="ctr" lIns="0" rIns="0" tIns="0" bIns="0">
            <a:spAutoFit/>
          </a:bodyPr>
          <a:lstStyle/>
          <a:p>
            <a:pPr algn="l">
              <a:spcAft>
                <a:spcPts val="0"/>
              </a:spcAft>
            </a:pPr>
            <a:r>
              <a:rPr sz="1150" b="1" i="0">
                <a:solidFill>
                  <a:srgbClr val="1B2A55"/>
                </a:solidFill>
                <a:latin typeface="Inter"/>
              </a:rPr>
              <a:t>Guards in the flow: </a:t>
            </a:r>
            <a:r>
              <a:rPr sz="1150" b="0" i="0">
                <a:solidFill>
                  <a:srgbClr val="353B4A"/>
                </a:solidFill>
                <a:latin typeface="Inter"/>
              </a:rPr>
              <a:t>wrong password is rejected, a voter who already voted is refused, and the ballot cannot be changed once cast.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PRIVACY BY DESIGN</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One vote becomes two records that cannot be joined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12</a:t>
            </a:r>
          </a:p>
        </p:txBody>
      </p:sp>
      <p:sp>
        <p:nvSpPr>
          <p:cNvPr id="6" name="Rounded Rectangle 5"/>
          <p:cNvSpPr/>
          <p:nvPr/>
        </p:nvSpPr>
        <p:spPr>
          <a:xfrm>
            <a:off x="457200" y="1371600"/>
            <a:ext cx="1554480" cy="822960"/>
          </a:xfrm>
          <a:prstGeom prst="roundRect">
            <a:avLst>
              <a:gd name="adj" fmla="val 12000"/>
            </a:avLst>
          </a:prstGeom>
          <a:solidFill>
            <a:srgbClr val="F1F0F6"/>
          </a:solidFill>
          <a:ln w="1905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1B2A55"/>
                </a:solidFill>
                <a:latin typeface="Inter"/>
              </a:rPr>
              <a:t>Voter signs in</a:t>
            </a:r>
          </a:p>
          <a:p>
            <a:pPr algn="ctr">
              <a:spcAft>
                <a:spcPts val="0"/>
              </a:spcAft>
            </a:pPr>
            <a:r>
              <a:rPr sz="900" b="0" i="0">
                <a:solidFill>
                  <a:srgbClr val="1B2A55"/>
                </a:solidFill>
                <a:latin typeface="Inter"/>
              </a:rPr>
              <a:t>registration no. + password</a:t>
            </a:r>
          </a:p>
        </p:txBody>
      </p:sp>
      <p:cxnSp>
        <p:nvCxnSpPr>
          <p:cNvPr id="7" name="Connector 6"/>
          <p:cNvCxnSpPr/>
          <p:nvPr/>
        </p:nvCxnSpPr>
        <p:spPr>
          <a:xfrm>
            <a:off x="2011680" y="1783080"/>
            <a:ext cx="502920" cy="0"/>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514600" y="1097280"/>
            <a:ext cx="3520440" cy="2743200"/>
          </a:xfrm>
          <a:prstGeom prst="roundRect">
            <a:avLst>
              <a:gd name="adj" fmla="val 4000"/>
            </a:avLst>
          </a:prstGeom>
          <a:noFill/>
          <a:ln w="12700">
            <a:solidFill>
              <a:srgbClr val="666A7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651760" y="1161288"/>
            <a:ext cx="3200400" cy="182880"/>
          </a:xfrm>
          <a:prstGeom prst="rect">
            <a:avLst/>
          </a:prstGeom>
          <a:noFill/>
        </p:spPr>
        <p:txBody>
          <a:bodyPr wrap="square" anchor="t" lIns="0" rIns="0" tIns="0" bIns="0">
            <a:spAutoFit/>
          </a:bodyPr>
          <a:lstStyle/>
          <a:p>
            <a:pPr algn="l">
              <a:spcAft>
                <a:spcPts val="0"/>
              </a:spcAft>
            </a:pPr>
            <a:r>
              <a:rPr sz="1000" b="1" i="0">
                <a:solidFill>
                  <a:srgbClr val="666A78"/>
                </a:solidFill>
                <a:latin typeface="Inter"/>
              </a:rPr>
              <a:t>One database transaction</a:t>
            </a:r>
          </a:p>
        </p:txBody>
      </p:sp>
      <p:sp>
        <p:nvSpPr>
          <p:cNvPr id="10" name="Rounded Rectangle 9"/>
          <p:cNvSpPr/>
          <p:nvPr/>
        </p:nvSpPr>
        <p:spPr>
          <a:xfrm>
            <a:off x="2697480" y="1463040"/>
            <a:ext cx="3154680" cy="731520"/>
          </a:xfrm>
          <a:prstGeom prst="roundRect">
            <a:avLst>
              <a:gd name="adj" fmla="val 10000"/>
            </a:avLst>
          </a:prstGeom>
          <a:solidFill>
            <a:srgbClr val="FFFFFF"/>
          </a:solidFill>
          <a:ln w="1905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1B2A55"/>
                </a:solidFill>
                <a:latin typeface="Inter"/>
              </a:rPr>
              <a:t>VOTER_PARTICIPATION</a:t>
            </a:r>
          </a:p>
          <a:p>
            <a:pPr algn="ctr">
              <a:spcAft>
                <a:spcPts val="0"/>
              </a:spcAft>
            </a:pPr>
            <a:r>
              <a:rPr sz="950" b="0" i="0">
                <a:solidFill>
                  <a:srgbClr val="1B2A55"/>
                </a:solidFill>
                <a:latin typeface="Inter"/>
              </a:rPr>
              <a:t>has_voted = 1   (identity side)</a:t>
            </a:r>
          </a:p>
        </p:txBody>
      </p:sp>
      <p:sp>
        <p:nvSpPr>
          <p:cNvPr id="11" name="TextBox 10"/>
          <p:cNvSpPr txBox="1"/>
          <p:nvPr/>
        </p:nvSpPr>
        <p:spPr>
          <a:xfrm>
            <a:off x="2697480" y="2286000"/>
            <a:ext cx="3154680" cy="274320"/>
          </a:xfrm>
          <a:prstGeom prst="rect">
            <a:avLst/>
          </a:prstGeom>
          <a:noFill/>
        </p:spPr>
        <p:txBody>
          <a:bodyPr wrap="square" anchor="t" lIns="0" rIns="0" tIns="0" bIns="0">
            <a:spAutoFit/>
          </a:bodyPr>
          <a:lstStyle/>
          <a:p>
            <a:pPr algn="ctr">
              <a:spcAft>
                <a:spcPts val="0"/>
              </a:spcAft>
            </a:pPr>
            <a:r>
              <a:rPr sz="950" b="0" i="1">
                <a:solidFill>
                  <a:srgbClr val="C0392B"/>
                </a:solidFill>
                <a:latin typeface="Inter"/>
              </a:rPr>
              <a:t>privacy boundary: no voter ID is ever stored with a ballot</a:t>
            </a:r>
          </a:p>
        </p:txBody>
      </p:sp>
      <p:sp>
        <p:nvSpPr>
          <p:cNvPr id="12" name="Rounded Rectangle 11"/>
          <p:cNvSpPr/>
          <p:nvPr/>
        </p:nvSpPr>
        <p:spPr>
          <a:xfrm>
            <a:off x="2697480" y="2697480"/>
            <a:ext cx="3154680" cy="868680"/>
          </a:xfrm>
          <a:prstGeom prst="roundRect">
            <a:avLst>
              <a:gd name="adj" fmla="val 10000"/>
            </a:avLst>
          </a:prstGeom>
          <a:solidFill>
            <a:srgbClr val="FFFFFF"/>
          </a:solidFill>
          <a:ln w="1905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1B2A55"/>
                </a:solidFill>
                <a:latin typeface="Inter"/>
              </a:rPr>
              <a:t>BALLOT_RANKS</a:t>
            </a:r>
          </a:p>
          <a:p>
            <a:pPr algn="ctr">
              <a:spcAft>
                <a:spcPts val="0"/>
              </a:spcAft>
            </a:pPr>
            <a:r>
              <a:rPr sz="950" b="0" i="0">
                <a:solidFill>
                  <a:srgbClr val="1B2A55"/>
                </a:solidFill>
                <a:latin typeface="Inter"/>
              </a:rPr>
              <a:t>random ballot_token + 3 ranked candidates</a:t>
            </a:r>
          </a:p>
          <a:p>
            <a:pPr algn="ctr">
              <a:spcAft>
                <a:spcPts val="0"/>
              </a:spcAft>
            </a:pPr>
            <a:r>
              <a:rPr sz="950" b="0" i="0">
                <a:solidFill>
                  <a:srgbClr val="1B2A55"/>
                </a:solidFill>
                <a:latin typeface="Inter"/>
              </a:rPr>
              <a:t>(ballot side)</a:t>
            </a:r>
          </a:p>
        </p:txBody>
      </p:sp>
      <p:cxnSp>
        <p:nvCxnSpPr>
          <p:cNvPr id="13" name="Connector 12"/>
          <p:cNvCxnSpPr/>
          <p:nvPr/>
        </p:nvCxnSpPr>
        <p:spPr>
          <a:xfrm>
            <a:off x="6035040" y="3108960"/>
            <a:ext cx="502920" cy="0"/>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537960" y="2606040"/>
            <a:ext cx="2148840" cy="1005840"/>
          </a:xfrm>
          <a:prstGeom prst="roundRect">
            <a:avLst>
              <a:gd name="adj" fmla="val 10000"/>
            </a:avLst>
          </a:prstGeom>
          <a:solidFill>
            <a:srgbClr val="FFF4E6"/>
          </a:solidFill>
          <a:ln w="19050">
            <a:solidFill>
              <a:srgbClr val="F0B46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1B2A55"/>
                </a:solidFill>
                <a:latin typeface="Inter"/>
              </a:rPr>
              <a:t>Ledger append</a:t>
            </a:r>
          </a:p>
          <a:p>
            <a:pPr algn="ctr">
              <a:spcAft>
                <a:spcPts val="0"/>
              </a:spcAft>
            </a:pPr>
            <a:r>
              <a:rPr sz="950" b="0" i="0">
                <a:solidFill>
                  <a:srgbClr val="1B2A55"/>
                </a:solidFill>
                <a:latin typeface="Inter"/>
              </a:rPr>
              <a:t>SHA-256 of the ranks + prev_hash, sealed as curr_hash</a:t>
            </a:r>
          </a:p>
        </p:txBody>
      </p:sp>
      <p:cxnSp>
        <p:nvCxnSpPr>
          <p:cNvPr id="15" name="Connector 14"/>
          <p:cNvCxnSpPr/>
          <p:nvPr/>
        </p:nvCxnSpPr>
        <p:spPr>
          <a:xfrm flipV="1">
            <a:off x="7589520" y="2194560"/>
            <a:ext cx="0" cy="411480"/>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537960" y="1371600"/>
            <a:ext cx="2148840" cy="822960"/>
          </a:xfrm>
          <a:prstGeom prst="roundRect">
            <a:avLst>
              <a:gd name="adj" fmla="val 12000"/>
            </a:avLst>
          </a:prstGeom>
          <a:solidFill>
            <a:srgbClr val="F1F0F6"/>
          </a:solidFill>
          <a:ln w="1905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1B2A55"/>
                </a:solidFill>
                <a:latin typeface="Inter"/>
              </a:rPr>
              <a:t>Receipt token</a:t>
            </a:r>
          </a:p>
          <a:p>
            <a:pPr algn="ctr">
              <a:spcAft>
                <a:spcPts val="0"/>
              </a:spcAft>
            </a:pPr>
            <a:r>
              <a:rPr sz="950" b="0" i="0">
                <a:solidFill>
                  <a:srgbClr val="1B2A55"/>
                </a:solidFill>
                <a:latin typeface="Inter"/>
              </a:rPr>
              <a:t>returned to the voter</a:t>
            </a:r>
          </a:p>
        </p:txBody>
      </p:sp>
      <p:sp>
        <p:nvSpPr>
          <p:cNvPr id="17" name="Rounded Rectangle 16"/>
          <p:cNvSpPr/>
          <p:nvPr/>
        </p:nvSpPr>
        <p:spPr>
          <a:xfrm>
            <a:off x="457200" y="4005072"/>
            <a:ext cx="2587752" cy="7772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4069080"/>
            <a:ext cx="2331720" cy="685800"/>
          </a:xfrm>
          <a:prstGeom prst="rect">
            <a:avLst/>
          </a:prstGeom>
          <a:noFill/>
        </p:spPr>
        <p:txBody>
          <a:bodyPr wrap="square" anchor="t" lIns="0" rIns="0" tIns="0" bIns="0">
            <a:spAutoFit/>
          </a:bodyPr>
          <a:lstStyle/>
          <a:p>
            <a:pPr algn="l">
              <a:spcAft>
                <a:spcPts val="100"/>
              </a:spcAft>
            </a:pPr>
            <a:r>
              <a:rPr sz="1100" b="1" i="0">
                <a:solidFill>
                  <a:srgbClr val="1B2A55"/>
                </a:solidFill>
                <a:latin typeface="Inter"/>
              </a:rPr>
              <a:t>Atomic</a:t>
            </a:r>
          </a:p>
          <a:p>
            <a:pPr algn="l">
              <a:spcAft>
                <a:spcPts val="100"/>
              </a:spcAft>
            </a:pPr>
            <a:r>
              <a:rPr sz="950" b="0" i="0">
                <a:solidFill>
                  <a:srgbClr val="353B4A"/>
                </a:solidFill>
                <a:latin typeface="Inter"/>
              </a:rPr>
              <a:t>The voter flag and the ballot rows commit together, then the receipt is appended.</a:t>
            </a:r>
          </a:p>
        </p:txBody>
      </p:sp>
      <p:sp>
        <p:nvSpPr>
          <p:cNvPr id="19" name="Rounded Rectangle 18"/>
          <p:cNvSpPr/>
          <p:nvPr/>
        </p:nvSpPr>
        <p:spPr>
          <a:xfrm>
            <a:off x="3282696" y="4005072"/>
            <a:ext cx="2587752" cy="7772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19856" y="4069080"/>
            <a:ext cx="2331720" cy="685800"/>
          </a:xfrm>
          <a:prstGeom prst="rect">
            <a:avLst/>
          </a:prstGeom>
          <a:noFill/>
        </p:spPr>
        <p:txBody>
          <a:bodyPr wrap="square" anchor="t" lIns="0" rIns="0" tIns="0" bIns="0">
            <a:spAutoFit/>
          </a:bodyPr>
          <a:lstStyle/>
          <a:p>
            <a:pPr algn="l">
              <a:spcAft>
                <a:spcPts val="100"/>
              </a:spcAft>
            </a:pPr>
            <a:r>
              <a:rPr sz="1100" b="1" i="0">
                <a:solidFill>
                  <a:srgbClr val="1B2A55"/>
                </a:solidFill>
                <a:latin typeface="Inter"/>
              </a:rPr>
              <a:t>Serialized</a:t>
            </a:r>
          </a:p>
          <a:p>
            <a:pPr algn="l">
              <a:spcAft>
                <a:spcPts val="100"/>
              </a:spcAft>
            </a:pPr>
            <a:r>
              <a:rPr sz="950" b="0" i="0">
                <a:solidFill>
                  <a:srgbClr val="353B4A"/>
                </a:solidFill>
                <a:latin typeface="Inter"/>
              </a:rPr>
              <a:t>A server-side write lock keeps simultaneous ballots from corrupting the ledger.</a:t>
            </a:r>
          </a:p>
        </p:txBody>
      </p:sp>
      <p:sp>
        <p:nvSpPr>
          <p:cNvPr id="21" name="Rounded Rectangle 20"/>
          <p:cNvSpPr/>
          <p:nvPr/>
        </p:nvSpPr>
        <p:spPr>
          <a:xfrm>
            <a:off x="6108192" y="4005072"/>
            <a:ext cx="2587752" cy="7772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45352" y="4069080"/>
            <a:ext cx="2331720" cy="685800"/>
          </a:xfrm>
          <a:prstGeom prst="rect">
            <a:avLst/>
          </a:prstGeom>
          <a:noFill/>
        </p:spPr>
        <p:txBody>
          <a:bodyPr wrap="square" anchor="t" lIns="0" rIns="0" tIns="0" bIns="0">
            <a:spAutoFit/>
          </a:bodyPr>
          <a:lstStyle/>
          <a:p>
            <a:pPr algn="l">
              <a:spcAft>
                <a:spcPts val="100"/>
              </a:spcAft>
            </a:pPr>
            <a:r>
              <a:rPr sz="1100" b="1" i="0">
                <a:solidFill>
                  <a:srgbClr val="1B2A55"/>
                </a:solidFill>
                <a:latin typeface="Inter"/>
              </a:rPr>
              <a:t>Verifiable</a:t>
            </a:r>
          </a:p>
          <a:p>
            <a:pPr algn="l">
              <a:spcAft>
                <a:spcPts val="100"/>
              </a:spcAft>
            </a:pPr>
            <a:r>
              <a:rPr sz="950" b="0" i="0">
                <a:solidFill>
                  <a:srgbClr val="353B4A"/>
                </a:solidFill>
                <a:latin typeface="Inter"/>
              </a:rPr>
              <a:t>Voters can look their token up later without revealing their choices.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TALLYING ENGINE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Instant-runoff counts until someone holds a majority</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13</a:t>
            </a:r>
          </a:p>
        </p:txBody>
      </p:sp>
      <p:graphicFrame>
        <p:nvGraphicFramePr>
          <p:cNvPr id="6" name="Chart 5"/>
          <p:cNvGraphicFramePr>
            <a:graphicFrameLocks noGrp="1"/>
          </p:cNvGraphicFramePr>
          <p:nvPr/>
        </p:nvGraphicFramePr>
        <p:xfrm>
          <a:off x="365760" y="1051560"/>
          <a:ext cx="5120640" cy="3657600"/>
        </p:xfrm>
        <a:graphic>
          <a:graphicData uri="http://schemas.openxmlformats.org/drawingml/2006/chart">
            <c:chart xmlns:c="http://schemas.openxmlformats.org/drawingml/2006/chart" r:id="rId2"/>
          </a:graphicData>
        </a:graphic>
      </p:graphicFrame>
      <p:sp>
        <p:nvSpPr>
          <p:cNvPr id="7" name="Rounded Rectangle 6"/>
          <p:cNvSpPr/>
          <p:nvPr/>
        </p:nvSpPr>
        <p:spPr>
          <a:xfrm>
            <a:off x="5669280" y="1097280"/>
            <a:ext cx="3017520" cy="132588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33872" y="1188720"/>
            <a:ext cx="2743200" cy="1188720"/>
          </a:xfrm>
          <a:prstGeom prst="rect">
            <a:avLst/>
          </a:prstGeom>
          <a:noFill/>
        </p:spPr>
        <p:txBody>
          <a:bodyPr wrap="square" anchor="t" lIns="0" rIns="0" tIns="0" bIns="0">
            <a:spAutoFit/>
          </a:bodyPr>
          <a:lstStyle/>
          <a:p>
            <a:pPr algn="l">
              <a:spcAft>
                <a:spcPts val="300"/>
              </a:spcAft>
            </a:pPr>
            <a:r>
              <a:rPr sz="1400" b="1" i="0">
                <a:solidFill>
                  <a:srgbClr val="1A7F37"/>
                </a:solidFill>
                <a:latin typeface="Inter"/>
              </a:rPr>
              <a:t>Chaitanya Reddy wins</a:t>
            </a:r>
          </a:p>
          <a:p>
            <a:pPr algn="l">
              <a:spcAft>
                <a:spcPts val="300"/>
              </a:spcAft>
            </a:pPr>
            <a:r>
              <a:rPr sz="1150" b="0" i="0">
                <a:solidFill>
                  <a:srgbClr val="353B4A"/>
                </a:solidFill>
                <a:latin typeface="Inter"/>
              </a:rPr>
              <a:t>23 of 45 continuing ballots (51.1%) in round 4, against 22 for Diya Sharma.</a:t>
            </a:r>
          </a:p>
        </p:txBody>
      </p:sp>
      <p:sp>
        <p:nvSpPr>
          <p:cNvPr id="9" name="TextBox 8"/>
          <p:cNvSpPr txBox="1"/>
          <p:nvPr/>
        </p:nvSpPr>
        <p:spPr>
          <a:xfrm>
            <a:off x="5669280" y="2606040"/>
            <a:ext cx="3017520" cy="210312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How it runs</a:t>
            </a:r>
          </a:p>
          <a:p>
            <a:pPr algn="l">
              <a:spcAft>
                <a:spcPts val="500"/>
              </a:spcAft>
            </a:pPr>
            <a:r>
              <a:rPr sz="1100" b="0" i="0">
                <a:solidFill>
                  <a:srgbClr val="353B4A"/>
                </a:solidFill>
                <a:latin typeface="Inter"/>
              </a:rPr>
              <a:t>Count each ballot’s top continuing choice.</a:t>
            </a:r>
          </a:p>
          <a:p>
            <a:pPr algn="l">
              <a:spcAft>
                <a:spcPts val="500"/>
              </a:spcAft>
            </a:pPr>
            <a:r>
              <a:rPr sz="1100" b="0" i="0">
                <a:solidFill>
                  <a:srgbClr val="353B4A"/>
                </a:solidFill>
                <a:latin typeface="Inter"/>
              </a:rPr>
              <a:t>No majority? Eliminate the last-place candidate and move those ballots to their next choice.</a:t>
            </a:r>
          </a:p>
          <a:p>
            <a:pPr algn="l">
              <a:spcAft>
                <a:spcPts val="500"/>
              </a:spcAft>
            </a:pPr>
            <a:r>
              <a:rPr sz="1100" b="0" i="0">
                <a:solidFill>
                  <a:srgbClr val="353B4A"/>
                </a:solidFill>
                <a:latin typeface="Inter"/>
              </a:rPr>
              <a:t>Edge cases: exhausted ballots, empty elections, and last-place ties are flagged in the interface.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AUDIT LEDGER</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Every ballot is sealed in a hash chain</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14</a:t>
            </a:r>
          </a:p>
        </p:txBody>
      </p:sp>
      <p:sp>
        <p:nvSpPr>
          <p:cNvPr id="6" name="Rounded Rectangle 5"/>
          <p:cNvSpPr/>
          <p:nvPr/>
        </p:nvSpPr>
        <p:spPr>
          <a:xfrm>
            <a:off x="457200" y="1097280"/>
            <a:ext cx="2587752" cy="192024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188720"/>
            <a:ext cx="98298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Block 1</a:t>
            </a:r>
          </a:p>
        </p:txBody>
      </p:sp>
      <p:sp>
        <p:nvSpPr>
          <p:cNvPr id="8" name="TextBox 7"/>
          <p:cNvSpPr txBox="1"/>
          <p:nvPr/>
        </p:nvSpPr>
        <p:spPr>
          <a:xfrm>
            <a:off x="621792" y="1536192"/>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ballot_token</a:t>
            </a:r>
          </a:p>
        </p:txBody>
      </p:sp>
      <p:sp>
        <p:nvSpPr>
          <p:cNvPr id="9" name="TextBox 8"/>
          <p:cNvSpPr txBox="1"/>
          <p:nvPr/>
        </p:nvSpPr>
        <p:spPr>
          <a:xfrm>
            <a:off x="1719072" y="1536192"/>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0f2da608…</a:t>
            </a:r>
          </a:p>
        </p:txBody>
      </p:sp>
      <p:sp>
        <p:nvSpPr>
          <p:cNvPr id="10" name="TextBox 9"/>
          <p:cNvSpPr txBox="1"/>
          <p:nvPr/>
        </p:nvSpPr>
        <p:spPr>
          <a:xfrm>
            <a:off x="621792" y="1883664"/>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vote_data_hash</a:t>
            </a:r>
          </a:p>
        </p:txBody>
      </p:sp>
      <p:sp>
        <p:nvSpPr>
          <p:cNvPr id="11" name="TextBox 10"/>
          <p:cNvSpPr txBox="1"/>
          <p:nvPr/>
        </p:nvSpPr>
        <p:spPr>
          <a:xfrm>
            <a:off x="1719072" y="1883664"/>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98f83226…</a:t>
            </a:r>
          </a:p>
        </p:txBody>
      </p:sp>
      <p:sp>
        <p:nvSpPr>
          <p:cNvPr id="12" name="TextBox 11"/>
          <p:cNvSpPr txBox="1"/>
          <p:nvPr/>
        </p:nvSpPr>
        <p:spPr>
          <a:xfrm>
            <a:off x="621792" y="2231136"/>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prev_hash</a:t>
            </a:r>
          </a:p>
        </p:txBody>
      </p:sp>
      <p:sp>
        <p:nvSpPr>
          <p:cNvPr id="13" name="TextBox 12"/>
          <p:cNvSpPr txBox="1"/>
          <p:nvPr/>
        </p:nvSpPr>
        <p:spPr>
          <a:xfrm>
            <a:off x="1719072" y="2231136"/>
            <a:ext cx="1234440" cy="274320"/>
          </a:xfrm>
          <a:prstGeom prst="rect">
            <a:avLst/>
          </a:prstGeom>
          <a:noFill/>
        </p:spPr>
        <p:txBody>
          <a:bodyPr wrap="square" anchor="ctr" lIns="0" rIns="0" tIns="0" bIns="0">
            <a:spAutoFit/>
          </a:bodyPr>
          <a:lstStyle/>
          <a:p>
            <a:pPr algn="l">
              <a:spcAft>
                <a:spcPts val="0"/>
              </a:spcAft>
            </a:pPr>
            <a:r>
              <a:rPr sz="1050" b="1" i="0">
                <a:solidFill>
                  <a:srgbClr val="1B2A55"/>
                </a:solidFill>
                <a:latin typeface="Consolas"/>
              </a:rPr>
              <a:t>00000000…</a:t>
            </a:r>
          </a:p>
        </p:txBody>
      </p:sp>
      <p:sp>
        <p:nvSpPr>
          <p:cNvPr id="14" name="TextBox 13"/>
          <p:cNvSpPr txBox="1"/>
          <p:nvPr/>
        </p:nvSpPr>
        <p:spPr>
          <a:xfrm>
            <a:off x="621792" y="2578608"/>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curr_hash</a:t>
            </a:r>
          </a:p>
        </p:txBody>
      </p:sp>
      <p:sp>
        <p:nvSpPr>
          <p:cNvPr id="15" name="TextBox 14"/>
          <p:cNvSpPr txBox="1"/>
          <p:nvPr/>
        </p:nvSpPr>
        <p:spPr>
          <a:xfrm>
            <a:off x="1719072" y="2578608"/>
            <a:ext cx="1234440" cy="274320"/>
          </a:xfrm>
          <a:prstGeom prst="rect">
            <a:avLst/>
          </a:prstGeom>
          <a:noFill/>
        </p:spPr>
        <p:txBody>
          <a:bodyPr wrap="square" anchor="ctr" lIns="0" rIns="0" tIns="0" bIns="0">
            <a:spAutoFit/>
          </a:bodyPr>
          <a:lstStyle/>
          <a:p>
            <a:pPr algn="l">
              <a:spcAft>
                <a:spcPts val="0"/>
              </a:spcAft>
            </a:pPr>
            <a:r>
              <a:rPr sz="1050" b="1" i="0">
                <a:solidFill>
                  <a:srgbClr val="1B2A55"/>
                </a:solidFill>
                <a:latin typeface="Consolas"/>
              </a:rPr>
              <a:t>5906eaba…</a:t>
            </a:r>
          </a:p>
        </p:txBody>
      </p:sp>
      <p:cxnSp>
        <p:nvCxnSpPr>
          <p:cNvPr id="16" name="Connector 15"/>
          <p:cNvCxnSpPr/>
          <p:nvPr/>
        </p:nvCxnSpPr>
        <p:spPr>
          <a:xfrm>
            <a:off x="3044952" y="2377440"/>
            <a:ext cx="237744" cy="0"/>
          </a:xfrm>
          <a:prstGeom prst="line">
            <a:avLst/>
          </a:prstGeom>
          <a:ln w="25400">
            <a:solidFill>
              <a:srgbClr val="1A7F37"/>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3282696" y="1097280"/>
            <a:ext cx="2587752" cy="192024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419856" y="1188720"/>
            <a:ext cx="98298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Block 2</a:t>
            </a:r>
          </a:p>
        </p:txBody>
      </p:sp>
      <p:sp>
        <p:nvSpPr>
          <p:cNvPr id="19" name="TextBox 18"/>
          <p:cNvSpPr txBox="1"/>
          <p:nvPr/>
        </p:nvSpPr>
        <p:spPr>
          <a:xfrm>
            <a:off x="3447288" y="1536192"/>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ballot_token</a:t>
            </a:r>
          </a:p>
        </p:txBody>
      </p:sp>
      <p:sp>
        <p:nvSpPr>
          <p:cNvPr id="20" name="TextBox 19"/>
          <p:cNvSpPr txBox="1"/>
          <p:nvPr/>
        </p:nvSpPr>
        <p:spPr>
          <a:xfrm>
            <a:off x="4544568" y="1536192"/>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050556d2…</a:t>
            </a:r>
          </a:p>
        </p:txBody>
      </p:sp>
      <p:sp>
        <p:nvSpPr>
          <p:cNvPr id="21" name="TextBox 20"/>
          <p:cNvSpPr txBox="1"/>
          <p:nvPr/>
        </p:nvSpPr>
        <p:spPr>
          <a:xfrm>
            <a:off x="3447288" y="1883664"/>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vote_data_hash</a:t>
            </a:r>
          </a:p>
        </p:txBody>
      </p:sp>
      <p:sp>
        <p:nvSpPr>
          <p:cNvPr id="22" name="TextBox 21"/>
          <p:cNvSpPr txBox="1"/>
          <p:nvPr/>
        </p:nvSpPr>
        <p:spPr>
          <a:xfrm>
            <a:off x="4544568" y="1883664"/>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470ef925…</a:t>
            </a:r>
          </a:p>
        </p:txBody>
      </p:sp>
      <p:sp>
        <p:nvSpPr>
          <p:cNvPr id="23" name="TextBox 22"/>
          <p:cNvSpPr txBox="1"/>
          <p:nvPr/>
        </p:nvSpPr>
        <p:spPr>
          <a:xfrm>
            <a:off x="3447288" y="2231136"/>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prev_hash</a:t>
            </a:r>
          </a:p>
        </p:txBody>
      </p:sp>
      <p:sp>
        <p:nvSpPr>
          <p:cNvPr id="24" name="TextBox 23"/>
          <p:cNvSpPr txBox="1"/>
          <p:nvPr/>
        </p:nvSpPr>
        <p:spPr>
          <a:xfrm>
            <a:off x="4544568" y="2231136"/>
            <a:ext cx="1234440" cy="274320"/>
          </a:xfrm>
          <a:prstGeom prst="rect">
            <a:avLst/>
          </a:prstGeom>
          <a:noFill/>
        </p:spPr>
        <p:txBody>
          <a:bodyPr wrap="square" anchor="ctr" lIns="0" rIns="0" tIns="0" bIns="0">
            <a:spAutoFit/>
          </a:bodyPr>
          <a:lstStyle/>
          <a:p>
            <a:pPr algn="l">
              <a:spcAft>
                <a:spcPts val="0"/>
              </a:spcAft>
            </a:pPr>
            <a:r>
              <a:rPr sz="1050" b="1" i="0">
                <a:solidFill>
                  <a:srgbClr val="1A7F37"/>
                </a:solidFill>
                <a:latin typeface="Consolas"/>
              </a:rPr>
              <a:t>5906eaba…</a:t>
            </a:r>
          </a:p>
        </p:txBody>
      </p:sp>
      <p:sp>
        <p:nvSpPr>
          <p:cNvPr id="25" name="TextBox 24"/>
          <p:cNvSpPr txBox="1"/>
          <p:nvPr/>
        </p:nvSpPr>
        <p:spPr>
          <a:xfrm>
            <a:off x="3447288" y="2578608"/>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curr_hash</a:t>
            </a:r>
          </a:p>
        </p:txBody>
      </p:sp>
      <p:sp>
        <p:nvSpPr>
          <p:cNvPr id="26" name="TextBox 25"/>
          <p:cNvSpPr txBox="1"/>
          <p:nvPr/>
        </p:nvSpPr>
        <p:spPr>
          <a:xfrm>
            <a:off x="4544568" y="2578608"/>
            <a:ext cx="1234440" cy="274320"/>
          </a:xfrm>
          <a:prstGeom prst="rect">
            <a:avLst/>
          </a:prstGeom>
          <a:noFill/>
        </p:spPr>
        <p:txBody>
          <a:bodyPr wrap="square" anchor="ctr" lIns="0" rIns="0" tIns="0" bIns="0">
            <a:spAutoFit/>
          </a:bodyPr>
          <a:lstStyle/>
          <a:p>
            <a:pPr algn="l">
              <a:spcAft>
                <a:spcPts val="0"/>
              </a:spcAft>
            </a:pPr>
            <a:r>
              <a:rPr sz="1050" b="1" i="0">
                <a:solidFill>
                  <a:srgbClr val="1B2A55"/>
                </a:solidFill>
                <a:latin typeface="Consolas"/>
              </a:rPr>
              <a:t>077a697b…</a:t>
            </a:r>
          </a:p>
        </p:txBody>
      </p:sp>
      <p:cxnSp>
        <p:nvCxnSpPr>
          <p:cNvPr id="27" name="Connector 26"/>
          <p:cNvCxnSpPr/>
          <p:nvPr/>
        </p:nvCxnSpPr>
        <p:spPr>
          <a:xfrm>
            <a:off x="5870448" y="2377440"/>
            <a:ext cx="237744" cy="0"/>
          </a:xfrm>
          <a:prstGeom prst="line">
            <a:avLst/>
          </a:prstGeom>
          <a:ln w="25400">
            <a:solidFill>
              <a:srgbClr val="1A7F37"/>
            </a:solidFill>
            <a:tailEnd type="triangle"/>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108192" y="1097280"/>
            <a:ext cx="2587752" cy="192024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245352" y="1188720"/>
            <a:ext cx="98298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Block 3</a:t>
            </a:r>
          </a:p>
        </p:txBody>
      </p:sp>
      <p:sp>
        <p:nvSpPr>
          <p:cNvPr id="30" name="TextBox 29"/>
          <p:cNvSpPr txBox="1"/>
          <p:nvPr/>
        </p:nvSpPr>
        <p:spPr>
          <a:xfrm>
            <a:off x="6272783" y="1536192"/>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ballot_token</a:t>
            </a:r>
          </a:p>
        </p:txBody>
      </p:sp>
      <p:sp>
        <p:nvSpPr>
          <p:cNvPr id="31" name="TextBox 30"/>
          <p:cNvSpPr txBox="1"/>
          <p:nvPr/>
        </p:nvSpPr>
        <p:spPr>
          <a:xfrm>
            <a:off x="7370063" y="1536192"/>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de410a8a…</a:t>
            </a:r>
          </a:p>
        </p:txBody>
      </p:sp>
      <p:sp>
        <p:nvSpPr>
          <p:cNvPr id="32" name="TextBox 31"/>
          <p:cNvSpPr txBox="1"/>
          <p:nvPr/>
        </p:nvSpPr>
        <p:spPr>
          <a:xfrm>
            <a:off x="6272783" y="1883664"/>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vote_data_hash</a:t>
            </a:r>
          </a:p>
        </p:txBody>
      </p:sp>
      <p:sp>
        <p:nvSpPr>
          <p:cNvPr id="33" name="TextBox 32"/>
          <p:cNvSpPr txBox="1"/>
          <p:nvPr/>
        </p:nvSpPr>
        <p:spPr>
          <a:xfrm>
            <a:off x="7370063" y="1883664"/>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98f83226…</a:t>
            </a:r>
          </a:p>
        </p:txBody>
      </p:sp>
      <p:sp>
        <p:nvSpPr>
          <p:cNvPr id="34" name="TextBox 33"/>
          <p:cNvSpPr txBox="1"/>
          <p:nvPr/>
        </p:nvSpPr>
        <p:spPr>
          <a:xfrm>
            <a:off x="6272783" y="2231136"/>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prev_hash</a:t>
            </a:r>
          </a:p>
        </p:txBody>
      </p:sp>
      <p:sp>
        <p:nvSpPr>
          <p:cNvPr id="35" name="TextBox 34"/>
          <p:cNvSpPr txBox="1"/>
          <p:nvPr/>
        </p:nvSpPr>
        <p:spPr>
          <a:xfrm>
            <a:off x="7370063" y="2231136"/>
            <a:ext cx="1234440" cy="274320"/>
          </a:xfrm>
          <a:prstGeom prst="rect">
            <a:avLst/>
          </a:prstGeom>
          <a:noFill/>
        </p:spPr>
        <p:txBody>
          <a:bodyPr wrap="square" anchor="ctr" lIns="0" rIns="0" tIns="0" bIns="0">
            <a:spAutoFit/>
          </a:bodyPr>
          <a:lstStyle/>
          <a:p>
            <a:pPr algn="l">
              <a:spcAft>
                <a:spcPts val="0"/>
              </a:spcAft>
            </a:pPr>
            <a:r>
              <a:rPr sz="1050" b="1" i="0">
                <a:solidFill>
                  <a:srgbClr val="1A7F37"/>
                </a:solidFill>
                <a:latin typeface="Consolas"/>
              </a:rPr>
              <a:t>077a697b…</a:t>
            </a:r>
          </a:p>
        </p:txBody>
      </p:sp>
      <p:sp>
        <p:nvSpPr>
          <p:cNvPr id="36" name="TextBox 35"/>
          <p:cNvSpPr txBox="1"/>
          <p:nvPr/>
        </p:nvSpPr>
        <p:spPr>
          <a:xfrm>
            <a:off x="6272783" y="2578608"/>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curr_hash</a:t>
            </a:r>
          </a:p>
        </p:txBody>
      </p:sp>
      <p:sp>
        <p:nvSpPr>
          <p:cNvPr id="37" name="TextBox 36"/>
          <p:cNvSpPr txBox="1"/>
          <p:nvPr/>
        </p:nvSpPr>
        <p:spPr>
          <a:xfrm>
            <a:off x="7370063" y="2578608"/>
            <a:ext cx="1234440" cy="274320"/>
          </a:xfrm>
          <a:prstGeom prst="rect">
            <a:avLst/>
          </a:prstGeom>
          <a:noFill/>
        </p:spPr>
        <p:txBody>
          <a:bodyPr wrap="square" anchor="ctr" lIns="0" rIns="0" tIns="0" bIns="0">
            <a:spAutoFit/>
          </a:bodyPr>
          <a:lstStyle/>
          <a:p>
            <a:pPr algn="l">
              <a:spcAft>
                <a:spcPts val="0"/>
              </a:spcAft>
            </a:pPr>
            <a:r>
              <a:rPr sz="1050" b="1" i="0">
                <a:solidFill>
                  <a:srgbClr val="1B2A55"/>
                </a:solidFill>
                <a:latin typeface="Consolas"/>
              </a:rPr>
              <a:t>e50bbfe1…</a:t>
            </a:r>
          </a:p>
        </p:txBody>
      </p:sp>
      <p:sp>
        <p:nvSpPr>
          <p:cNvPr id="38" name="TextBox 37"/>
          <p:cNvSpPr txBox="1"/>
          <p:nvPr/>
        </p:nvSpPr>
        <p:spPr>
          <a:xfrm>
            <a:off x="457200" y="3108960"/>
            <a:ext cx="8229600" cy="201168"/>
          </a:xfrm>
          <a:prstGeom prst="rect">
            <a:avLst/>
          </a:prstGeom>
          <a:noFill/>
        </p:spPr>
        <p:txBody>
          <a:bodyPr wrap="square" anchor="t" lIns="0" rIns="0" tIns="0" bIns="0">
            <a:spAutoFit/>
          </a:bodyPr>
          <a:lstStyle/>
          <a:p>
            <a:pPr algn="l">
              <a:spcAft>
                <a:spcPts val="0"/>
              </a:spcAft>
            </a:pPr>
            <a:r>
              <a:rPr sz="1050" b="0" i="1">
                <a:solidFill>
                  <a:srgbClr val="666A78"/>
                </a:solidFill>
                <a:latin typeface="Inter"/>
              </a:rPr>
              <a:t>Block 2’s prev_hash equals block 1’s curr_hash, and so on: editing any block breaks every link after it.</a:t>
            </a:r>
          </a:p>
        </p:txBody>
      </p:sp>
      <p:sp>
        <p:nvSpPr>
          <p:cNvPr id="39" name="Rounded Rectangle 38"/>
          <p:cNvSpPr/>
          <p:nvPr/>
        </p:nvSpPr>
        <p:spPr>
          <a:xfrm>
            <a:off x="457200" y="3474720"/>
            <a:ext cx="2587752" cy="12344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1792" y="3566160"/>
            <a:ext cx="2286000" cy="1097280"/>
          </a:xfrm>
          <a:prstGeom prst="rect">
            <a:avLst/>
          </a:prstGeom>
          <a:noFill/>
        </p:spPr>
        <p:txBody>
          <a:bodyPr wrap="square" anchor="t" lIns="0" rIns="0" tIns="0" bIns="0">
            <a:spAutoFit/>
          </a:bodyPr>
          <a:lstStyle/>
          <a:p>
            <a:pPr algn="l">
              <a:spcAft>
                <a:spcPts val="300"/>
              </a:spcAft>
            </a:pPr>
            <a:r>
              <a:rPr sz="1250" b="1" i="0">
                <a:solidFill>
                  <a:srgbClr val="1B2A55"/>
                </a:solidFill>
                <a:latin typeface="Inter"/>
              </a:rPr>
              <a:t>Seal</a:t>
            </a:r>
          </a:p>
          <a:p>
            <a:pPr algn="l">
              <a:spcAft>
                <a:spcPts val="300"/>
              </a:spcAft>
            </a:pPr>
            <a:r>
              <a:rPr sz="1100" b="0" i="0">
                <a:solidFill>
                  <a:srgbClr val="353B4A"/>
                </a:solidFill>
                <a:latin typeface="Inter"/>
              </a:rPr>
              <a:t>vote_data_hash = SHA-256 of the ballot’s ranks; curr_hash covers the whole block.</a:t>
            </a:r>
          </a:p>
        </p:txBody>
      </p:sp>
      <p:sp>
        <p:nvSpPr>
          <p:cNvPr id="41" name="Rounded Rectangle 40"/>
          <p:cNvSpPr/>
          <p:nvPr/>
        </p:nvSpPr>
        <p:spPr>
          <a:xfrm>
            <a:off x="3282696" y="3474720"/>
            <a:ext cx="2587752" cy="12344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447288" y="3566160"/>
            <a:ext cx="2286000" cy="1097280"/>
          </a:xfrm>
          <a:prstGeom prst="rect">
            <a:avLst/>
          </a:prstGeom>
          <a:noFill/>
        </p:spPr>
        <p:txBody>
          <a:bodyPr wrap="square" anchor="t" lIns="0" rIns="0" tIns="0" bIns="0">
            <a:spAutoFit/>
          </a:bodyPr>
          <a:lstStyle/>
          <a:p>
            <a:pPr algn="l">
              <a:spcAft>
                <a:spcPts val="300"/>
              </a:spcAft>
            </a:pPr>
            <a:r>
              <a:rPr sz="1250" b="1" i="0">
                <a:solidFill>
                  <a:srgbClr val="1B2A55"/>
                </a:solidFill>
                <a:latin typeface="Inter"/>
              </a:rPr>
              <a:t>Chain check</a:t>
            </a:r>
          </a:p>
          <a:p>
            <a:pPr algn="l">
              <a:spcAft>
                <a:spcPts val="300"/>
              </a:spcAft>
            </a:pPr>
            <a:r>
              <a:rPr sz="1100" b="0" i="0">
                <a:solidFill>
                  <a:srgbClr val="353B4A"/>
                </a:solidFill>
                <a:latin typeface="Inter"/>
              </a:rPr>
              <a:t>audit_ledger.py recomputes every hash and link: 45 of 45 blocks intact.</a:t>
            </a:r>
          </a:p>
        </p:txBody>
      </p:sp>
      <p:sp>
        <p:nvSpPr>
          <p:cNvPr id="43" name="Rounded Rectangle 42"/>
          <p:cNvSpPr/>
          <p:nvPr/>
        </p:nvSpPr>
        <p:spPr>
          <a:xfrm>
            <a:off x="6108192" y="3474720"/>
            <a:ext cx="2587752" cy="12344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72783" y="3566160"/>
            <a:ext cx="2286000" cy="1097280"/>
          </a:xfrm>
          <a:prstGeom prst="rect">
            <a:avLst/>
          </a:prstGeom>
          <a:noFill/>
        </p:spPr>
        <p:txBody>
          <a:bodyPr wrap="square" anchor="t" lIns="0" rIns="0" tIns="0" bIns="0">
            <a:spAutoFit/>
          </a:bodyPr>
          <a:lstStyle/>
          <a:p>
            <a:pPr algn="l">
              <a:spcAft>
                <a:spcPts val="300"/>
              </a:spcAft>
            </a:pPr>
            <a:r>
              <a:rPr sz="1250" b="1" i="0">
                <a:solidFill>
                  <a:srgbClr val="1B2A55"/>
                </a:solidFill>
                <a:latin typeface="Inter"/>
              </a:rPr>
              <a:t>Ballot check</a:t>
            </a:r>
          </a:p>
          <a:p>
            <a:pPr algn="l">
              <a:spcAft>
                <a:spcPts val="300"/>
              </a:spcAft>
            </a:pPr>
            <a:r>
              <a:rPr sz="1100" b="0" i="0">
                <a:solidFill>
                  <a:srgbClr val="353B4A"/>
                </a:solidFill>
                <a:latin typeface="Inter"/>
              </a:rPr>
              <a:t>The integrity sweep recomputes each ballot from the database and compares it with its receipt.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ADMINISTRATOR SIDE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Officers run each election through a guarded lifecycle</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15</a:t>
            </a:r>
          </a:p>
        </p:txBody>
      </p:sp>
      <p:pic>
        <p:nvPicPr>
          <p:cNvPr id="6" name="Picture 5" descr="11_admin_overview.png"/>
          <p:cNvPicPr>
            <a:picLocks noChangeAspect="1"/>
          </p:cNvPicPr>
          <p:nvPr/>
        </p:nvPicPr>
        <p:blipFill>
          <a:blip r:embed="rId2"/>
          <a:stretch>
            <a:fillRect/>
          </a:stretch>
        </p:blipFill>
        <p:spPr>
          <a:xfrm>
            <a:off x="457200" y="1097280"/>
            <a:ext cx="4572000" cy="2350213"/>
          </a:xfrm>
          <a:prstGeom prst="rect">
            <a:avLst/>
          </a:prstGeom>
          <a:ln w="12700">
            <a:solidFill>
              <a:srgbClr val="D9D9E4"/>
            </a:solidFill>
          </a:ln>
        </p:spPr>
      </p:pic>
      <p:pic>
        <p:nvPicPr>
          <p:cNvPr id="7" name="Picture 6" descr="10_admin_elections.png"/>
          <p:cNvPicPr>
            <a:picLocks noChangeAspect="1"/>
          </p:cNvPicPr>
          <p:nvPr/>
        </p:nvPicPr>
        <p:blipFill>
          <a:blip r:embed="rId3"/>
          <a:stretch>
            <a:fillRect/>
          </a:stretch>
        </p:blipFill>
        <p:spPr>
          <a:xfrm>
            <a:off x="457200" y="3584653"/>
            <a:ext cx="4572000" cy="1106612"/>
          </a:xfrm>
          <a:prstGeom prst="rect">
            <a:avLst/>
          </a:prstGeom>
          <a:ln w="12700">
            <a:solidFill>
              <a:srgbClr val="D9D9E4"/>
            </a:solidFill>
          </a:ln>
        </p:spPr>
      </p:pic>
      <p:sp>
        <p:nvSpPr>
          <p:cNvPr id="8" name="Rounded Rectangle 7"/>
          <p:cNvSpPr/>
          <p:nvPr/>
        </p:nvSpPr>
        <p:spPr>
          <a:xfrm>
            <a:off x="5257800" y="1097280"/>
            <a:ext cx="3429000" cy="361188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40680" y="1188720"/>
            <a:ext cx="3108960" cy="228600"/>
          </a:xfrm>
          <a:prstGeom prst="rect">
            <a:avLst/>
          </a:prstGeom>
          <a:noFill/>
        </p:spPr>
        <p:txBody>
          <a:bodyPr wrap="square" anchor="t" lIns="0" rIns="0" tIns="0" bIns="0">
            <a:spAutoFit/>
          </a:bodyPr>
          <a:lstStyle/>
          <a:p>
            <a:pPr algn="l">
              <a:spcAft>
                <a:spcPts val="0"/>
              </a:spcAft>
            </a:pPr>
            <a:r>
              <a:rPr sz="1400" b="1" i="0">
                <a:solidFill>
                  <a:srgbClr val="1B2A55"/>
                </a:solidFill>
                <a:latin typeface="Inter"/>
              </a:rPr>
              <a:t>Election lifecycle</a:t>
            </a:r>
          </a:p>
        </p:txBody>
      </p:sp>
      <p:sp>
        <p:nvSpPr>
          <p:cNvPr id="10" name="Rounded Rectangle 9"/>
          <p:cNvSpPr/>
          <p:nvPr/>
        </p:nvSpPr>
        <p:spPr>
          <a:xfrm>
            <a:off x="5440680" y="1600200"/>
            <a:ext cx="310896" cy="310896"/>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FFFFFF"/>
                </a:solidFill>
                <a:latin typeface="Inter"/>
              </a:rPr>
              <a:t>1</a:t>
            </a:r>
          </a:p>
        </p:txBody>
      </p:sp>
      <p:sp>
        <p:nvSpPr>
          <p:cNvPr id="11" name="TextBox 10"/>
          <p:cNvSpPr txBox="1"/>
          <p:nvPr/>
        </p:nvSpPr>
        <p:spPr>
          <a:xfrm>
            <a:off x="5852160" y="1581912"/>
            <a:ext cx="2697480" cy="822960"/>
          </a:xfrm>
          <a:prstGeom prst="rect">
            <a:avLst/>
          </a:prstGeom>
          <a:noFill/>
        </p:spPr>
        <p:txBody>
          <a:bodyPr wrap="square" anchor="t" lIns="0" rIns="0" tIns="0" bIns="0">
            <a:spAutoFit/>
          </a:bodyPr>
          <a:lstStyle/>
          <a:p>
            <a:pPr algn="l">
              <a:spcAft>
                <a:spcPts val="100"/>
              </a:spcAft>
            </a:pPr>
            <a:r>
              <a:rPr sz="1200" b="1" i="0">
                <a:solidFill>
                  <a:srgbClr val="1B2A55"/>
                </a:solidFill>
                <a:latin typeface="Inter"/>
              </a:rPr>
              <a:t>Nominations</a:t>
            </a:r>
          </a:p>
          <a:p>
            <a:pPr algn="l">
              <a:spcAft>
                <a:spcPts val="100"/>
              </a:spcAft>
            </a:pPr>
            <a:r>
              <a:rPr sz="1050" b="0" i="0">
                <a:solidFill>
                  <a:srgbClr val="353B4A"/>
                </a:solidFill>
                <a:latin typeface="Inter"/>
              </a:rPr>
              <a:t>Add candidates; build the roster by hand or in bulk.</a:t>
            </a:r>
          </a:p>
        </p:txBody>
      </p:sp>
      <p:sp>
        <p:nvSpPr>
          <p:cNvPr id="12" name="Rounded Rectangle 11"/>
          <p:cNvSpPr/>
          <p:nvPr/>
        </p:nvSpPr>
        <p:spPr>
          <a:xfrm>
            <a:off x="5440680" y="2468880"/>
            <a:ext cx="310896" cy="310896"/>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FFFFFF"/>
                </a:solidFill>
                <a:latin typeface="Inter"/>
              </a:rPr>
              <a:t>2</a:t>
            </a:r>
          </a:p>
        </p:txBody>
      </p:sp>
      <p:sp>
        <p:nvSpPr>
          <p:cNvPr id="13" name="TextBox 12"/>
          <p:cNvSpPr txBox="1"/>
          <p:nvPr/>
        </p:nvSpPr>
        <p:spPr>
          <a:xfrm>
            <a:off x="5852160" y="2450592"/>
            <a:ext cx="2697480" cy="822960"/>
          </a:xfrm>
          <a:prstGeom prst="rect">
            <a:avLst/>
          </a:prstGeom>
          <a:noFill/>
        </p:spPr>
        <p:txBody>
          <a:bodyPr wrap="square" anchor="t" lIns="0" rIns="0" tIns="0" bIns="0">
            <a:spAutoFit/>
          </a:bodyPr>
          <a:lstStyle/>
          <a:p>
            <a:pPr algn="l">
              <a:spcAft>
                <a:spcPts val="100"/>
              </a:spcAft>
            </a:pPr>
            <a:r>
              <a:rPr sz="1200" b="1" i="0">
                <a:solidFill>
                  <a:srgbClr val="1B2A55"/>
                </a:solidFill>
                <a:latin typeface="Inter"/>
              </a:rPr>
              <a:t>Voting</a:t>
            </a:r>
          </a:p>
          <a:p>
            <a:pPr algn="l">
              <a:spcAft>
                <a:spcPts val="100"/>
              </a:spcAft>
            </a:pPr>
            <a:r>
              <a:rPr sz="1050" b="0" i="0">
                <a:solidFill>
                  <a:srgbClr val="353B4A"/>
                </a:solidFill>
                <a:latin typeface="Inter"/>
              </a:rPr>
              <a:t>Candidates are locked; voters cast ballots; simulation tools for testing.</a:t>
            </a:r>
          </a:p>
        </p:txBody>
      </p:sp>
      <p:sp>
        <p:nvSpPr>
          <p:cNvPr id="14" name="Rounded Rectangle 13"/>
          <p:cNvSpPr/>
          <p:nvPr/>
        </p:nvSpPr>
        <p:spPr>
          <a:xfrm>
            <a:off x="5440680" y="3337560"/>
            <a:ext cx="310896" cy="310896"/>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FFFFFF"/>
                </a:solidFill>
                <a:latin typeface="Inter"/>
              </a:rPr>
              <a:t>3</a:t>
            </a:r>
          </a:p>
        </p:txBody>
      </p:sp>
      <p:sp>
        <p:nvSpPr>
          <p:cNvPr id="15" name="TextBox 14"/>
          <p:cNvSpPr txBox="1"/>
          <p:nvPr/>
        </p:nvSpPr>
        <p:spPr>
          <a:xfrm>
            <a:off x="5852160" y="3319272"/>
            <a:ext cx="2697480" cy="822960"/>
          </a:xfrm>
          <a:prstGeom prst="rect">
            <a:avLst/>
          </a:prstGeom>
          <a:noFill/>
        </p:spPr>
        <p:txBody>
          <a:bodyPr wrap="square" anchor="t" lIns="0" rIns="0" tIns="0" bIns="0">
            <a:spAutoFit/>
          </a:bodyPr>
          <a:lstStyle/>
          <a:p>
            <a:pPr algn="l">
              <a:spcAft>
                <a:spcPts val="100"/>
              </a:spcAft>
            </a:pPr>
            <a:r>
              <a:rPr sz="1200" b="1" i="0">
                <a:solidFill>
                  <a:srgbClr val="1B2A55"/>
                </a:solidFill>
                <a:latin typeface="Inter"/>
              </a:rPr>
              <a:t>Closed</a:t>
            </a:r>
          </a:p>
          <a:p>
            <a:pPr algn="l">
              <a:spcAft>
                <a:spcPts val="100"/>
              </a:spcAft>
            </a:pPr>
            <a:r>
              <a:rPr sz="1050" b="0" i="0">
                <a:solidFill>
                  <a:srgbClr val="353B4A"/>
                </a:solidFill>
                <a:latin typeface="Inter"/>
              </a:rPr>
              <a:t>No more votes; run the integrity sweep, then count.</a:t>
            </a:r>
          </a:p>
        </p:txBody>
      </p:sp>
      <p:sp>
        <p:nvSpPr>
          <p:cNvPr id="16" name="TextBox 15"/>
          <p:cNvSpPr txBox="1"/>
          <p:nvPr/>
        </p:nvSpPr>
        <p:spPr>
          <a:xfrm>
            <a:off x="5440680" y="4206240"/>
            <a:ext cx="3108960" cy="457200"/>
          </a:xfrm>
          <a:prstGeom prst="rect">
            <a:avLst/>
          </a:prstGeom>
          <a:noFill/>
        </p:spPr>
        <p:txBody>
          <a:bodyPr wrap="square" anchor="t" lIns="0" rIns="0" tIns="0" bIns="0">
            <a:spAutoFit/>
          </a:bodyPr>
          <a:lstStyle/>
          <a:p>
            <a:pPr algn="l">
              <a:spcAft>
                <a:spcPts val="0"/>
              </a:spcAft>
            </a:pPr>
            <a:r>
              <a:rPr sz="1050" b="0" i="1">
                <a:solidFill>
                  <a:srgbClr val="666A78"/>
                </a:solidFill>
                <a:latin typeface="Inter"/>
              </a:rPr>
              <a:t>Each change asks for confirmation, and a closed election cannot be reopened.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LIVE TAMPER TEST</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 rogue DBA edits the database and the sweep catches it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16</a:t>
            </a:r>
          </a:p>
        </p:txBody>
      </p:sp>
      <p:sp>
        <p:nvSpPr>
          <p:cNvPr id="6" name="Rounded Rectangle 5"/>
          <p:cNvSpPr/>
          <p:nvPr/>
        </p:nvSpPr>
        <p:spPr>
          <a:xfrm>
            <a:off x="457200" y="1143000"/>
            <a:ext cx="347472" cy="347472"/>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200" b="1" i="0">
                <a:solidFill>
                  <a:srgbClr val="FFFFFF"/>
                </a:solidFill>
                <a:latin typeface="Inter"/>
              </a:rPr>
              <a:t>1</a:t>
            </a:r>
          </a:p>
        </p:txBody>
      </p:sp>
      <p:sp>
        <p:nvSpPr>
          <p:cNvPr id="7" name="TextBox 6"/>
          <p:cNvSpPr txBox="1"/>
          <p:nvPr/>
        </p:nvSpPr>
        <p:spPr>
          <a:xfrm>
            <a:off x="960120" y="1124712"/>
            <a:ext cx="2331720" cy="914400"/>
          </a:xfrm>
          <a:prstGeom prst="rect">
            <a:avLst/>
          </a:prstGeom>
          <a:noFill/>
        </p:spPr>
        <p:txBody>
          <a:bodyPr wrap="square" anchor="t" lIns="0" rIns="0" tIns="0" bIns="0">
            <a:spAutoFit/>
          </a:bodyPr>
          <a:lstStyle/>
          <a:p>
            <a:pPr algn="l">
              <a:spcAft>
                <a:spcPts val="200"/>
              </a:spcAft>
            </a:pPr>
            <a:r>
              <a:rPr sz="1300" b="1" i="0">
                <a:solidFill>
                  <a:srgbClr val="1B2A55"/>
                </a:solidFill>
                <a:latin typeface="Inter"/>
              </a:rPr>
              <a:t>Edit</a:t>
            </a:r>
          </a:p>
          <a:p>
            <a:pPr algn="l">
              <a:spcAft>
                <a:spcPts val="200"/>
              </a:spcAft>
            </a:pPr>
            <a:r>
              <a:rPr sz="1050" b="0" i="0">
                <a:solidFill>
                  <a:srgbClr val="353B4A"/>
                </a:solidFill>
                <a:latin typeface="Inter"/>
              </a:rPr>
              <a:t>In DB Studio we re-assigned one ballot’s first choice.</a:t>
            </a:r>
          </a:p>
        </p:txBody>
      </p:sp>
      <p:sp>
        <p:nvSpPr>
          <p:cNvPr id="8" name="Rounded Rectangle 7"/>
          <p:cNvSpPr/>
          <p:nvPr/>
        </p:nvSpPr>
        <p:spPr>
          <a:xfrm>
            <a:off x="457200" y="2167128"/>
            <a:ext cx="347472" cy="347472"/>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200" b="1" i="0">
                <a:solidFill>
                  <a:srgbClr val="FFFFFF"/>
                </a:solidFill>
                <a:latin typeface="Inter"/>
              </a:rPr>
              <a:t>2</a:t>
            </a:r>
          </a:p>
        </p:txBody>
      </p:sp>
      <p:sp>
        <p:nvSpPr>
          <p:cNvPr id="9" name="TextBox 8"/>
          <p:cNvSpPr txBox="1"/>
          <p:nvPr/>
        </p:nvSpPr>
        <p:spPr>
          <a:xfrm>
            <a:off x="960120" y="2148840"/>
            <a:ext cx="2331720" cy="914400"/>
          </a:xfrm>
          <a:prstGeom prst="rect">
            <a:avLst/>
          </a:prstGeom>
          <a:noFill/>
        </p:spPr>
        <p:txBody>
          <a:bodyPr wrap="square" anchor="t" lIns="0" rIns="0" tIns="0" bIns="0">
            <a:spAutoFit/>
          </a:bodyPr>
          <a:lstStyle/>
          <a:p>
            <a:pPr algn="l">
              <a:spcAft>
                <a:spcPts val="200"/>
              </a:spcAft>
            </a:pPr>
            <a:r>
              <a:rPr sz="1300" b="1" i="0">
                <a:solidFill>
                  <a:srgbClr val="1B2A55"/>
                </a:solidFill>
                <a:latin typeface="Inter"/>
              </a:rPr>
              <a:t>Delete</a:t>
            </a:r>
          </a:p>
          <a:p>
            <a:pPr algn="l">
              <a:spcAft>
                <a:spcPts val="200"/>
              </a:spcAft>
            </a:pPr>
            <a:r>
              <a:rPr sz="1050" b="0" i="0">
                <a:solidFill>
                  <a:srgbClr val="353B4A"/>
                </a:solidFill>
                <a:latin typeface="Inter"/>
              </a:rPr>
              <a:t>We deleted two ballot rows, including a voter’s own.</a:t>
            </a:r>
          </a:p>
        </p:txBody>
      </p:sp>
      <p:sp>
        <p:nvSpPr>
          <p:cNvPr id="10" name="Rounded Rectangle 9"/>
          <p:cNvSpPr/>
          <p:nvPr/>
        </p:nvSpPr>
        <p:spPr>
          <a:xfrm>
            <a:off x="457200" y="3191256"/>
            <a:ext cx="347472" cy="347472"/>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200" b="1" i="0">
                <a:solidFill>
                  <a:srgbClr val="FFFFFF"/>
                </a:solidFill>
                <a:latin typeface="Inter"/>
              </a:rPr>
              <a:t>3</a:t>
            </a:r>
          </a:p>
        </p:txBody>
      </p:sp>
      <p:sp>
        <p:nvSpPr>
          <p:cNvPr id="11" name="TextBox 10"/>
          <p:cNvSpPr txBox="1"/>
          <p:nvPr/>
        </p:nvSpPr>
        <p:spPr>
          <a:xfrm>
            <a:off x="960120" y="3172968"/>
            <a:ext cx="2331720" cy="914400"/>
          </a:xfrm>
          <a:prstGeom prst="rect">
            <a:avLst/>
          </a:prstGeom>
          <a:noFill/>
        </p:spPr>
        <p:txBody>
          <a:bodyPr wrap="square" anchor="t" lIns="0" rIns="0" tIns="0" bIns="0">
            <a:spAutoFit/>
          </a:bodyPr>
          <a:lstStyle/>
          <a:p>
            <a:pPr algn="l">
              <a:spcAft>
                <a:spcPts val="200"/>
              </a:spcAft>
            </a:pPr>
            <a:r>
              <a:rPr sz="1300" b="1" i="0">
                <a:solidFill>
                  <a:srgbClr val="1B2A55"/>
                </a:solidFill>
                <a:latin typeface="Inter"/>
              </a:rPr>
              <a:t>Sweep</a:t>
            </a:r>
          </a:p>
          <a:p>
            <a:pPr algn="l">
              <a:spcAft>
                <a:spcPts val="200"/>
              </a:spcAft>
            </a:pPr>
            <a:r>
              <a:rPr sz="1050" b="0" i="0">
                <a:solidFill>
                  <a:srgbClr val="353B4A"/>
                </a:solidFill>
                <a:latin typeface="Inter"/>
              </a:rPr>
              <a:t>Run integrity sweep: every sealed ballot is recomputed and compared.</a:t>
            </a:r>
          </a:p>
        </p:txBody>
      </p:sp>
      <p:sp>
        <p:nvSpPr>
          <p:cNvPr id="12" name="Rounded Rectangle 11"/>
          <p:cNvSpPr/>
          <p:nvPr/>
        </p:nvSpPr>
        <p:spPr>
          <a:xfrm>
            <a:off x="457200" y="4251960"/>
            <a:ext cx="2834640" cy="548640"/>
          </a:xfrm>
          <a:prstGeom prst="roundRect">
            <a:avLst>
              <a:gd name="adj" fmla="val 6000"/>
            </a:avLst>
          </a:prstGeom>
          <a:solidFill>
            <a:srgbClr val="FDECEA"/>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4297680"/>
            <a:ext cx="2606040" cy="457200"/>
          </a:xfrm>
          <a:prstGeom prst="rect">
            <a:avLst/>
          </a:prstGeom>
          <a:noFill/>
        </p:spPr>
        <p:txBody>
          <a:bodyPr wrap="square" anchor="ctr" lIns="0" rIns="0" tIns="0" bIns="0">
            <a:spAutoFit/>
          </a:bodyPr>
          <a:lstStyle/>
          <a:p>
            <a:pPr algn="l">
              <a:spcAft>
                <a:spcPts val="0"/>
              </a:spcAft>
            </a:pPr>
            <a:r>
              <a:rPr sz="1100" b="1" i="0">
                <a:solidFill>
                  <a:srgbClr val="C0392B"/>
                </a:solidFill>
                <a:latin typeface="Inter"/>
              </a:rPr>
              <a:t>Result: 3 of 3 flagged</a:t>
            </a:r>
            <a:r>
              <a:rPr sz="1100" b="0" i="0">
                <a:solidFill>
                  <a:srgbClr val="353B4A"/>
                </a:solidFill>
                <a:latin typeface="Inter"/>
              </a:rPr>
              <a:t> (1 modified, 2 deleted)</a:t>
            </a:r>
          </a:p>
        </p:txBody>
      </p:sp>
      <p:pic>
        <p:nvPicPr>
          <p:cNvPr id="14" name="Picture 13" descr="17_sweep_tampered.png"/>
          <p:cNvPicPr>
            <a:picLocks noChangeAspect="1"/>
          </p:cNvPicPr>
          <p:nvPr/>
        </p:nvPicPr>
        <p:blipFill>
          <a:blip r:embed="rId2"/>
          <a:stretch>
            <a:fillRect/>
          </a:stretch>
        </p:blipFill>
        <p:spPr>
          <a:xfrm>
            <a:off x="3520440" y="1143000"/>
            <a:ext cx="5166360" cy="3127389"/>
          </a:xfrm>
          <a:prstGeom prst="rect">
            <a:avLst/>
          </a:prstGeom>
          <a:ln w="12700">
            <a:solidFill>
              <a:srgbClr val="D9D9E4"/>
            </a:solidFill>
          </a:ln>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VERIFICATION</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Seven checks, seven expected outcomes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17</a:t>
            </a:r>
          </a:p>
        </p:txBody>
      </p:sp>
      <p:graphicFrame>
        <p:nvGraphicFramePr>
          <p:cNvPr id="6" name="Table 5"/>
          <p:cNvGraphicFramePr>
            <a:graphicFrameLocks noGrp="1"/>
          </p:cNvGraphicFramePr>
          <p:nvPr/>
        </p:nvGraphicFramePr>
        <p:xfrm>
          <a:off x="457200" y="1097280"/>
          <a:ext cx="8229599" cy="3310128"/>
        </p:xfrm>
        <a:graphic>
          <a:graphicData uri="http://schemas.openxmlformats.org/drawingml/2006/table">
            <a:tbl>
              <a:tblPr firstRow="1" bandRow="1">
                <a:tableStyleId>{5C22544A-7EE6-4342-B048-85BDC9FD1C3A}</a:tableStyleId>
              </a:tblPr>
              <a:tblGrid>
                <a:gridCol w="3108960"/>
                <a:gridCol w="1828800"/>
                <a:gridCol w="3291839"/>
              </a:tblGrid>
              <a:tr h="365760">
                <a:tc>
                  <a:txBody>
                    <a:bodyPr wrap="square"/>
                    <a:lstStyle/>
                    <a:p>
                      <a:r>
                        <a:rPr sz="1000" b="1" i="0">
                          <a:solidFill>
                            <a:srgbClr val="FFFFFF"/>
                          </a:solidFill>
                          <a:latin typeface="Inter"/>
                        </a:rPr>
                        <a:t>Check</a:t>
                      </a:r>
                    </a:p>
                  </a:txBody>
                  <a:tcPr marL="73152" marR="73152" marT="36576" marB="36576" anchor="ctr">
                    <a:solidFill>
                      <a:srgbClr val="1B2A55"/>
                    </a:solidFill>
                  </a:tcPr>
                </a:tc>
                <a:tc>
                  <a:txBody>
                    <a:bodyPr wrap="square"/>
                    <a:lstStyle/>
                    <a:p>
                      <a:r>
                        <a:rPr sz="1000" b="1" i="0">
                          <a:solidFill>
                            <a:srgbClr val="FFFFFF"/>
                          </a:solidFill>
                          <a:latin typeface="Inter"/>
                        </a:rPr>
                        <a:t>Expected</a:t>
                      </a:r>
                    </a:p>
                  </a:txBody>
                  <a:tcPr marL="73152" marR="73152" marT="36576" marB="36576" anchor="ctr">
                    <a:solidFill>
                      <a:srgbClr val="1B2A55"/>
                    </a:solidFill>
                  </a:tcPr>
                </a:tc>
                <a:tc>
                  <a:txBody>
                    <a:bodyPr wrap="square"/>
                    <a:lstStyle/>
                    <a:p>
                      <a:r>
                        <a:rPr sz="1000" b="1" i="0">
                          <a:solidFill>
                            <a:srgbClr val="FFFFFF"/>
                          </a:solidFill>
                          <a:latin typeface="Inter"/>
                        </a:rPr>
                        <a:t>Observed</a:t>
                      </a:r>
                    </a:p>
                  </a:txBody>
                  <a:tcPr marL="73152" marR="73152" marT="36576" marB="36576" anchor="ctr">
                    <a:solidFill>
                      <a:srgbClr val="1B2A55"/>
                    </a:solidFill>
                  </a:tcPr>
                </a:tc>
              </a:tr>
              <a:tr h="420624">
                <a:tc>
                  <a:txBody>
                    <a:bodyPr wrap="square"/>
                    <a:lstStyle/>
                    <a:p>
                      <a:r>
                        <a:rPr sz="1050" b="1" i="0">
                          <a:solidFill>
                            <a:srgbClr val="1B2A55"/>
                          </a:solidFill>
                          <a:latin typeface="Inter"/>
                        </a:rPr>
                        <a:t>Same voter votes twice</a:t>
                      </a:r>
                    </a:p>
                  </a:txBody>
                  <a:tcPr marL="73152" marR="73152" marT="36576" marB="36576" anchor="ctr">
                    <a:solidFill>
                      <a:srgbClr val="FFFFFF"/>
                    </a:solidFill>
                  </a:tcPr>
                </a:tc>
                <a:tc>
                  <a:txBody>
                    <a:bodyPr wrap="square"/>
                    <a:lstStyle/>
                    <a:p>
                      <a:r>
                        <a:rPr sz="1050" b="0" i="0">
                          <a:solidFill>
                            <a:srgbClr val="353B4A"/>
                          </a:solidFill>
                          <a:latin typeface="Inter"/>
                        </a:rPr>
                        <a:t>Refused</a:t>
                      </a:r>
                    </a:p>
                  </a:txBody>
                  <a:tcPr marL="73152" marR="73152" marT="36576" marB="36576" anchor="ctr">
                    <a:solidFill>
                      <a:srgbClr val="FFFFFF"/>
                    </a:solidFill>
                  </a:tcPr>
                </a:tc>
                <a:tc>
                  <a:txBody>
                    <a:bodyPr wrap="square"/>
                    <a:lstStyle/>
                    <a:p>
                      <a:r>
                        <a:rPr sz="1050" b="0" i="0">
                          <a:solidFill>
                            <a:srgbClr val="353B4A"/>
                          </a:solidFill>
                          <a:latin typeface="Inter"/>
                        </a:rPr>
                        <a:t>You have already voted in this election.</a:t>
                      </a:r>
                    </a:p>
                  </a:txBody>
                  <a:tcPr marL="73152" marR="73152" marT="36576" marB="36576" anchor="ctr">
                    <a:solidFill>
                      <a:srgbClr val="FFFFFF"/>
                    </a:solidFill>
                  </a:tcPr>
                </a:tc>
              </a:tr>
              <a:tr h="420624">
                <a:tc>
                  <a:txBody>
                    <a:bodyPr wrap="square"/>
                    <a:lstStyle/>
                    <a:p>
                      <a:r>
                        <a:rPr sz="1050" b="1" i="0">
                          <a:solidFill>
                            <a:srgbClr val="1B2A55"/>
                          </a:solidFill>
                          <a:latin typeface="Inter"/>
                        </a:rPr>
                        <a:t>Wrong password at sign-in</a:t>
                      </a:r>
                    </a:p>
                  </a:txBody>
                  <a:tcPr marL="73152" marR="73152" marT="36576" marB="36576" anchor="ctr">
                    <a:solidFill>
                      <a:srgbClr val="F1F0F6"/>
                    </a:solidFill>
                  </a:tcPr>
                </a:tc>
                <a:tc>
                  <a:txBody>
                    <a:bodyPr wrap="square"/>
                    <a:lstStyle/>
                    <a:p>
                      <a:r>
                        <a:rPr sz="1050" b="0" i="0">
                          <a:solidFill>
                            <a:srgbClr val="353B4A"/>
                          </a:solidFill>
                          <a:latin typeface="Inter"/>
                        </a:rPr>
                        <a:t>Rejected</a:t>
                      </a:r>
                    </a:p>
                  </a:txBody>
                  <a:tcPr marL="73152" marR="73152" marT="36576" marB="36576" anchor="ctr">
                    <a:solidFill>
                      <a:srgbClr val="F1F0F6"/>
                    </a:solidFill>
                  </a:tcPr>
                </a:tc>
                <a:tc>
                  <a:txBody>
                    <a:bodyPr wrap="square"/>
                    <a:lstStyle/>
                    <a:p>
                      <a:r>
                        <a:rPr sz="1050" b="0" i="0">
                          <a:solidFill>
                            <a:srgbClr val="353B4A"/>
                          </a:solidFill>
                          <a:latin typeface="Inter"/>
                        </a:rPr>
                        <a:t>Incorrect password.</a:t>
                      </a:r>
                    </a:p>
                  </a:txBody>
                  <a:tcPr marL="73152" marR="73152" marT="36576" marB="36576" anchor="ctr">
                    <a:solidFill>
                      <a:srgbClr val="F1F0F6"/>
                    </a:solidFill>
                  </a:tcPr>
                </a:tc>
              </a:tr>
              <a:tr h="420624">
                <a:tc>
                  <a:txBody>
                    <a:bodyPr wrap="square"/>
                    <a:lstStyle/>
                    <a:p>
                      <a:r>
                        <a:rPr sz="1050" b="1" i="0">
                          <a:solidFill>
                            <a:srgbClr val="1B2A55"/>
                          </a:solidFill>
                          <a:latin typeface="Inter"/>
                        </a:rPr>
                        <a:t>Ledger hash chain</a:t>
                      </a:r>
                    </a:p>
                  </a:txBody>
                  <a:tcPr marL="73152" marR="73152" marT="36576" marB="36576" anchor="ctr">
                    <a:solidFill>
                      <a:srgbClr val="FFFFFF"/>
                    </a:solidFill>
                  </a:tcPr>
                </a:tc>
                <a:tc>
                  <a:txBody>
                    <a:bodyPr wrap="square"/>
                    <a:lstStyle/>
                    <a:p>
                      <a:r>
                        <a:rPr sz="1050" b="0" i="0">
                          <a:solidFill>
                            <a:srgbClr val="353B4A"/>
                          </a:solidFill>
                          <a:latin typeface="Inter"/>
                        </a:rPr>
                        <a:t>Intact</a:t>
                      </a:r>
                    </a:p>
                  </a:txBody>
                  <a:tcPr marL="73152" marR="73152" marT="36576" marB="36576" anchor="ctr">
                    <a:solidFill>
                      <a:srgbClr val="FFFFFF"/>
                    </a:solidFill>
                  </a:tcPr>
                </a:tc>
                <a:tc>
                  <a:txBody>
                    <a:bodyPr wrap="square"/>
                    <a:lstStyle/>
                    <a:p>
                      <a:r>
                        <a:rPr sz="1050" b="0" i="0">
                          <a:solidFill>
                            <a:srgbClr val="353B4A"/>
                          </a:solidFill>
                          <a:latin typeface="Inter"/>
                        </a:rPr>
                        <a:t>Chain intact across all 45 receipts</a:t>
                      </a:r>
                    </a:p>
                  </a:txBody>
                  <a:tcPr marL="73152" marR="73152" marT="36576" marB="36576" anchor="ctr">
                    <a:solidFill>
                      <a:srgbClr val="FFFFFF"/>
                    </a:solidFill>
                  </a:tcPr>
                </a:tc>
              </a:tr>
              <a:tr h="420624">
                <a:tc>
                  <a:txBody>
                    <a:bodyPr wrap="square"/>
                    <a:lstStyle/>
                    <a:p>
                      <a:r>
                        <a:rPr sz="1050" b="1" i="0">
                          <a:solidFill>
                            <a:srgbClr val="1B2A55"/>
                          </a:solidFill>
                          <a:latin typeface="Inter"/>
                        </a:rPr>
                        <a:t>1 ballot re-ranked, 2 deleted in the database</a:t>
                      </a:r>
                    </a:p>
                  </a:txBody>
                  <a:tcPr marL="73152" marR="73152" marT="36576" marB="36576" anchor="ctr">
                    <a:solidFill>
                      <a:srgbClr val="F1F0F6"/>
                    </a:solidFill>
                  </a:tcPr>
                </a:tc>
                <a:tc>
                  <a:txBody>
                    <a:bodyPr wrap="square"/>
                    <a:lstStyle/>
                    <a:p>
                      <a:r>
                        <a:rPr sz="1050" b="0" i="0">
                          <a:solidFill>
                            <a:srgbClr val="353B4A"/>
                          </a:solidFill>
                          <a:latin typeface="Inter"/>
                        </a:rPr>
                        <a:t>All three flagged</a:t>
                      </a:r>
                    </a:p>
                  </a:txBody>
                  <a:tcPr marL="73152" marR="73152" marT="36576" marB="36576" anchor="ctr">
                    <a:solidFill>
                      <a:srgbClr val="F1F0F6"/>
                    </a:solidFill>
                  </a:tcPr>
                </a:tc>
                <a:tc>
                  <a:txBody>
                    <a:bodyPr wrap="square"/>
                    <a:lstStyle/>
                    <a:p>
                      <a:r>
                        <a:rPr sz="1050" b="0" i="0">
                          <a:solidFill>
                            <a:srgbClr val="353B4A"/>
                          </a:solidFill>
                          <a:latin typeface="Inter"/>
                        </a:rPr>
                        <a:t>1 modified and 2 deleted detected</a:t>
                      </a:r>
                    </a:p>
                  </a:txBody>
                  <a:tcPr marL="73152" marR="73152" marT="36576" marB="36576" anchor="ctr">
                    <a:solidFill>
                      <a:srgbClr val="F1F0F6"/>
                    </a:solidFill>
                  </a:tcPr>
                </a:tc>
              </a:tr>
              <a:tr h="420624">
                <a:tc>
                  <a:txBody>
                    <a:bodyPr wrap="square"/>
                    <a:lstStyle/>
                    <a:p>
                      <a:r>
                        <a:rPr sz="1050" b="1" i="0">
                          <a:solidFill>
                            <a:srgbClr val="1B2A55"/>
                          </a:solidFill>
                          <a:latin typeface="Inter"/>
                        </a:rPr>
                        <a:t>Voter checks a deleted ballot’s receipt</a:t>
                      </a:r>
                    </a:p>
                  </a:txBody>
                  <a:tcPr marL="73152" marR="73152" marT="36576" marB="36576" anchor="ctr">
                    <a:solidFill>
                      <a:srgbClr val="FFFFFF"/>
                    </a:solidFill>
                  </a:tcPr>
                </a:tc>
                <a:tc>
                  <a:txBody>
                    <a:bodyPr wrap="square"/>
                    <a:lstStyle/>
                    <a:p>
                      <a:r>
                        <a:rPr sz="1050" b="0" i="0">
                          <a:solidFill>
                            <a:srgbClr val="353B4A"/>
                          </a:solidFill>
                          <a:latin typeface="Inter"/>
                        </a:rPr>
                        <a:t>Warned</a:t>
                      </a:r>
                    </a:p>
                  </a:txBody>
                  <a:tcPr marL="73152" marR="73152" marT="36576" marB="36576" anchor="ctr">
                    <a:solidFill>
                      <a:srgbClr val="FFFFFF"/>
                    </a:solidFill>
                  </a:tcPr>
                </a:tc>
                <a:tc>
                  <a:txBody>
                    <a:bodyPr wrap="square"/>
                    <a:lstStyle/>
                    <a:p>
                      <a:r>
                        <a:rPr sz="1050" b="0" i="0">
                          <a:solidFill>
                            <a:srgbClr val="353B4A"/>
                          </a:solidFill>
                          <a:latin typeface="Inter"/>
                        </a:rPr>
                        <a:t>Recorded, but missing from the count</a:t>
                      </a:r>
                    </a:p>
                  </a:txBody>
                  <a:tcPr marL="73152" marR="73152" marT="36576" marB="36576" anchor="ctr">
                    <a:solidFill>
                      <a:srgbClr val="FFFFFF"/>
                    </a:solidFill>
                  </a:tcPr>
                </a:tc>
              </a:tr>
              <a:tr h="420624">
                <a:tc>
                  <a:txBody>
                    <a:bodyPr wrap="square"/>
                    <a:lstStyle/>
                    <a:p>
                      <a:r>
                        <a:rPr sz="1050" b="1" i="0">
                          <a:solidFill>
                            <a:srgbClr val="1B2A55"/>
                          </a:solidFill>
                          <a:latin typeface="Inter"/>
                        </a:rPr>
                        <a:t>Counts after tampering</a:t>
                      </a:r>
                    </a:p>
                  </a:txBody>
                  <a:tcPr marL="73152" marR="73152" marT="36576" marB="36576" anchor="ctr">
                    <a:solidFill>
                      <a:srgbClr val="F1F0F6"/>
                    </a:solidFill>
                  </a:tcPr>
                </a:tc>
                <a:tc>
                  <a:txBody>
                    <a:bodyPr wrap="square"/>
                    <a:lstStyle/>
                    <a:p>
                      <a:r>
                        <a:rPr sz="1050" b="0" i="0">
                          <a:solidFill>
                            <a:srgbClr val="353B4A"/>
                          </a:solidFill>
                          <a:latin typeface="Inter"/>
                        </a:rPr>
                        <a:t>Mismatch visible</a:t>
                      </a:r>
                    </a:p>
                  </a:txBody>
                  <a:tcPr marL="73152" marR="73152" marT="36576" marB="36576" anchor="ctr">
                    <a:solidFill>
                      <a:srgbClr val="F1F0F6"/>
                    </a:solidFill>
                  </a:tcPr>
                </a:tc>
                <a:tc>
                  <a:txBody>
                    <a:bodyPr wrap="square"/>
                    <a:lstStyle/>
                    <a:p>
                      <a:r>
                        <a:rPr sz="1050" b="0" i="0">
                          <a:solidFill>
                            <a:srgbClr val="353B4A"/>
                          </a:solidFill>
                          <a:latin typeface="Inter"/>
                        </a:rPr>
                        <a:t>43 ballots vs 45 receipts vs 45 voted</a:t>
                      </a:r>
                    </a:p>
                  </a:txBody>
                  <a:tcPr marL="73152" marR="73152" marT="36576" marB="36576" anchor="ctr">
                    <a:solidFill>
                      <a:srgbClr val="F1F0F6"/>
                    </a:solidFill>
                  </a:tcPr>
                </a:tc>
              </a:tr>
              <a:tr h="420624">
                <a:tc>
                  <a:txBody>
                    <a:bodyPr wrap="square"/>
                    <a:lstStyle/>
                    <a:p>
                      <a:r>
                        <a:rPr sz="1050" b="1" i="0">
                          <a:solidFill>
                            <a:srgbClr val="1B2A55"/>
                          </a:solidFill>
                          <a:latin typeface="Inter"/>
                        </a:rPr>
                        <a:t>Ranked-choice majority</a:t>
                      </a:r>
                    </a:p>
                  </a:txBody>
                  <a:tcPr marL="73152" marR="73152" marT="36576" marB="36576" anchor="ctr">
                    <a:solidFill>
                      <a:srgbClr val="FFFFFF"/>
                    </a:solidFill>
                  </a:tcPr>
                </a:tc>
                <a:tc>
                  <a:txBody>
                    <a:bodyPr wrap="square"/>
                    <a:lstStyle/>
                    <a:p>
                      <a:r>
                        <a:rPr sz="1050" b="0" i="0">
                          <a:solidFill>
                            <a:srgbClr val="353B4A"/>
                          </a:solidFill>
                          <a:latin typeface="Inter"/>
                        </a:rPr>
                        <a:t>Winner holds a majority</a:t>
                      </a:r>
                    </a:p>
                  </a:txBody>
                  <a:tcPr marL="73152" marR="73152" marT="36576" marB="36576" anchor="ctr">
                    <a:solidFill>
                      <a:srgbClr val="FFFFFF"/>
                    </a:solidFill>
                  </a:tcPr>
                </a:tc>
                <a:tc>
                  <a:txBody>
                    <a:bodyPr wrap="square"/>
                    <a:lstStyle/>
                    <a:p>
                      <a:r>
                        <a:rPr sz="1050" b="0" i="0">
                          <a:solidFill>
                            <a:srgbClr val="353B4A"/>
                          </a:solidFill>
                          <a:latin typeface="Inter"/>
                        </a:rPr>
                        <a:t>Chaitanya Reddy: 23 of 45 (51.1%)</a:t>
                      </a:r>
                    </a:p>
                  </a:txBody>
                  <a:tcPr marL="73152" marR="73152" marT="36576" marB="36576" anchor="ctr">
                    <a:solidFill>
                      <a:srgbClr val="FFFFFF"/>
                    </a:solidFill>
                  </a:tcPr>
                </a:tc>
              </a:tr>
            </a:tbl>
          </a:graphicData>
        </a:graphic>
      </p:graphicFrame>
      <p:sp>
        <p:nvSpPr>
          <p:cNvPr id="7" name="TextBox 6"/>
          <p:cNvSpPr txBox="1"/>
          <p:nvPr/>
        </p:nvSpPr>
        <p:spPr>
          <a:xfrm>
            <a:off x="457200" y="4526280"/>
            <a:ext cx="8229600" cy="274320"/>
          </a:xfrm>
          <a:prstGeom prst="rect">
            <a:avLst/>
          </a:prstGeom>
          <a:noFill/>
        </p:spPr>
        <p:txBody>
          <a:bodyPr wrap="square" anchor="t" lIns="0" rIns="0" tIns="0" bIns="0">
            <a:spAutoFit/>
          </a:bodyPr>
          <a:lstStyle/>
          <a:p>
            <a:pPr algn="l">
              <a:spcAft>
                <a:spcPts val="0"/>
              </a:spcAft>
            </a:pPr>
            <a:r>
              <a:rPr sz="1050" b="0" i="1">
                <a:solidFill>
                  <a:srgbClr val="666A78"/>
                </a:solidFill>
                <a:latin typeface="Inter"/>
              </a:rPr>
              <a:t>Outputs captured on a demo election: 60 registered voters, 45 ballots cast, five candidates.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IMPLEMENTATION STATUS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About 75% of the Review 1 scope is implemented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18</a:t>
            </a:r>
          </a:p>
        </p:txBody>
      </p:sp>
      <p:graphicFrame>
        <p:nvGraphicFramePr>
          <p:cNvPr id="6" name="Chart 5"/>
          <p:cNvGraphicFramePr>
            <a:graphicFrameLocks noGrp="1"/>
          </p:cNvGraphicFramePr>
          <p:nvPr/>
        </p:nvGraphicFramePr>
        <p:xfrm>
          <a:off x="365760" y="1051560"/>
          <a:ext cx="4754880" cy="3611880"/>
        </p:xfrm>
        <a:graphic>
          <a:graphicData uri="http://schemas.openxmlformats.org/drawingml/2006/chart">
            <c:chart xmlns:c="http://schemas.openxmlformats.org/drawingml/2006/chart" r:id="rId2"/>
          </a:graphicData>
        </a:graphic>
      </p:graphicFrame>
      <p:sp>
        <p:nvSpPr>
          <p:cNvPr id="7" name="Rounded Rectangle 6"/>
          <p:cNvSpPr/>
          <p:nvPr/>
        </p:nvSpPr>
        <p:spPr>
          <a:xfrm>
            <a:off x="5349240" y="1097280"/>
            <a:ext cx="3337560" cy="16002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32120" y="1188720"/>
            <a:ext cx="3017520" cy="1463040"/>
          </a:xfrm>
          <a:prstGeom prst="rect">
            <a:avLst/>
          </a:prstGeom>
          <a:noFill/>
        </p:spPr>
        <p:txBody>
          <a:bodyPr wrap="square" anchor="t" lIns="0" rIns="0" tIns="0" bIns="0">
            <a:spAutoFit/>
          </a:bodyPr>
          <a:lstStyle/>
          <a:p>
            <a:pPr algn="l">
              <a:spcAft>
                <a:spcPts val="300"/>
              </a:spcAft>
            </a:pPr>
            <a:r>
              <a:rPr sz="1300" b="1" i="0">
                <a:solidFill>
                  <a:srgbClr val="1A7F37"/>
                </a:solidFill>
                <a:latin typeface="Inter"/>
              </a:rPr>
              <a:t>Done</a:t>
            </a:r>
          </a:p>
          <a:p>
            <a:pPr algn="l">
              <a:spcAft>
                <a:spcPts val="300"/>
              </a:spcAft>
            </a:pPr>
            <a:r>
              <a:rPr sz="1100" b="0" i="0">
                <a:solidFill>
                  <a:srgbClr val="353B4A"/>
                </a:solidFill>
                <a:latin typeface="Inter"/>
              </a:rPr>
              <a:t>Multi-tenant schema, trigger and views, instant-runoff tally, hash-chained ledger, tamper detection, voter and admin applications.</a:t>
            </a:r>
          </a:p>
        </p:txBody>
      </p:sp>
      <p:sp>
        <p:nvSpPr>
          <p:cNvPr id="9" name="Rounded Rectangle 8"/>
          <p:cNvSpPr/>
          <p:nvPr/>
        </p:nvSpPr>
        <p:spPr>
          <a:xfrm>
            <a:off x="5349240" y="2880360"/>
            <a:ext cx="3337560" cy="178308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32120" y="2971800"/>
            <a:ext cx="3017520" cy="1645920"/>
          </a:xfrm>
          <a:prstGeom prst="rect">
            <a:avLst/>
          </a:prstGeom>
          <a:noFill/>
        </p:spPr>
        <p:txBody>
          <a:bodyPr wrap="square" anchor="t" lIns="0" rIns="0" tIns="0" bIns="0">
            <a:spAutoFit/>
          </a:bodyPr>
          <a:lstStyle/>
          <a:p>
            <a:pPr algn="l">
              <a:spcAft>
                <a:spcPts val="300"/>
              </a:spcAft>
            </a:pPr>
            <a:r>
              <a:rPr sz="1300" b="1" i="0">
                <a:solidFill>
                  <a:srgbClr val="9A6700"/>
                </a:solidFill>
                <a:latin typeface="Inter"/>
              </a:rPr>
              <a:t>Remaining for the final review</a:t>
            </a:r>
          </a:p>
          <a:p>
            <a:pPr algn="l">
              <a:spcAft>
                <a:spcPts val="300"/>
              </a:spcAft>
            </a:pPr>
            <a:r>
              <a:rPr sz="1100" b="0" i="0">
                <a:solidFill>
                  <a:srgbClr val="353B4A"/>
                </a:solidFill>
                <a:latin typeface="Inter"/>
              </a:rPr>
              <a:t>Oracle with PL/SQL procedures and DCL</a:t>
            </a:r>
          </a:p>
          <a:p>
            <a:pPr algn="l">
              <a:spcAft>
                <a:spcPts val="300"/>
              </a:spcAft>
            </a:pPr>
            <a:r>
              <a:rPr sz="1100" b="0" i="0">
                <a:solidFill>
                  <a:srgbClr val="353B4A"/>
                </a:solidFill>
                <a:latin typeface="Inter"/>
              </a:rPr>
              <a:t>MongoDB Atlas for the ledger</a:t>
            </a:r>
          </a:p>
          <a:p>
            <a:pPr algn="l">
              <a:spcAft>
                <a:spcPts val="300"/>
              </a:spcAft>
            </a:pPr>
            <a:r>
              <a:rPr sz="1100" b="0" i="0">
                <a:solidFill>
                  <a:srgbClr val="353B4A"/>
                </a:solidFill>
                <a:latin typeface="Inter"/>
              </a:rPr>
              <a:t>Cloud deployment</a:t>
            </a:r>
          </a:p>
          <a:p>
            <a:pPr algn="l">
              <a:spcAft>
                <a:spcPts val="300"/>
              </a:spcAft>
            </a:pPr>
            <a:r>
              <a:rPr sz="1100" b="0" i="0">
                <a:solidFill>
                  <a:srgbClr val="353B4A"/>
                </a:solidFill>
                <a:latin typeface="Inter"/>
              </a:rPr>
              <a:t>POSITION entity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PLAN VS BUILD</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Where the build differs from the Review 1 plan, and why</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19</a:t>
            </a:r>
          </a:p>
        </p:txBody>
      </p:sp>
      <p:graphicFrame>
        <p:nvGraphicFramePr>
          <p:cNvPr id="6" name="Table 5"/>
          <p:cNvGraphicFramePr>
            <a:graphicFrameLocks noGrp="1"/>
          </p:cNvGraphicFramePr>
          <p:nvPr/>
        </p:nvGraphicFramePr>
        <p:xfrm>
          <a:off x="457200" y="1097280"/>
          <a:ext cx="8229597" cy="2926080"/>
        </p:xfrm>
        <a:graphic>
          <a:graphicData uri="http://schemas.openxmlformats.org/drawingml/2006/table">
            <a:tbl>
              <a:tblPr firstRow="1" bandRow="1">
                <a:tableStyleId>{5C22544A-7EE6-4342-B048-85BDC9FD1C3A}</a:tableStyleId>
              </a:tblPr>
              <a:tblGrid>
                <a:gridCol w="1341782"/>
                <a:gridCol w="1967947"/>
                <a:gridCol w="2504660"/>
                <a:gridCol w="2415208"/>
              </a:tblGrid>
              <a:tr h="365760">
                <a:tc>
                  <a:txBody>
                    <a:bodyPr wrap="square"/>
                    <a:lstStyle/>
                    <a:p>
                      <a:r>
                        <a:rPr sz="1000" b="1" i="0">
                          <a:solidFill>
                            <a:srgbClr val="FFFFFF"/>
                          </a:solidFill>
                          <a:latin typeface="Inter"/>
                        </a:rPr>
                        <a:t>Area</a:t>
                      </a:r>
                    </a:p>
                  </a:txBody>
                  <a:tcPr marL="73152" marR="73152" marT="36576" marB="36576" anchor="ctr">
                    <a:solidFill>
                      <a:srgbClr val="1B2A55"/>
                    </a:solidFill>
                  </a:tcPr>
                </a:tc>
                <a:tc>
                  <a:txBody>
                    <a:bodyPr wrap="square"/>
                    <a:lstStyle/>
                    <a:p>
                      <a:r>
                        <a:rPr sz="1000" b="1" i="0">
                          <a:solidFill>
                            <a:srgbClr val="FFFFFF"/>
                          </a:solidFill>
                          <a:latin typeface="Inter"/>
                        </a:rPr>
                        <a:t>Review 1 plan</a:t>
                      </a:r>
                    </a:p>
                  </a:txBody>
                  <a:tcPr marL="73152" marR="73152" marT="36576" marB="36576" anchor="ctr">
                    <a:solidFill>
                      <a:srgbClr val="1B2A55"/>
                    </a:solidFill>
                  </a:tcPr>
                </a:tc>
                <a:tc>
                  <a:txBody>
                    <a:bodyPr wrap="square"/>
                    <a:lstStyle/>
                    <a:p>
                      <a:r>
                        <a:rPr sz="1000" b="1" i="0">
                          <a:solidFill>
                            <a:srgbClr val="FFFFFF"/>
                          </a:solidFill>
                          <a:latin typeface="Inter"/>
                        </a:rPr>
                        <a:t>Built for Review 2</a:t>
                      </a:r>
                    </a:p>
                  </a:txBody>
                  <a:tcPr marL="73152" marR="73152" marT="36576" marB="36576" anchor="ctr">
                    <a:solidFill>
                      <a:srgbClr val="1B2A55"/>
                    </a:solidFill>
                  </a:tcPr>
                </a:tc>
                <a:tc>
                  <a:txBody>
                    <a:bodyPr wrap="square"/>
                    <a:lstStyle/>
                    <a:p>
                      <a:r>
                        <a:rPr sz="1000" b="1" i="0">
                          <a:solidFill>
                            <a:srgbClr val="FFFFFF"/>
                          </a:solidFill>
                          <a:latin typeface="Inter"/>
                        </a:rPr>
                        <a:t>Why</a:t>
                      </a:r>
                    </a:p>
                  </a:txBody>
                  <a:tcPr marL="73152" marR="73152" marT="36576" marB="36576" anchor="ctr">
                    <a:solidFill>
                      <a:srgbClr val="1B2A55"/>
                    </a:solidFill>
                  </a:tcPr>
                </a:tc>
              </a:tr>
              <a:tr h="512064">
                <a:tc>
                  <a:txBody>
                    <a:bodyPr wrap="square"/>
                    <a:lstStyle/>
                    <a:p>
                      <a:r>
                        <a:rPr sz="1000" b="1" i="0">
                          <a:solidFill>
                            <a:srgbClr val="1B2A55"/>
                          </a:solidFill>
                          <a:latin typeface="Inter"/>
                        </a:rPr>
                        <a:t>Relational DBMS</a:t>
                      </a:r>
                    </a:p>
                  </a:txBody>
                  <a:tcPr marL="73152" marR="73152" marT="36576" marB="36576" anchor="ctr">
                    <a:solidFill>
                      <a:srgbClr val="FFFFFF"/>
                    </a:solidFill>
                  </a:tcPr>
                </a:tc>
                <a:tc>
                  <a:txBody>
                    <a:bodyPr wrap="square"/>
                    <a:lstStyle/>
                    <a:p>
                      <a:r>
                        <a:rPr sz="1000" b="0" i="0">
                          <a:solidFill>
                            <a:srgbClr val="353B4A"/>
                          </a:solidFill>
                          <a:latin typeface="Inter"/>
                        </a:rPr>
                        <a:t>Oracle Autonomous DB with PL/SQL</a:t>
                      </a:r>
                    </a:p>
                  </a:txBody>
                  <a:tcPr marL="73152" marR="73152" marT="36576" marB="36576" anchor="ctr">
                    <a:solidFill>
                      <a:srgbClr val="FFFFFF"/>
                    </a:solidFill>
                  </a:tcPr>
                </a:tc>
                <a:tc>
                  <a:txBody>
                    <a:bodyPr wrap="square"/>
                    <a:lstStyle/>
                    <a:p>
                      <a:r>
                        <a:rPr sz="1000" b="0" i="0">
                          <a:solidFill>
                            <a:srgbClr val="353B4A"/>
                          </a:solidFill>
                          <a:latin typeface="Inter"/>
                        </a:rPr>
                        <a:t>SQLite with trigger, views, constraints</a:t>
                      </a:r>
                    </a:p>
                  </a:txBody>
                  <a:tcPr marL="73152" marR="73152" marT="36576" marB="36576" anchor="ctr">
                    <a:solidFill>
                      <a:srgbClr val="FFFFFF"/>
                    </a:solidFill>
                  </a:tcPr>
                </a:tc>
                <a:tc>
                  <a:txBody>
                    <a:bodyPr wrap="square"/>
                    <a:lstStyle/>
                    <a:p>
                      <a:r>
                        <a:rPr sz="1000" b="0" i="0">
                          <a:solidFill>
                            <a:srgbClr val="353B4A"/>
                          </a:solidFill>
                          <a:latin typeface="Inter"/>
                        </a:rPr>
                        <a:t>Zero-setup development; schema kept portable</a:t>
                      </a:r>
                    </a:p>
                  </a:txBody>
                  <a:tcPr marL="73152" marR="73152" marT="36576" marB="36576" anchor="ctr">
                    <a:solidFill>
                      <a:srgbClr val="FFFFFF"/>
                    </a:solidFill>
                  </a:tcPr>
                </a:tc>
              </a:tr>
              <a:tr h="512064">
                <a:tc>
                  <a:txBody>
                    <a:bodyPr wrap="square"/>
                    <a:lstStyle/>
                    <a:p>
                      <a:r>
                        <a:rPr sz="1000" b="1" i="0">
                          <a:solidFill>
                            <a:srgbClr val="1B2A55"/>
                          </a:solidFill>
                          <a:latin typeface="Inter"/>
                        </a:rPr>
                        <a:t>NoSQL ledger</a:t>
                      </a:r>
                    </a:p>
                  </a:txBody>
                  <a:tcPr marL="73152" marR="73152" marT="36576" marB="36576" anchor="ctr">
                    <a:solidFill>
                      <a:srgbClr val="F1F0F6"/>
                    </a:solidFill>
                  </a:tcPr>
                </a:tc>
                <a:tc>
                  <a:txBody>
                    <a:bodyPr wrap="square"/>
                    <a:lstStyle/>
                    <a:p>
                      <a:r>
                        <a:rPr sz="1000" b="0" i="0">
                          <a:solidFill>
                            <a:srgbClr val="353B4A"/>
                          </a:solidFill>
                          <a:latin typeface="Inter"/>
                        </a:rPr>
                        <a:t>MongoDB Atlas</a:t>
                      </a:r>
                    </a:p>
                  </a:txBody>
                  <a:tcPr marL="73152" marR="73152" marT="36576" marB="36576" anchor="ctr">
                    <a:solidFill>
                      <a:srgbClr val="F1F0F6"/>
                    </a:solidFill>
                  </a:tcPr>
                </a:tc>
                <a:tc>
                  <a:txBody>
                    <a:bodyPr wrap="square"/>
                    <a:lstStyle/>
                    <a:p>
                      <a:r>
                        <a:rPr sz="1000" b="0" i="0">
                          <a:solidFill>
                            <a:srgbClr val="353B4A"/>
                          </a:solidFill>
                          <a:latin typeface="Inter"/>
                        </a:rPr>
                        <a:t>Hash-chained JSON documents</a:t>
                      </a:r>
                    </a:p>
                  </a:txBody>
                  <a:tcPr marL="73152" marR="73152" marT="36576" marB="36576" anchor="ctr">
                    <a:solidFill>
                      <a:srgbClr val="F1F0F6"/>
                    </a:solidFill>
                  </a:tcPr>
                </a:tc>
                <a:tc>
                  <a:txBody>
                    <a:bodyPr wrap="square"/>
                    <a:lstStyle/>
                    <a:p>
                      <a:r>
                        <a:rPr sz="1000" b="0" i="0">
                          <a:solidFill>
                            <a:srgbClr val="353B4A"/>
                          </a:solidFill>
                          <a:latin typeface="Inter"/>
                        </a:rPr>
                        <a:t>Same document model without a hosted cluster</a:t>
                      </a:r>
                    </a:p>
                  </a:txBody>
                  <a:tcPr marL="73152" marR="73152" marT="36576" marB="36576" anchor="ctr">
                    <a:solidFill>
                      <a:srgbClr val="F1F0F6"/>
                    </a:solidFill>
                  </a:tcPr>
                </a:tc>
              </a:tr>
              <a:tr h="512064">
                <a:tc>
                  <a:txBody>
                    <a:bodyPr wrap="square"/>
                    <a:lstStyle/>
                    <a:p>
                      <a:r>
                        <a:rPr sz="1000" b="1" i="0">
                          <a:solidFill>
                            <a:srgbClr val="1B2A55"/>
                          </a:solidFill>
                          <a:latin typeface="Inter"/>
                        </a:rPr>
                        <a:t>Frontend</a:t>
                      </a:r>
                    </a:p>
                  </a:txBody>
                  <a:tcPr marL="73152" marR="73152" marT="36576" marB="36576" anchor="ctr">
                    <a:solidFill>
                      <a:srgbClr val="FFFFFF"/>
                    </a:solidFill>
                  </a:tcPr>
                </a:tc>
                <a:tc>
                  <a:txBody>
                    <a:bodyPr wrap="square"/>
                    <a:lstStyle/>
                    <a:p>
                      <a:r>
                        <a:rPr sz="1000" b="0" i="0">
                          <a:solidFill>
                            <a:srgbClr val="353B4A"/>
                          </a:solidFill>
                          <a:latin typeface="Inter"/>
                        </a:rPr>
                        <a:t>Streamlit</a:t>
                      </a:r>
                    </a:p>
                  </a:txBody>
                  <a:tcPr marL="73152" marR="73152" marT="36576" marB="36576" anchor="ctr">
                    <a:solidFill>
                      <a:srgbClr val="FFFFFF"/>
                    </a:solidFill>
                  </a:tcPr>
                </a:tc>
                <a:tc>
                  <a:txBody>
                    <a:bodyPr wrap="square"/>
                    <a:lstStyle/>
                    <a:p>
                      <a:r>
                        <a:rPr sz="1000" b="0" i="0">
                          <a:solidFill>
                            <a:srgbClr val="353B4A"/>
                          </a:solidFill>
                          <a:latin typeface="Inter"/>
                        </a:rPr>
                        <a:t>React + FastAPI; Streamlit kept</a:t>
                      </a:r>
                    </a:p>
                  </a:txBody>
                  <a:tcPr marL="73152" marR="73152" marT="36576" marB="36576" anchor="ctr">
                    <a:solidFill>
                      <a:srgbClr val="FFFFFF"/>
                    </a:solidFill>
                  </a:tcPr>
                </a:tc>
                <a:tc>
                  <a:txBody>
                    <a:bodyPr wrap="square"/>
                    <a:lstStyle/>
                    <a:p>
                      <a:r>
                        <a:rPr sz="1000" b="0" i="0">
                          <a:solidFill>
                            <a:srgbClr val="353B4A"/>
                          </a:solidFill>
                          <a:latin typeface="Inter"/>
                        </a:rPr>
                        <a:t>Separate voter and admin experiences, mobile support</a:t>
                      </a:r>
                    </a:p>
                  </a:txBody>
                  <a:tcPr marL="73152" marR="73152" marT="36576" marB="36576" anchor="ctr">
                    <a:solidFill>
                      <a:srgbClr val="FFFFFF"/>
                    </a:solidFill>
                  </a:tcPr>
                </a:tc>
              </a:tr>
              <a:tr h="512064">
                <a:tc>
                  <a:txBody>
                    <a:bodyPr wrap="square"/>
                    <a:lstStyle/>
                    <a:p>
                      <a:r>
                        <a:rPr sz="1000" b="1" i="0">
                          <a:solidFill>
                            <a:srgbClr val="1B2A55"/>
                          </a:solidFill>
                          <a:latin typeface="Inter"/>
                        </a:rPr>
                        <a:t>Schema</a:t>
                      </a:r>
                    </a:p>
                  </a:txBody>
                  <a:tcPr marL="73152" marR="73152" marT="36576" marB="36576" anchor="ctr">
                    <a:solidFill>
                      <a:srgbClr val="F1F0F6"/>
                    </a:solidFill>
                  </a:tcPr>
                </a:tc>
                <a:tc>
                  <a:txBody>
                    <a:bodyPr wrap="square"/>
                    <a:lstStyle/>
                    <a:p>
                      <a:r>
                        <a:rPr sz="1000" b="0" i="0">
                          <a:solidFill>
                            <a:srgbClr val="353B4A"/>
                          </a:solidFill>
                          <a:latin typeface="Inter"/>
                        </a:rPr>
                        <a:t>Five core tables</a:t>
                      </a:r>
                    </a:p>
                  </a:txBody>
                  <a:tcPr marL="73152" marR="73152" marT="36576" marB="36576" anchor="ctr">
                    <a:solidFill>
                      <a:srgbClr val="F1F0F6"/>
                    </a:solidFill>
                  </a:tcPr>
                </a:tc>
                <a:tc>
                  <a:txBody>
                    <a:bodyPr wrap="square"/>
                    <a:lstStyle/>
                    <a:p>
                      <a:r>
                        <a:rPr sz="1000" b="0" i="0">
                          <a:solidFill>
                            <a:srgbClr val="353B4A"/>
                          </a:solidFill>
                          <a:latin typeface="Inter"/>
                        </a:rPr>
                        <a:t>+ ADMIN_USERS; POSITION deferred</a:t>
                      </a:r>
                    </a:p>
                  </a:txBody>
                  <a:tcPr marL="73152" marR="73152" marT="36576" marB="36576" anchor="ctr">
                    <a:solidFill>
                      <a:srgbClr val="F1F0F6"/>
                    </a:solidFill>
                  </a:tcPr>
                </a:tc>
                <a:tc>
                  <a:txBody>
                    <a:bodyPr wrap="square"/>
                    <a:lstStyle/>
                    <a:p>
                      <a:r>
                        <a:rPr sz="1000" b="0" i="0">
                          <a:solidFill>
                            <a:srgbClr val="353B4A"/>
                          </a:solidFill>
                          <a:latin typeface="Inter"/>
                        </a:rPr>
                        <a:t>Officer logins needed a table</a:t>
                      </a:r>
                    </a:p>
                  </a:txBody>
                  <a:tcPr marL="73152" marR="73152" marT="36576" marB="36576" anchor="ctr">
                    <a:solidFill>
                      <a:srgbClr val="F1F0F6"/>
                    </a:solidFill>
                  </a:tcPr>
                </a:tc>
              </a:tr>
              <a:tr h="512064">
                <a:tc>
                  <a:txBody>
                    <a:bodyPr wrap="square"/>
                    <a:lstStyle/>
                    <a:p>
                      <a:r>
                        <a:rPr sz="1000" b="1" i="0">
                          <a:solidFill>
                            <a:srgbClr val="1B2A55"/>
                          </a:solidFill>
                          <a:latin typeface="Inter"/>
                        </a:rPr>
                        <a:t>Lifecycle</a:t>
                      </a:r>
                    </a:p>
                  </a:txBody>
                  <a:tcPr marL="73152" marR="73152" marT="36576" marB="36576" anchor="ctr">
                    <a:solidFill>
                      <a:srgbClr val="FFFFFF"/>
                    </a:solidFill>
                  </a:tcPr>
                </a:tc>
                <a:tc>
                  <a:txBody>
                    <a:bodyPr wrap="square"/>
                    <a:lstStyle/>
                    <a:p>
                      <a:r>
                        <a:rPr sz="1000" b="0" i="0">
                          <a:solidFill>
                            <a:srgbClr val="353B4A"/>
                          </a:solidFill>
                          <a:latin typeface="Inter"/>
                        </a:rPr>
                        <a:t>Timestamp-driven procedures</a:t>
                      </a:r>
                    </a:p>
                  </a:txBody>
                  <a:tcPr marL="73152" marR="73152" marT="36576" marB="36576" anchor="ctr">
                    <a:solidFill>
                      <a:srgbClr val="FFFFFF"/>
                    </a:solidFill>
                  </a:tcPr>
                </a:tc>
                <a:tc>
                  <a:txBody>
                    <a:bodyPr wrap="square"/>
                    <a:lstStyle/>
                    <a:p>
                      <a:r>
                        <a:rPr sz="1000" b="0" i="0">
                          <a:solidFill>
                            <a:srgbClr val="353B4A"/>
                          </a:solidFill>
                          <a:latin typeface="Inter"/>
                        </a:rPr>
                        <a:t>Guarded Nominations → Voting → Closed</a:t>
                      </a:r>
                    </a:p>
                  </a:txBody>
                  <a:tcPr marL="73152" marR="73152" marT="36576" marB="36576" anchor="ctr">
                    <a:solidFill>
                      <a:srgbClr val="FFFFFF"/>
                    </a:solidFill>
                  </a:tcPr>
                </a:tc>
                <a:tc>
                  <a:txBody>
                    <a:bodyPr wrap="square"/>
                    <a:lstStyle/>
                    <a:p>
                      <a:r>
                        <a:rPr sz="1000" b="0" i="0">
                          <a:solidFill>
                            <a:srgbClr val="353B4A"/>
                          </a:solidFill>
                          <a:latin typeface="Inter"/>
                        </a:rPr>
                        <a:t>SQLite has no stored procedures</a:t>
                      </a:r>
                    </a:p>
                  </a:txBody>
                  <a:tcPr marL="73152" marR="73152" marT="36576" marB="36576" anchor="ctr">
                    <a:solidFill>
                      <a:srgbClr val="FFFFFF"/>
                    </a:solidFill>
                  </a:tcPr>
                </a:tc>
              </a:tr>
            </a:tbl>
          </a:graphicData>
        </a:graphic>
      </p:graphicFrame>
      <p:sp>
        <p:nvSpPr>
          <p:cNvPr id="7" name="Rounded Rectangle 6"/>
          <p:cNvSpPr/>
          <p:nvPr/>
        </p:nvSpPr>
        <p:spPr>
          <a:xfrm>
            <a:off x="457200" y="4114800"/>
            <a:ext cx="8229600" cy="59436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160520"/>
            <a:ext cx="7863840" cy="502920"/>
          </a:xfrm>
          <a:prstGeom prst="rect">
            <a:avLst/>
          </a:prstGeom>
          <a:noFill/>
        </p:spPr>
        <p:txBody>
          <a:bodyPr wrap="square" anchor="ctr" lIns="0" rIns="0" tIns="0" bIns="0">
            <a:spAutoFit/>
          </a:bodyPr>
          <a:lstStyle/>
          <a:p>
            <a:pPr algn="l">
              <a:spcAft>
                <a:spcPts val="0"/>
              </a:spcAft>
            </a:pPr>
            <a:r>
              <a:rPr sz="1100" b="1" i="0">
                <a:solidFill>
                  <a:srgbClr val="1B2A55"/>
                </a:solidFill>
                <a:latin typeface="Inter"/>
              </a:rPr>
              <a:t>Unchanged targets: </a:t>
            </a:r>
            <a:r>
              <a:rPr sz="1100" b="0" i="0">
                <a:solidFill>
                  <a:srgbClr val="353B4A"/>
                </a:solidFill>
                <a:latin typeface="Inter"/>
              </a:rPr>
              <a:t>Oracle with PL/SQL, MongoDB Atlas and cloud deployment remain the goals for the final review; the code is structured so they are a migration, not a rewrite.</a:t>
            </a: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13"/>
          <p:cNvSpPr/>
          <p:nvPr/>
        </p:nvSpPr>
        <p:spPr>
          <a:xfrm>
            <a:off x="457200" y="457200"/>
            <a:ext cx="8686800" cy="14853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950"/>
              <a:buFont typeface="Inter"/>
              <a:buNone/>
            </a:pPr>
            <a:r>
              <a:rPr b="1" i="0" lang="en-US" sz="950" u="none" cap="none" strike="noStrike">
                <a:solidFill>
                  <a:srgbClr val="1B2A55"/>
                </a:solidFill>
                <a:latin typeface="Inter"/>
                <a:ea typeface="Inter"/>
                <a:cs typeface="Inter"/>
                <a:sym typeface="Inter"/>
              </a:rPr>
              <a:t>ROADMAP &amp; DELIVERABLES</a:t>
            </a:r>
            <a:endParaRPr b="0" i="0" sz="950" u="none" cap="none" strike="noStrike">
              <a:solidFill>
                <a:schemeClr val="dk1"/>
              </a:solidFill>
              <a:latin typeface="Calibri"/>
              <a:ea typeface="Calibri"/>
              <a:cs typeface="Calibri"/>
              <a:sym typeface="Calibri"/>
            </a:endParaRPr>
          </a:p>
        </p:txBody>
      </p:sp>
      <p:sp>
        <p:nvSpPr>
          <p:cNvPr id="166" name="Google Shape;166;p13"/>
          <p:cNvSpPr/>
          <p:nvPr/>
        </p:nvSpPr>
        <p:spPr>
          <a:xfrm>
            <a:off x="457200" y="675382"/>
            <a:ext cx="8229600" cy="314325"/>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2250"/>
              <a:buFont typeface="Inter"/>
              <a:buNone/>
            </a:pPr>
            <a:r>
              <a:rPr b="1" i="0" lang="en-US" sz="2250" u="none" cap="none" strike="noStrike">
                <a:solidFill>
                  <a:srgbClr val="1B2A55"/>
                </a:solidFill>
                <a:latin typeface="Inter"/>
                <a:ea typeface="Inter"/>
                <a:cs typeface="Inter"/>
                <a:sym typeface="Inter"/>
              </a:rPr>
              <a:t>Three reviews move from design to a finished system</a:t>
            </a:r>
            <a:endParaRPr b="0" i="0" sz="2250" u="none" cap="none" strike="noStrike">
              <a:solidFill>
                <a:schemeClr val="dk1"/>
              </a:solidFill>
              <a:latin typeface="Calibri"/>
              <a:ea typeface="Calibri"/>
              <a:cs typeface="Calibri"/>
              <a:sym typeface="Calibri"/>
            </a:endParaRPr>
          </a:p>
        </p:txBody>
      </p:sp>
      <p:sp>
        <p:nvSpPr>
          <p:cNvPr id="167" name="Google Shape;167;p13"/>
          <p:cNvSpPr/>
          <p:nvPr/>
        </p:nvSpPr>
        <p:spPr>
          <a:xfrm>
            <a:off x="457200" y="1098649"/>
            <a:ext cx="2590800" cy="2208981"/>
          </a:xfrm>
          <a:prstGeom prst="roundRect">
            <a:avLst>
              <a:gd fmla="val 6209"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13"/>
          <p:cNvSpPr/>
          <p:nvPr/>
        </p:nvSpPr>
        <p:spPr>
          <a:xfrm>
            <a:off x="638175" y="1222474"/>
            <a:ext cx="1260946"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 name="Google Shape;169;p13"/>
          <p:cNvSpPr/>
          <p:nvPr/>
        </p:nvSpPr>
        <p:spPr>
          <a:xfrm>
            <a:off x="735285" y="1270992"/>
            <a:ext cx="1523926"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REVIEW 1 · DONE</a:t>
            </a:r>
            <a:endParaRPr b="0" i="0" sz="1000" u="none" cap="none" strike="noStrike">
              <a:solidFill>
                <a:schemeClr val="dk1"/>
              </a:solidFill>
              <a:latin typeface="Calibri"/>
              <a:ea typeface="Calibri"/>
              <a:cs typeface="Calibri"/>
              <a:sym typeface="Calibri"/>
            </a:endParaRPr>
          </a:p>
        </p:txBody>
      </p:sp>
      <p:sp>
        <p:nvSpPr>
          <p:cNvPr id="170" name="Google Shape;170;p13"/>
          <p:cNvSpPr/>
          <p:nvPr/>
        </p:nvSpPr>
        <p:spPr>
          <a:xfrm>
            <a:off x="638175" y="1570211"/>
            <a:ext cx="2228850" cy="704329"/>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300" u="none" cap="none" strike="noStrike">
                <a:solidFill>
                  <a:srgbClr val="1B2A55"/>
                </a:solidFill>
                <a:latin typeface="Inter"/>
                <a:ea typeface="Inter"/>
                <a:cs typeface="Inter"/>
                <a:sym typeface="Inter"/>
              </a:rPr>
              <a:t>Presented the design, schema, security approach, and planned system architecture.</a:t>
            </a:r>
            <a:endParaRPr b="0" i="0" sz="1300" u="none" cap="none" strike="noStrike">
              <a:solidFill>
                <a:schemeClr val="dk1"/>
              </a:solidFill>
              <a:latin typeface="Calibri"/>
              <a:ea typeface="Calibri"/>
              <a:cs typeface="Calibri"/>
              <a:sym typeface="Calibri"/>
            </a:endParaRPr>
          </a:p>
        </p:txBody>
      </p:sp>
      <p:sp>
        <p:nvSpPr>
          <p:cNvPr id="171" name="Google Shape;171;p13"/>
          <p:cNvSpPr/>
          <p:nvPr/>
        </p:nvSpPr>
        <p:spPr>
          <a:xfrm>
            <a:off x="3276600" y="1098649"/>
            <a:ext cx="2590800" cy="2208981"/>
          </a:xfrm>
          <a:prstGeom prst="roundRect">
            <a:avLst>
              <a:gd fmla="val 6209"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 name="Google Shape;172;p13"/>
          <p:cNvSpPr/>
          <p:nvPr/>
        </p:nvSpPr>
        <p:spPr>
          <a:xfrm>
            <a:off x="3457575" y="1222474"/>
            <a:ext cx="1325880" cy="252487"/>
          </a:xfrm>
          <a:prstGeom prst="roundRect">
            <a:avLst>
              <a:gd fmla="val 3395" name="adj"/>
            </a:avLst>
          </a:prstGeom>
          <a:noFill/>
          <a:ln cap="flat" cmpd="sng" w="19050">
            <a:solidFill>
              <a:srgbClr val="1B2A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13"/>
          <p:cNvSpPr/>
          <p:nvPr/>
        </p:nvSpPr>
        <p:spPr>
          <a:xfrm>
            <a:off x="3554685" y="1270992"/>
            <a:ext cx="1099914"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REVIEW 2 · NOW</a:t>
            </a:r>
            <a:endParaRPr b="0" i="0" sz="1000" u="none" cap="none" strike="noStrike">
              <a:solidFill>
                <a:schemeClr val="dk1"/>
              </a:solidFill>
              <a:latin typeface="Calibri"/>
              <a:ea typeface="Calibri"/>
              <a:cs typeface="Calibri"/>
              <a:sym typeface="Calibri"/>
            </a:endParaRPr>
          </a:p>
        </p:txBody>
      </p:sp>
      <p:sp>
        <p:nvSpPr>
          <p:cNvPr id="174" name="Google Shape;174;p13"/>
          <p:cNvSpPr/>
          <p:nvPr/>
        </p:nvSpPr>
        <p:spPr>
          <a:xfrm>
            <a:off x="3457575" y="1570211"/>
            <a:ext cx="2228850" cy="939105"/>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300" u="none" cap="none" strike="noStrike">
                <a:solidFill>
                  <a:srgbClr val="1B2A55"/>
                </a:solidFill>
                <a:latin typeface="Inter"/>
                <a:ea typeface="Inter"/>
                <a:cs typeface="Inter"/>
                <a:sym typeface="Inter"/>
              </a:rPr>
              <a:t>Working implementation, about 75% of the planned scope, with live outputs and a tamper demonstration.</a:t>
            </a:r>
            <a:endParaRPr b="0" i="0" sz="1300" u="none" cap="none" strike="noStrike">
              <a:solidFill>
                <a:schemeClr val="dk1"/>
              </a:solidFill>
              <a:latin typeface="Calibri"/>
              <a:ea typeface="Calibri"/>
              <a:cs typeface="Calibri"/>
              <a:sym typeface="Calibri"/>
            </a:endParaRPr>
          </a:p>
        </p:txBody>
      </p:sp>
      <p:sp>
        <p:nvSpPr>
          <p:cNvPr id="175" name="Google Shape;175;p13"/>
          <p:cNvSpPr/>
          <p:nvPr/>
        </p:nvSpPr>
        <p:spPr>
          <a:xfrm>
            <a:off x="6096000" y="1098649"/>
            <a:ext cx="2590800" cy="2208981"/>
          </a:xfrm>
          <a:prstGeom prst="roundRect">
            <a:avLst>
              <a:gd fmla="val 6209"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13"/>
          <p:cNvSpPr/>
          <p:nvPr/>
        </p:nvSpPr>
        <p:spPr>
          <a:xfrm>
            <a:off x="6276975" y="1222474"/>
            <a:ext cx="1325880" cy="252487"/>
          </a:xfrm>
          <a:prstGeom prst="roundRect">
            <a:avLst>
              <a:gd fmla="val 3395" name="adj"/>
            </a:avLst>
          </a:prstGeom>
          <a:noFill/>
          <a:ln cap="flat" cmpd="sng" w="19050">
            <a:solidFill>
              <a:srgbClr val="1B2A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 name="Google Shape;177;p13"/>
          <p:cNvSpPr/>
          <p:nvPr/>
        </p:nvSpPr>
        <p:spPr>
          <a:xfrm>
            <a:off x="6374085" y="1270992"/>
            <a:ext cx="1101923"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FINAL REVIEW</a:t>
            </a:r>
            <a:endParaRPr b="0" i="0" sz="1000" u="none" cap="none" strike="noStrike">
              <a:solidFill>
                <a:schemeClr val="dk1"/>
              </a:solidFill>
              <a:latin typeface="Calibri"/>
              <a:ea typeface="Calibri"/>
              <a:cs typeface="Calibri"/>
              <a:sym typeface="Calibri"/>
            </a:endParaRPr>
          </a:p>
        </p:txBody>
      </p:sp>
      <p:sp>
        <p:nvSpPr>
          <p:cNvPr id="178" name="Google Shape;178;p13"/>
          <p:cNvSpPr/>
          <p:nvPr/>
        </p:nvSpPr>
        <p:spPr>
          <a:xfrm>
            <a:off x="6276975" y="1570211"/>
            <a:ext cx="2228850" cy="704329"/>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300" u="none" cap="none" strike="noStrike">
                <a:solidFill>
                  <a:srgbClr val="1B2A55"/>
                </a:solidFill>
                <a:latin typeface="Inter"/>
                <a:ea typeface="Inter"/>
                <a:cs typeface="Inter"/>
                <a:sym typeface="Inter"/>
              </a:rPr>
              <a:t>Oracle + PL/SQL, MongoDB Atlas, cloud deployment, POSITION entity, then comparison with existing e-voting systems.</a:t>
            </a:r>
            <a:endParaRPr b="0" i="0" sz="1300" u="none" cap="none" strike="noStrike">
              <a:solidFill>
                <a:schemeClr val="dk1"/>
              </a:solidFill>
              <a:latin typeface="Calibri"/>
              <a:ea typeface="Calibri"/>
              <a:cs typeface="Calibri"/>
              <a:sym typeface="Calibri"/>
            </a:endParaRPr>
          </a:p>
        </p:txBody>
      </p:sp>
      <p:sp>
        <p:nvSpPr>
          <p:cNvPr id="179" name="Google Shape;179;p13"/>
          <p:cNvSpPr/>
          <p:nvPr/>
        </p:nvSpPr>
        <p:spPr>
          <a:xfrm>
            <a:off x="457200" y="3421931"/>
            <a:ext cx="8229600" cy="951979"/>
          </a:xfrm>
          <a:prstGeom prst="roundRect">
            <a:avLst>
              <a:gd fmla="val 14408"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13"/>
          <p:cNvSpPr/>
          <p:nvPr/>
        </p:nvSpPr>
        <p:spPr>
          <a:xfrm>
            <a:off x="638175" y="3545756"/>
            <a:ext cx="7867650" cy="704329"/>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000000"/>
              </a:buClr>
              <a:buSzPts val="1300"/>
              <a:buFont typeface="Inter"/>
              <a:buNone/>
            </a:pPr>
            <a:r>
              <a:rPr b="1" i="0" lang="en-US" sz="1300" u="none" cap="none" strike="noStrike">
                <a:solidFill>
                  <a:srgbClr val="000000"/>
                </a:solidFill>
                <a:latin typeface="Inter"/>
                <a:ea typeface="Inter"/>
                <a:cs typeface="Inter"/>
                <a:sym typeface="Inter"/>
              </a:rPr>
              <a:t>Remaining · Application: </a:t>
            </a:r>
            <a:r>
              <a:rPr b="0" i="0" lang="en-US" sz="1300" u="none" cap="none" strike="noStrike">
                <a:solidFill>
                  <a:srgbClr val="000000"/>
                </a:solidFill>
                <a:latin typeface="Inter"/>
                <a:ea typeface="Inter"/>
                <a:cs typeface="Inter"/>
                <a:sym typeface="Inter"/>
              </a:rPr>
              <a:t>host the platform live in the cloud</a:t>
            </a:r>
            <a:br>
              <a:rPr b="1" i="0" lang="en-US" sz="1300" u="none" cap="none" strike="noStrike">
                <a:solidFill>
                  <a:srgbClr val="000000"/>
                </a:solidFill>
                <a:latin typeface="Inter"/>
                <a:ea typeface="Inter"/>
                <a:cs typeface="Inter"/>
                <a:sym typeface="Inter"/>
              </a:rPr>
            </a:br>
            <a:r>
              <a:rPr b="1" i="0" lang="en-US" sz="1300" u="none" cap="none" strike="noStrike">
                <a:solidFill>
                  <a:srgbClr val="000000"/>
                </a:solidFill>
                <a:latin typeface="Inter"/>
                <a:ea typeface="Inter"/>
                <a:cs typeface="Inter"/>
                <a:sym typeface="Inter"/>
              </a:rPr>
              <a:t>Database: </a:t>
            </a:r>
            <a:r>
              <a:rPr b="0" i="0" lang="en-US" sz="1300" u="none" cap="none" strike="noStrike">
                <a:solidFill>
                  <a:srgbClr val="000000"/>
                </a:solidFill>
                <a:latin typeface="Inter"/>
                <a:ea typeface="Inter"/>
                <a:cs typeface="Inter"/>
                <a:sym typeface="Inter"/>
              </a:rPr>
              <a:t>PL/SQL procedures, DCL roles, Oracle and MongoDB scripts</a:t>
            </a:r>
            <a:br>
              <a:rPr b="1" i="0" lang="en-US" sz="1300" u="none" cap="none" strike="noStrike">
                <a:solidFill>
                  <a:srgbClr val="000000"/>
                </a:solidFill>
                <a:latin typeface="Inter"/>
                <a:ea typeface="Inter"/>
                <a:cs typeface="Inter"/>
                <a:sym typeface="Inter"/>
              </a:rPr>
            </a:br>
            <a:r>
              <a:rPr b="1" i="0" lang="en-US" sz="1300" u="none" cap="none" strike="noStrike">
                <a:solidFill>
                  <a:srgbClr val="000000"/>
                </a:solidFill>
                <a:latin typeface="Inter"/>
                <a:ea typeface="Inter"/>
                <a:cs typeface="Inter"/>
                <a:sym typeface="Inter"/>
              </a:rPr>
              <a:t>Verification: </a:t>
            </a:r>
            <a:r>
              <a:rPr b="0" i="0" lang="en-US" sz="1300" u="none" cap="none" strike="noStrike">
                <a:solidFill>
                  <a:srgbClr val="000000"/>
                </a:solidFill>
                <a:latin typeface="Inter"/>
                <a:ea typeface="Inter"/>
                <a:cs typeface="Inter"/>
                <a:sym typeface="Inter"/>
              </a:rPr>
              <a:t>detect ballots injected without a receipt</a:t>
            </a:r>
            <a:endParaRPr b="0" i="0" sz="1300" u="none" cap="none" strike="noStrike">
              <a:solidFill>
                <a:schemeClr val="dk1"/>
              </a:solidFill>
              <a:latin typeface="Calibri"/>
              <a:ea typeface="Calibri"/>
              <a:cs typeface="Calibri"/>
              <a:sym typeface="Calibri"/>
            </a:endParaRPr>
          </a:p>
        </p:txBody>
      </p:sp>
      <p:sp>
        <p:nvSpPr>
          <p:cNvPr id="181" name="Google Shape;181;p13"/>
          <p:cNvSpPr/>
          <p:nvPr/>
        </p:nvSpPr>
        <p:spPr>
          <a:xfrm>
            <a:off x="457200" y="4519166"/>
            <a:ext cx="86868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2 | Fall Semester 2026 · Slide 20</a:t>
            </a:r>
            <a:endParaRPr b="0" i="0" sz="950" u="none" cap="none" strike="noStrike">
              <a:solidFill>
                <a:schemeClr val="dk1"/>
              </a:solidFill>
              <a:latin typeface="Calibri"/>
              <a:ea typeface="Calibri"/>
              <a:cs typeface="Calibri"/>
              <a:sym typeface="Calibri"/>
            </a:endParaRPr>
          </a:p>
        </p:txBody>
      </p:sp>
      <p:sp>
        <p:nvSpPr>
          <p:cNvPr id="182" name="Google Shape;182;p13"/>
          <p:cNvSpPr/>
          <p:nvPr/>
        </p:nvSpPr>
        <p:spPr>
          <a:xfrm>
            <a:off x="8052550" y="4783825"/>
            <a:ext cx="1025100" cy="2982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PICKING UP FROM REVIEW 2</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Review 2 left a short list; two new features lead it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21</a:t>
            </a:r>
          </a:p>
        </p:txBody>
      </p:sp>
      <p:sp>
        <p:nvSpPr>
          <p:cNvPr id="6" name="Rounded Rectangle 5"/>
          <p:cNvSpPr/>
          <p:nvPr/>
        </p:nvSpPr>
        <p:spPr>
          <a:xfrm>
            <a:off x="457200" y="1097280"/>
            <a:ext cx="3108960" cy="347472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225296"/>
            <a:ext cx="213512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REVIEW 2 ENDED WITH</a:t>
            </a:r>
          </a:p>
        </p:txBody>
      </p:sp>
      <p:sp>
        <p:nvSpPr>
          <p:cNvPr id="8" name="TextBox 7"/>
          <p:cNvSpPr txBox="1"/>
          <p:nvPr/>
        </p:nvSpPr>
        <p:spPr>
          <a:xfrm>
            <a:off x="640080" y="1600200"/>
            <a:ext cx="2743200" cy="292608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  </a:t>
            </a:r>
            <a:r>
              <a:rPr sz="1100" b="0" i="0">
                <a:solidFill>
                  <a:srgbClr val="353B4A"/>
                </a:solidFill>
                <a:latin typeface="Inter"/>
              </a:rPr>
              <a:t>About 75% of the scope built and demonstrated.</a:t>
            </a:r>
          </a:p>
          <a:p>
            <a:pPr algn="l">
              <a:spcAft>
                <a:spcPts val="500"/>
              </a:spcAft>
            </a:pPr>
            <a:r>
              <a:rPr sz="1100" b="1" i="0">
                <a:solidFill>
                  <a:srgbClr val="1B2A55"/>
                </a:solidFill>
                <a:latin typeface="Inter"/>
              </a:rPr>
              <a:t>•  </a:t>
            </a:r>
            <a:r>
              <a:rPr sz="1100" b="0" i="0">
                <a:solidFill>
                  <a:srgbClr val="353B4A"/>
                </a:solidFill>
                <a:latin typeface="Inter"/>
              </a:rPr>
              <a:t>Open: MongoDB Atlas, hosting, injected-ballot detection.</a:t>
            </a:r>
          </a:p>
          <a:p>
            <a:pPr algn="l">
              <a:spcAft>
                <a:spcPts val="500"/>
              </a:spcAft>
            </a:pPr>
            <a:r>
              <a:rPr sz="1100" b="1" i="0">
                <a:solidFill>
                  <a:srgbClr val="1B2A55"/>
                </a:solidFill>
                <a:latin typeface="Inter"/>
              </a:rPr>
              <a:t>•  </a:t>
            </a:r>
            <a:r>
              <a:rPr sz="1100" b="0" i="0">
                <a:solidFill>
                  <a:srgbClr val="353B4A"/>
                </a:solidFill>
                <a:latin typeface="Inter"/>
              </a:rPr>
              <a:t>Faculty feedback: confirm the voter with a second factor.</a:t>
            </a:r>
          </a:p>
          <a:p>
            <a:pPr algn="l">
              <a:spcAft>
                <a:spcPts val="500"/>
              </a:spcAft>
            </a:pPr>
            <a:r>
              <a:rPr sz="1100" b="1" i="0">
                <a:solidFill>
                  <a:srgbClr val="1B2A55"/>
                </a:solidFill>
                <a:latin typeface="Inter"/>
              </a:rPr>
              <a:t>•  </a:t>
            </a:r>
            <a:r>
              <a:rPr sz="1100" b="0" i="0">
                <a:solidFill>
                  <a:srgbClr val="353B4A"/>
                </a:solidFill>
                <a:latin typeface="Inter"/>
              </a:rPr>
              <a:t>Deferred on purpose: Oracle with PL/SQL, POSITION entity.</a:t>
            </a:r>
          </a:p>
        </p:txBody>
      </p:sp>
      <p:sp>
        <p:nvSpPr>
          <p:cNvPr id="9" name="Rounded Rectangle 8"/>
          <p:cNvSpPr/>
          <p:nvPr/>
        </p:nvSpPr>
        <p:spPr>
          <a:xfrm>
            <a:off x="3749039" y="1097280"/>
            <a:ext cx="2377440" cy="347472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931920" y="1225296"/>
            <a:ext cx="165506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NEW: EMAIL OTP</a:t>
            </a:r>
          </a:p>
        </p:txBody>
      </p:sp>
      <p:sp>
        <p:nvSpPr>
          <p:cNvPr id="11" name="TextBox 10"/>
          <p:cNvSpPr txBox="1"/>
          <p:nvPr/>
        </p:nvSpPr>
        <p:spPr>
          <a:xfrm>
            <a:off x="3931920" y="1600200"/>
            <a:ext cx="2011680" cy="2926080"/>
          </a:xfrm>
          <a:prstGeom prst="rect">
            <a:avLst/>
          </a:prstGeom>
          <a:noFill/>
        </p:spPr>
        <p:txBody>
          <a:bodyPr wrap="square" anchor="t" lIns="0" rIns="0" tIns="0" bIns="0">
            <a:spAutoFit/>
          </a:bodyPr>
          <a:lstStyle/>
          <a:p>
            <a:pPr algn="l">
              <a:spcAft>
                <a:spcPts val="400"/>
              </a:spcAft>
            </a:pPr>
            <a:r>
              <a:rPr sz="1100" b="1" i="0">
                <a:solidFill>
                  <a:srgbClr val="1B2A55"/>
                </a:solidFill>
                <a:latin typeface="Inter"/>
              </a:rPr>
              <a:t>A correct password is no longer enough.</a:t>
            </a:r>
          </a:p>
          <a:p>
            <a:pPr algn="l">
              <a:spcAft>
                <a:spcPts val="400"/>
              </a:spcAft>
            </a:pPr>
            <a:r>
              <a:rPr sz="1100" b="0" i="0">
                <a:solidFill>
                  <a:srgbClr val="353B4A"/>
                </a:solidFill>
                <a:latin typeface="Inter"/>
              </a:rPr>
              <a:t>A 6-digit code is emailed to the voter, valid 5 minutes, one use, 3 guesses.</a:t>
            </a:r>
          </a:p>
          <a:p>
            <a:pPr algn="l">
              <a:spcAft>
                <a:spcPts val="400"/>
              </a:spcAft>
            </a:pPr>
            <a:r>
              <a:rPr sz="1100" b="0" i="0">
                <a:solidFill>
                  <a:srgbClr val="353B4A"/>
                </a:solidFill>
                <a:latin typeface="Inter"/>
              </a:rPr>
              <a:t/>
            </a:r>
          </a:p>
          <a:p>
            <a:pPr algn="l">
              <a:spcAft>
                <a:spcPts val="400"/>
              </a:spcAft>
            </a:pPr>
            <a:r>
              <a:rPr sz="1100" b="0" i="1">
                <a:solidFill>
                  <a:srgbClr val="666A78"/>
                </a:solidFill>
                <a:latin typeface="Inter"/>
              </a:rPr>
              <a:t>Answers the Review 2 comment.</a:t>
            </a:r>
          </a:p>
        </p:txBody>
      </p:sp>
      <p:sp>
        <p:nvSpPr>
          <p:cNvPr id="12" name="Rounded Rectangle 11"/>
          <p:cNvSpPr/>
          <p:nvPr/>
        </p:nvSpPr>
        <p:spPr>
          <a:xfrm>
            <a:off x="6309360" y="1097280"/>
            <a:ext cx="2377440" cy="347472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492240" y="1225296"/>
            <a:ext cx="165506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NEW: QR VOTING</a:t>
            </a:r>
          </a:p>
        </p:txBody>
      </p:sp>
      <p:sp>
        <p:nvSpPr>
          <p:cNvPr id="14" name="TextBox 13"/>
          <p:cNvSpPr txBox="1"/>
          <p:nvPr/>
        </p:nvSpPr>
        <p:spPr>
          <a:xfrm>
            <a:off x="6492240" y="1600200"/>
            <a:ext cx="2011680" cy="2926080"/>
          </a:xfrm>
          <a:prstGeom prst="rect">
            <a:avLst/>
          </a:prstGeom>
          <a:noFill/>
        </p:spPr>
        <p:txBody>
          <a:bodyPr wrap="square" anchor="t" lIns="0" rIns="0" tIns="0" bIns="0">
            <a:spAutoFit/>
          </a:bodyPr>
          <a:lstStyle/>
          <a:p>
            <a:pPr algn="l">
              <a:spcAft>
                <a:spcPts val="400"/>
              </a:spcAft>
            </a:pPr>
            <a:r>
              <a:rPr sz="1100" b="1" i="0">
                <a:solidFill>
                  <a:srgbClr val="1B2A55"/>
                </a:solidFill>
                <a:latin typeface="Inter"/>
              </a:rPr>
              <a:t>Scan, sign in, vote.</a:t>
            </a:r>
          </a:p>
          <a:p>
            <a:pPr algn="l">
              <a:spcAft>
                <a:spcPts val="400"/>
              </a:spcAft>
            </a:pPr>
            <a:r>
              <a:rPr sz="1100" b="0" i="0">
                <a:solidFill>
                  <a:srgbClr val="353B4A"/>
                </a:solidFill>
                <a:latin typeface="Inter"/>
              </a:rPr>
              <a:t>The vote page shows a QR code for the public link, so any phone opens the ballot in seconds.</a:t>
            </a:r>
          </a:p>
          <a:p>
            <a:pPr algn="l">
              <a:spcAft>
                <a:spcPts val="400"/>
              </a:spcAft>
            </a:pPr>
            <a:r>
              <a:rPr sz="1100" b="0" i="0">
                <a:solidFill>
                  <a:srgbClr val="353B4A"/>
                </a:solidFill>
                <a:latin typeface="Inter"/>
              </a:rPr>
              <a:t/>
            </a:r>
          </a:p>
          <a:p>
            <a:pPr algn="l">
              <a:spcAft>
                <a:spcPts val="400"/>
              </a:spcAft>
            </a:pPr>
            <a:r>
              <a:rPr sz="1100" b="0" i="1">
                <a:solidFill>
                  <a:srgbClr val="666A78"/>
                </a:solidFill>
                <a:latin typeface="Inter"/>
              </a:rPr>
              <a:t>Works with the emailed code on the same phone.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RESPONSE TO FEEDBACK</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Each Review 2 comment has a concrete answer</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22</a:t>
            </a:r>
          </a:p>
        </p:txBody>
      </p:sp>
      <p:graphicFrame>
        <p:nvGraphicFramePr>
          <p:cNvPr id="6" name="Table 5"/>
          <p:cNvGraphicFramePr>
            <a:graphicFrameLocks noGrp="1"/>
          </p:cNvGraphicFramePr>
          <p:nvPr/>
        </p:nvGraphicFramePr>
        <p:xfrm>
          <a:off x="457200" y="1097280"/>
          <a:ext cx="8229600" cy="3200400"/>
        </p:xfrm>
        <a:graphic>
          <a:graphicData uri="http://schemas.openxmlformats.org/drawingml/2006/table">
            <a:tbl>
              <a:tblPr firstRow="1" bandRow="1">
                <a:tableStyleId>{5C22544A-7EE6-4342-B048-85BDC9FD1C3A}</a:tableStyleId>
              </a:tblPr>
              <a:tblGrid>
                <a:gridCol w="2468880"/>
                <a:gridCol w="3703320"/>
                <a:gridCol w="2057400"/>
              </a:tblGrid>
              <a:tr h="365760">
                <a:tc>
                  <a:txBody>
                    <a:bodyPr wrap="square"/>
                    <a:lstStyle/>
                    <a:p>
                      <a:r>
                        <a:rPr sz="1000" b="1" i="0">
                          <a:solidFill>
                            <a:srgbClr val="FFFFFF"/>
                          </a:solidFill>
                          <a:latin typeface="Inter"/>
                        </a:rPr>
                        <a:t>Comment at Review 2</a:t>
                      </a:r>
                    </a:p>
                  </a:txBody>
                  <a:tcPr marL="73152" marR="73152" marT="36576" marB="36576" anchor="ctr">
                    <a:solidFill>
                      <a:srgbClr val="1B2A55"/>
                    </a:solidFill>
                  </a:tcPr>
                </a:tc>
                <a:tc>
                  <a:txBody>
                    <a:bodyPr wrap="square"/>
                    <a:lstStyle/>
                    <a:p>
                      <a:r>
                        <a:rPr sz="1000" b="1" i="0">
                          <a:solidFill>
                            <a:srgbClr val="FFFFFF"/>
                          </a:solidFill>
                          <a:latin typeface="Inter"/>
                        </a:rPr>
                        <a:t>What we did</a:t>
                      </a:r>
                    </a:p>
                  </a:txBody>
                  <a:tcPr marL="73152" marR="73152" marT="36576" marB="36576" anchor="ctr">
                    <a:solidFill>
                      <a:srgbClr val="1B2A55"/>
                    </a:solidFill>
                  </a:tcPr>
                </a:tc>
                <a:tc>
                  <a:txBody>
                    <a:bodyPr wrap="square"/>
                    <a:lstStyle/>
                    <a:p>
                      <a:r>
                        <a:rPr sz="1000" b="1" i="0">
                          <a:solidFill>
                            <a:srgbClr val="FFFFFF"/>
                          </a:solidFill>
                          <a:latin typeface="Inter"/>
                        </a:rPr>
                        <a:t>Evidence</a:t>
                      </a:r>
                    </a:p>
                  </a:txBody>
                  <a:tcPr marL="73152" marR="73152" marT="36576" marB="36576" anchor="ctr">
                    <a:solidFill>
                      <a:srgbClr val="1B2A55"/>
                    </a:solidFill>
                  </a:tcPr>
                </a:tc>
              </a:tr>
              <a:tr h="566928">
                <a:tc>
                  <a:txBody>
                    <a:bodyPr wrap="square"/>
                    <a:lstStyle/>
                    <a:p>
                      <a:r>
                        <a:rPr sz="1050" b="1" i="0">
                          <a:solidFill>
                            <a:srgbClr val="1B2A55"/>
                          </a:solidFill>
                          <a:latin typeface="Inter"/>
                        </a:rPr>
                        <a:t>Confirm the voter: OTP or face ID</a:t>
                      </a:r>
                    </a:p>
                  </a:txBody>
                  <a:tcPr marL="73152" marR="73152" marT="36576" marB="36576" anchor="ctr">
                    <a:solidFill>
                      <a:srgbClr val="FFFFFF"/>
                    </a:solidFill>
                  </a:tcPr>
                </a:tc>
                <a:tc>
                  <a:txBody>
                    <a:bodyPr wrap="square"/>
                    <a:lstStyle/>
                    <a:p>
                      <a:r>
                        <a:rPr sz="1050" b="0" i="0">
                          <a:solidFill>
                            <a:srgbClr val="353B4A"/>
                          </a:solidFill>
                          <a:latin typeface="Inter"/>
                        </a:rPr>
                        <a:t>Emailed one-time code after the password; separate verification database; admin outbox</a:t>
                      </a:r>
                    </a:p>
                  </a:txBody>
                  <a:tcPr marL="73152" marR="73152" marT="36576" marB="36576" anchor="ctr">
                    <a:solidFill>
                      <a:srgbClr val="FFFFFF"/>
                    </a:solidFill>
                  </a:tcPr>
                </a:tc>
                <a:tc>
                  <a:txBody>
                    <a:bodyPr wrap="square"/>
                    <a:lstStyle/>
                    <a:p>
                      <a:r>
                        <a:rPr sz="1050" b="0" i="0">
                          <a:solidFill>
                            <a:srgbClr val="353B4A"/>
                          </a:solidFill>
                          <a:latin typeface="Inter"/>
                        </a:rPr>
                        <a:t>14 of 14 OTP tests pass</a:t>
                      </a:r>
                    </a:p>
                  </a:txBody>
                  <a:tcPr marL="73152" marR="73152" marT="36576" marB="36576" anchor="ctr">
                    <a:solidFill>
                      <a:srgbClr val="FFFFFF"/>
                    </a:solidFill>
                  </a:tcPr>
                </a:tc>
              </a:tr>
              <a:tr h="566928">
                <a:tc>
                  <a:txBody>
                    <a:bodyPr wrap="square"/>
                    <a:lstStyle/>
                    <a:p>
                      <a:r>
                        <a:rPr sz="1050" b="1" i="0">
                          <a:solidFill>
                            <a:srgbClr val="1B2A55"/>
                          </a:solidFill>
                          <a:latin typeface="Inter"/>
                        </a:rPr>
                        <a:t>Finish MongoDB</a:t>
                      </a:r>
                    </a:p>
                  </a:txBody>
                  <a:tcPr marL="73152" marR="73152" marT="36576" marB="36576" anchor="ctr">
                    <a:solidFill>
                      <a:srgbClr val="F1F0F6"/>
                    </a:solidFill>
                  </a:tcPr>
                </a:tc>
                <a:tc>
                  <a:txBody>
                    <a:bodyPr wrap="square"/>
                    <a:lstStyle/>
                    <a:p>
                      <a:r>
                        <a:rPr sz="1050" b="0" i="0">
                          <a:solidFill>
                            <a:srgbClr val="353B4A"/>
                          </a:solidFill>
                          <a:latin typeface="Inter"/>
                        </a:rPr>
                        <a:t>Ledger now in MongoDB Atlas, unique-index concurrency control, file fallback, migration script</a:t>
                      </a:r>
                    </a:p>
                  </a:txBody>
                  <a:tcPr marL="73152" marR="73152" marT="36576" marB="36576" anchor="ctr">
                    <a:solidFill>
                      <a:srgbClr val="F1F0F6"/>
                    </a:solidFill>
                  </a:tcPr>
                </a:tc>
                <a:tc>
                  <a:txBody>
                    <a:bodyPr wrap="square"/>
                    <a:lstStyle/>
                    <a:p>
                      <a:r>
                        <a:rPr sz="1050" b="0" i="0">
                          <a:solidFill>
                            <a:srgbClr val="353B4A"/>
                          </a:solidFill>
                          <a:latin typeface="Inter"/>
                        </a:rPr>
                        <a:t>25 blocks migrated; live health endpoint</a:t>
                      </a:r>
                    </a:p>
                  </a:txBody>
                  <a:tcPr marL="73152" marR="73152" marT="36576" marB="36576" anchor="ctr">
                    <a:solidFill>
                      <a:srgbClr val="F1F0F6"/>
                    </a:solidFill>
                  </a:tcPr>
                </a:tc>
              </a:tr>
              <a:tr h="566928">
                <a:tc>
                  <a:txBody>
                    <a:bodyPr wrap="square"/>
                    <a:lstStyle/>
                    <a:p>
                      <a:r>
                        <a:rPr sz="1050" b="1" i="0">
                          <a:solidFill>
                            <a:srgbClr val="1B2A55"/>
                          </a:solidFill>
                          <a:latin typeface="Inter"/>
                        </a:rPr>
                        <a:t>Host it online</a:t>
                      </a:r>
                    </a:p>
                  </a:txBody>
                  <a:tcPr marL="73152" marR="73152" marT="36576" marB="36576" anchor="ctr">
                    <a:solidFill>
                      <a:srgbClr val="FFFFFF"/>
                    </a:solidFill>
                  </a:tcPr>
                </a:tc>
                <a:tc>
                  <a:txBody>
                    <a:bodyPr wrap="square"/>
                    <a:lstStyle/>
                    <a:p>
                      <a:r>
                        <a:rPr sz="1050" b="0" i="0">
                          <a:solidFill>
                            <a:srgbClr val="353B4A"/>
                          </a:solidFill>
                          <a:latin typeface="Inter"/>
                        </a:rPr>
                        <a:t>Public HTTPS link through a tunnel; QR code on the voter page for phones</a:t>
                      </a:r>
                    </a:p>
                  </a:txBody>
                  <a:tcPr marL="73152" marR="73152" marT="36576" marB="36576" anchor="ctr">
                    <a:solidFill>
                      <a:srgbClr val="FFFFFF"/>
                    </a:solidFill>
                  </a:tcPr>
                </a:tc>
                <a:tc>
                  <a:txBody>
                    <a:bodyPr wrap="square"/>
                    <a:lstStyle/>
                    <a:p>
                      <a:r>
                        <a:rPr sz="1050" b="0" i="0">
                          <a:solidFill>
                            <a:srgbClr val="353B4A"/>
                          </a:solidFill>
                          <a:latin typeface="Inter"/>
                        </a:rPr>
                        <a:t>Cast a ballot from a phone</a:t>
                      </a:r>
                    </a:p>
                  </a:txBody>
                  <a:tcPr marL="73152" marR="73152" marT="36576" marB="36576" anchor="ctr">
                    <a:solidFill>
                      <a:srgbClr val="FFFFFF"/>
                    </a:solidFill>
                  </a:tcPr>
                </a:tc>
              </a:tr>
              <a:tr h="566928">
                <a:tc>
                  <a:txBody>
                    <a:bodyPr wrap="square"/>
                    <a:lstStyle/>
                    <a:p>
                      <a:r>
                        <a:rPr sz="1050" b="1" i="0">
                          <a:solidFill>
                            <a:srgbClr val="1B2A55"/>
                          </a:solidFill>
                          <a:latin typeface="Inter"/>
                        </a:rPr>
                        <a:t>Prove it is better</a:t>
                      </a:r>
                    </a:p>
                  </a:txBody>
                  <a:tcPr marL="73152" marR="73152" marT="36576" marB="36576" anchor="ctr">
                    <a:solidFill>
                      <a:srgbClr val="F1F0F6"/>
                    </a:solidFill>
                  </a:tcPr>
                </a:tc>
                <a:tc>
                  <a:txBody>
                    <a:bodyPr wrap="square"/>
                    <a:lstStyle/>
                    <a:p>
                      <a:r>
                        <a:rPr sz="1050" b="0" i="0">
                          <a:solidFill>
                            <a:srgbClr val="353B4A"/>
                          </a:solidFill>
                          <a:latin typeface="Inter"/>
                        </a:rPr>
                        <a:t>47-scenario executable suite run on the Review 2 design and the final design</a:t>
                      </a:r>
                    </a:p>
                  </a:txBody>
                  <a:tcPr marL="73152" marR="73152" marT="36576" marB="36576" anchor="ctr">
                    <a:solidFill>
                      <a:srgbClr val="F1F0F6"/>
                    </a:solidFill>
                  </a:tcPr>
                </a:tc>
                <a:tc>
                  <a:txBody>
                    <a:bodyPr wrap="square"/>
                    <a:lstStyle/>
                    <a:p>
                      <a:r>
                        <a:rPr sz="1050" b="0" i="0">
                          <a:solidFill>
                            <a:srgbClr val="353B4A"/>
                          </a:solidFill>
                          <a:latin typeface="Inter"/>
                        </a:rPr>
                        <a:t>6 of 13 to 12 of 13 attacks caught</a:t>
                      </a:r>
                    </a:p>
                  </a:txBody>
                  <a:tcPr marL="73152" marR="73152" marT="36576" marB="36576" anchor="ctr">
                    <a:solidFill>
                      <a:srgbClr val="F1F0F6"/>
                    </a:solidFill>
                  </a:tcPr>
                </a:tc>
              </a:tr>
              <a:tr h="566928">
                <a:tc>
                  <a:txBody>
                    <a:bodyPr wrap="square"/>
                    <a:lstStyle/>
                    <a:p>
                      <a:r>
                        <a:rPr sz="1050" b="1" i="0">
                          <a:solidFill>
                            <a:srgbClr val="1B2A55"/>
                          </a:solidFill>
                          <a:latin typeface="Inter"/>
                        </a:rPr>
                        <a:t>Weak spots we knew about</a:t>
                      </a:r>
                    </a:p>
                  </a:txBody>
                  <a:tcPr marL="73152" marR="73152" marT="36576" marB="36576" anchor="ctr">
                    <a:solidFill>
                      <a:srgbClr val="FFFFFF"/>
                    </a:solidFill>
                  </a:tcPr>
                </a:tc>
                <a:tc>
                  <a:txBody>
                    <a:bodyPr wrap="square"/>
                    <a:lstStyle/>
                    <a:p>
                      <a:r>
                        <a:rPr sz="1050" b="0" i="0">
                          <a:solidFill>
                            <a:srgbClr val="353B4A"/>
                          </a:solidFill>
                          <a:latin typeface="Inter"/>
                        </a:rPr>
                        <a:t>Injected ballots, forged receipts, rewritten chains, renamed candidates</a:t>
                      </a:r>
                    </a:p>
                  </a:txBody>
                  <a:tcPr marL="73152" marR="73152" marT="36576" marB="36576" anchor="ctr">
                    <a:solidFill>
                      <a:srgbClr val="FFFFFF"/>
                    </a:solidFill>
                  </a:tcPr>
                </a:tc>
                <a:tc>
                  <a:txBody>
                    <a:bodyPr wrap="square"/>
                    <a:lstStyle/>
                    <a:p>
                      <a:r>
                        <a:rPr sz="1050" b="0" i="0">
                          <a:solidFill>
                            <a:srgbClr val="353B4A"/>
                          </a:solidFill>
                          <a:latin typeface="Inter"/>
                        </a:rPr>
                        <a:t>Each has a test and a fix</a:t>
                      </a:r>
                    </a:p>
                  </a:txBody>
                  <a:tcPr marL="73152" marR="73152" marT="36576" marB="36576" anchor="ctr">
                    <a:solidFill>
                      <a:srgbClr val="FFFFFF"/>
                    </a:solidFill>
                  </a:tcPr>
                </a:tc>
              </a:tr>
            </a:tbl>
          </a:graphicData>
        </a:graphic>
      </p:graphicFrame>
      <p:sp>
        <p:nvSpPr>
          <p:cNvPr id="7" name="TextBox 6"/>
          <p:cNvSpPr txBox="1"/>
          <p:nvPr/>
        </p:nvSpPr>
        <p:spPr>
          <a:xfrm>
            <a:off x="457200" y="4343400"/>
            <a:ext cx="8229600" cy="457200"/>
          </a:xfrm>
          <a:prstGeom prst="rect">
            <a:avLst/>
          </a:prstGeom>
          <a:noFill/>
        </p:spPr>
        <p:txBody>
          <a:bodyPr wrap="square" anchor="t" lIns="0" rIns="0" tIns="0" bIns="0">
            <a:spAutoFit/>
          </a:bodyPr>
          <a:lstStyle/>
          <a:p>
            <a:pPr algn="l">
              <a:spcAft>
                <a:spcPts val="0"/>
              </a:spcAft>
            </a:pPr>
            <a:r>
              <a:rPr sz="1100" b="0" i="1">
                <a:solidFill>
                  <a:srgbClr val="666A78"/>
                </a:solidFill>
                <a:latin typeface="Inter"/>
              </a:rPr>
              <a:t>Where we say "future work", it is because the design needs something we cannot add honestly in one semester, and we say what.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THREAT MODEL</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Who the attacker is, and who we do not stop</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23</a:t>
            </a:r>
          </a:p>
        </p:txBody>
      </p:sp>
      <p:pic>
        <p:nvPicPr>
          <p:cNvPr id="6" name="Picture 5" descr="threat_model.png"/>
          <p:cNvPicPr>
            <a:picLocks noChangeAspect="1"/>
          </p:cNvPicPr>
          <p:nvPr/>
        </p:nvPicPr>
        <p:blipFill>
          <a:blip r:embed="rId2"/>
          <a:stretch>
            <a:fillRect/>
          </a:stretch>
        </p:blipFill>
        <p:spPr>
          <a:xfrm>
            <a:off x="1739486" y="1051560"/>
            <a:ext cx="5665026" cy="3383280"/>
          </a:xfrm>
          <a:prstGeom prst="rect">
            <a:avLst/>
          </a:prstGeom>
        </p:spPr>
      </p:pic>
      <p:sp>
        <p:nvSpPr>
          <p:cNvPr id="7" name="TextBox 6"/>
          <p:cNvSpPr txBox="1"/>
          <p:nvPr/>
        </p:nvSpPr>
        <p:spPr>
          <a:xfrm>
            <a:off x="457200" y="4462272"/>
            <a:ext cx="8229600" cy="274320"/>
          </a:xfrm>
          <a:prstGeom prst="rect">
            <a:avLst/>
          </a:prstGeom>
          <a:noFill/>
        </p:spPr>
        <p:txBody>
          <a:bodyPr wrap="square" anchor="t" lIns="0" rIns="0" tIns="0" bIns="0">
            <a:spAutoFit/>
          </a:bodyPr>
          <a:lstStyle/>
          <a:p>
            <a:pPr algn="ctr">
              <a:spcAft>
                <a:spcPts val="0"/>
              </a:spcAft>
            </a:pPr>
            <a:r>
              <a:rPr sz="950" b="0" i="1">
                <a:solidFill>
                  <a:srgbClr val="666A78"/>
                </a:solidFill>
                <a:latin typeface="Inter"/>
              </a:rPr>
              <a:t>Detected means found by an auditor running the checks, not blocked in real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FINAL ARCHITECTURE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Three stores, separated by what each is trusted with</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24</a:t>
            </a:r>
          </a:p>
        </p:txBody>
      </p:sp>
      <p:pic>
        <p:nvPicPr>
          <p:cNvPr id="6" name="Picture 5" descr="architecture.png"/>
          <p:cNvPicPr>
            <a:picLocks noChangeAspect="1"/>
          </p:cNvPicPr>
          <p:nvPr/>
        </p:nvPicPr>
        <p:blipFill>
          <a:blip r:embed="rId2"/>
          <a:stretch>
            <a:fillRect/>
          </a:stretch>
        </p:blipFill>
        <p:spPr>
          <a:xfrm>
            <a:off x="701040" y="1051560"/>
            <a:ext cx="4998719" cy="3749039"/>
          </a:xfrm>
          <a:prstGeom prst="rect">
            <a:avLst/>
          </a:prstGeom>
        </p:spPr>
      </p:pic>
      <p:sp>
        <p:nvSpPr>
          <p:cNvPr id="7" name="TextBox 6"/>
          <p:cNvSpPr txBox="1"/>
          <p:nvPr/>
        </p:nvSpPr>
        <p:spPr>
          <a:xfrm>
            <a:off x="6126480" y="1188720"/>
            <a:ext cx="2651760" cy="3474720"/>
          </a:xfrm>
          <a:prstGeom prst="rect">
            <a:avLst/>
          </a:prstGeom>
          <a:noFill/>
        </p:spPr>
        <p:txBody>
          <a:bodyPr wrap="square" anchor="t" lIns="0" rIns="0" tIns="0" bIns="0">
            <a:spAutoFit/>
          </a:bodyPr>
          <a:lstStyle/>
          <a:p>
            <a:pPr algn="l">
              <a:spcAft>
                <a:spcPts val="500"/>
              </a:spcAft>
            </a:pPr>
            <a:r>
              <a:rPr sz="1150" b="1" i="0">
                <a:solidFill>
                  <a:srgbClr val="1B2A55"/>
                </a:solidFill>
                <a:latin typeface="Inter"/>
              </a:rPr>
              <a:t>•  </a:t>
            </a:r>
            <a:r>
              <a:rPr sz="1150" b="1" i="0">
                <a:solidFill>
                  <a:srgbClr val="1B2A55"/>
                </a:solidFill>
                <a:latin typeface="Inter"/>
              </a:rPr>
              <a:t>Election DB:</a:t>
            </a:r>
            <a:r>
              <a:rPr sz="1150" b="0" i="0">
                <a:solidFill>
                  <a:srgbClr val="353B4A"/>
                </a:solidFill>
                <a:latin typeface="Inter"/>
              </a:rPr>
              <a:t> roster, candidates, anonymous ballots.</a:t>
            </a:r>
          </a:p>
          <a:p>
            <a:pPr algn="l">
              <a:spcAft>
                <a:spcPts val="500"/>
              </a:spcAft>
            </a:pPr>
            <a:r>
              <a:rPr sz="1150" b="1" i="0">
                <a:solidFill>
                  <a:srgbClr val="1B2A55"/>
                </a:solidFill>
                <a:latin typeface="Inter"/>
              </a:rPr>
              <a:t>•  </a:t>
            </a:r>
            <a:r>
              <a:rPr sz="1150" b="1" i="0">
                <a:solidFill>
                  <a:srgbClr val="1B2A55"/>
                </a:solidFill>
                <a:latin typeface="Inter"/>
              </a:rPr>
              <a:t>Verification DB:</a:t>
            </a:r>
            <a:r>
              <a:rPr sz="1150" b="0" i="0">
                <a:solidFill>
                  <a:srgbClr val="353B4A"/>
                </a:solidFill>
                <a:latin typeface="Inter"/>
              </a:rPr>
              <a:t> emails and one-time codes, a separate file, never joined to ballots.</a:t>
            </a:r>
          </a:p>
          <a:p>
            <a:pPr algn="l">
              <a:spcAft>
                <a:spcPts val="500"/>
              </a:spcAft>
            </a:pPr>
            <a:r>
              <a:rPr sz="1150" b="1" i="0">
                <a:solidFill>
                  <a:srgbClr val="1B2A55"/>
                </a:solidFill>
                <a:latin typeface="Inter"/>
              </a:rPr>
              <a:t>•  </a:t>
            </a:r>
            <a:r>
              <a:rPr sz="1150" b="1" i="0">
                <a:solidFill>
                  <a:srgbClr val="1B2A55"/>
                </a:solidFill>
                <a:latin typeface="Inter"/>
              </a:rPr>
              <a:t>Ledger:</a:t>
            </a:r>
            <a:r>
              <a:rPr sz="1150" b="0" i="0">
                <a:solidFill>
                  <a:srgbClr val="353B4A"/>
                </a:solidFill>
                <a:latin typeface="Inter"/>
              </a:rPr>
              <a:t> MongoDB Atlas, HMAC chain.</a:t>
            </a:r>
          </a:p>
          <a:p>
            <a:pPr algn="l">
              <a:spcAft>
                <a:spcPts val="500"/>
              </a:spcAft>
            </a:pPr>
            <a:r>
              <a:rPr sz="1150" b="1" i="0">
                <a:solidFill>
                  <a:srgbClr val="1B2A55"/>
                </a:solidFill>
                <a:latin typeface="Inter"/>
              </a:rPr>
              <a:t>•  </a:t>
            </a:r>
            <a:r>
              <a:rPr sz="1150" b="1" i="0">
                <a:solidFill>
                  <a:srgbClr val="1B2A55"/>
                </a:solidFill>
                <a:latin typeface="Inter"/>
              </a:rPr>
              <a:t>Secrets:</a:t>
            </a:r>
            <a:r>
              <a:rPr sz="1150" b="0" i="0">
                <a:solidFill>
                  <a:srgbClr val="353B4A"/>
                </a:solidFill>
                <a:latin typeface="Inter"/>
              </a:rPr>
              <a:t> in .env, outside every store.</a:t>
            </a:r>
          </a:p>
          <a:p>
            <a:pPr algn="l">
              <a:spcAft>
                <a:spcPts val="500"/>
              </a:spcAft>
            </a:pPr>
            <a:r>
              <a:rPr sz="1150" b="1" i="0">
                <a:solidFill>
                  <a:srgbClr val="1B2A55"/>
                </a:solidFill>
                <a:latin typeface="Inter"/>
              </a:rPr>
              <a:t>•  </a:t>
            </a:r>
            <a:r>
              <a:rPr sz="1150" b="0" i="0">
                <a:solidFill>
                  <a:srgbClr val="353B4A"/>
                </a:solidFill>
                <a:latin typeface="Inter"/>
              </a:rPr>
              <a:t>An administrator of one store cannot touch the others.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DATA MODEL</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Data model: election, ledger and verification stores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25</a:t>
            </a:r>
          </a:p>
        </p:txBody>
      </p:sp>
      <p:pic>
        <p:nvPicPr>
          <p:cNvPr id="6" name="Picture 5" descr="er.png"/>
          <p:cNvPicPr>
            <a:picLocks noChangeAspect="1"/>
          </p:cNvPicPr>
          <p:nvPr/>
        </p:nvPicPr>
        <p:blipFill>
          <a:blip r:embed="rId2"/>
          <a:stretch>
            <a:fillRect/>
          </a:stretch>
        </p:blipFill>
        <p:spPr>
          <a:xfrm>
            <a:off x="814493" y="1051560"/>
            <a:ext cx="5137573" cy="3749039"/>
          </a:xfrm>
          <a:prstGeom prst="rect">
            <a:avLst/>
          </a:prstGeom>
        </p:spPr>
      </p:pic>
      <p:sp>
        <p:nvSpPr>
          <p:cNvPr id="7" name="TextBox 6"/>
          <p:cNvSpPr txBox="1"/>
          <p:nvPr/>
        </p:nvSpPr>
        <p:spPr>
          <a:xfrm>
            <a:off x="6492240" y="1188720"/>
            <a:ext cx="2286000" cy="347472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  </a:t>
            </a:r>
            <a:r>
              <a:rPr sz="1100" b="0" i="0">
                <a:solidFill>
                  <a:srgbClr val="353B4A"/>
                </a:solidFill>
                <a:latin typeface="Inter"/>
              </a:rPr>
              <a:t>Shared multi-tenant schema, scoped by election.</a:t>
            </a:r>
          </a:p>
          <a:p>
            <a:pPr algn="l">
              <a:spcAft>
                <a:spcPts val="500"/>
              </a:spcAft>
            </a:pPr>
            <a:r>
              <a:rPr sz="1100" b="1" i="0">
                <a:solidFill>
                  <a:srgbClr val="1B2A55"/>
                </a:solidFill>
                <a:latin typeface="Inter"/>
              </a:rPr>
              <a:t>•  </a:t>
            </a:r>
            <a:r>
              <a:rPr sz="1100" b="0" i="0">
                <a:solidFill>
                  <a:srgbClr val="353B4A"/>
                </a:solidFill>
                <a:latin typeface="Inter"/>
              </a:rPr>
              <a:t>No column links a ballot to a voter.</a:t>
            </a:r>
          </a:p>
          <a:p>
            <a:pPr algn="l">
              <a:spcAft>
                <a:spcPts val="500"/>
              </a:spcAft>
            </a:pPr>
            <a:r>
              <a:rPr sz="1100" b="1" i="0">
                <a:solidFill>
                  <a:srgbClr val="1B2A55"/>
                </a:solidFill>
                <a:latin typeface="Inter"/>
              </a:rPr>
              <a:t>•  </a:t>
            </a:r>
            <a:r>
              <a:rPr sz="1100" b="0" i="0">
                <a:solidFill>
                  <a:srgbClr val="353B4A"/>
                </a:solidFill>
                <a:latin typeface="Inter"/>
              </a:rPr>
              <a:t>Candidate roster hash sealed in the ledger.</a:t>
            </a:r>
          </a:p>
          <a:p>
            <a:pPr algn="l">
              <a:spcAft>
                <a:spcPts val="500"/>
              </a:spcAft>
            </a:pPr>
            <a:r>
              <a:rPr sz="1100" b="1" i="0">
                <a:solidFill>
                  <a:srgbClr val="1B2A55"/>
                </a:solidFill>
                <a:latin typeface="Inter"/>
              </a:rPr>
              <a:t>•  </a:t>
            </a:r>
            <a:r>
              <a:rPr sz="1100" b="0" i="0">
                <a:solidFill>
                  <a:srgbClr val="353B4A"/>
                </a:solidFill>
                <a:latin typeface="Inter"/>
              </a:rPr>
              <a:t>Emails live in a different file; no key reaches ballots.</a:t>
            </a:r>
          </a:p>
          <a:p>
            <a:pPr algn="l">
              <a:spcAft>
                <a:spcPts val="500"/>
              </a:spcAft>
            </a:pPr>
            <a:r>
              <a:rPr sz="1100" b="1" i="0">
                <a:solidFill>
                  <a:srgbClr val="1B2A55"/>
                </a:solidFill>
                <a:latin typeface="Inter"/>
              </a:rPr>
              <a:t>•  </a:t>
            </a:r>
            <a:r>
              <a:rPr sz="1100" b="0" i="0">
                <a:solidFill>
                  <a:srgbClr val="353B4A"/>
                </a:solidFill>
                <a:latin typeface="Inter"/>
              </a:rPr>
              <a:t>Trigger, CHECK, UNIQUE, FK enforce the rules.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KEYED AUDIT LEDGER</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Keyed chain: rebuilding it needs the secret key</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26</a:t>
            </a:r>
          </a:p>
        </p:txBody>
      </p:sp>
      <p:sp>
        <p:nvSpPr>
          <p:cNvPr id="6" name="Rounded Rectangle 5"/>
          <p:cNvSpPr/>
          <p:nvPr/>
        </p:nvSpPr>
        <p:spPr>
          <a:xfrm>
            <a:off x="457200" y="1143000"/>
            <a:ext cx="178308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207008"/>
            <a:ext cx="1554480" cy="22860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Block 1</a:t>
            </a:r>
          </a:p>
        </p:txBody>
      </p:sp>
      <p:sp>
        <p:nvSpPr>
          <p:cNvPr id="8" name="TextBox 7"/>
          <p:cNvSpPr txBox="1"/>
          <p:nvPr/>
        </p:nvSpPr>
        <p:spPr>
          <a:xfrm>
            <a:off x="566928" y="1481328"/>
            <a:ext cx="1600200" cy="457200"/>
          </a:xfrm>
          <a:prstGeom prst="rect">
            <a:avLst/>
          </a:prstGeom>
          <a:noFill/>
        </p:spPr>
        <p:txBody>
          <a:bodyPr wrap="square" anchor="t" lIns="0" rIns="0" tIns="0" bIns="0">
            <a:spAutoFit/>
          </a:bodyPr>
          <a:lstStyle/>
          <a:p>
            <a:pPr algn="l">
              <a:spcAft>
                <a:spcPts val="0"/>
              </a:spcAft>
            </a:pPr>
            <a:r>
              <a:rPr sz="750" b="0" i="0">
                <a:solidFill>
                  <a:srgbClr val="353B4A"/>
                </a:solidFill>
                <a:latin typeface="Consolas"/>
              </a:rPr>
              <a:t>ballot_token, vote_data_hash,</a:t>
            </a:r>
          </a:p>
          <a:p>
            <a:pPr algn="l">
              <a:spcAft>
                <a:spcPts val="0"/>
              </a:spcAft>
            </a:pPr>
            <a:r>
              <a:rPr sz="750" b="0" i="0">
                <a:solidFill>
                  <a:srgbClr val="353B4A"/>
                </a:solidFill>
                <a:latin typeface="Consolas"/>
              </a:rPr>
              <a:t>roster_hash, prev_hash</a:t>
            </a:r>
          </a:p>
        </p:txBody>
      </p:sp>
      <p:sp>
        <p:nvSpPr>
          <p:cNvPr id="9" name="Rounded Rectangle 8"/>
          <p:cNvSpPr/>
          <p:nvPr/>
        </p:nvSpPr>
        <p:spPr>
          <a:xfrm>
            <a:off x="566928" y="2057400"/>
            <a:ext cx="1554480" cy="365760"/>
          </a:xfrm>
          <a:prstGeom prst="roundRect">
            <a:avLst>
              <a:gd name="adj" fmla="val 10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1" i="0">
                <a:solidFill>
                  <a:srgbClr val="1B2A55"/>
                </a:solidFill>
                <a:latin typeface="Inter"/>
              </a:rPr>
              <a:t>curr_hash = HMAC(key, block)</a:t>
            </a:r>
          </a:p>
        </p:txBody>
      </p:sp>
      <p:cxnSp>
        <p:nvCxnSpPr>
          <p:cNvPr id="10" name="Connector 9"/>
          <p:cNvCxnSpPr/>
          <p:nvPr/>
        </p:nvCxnSpPr>
        <p:spPr>
          <a:xfrm>
            <a:off x="2240280" y="1828800"/>
            <a:ext cx="228600" cy="0"/>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468880" y="1143000"/>
            <a:ext cx="178308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78608" y="1207008"/>
            <a:ext cx="1554480" cy="22860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Block 2</a:t>
            </a:r>
          </a:p>
        </p:txBody>
      </p:sp>
      <p:sp>
        <p:nvSpPr>
          <p:cNvPr id="13" name="TextBox 12"/>
          <p:cNvSpPr txBox="1"/>
          <p:nvPr/>
        </p:nvSpPr>
        <p:spPr>
          <a:xfrm>
            <a:off x="2578608" y="1481328"/>
            <a:ext cx="1600200" cy="457200"/>
          </a:xfrm>
          <a:prstGeom prst="rect">
            <a:avLst/>
          </a:prstGeom>
          <a:noFill/>
        </p:spPr>
        <p:txBody>
          <a:bodyPr wrap="square" anchor="t" lIns="0" rIns="0" tIns="0" bIns="0">
            <a:spAutoFit/>
          </a:bodyPr>
          <a:lstStyle/>
          <a:p>
            <a:pPr algn="l">
              <a:spcAft>
                <a:spcPts val="0"/>
              </a:spcAft>
            </a:pPr>
            <a:r>
              <a:rPr sz="750" b="0" i="0">
                <a:solidFill>
                  <a:srgbClr val="353B4A"/>
                </a:solidFill>
                <a:latin typeface="Consolas"/>
              </a:rPr>
              <a:t>ballot_token, vote_data_hash,</a:t>
            </a:r>
          </a:p>
          <a:p>
            <a:pPr algn="l">
              <a:spcAft>
                <a:spcPts val="0"/>
              </a:spcAft>
            </a:pPr>
            <a:r>
              <a:rPr sz="750" b="0" i="0">
                <a:solidFill>
                  <a:srgbClr val="353B4A"/>
                </a:solidFill>
                <a:latin typeface="Consolas"/>
              </a:rPr>
              <a:t>roster_hash, prev_hash</a:t>
            </a:r>
          </a:p>
        </p:txBody>
      </p:sp>
      <p:sp>
        <p:nvSpPr>
          <p:cNvPr id="14" name="Rounded Rectangle 13"/>
          <p:cNvSpPr/>
          <p:nvPr/>
        </p:nvSpPr>
        <p:spPr>
          <a:xfrm>
            <a:off x="2578608" y="2057400"/>
            <a:ext cx="1554480" cy="365760"/>
          </a:xfrm>
          <a:prstGeom prst="roundRect">
            <a:avLst>
              <a:gd name="adj" fmla="val 10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1" i="0">
                <a:solidFill>
                  <a:srgbClr val="1B2A55"/>
                </a:solidFill>
                <a:latin typeface="Inter"/>
              </a:rPr>
              <a:t>curr_hash = HMAC(key, block)</a:t>
            </a:r>
          </a:p>
        </p:txBody>
      </p:sp>
      <p:cxnSp>
        <p:nvCxnSpPr>
          <p:cNvPr id="15" name="Connector 14"/>
          <p:cNvCxnSpPr/>
          <p:nvPr/>
        </p:nvCxnSpPr>
        <p:spPr>
          <a:xfrm>
            <a:off x="4251960" y="1828800"/>
            <a:ext cx="228600" cy="0"/>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480560" y="1143000"/>
            <a:ext cx="178308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90288" y="1207008"/>
            <a:ext cx="1554480" cy="22860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Block 3</a:t>
            </a:r>
          </a:p>
        </p:txBody>
      </p:sp>
      <p:sp>
        <p:nvSpPr>
          <p:cNvPr id="18" name="TextBox 17"/>
          <p:cNvSpPr txBox="1"/>
          <p:nvPr/>
        </p:nvSpPr>
        <p:spPr>
          <a:xfrm>
            <a:off x="4590288" y="1481328"/>
            <a:ext cx="1600200" cy="457200"/>
          </a:xfrm>
          <a:prstGeom prst="rect">
            <a:avLst/>
          </a:prstGeom>
          <a:noFill/>
        </p:spPr>
        <p:txBody>
          <a:bodyPr wrap="square" anchor="t" lIns="0" rIns="0" tIns="0" bIns="0">
            <a:spAutoFit/>
          </a:bodyPr>
          <a:lstStyle/>
          <a:p>
            <a:pPr algn="l">
              <a:spcAft>
                <a:spcPts val="0"/>
              </a:spcAft>
            </a:pPr>
            <a:r>
              <a:rPr sz="750" b="0" i="0">
                <a:solidFill>
                  <a:srgbClr val="353B4A"/>
                </a:solidFill>
                <a:latin typeface="Consolas"/>
              </a:rPr>
              <a:t>ballot_token, vote_data_hash,</a:t>
            </a:r>
          </a:p>
          <a:p>
            <a:pPr algn="l">
              <a:spcAft>
                <a:spcPts val="0"/>
              </a:spcAft>
            </a:pPr>
            <a:r>
              <a:rPr sz="750" b="0" i="0">
                <a:solidFill>
                  <a:srgbClr val="353B4A"/>
                </a:solidFill>
                <a:latin typeface="Consolas"/>
              </a:rPr>
              <a:t>roster_hash, prev_hash</a:t>
            </a:r>
          </a:p>
        </p:txBody>
      </p:sp>
      <p:sp>
        <p:nvSpPr>
          <p:cNvPr id="19" name="Rounded Rectangle 18"/>
          <p:cNvSpPr/>
          <p:nvPr/>
        </p:nvSpPr>
        <p:spPr>
          <a:xfrm>
            <a:off x="4590288" y="2057400"/>
            <a:ext cx="1554480" cy="365760"/>
          </a:xfrm>
          <a:prstGeom prst="roundRect">
            <a:avLst>
              <a:gd name="adj" fmla="val 10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1" i="0">
                <a:solidFill>
                  <a:srgbClr val="1B2A55"/>
                </a:solidFill>
                <a:latin typeface="Inter"/>
              </a:rPr>
              <a:t>curr_hash = HMAC(key, block)</a:t>
            </a:r>
          </a:p>
        </p:txBody>
      </p:sp>
      <p:sp>
        <p:nvSpPr>
          <p:cNvPr id="20" name="TextBox 19"/>
          <p:cNvSpPr txBox="1"/>
          <p:nvPr/>
        </p:nvSpPr>
        <p:spPr>
          <a:xfrm>
            <a:off x="6583680" y="1188720"/>
            <a:ext cx="2103120" cy="1280160"/>
          </a:xfrm>
          <a:prstGeom prst="rect">
            <a:avLst/>
          </a:prstGeom>
          <a:noFill/>
        </p:spPr>
        <p:txBody>
          <a:bodyPr wrap="square" anchor="t" lIns="0" rIns="0" tIns="0" bIns="0">
            <a:spAutoFit/>
          </a:bodyPr>
          <a:lstStyle/>
          <a:p>
            <a:pPr algn="l">
              <a:spcAft>
                <a:spcPts val="0"/>
              </a:spcAft>
            </a:pPr>
            <a:r>
              <a:rPr sz="1000" b="1" i="0">
                <a:solidFill>
                  <a:srgbClr val="1B2A55"/>
                </a:solidFill>
                <a:latin typeface="Consolas"/>
              </a:rPr>
              <a:t>prev_hash</a:t>
            </a:r>
            <a:r>
              <a:rPr sz="1050" b="0" i="0">
                <a:solidFill>
                  <a:srgbClr val="353B4A"/>
                </a:solidFill>
                <a:latin typeface="Inter"/>
              </a:rPr>
              <a:t> links each block to the one before it.</a:t>
            </a:r>
          </a:p>
        </p:txBody>
      </p:sp>
      <p:sp>
        <p:nvSpPr>
          <p:cNvPr id="21" name="TextBox 20"/>
          <p:cNvSpPr txBox="1"/>
          <p:nvPr/>
        </p:nvSpPr>
        <p:spPr>
          <a:xfrm>
            <a:off x="457200" y="2743200"/>
            <a:ext cx="8229600" cy="2011680"/>
          </a:xfrm>
          <a:prstGeom prst="rect">
            <a:avLst/>
          </a:prstGeom>
          <a:noFill/>
        </p:spPr>
        <p:txBody>
          <a:bodyPr wrap="square" anchor="t" lIns="0" rIns="0" tIns="0" bIns="0">
            <a:spAutoFit/>
          </a:bodyPr>
          <a:lstStyle/>
          <a:p>
            <a:pPr algn="l">
              <a:spcAft>
                <a:spcPts val="500"/>
              </a:spcAft>
            </a:pPr>
            <a:r>
              <a:rPr sz="1150" b="1" i="0">
                <a:solidFill>
                  <a:srgbClr val="1B2A55"/>
                </a:solidFill>
                <a:latin typeface="Inter"/>
              </a:rPr>
              <a:t>•  </a:t>
            </a:r>
            <a:r>
              <a:rPr sz="1150" b="1" i="0">
                <a:solidFill>
                  <a:srgbClr val="1B2A55"/>
                </a:solidFill>
                <a:latin typeface="Inter"/>
              </a:rPr>
              <a:t>Review 2:</a:t>
            </a:r>
            <a:r>
              <a:rPr sz="1150" b="0" i="0">
                <a:solidFill>
                  <a:srgbClr val="353B4A"/>
                </a:solidFill>
                <a:latin typeface="Inter"/>
              </a:rPr>
              <a:t> curr_hash was plain SHA-256. An attacker who can write the store can edit a ballot and recompute every later hash.</a:t>
            </a:r>
          </a:p>
          <a:p>
            <a:pPr algn="l">
              <a:spcAft>
                <a:spcPts val="500"/>
              </a:spcAft>
            </a:pPr>
            <a:r>
              <a:rPr sz="1150" b="1" i="0">
                <a:solidFill>
                  <a:srgbClr val="1B2A55"/>
                </a:solidFill>
                <a:latin typeface="Inter"/>
              </a:rPr>
              <a:t>•  </a:t>
            </a:r>
            <a:r>
              <a:rPr sz="1150" b="1" i="0">
                <a:solidFill>
                  <a:srgbClr val="1B2A55"/>
                </a:solidFill>
                <a:latin typeface="Inter"/>
              </a:rPr>
              <a:t>Final:</a:t>
            </a:r>
            <a:r>
              <a:rPr sz="1150" b="0" i="0">
                <a:solidFill>
                  <a:srgbClr val="353B4A"/>
                </a:solidFill>
                <a:latin typeface="Inter"/>
              </a:rPr>
              <a:t> curr_hash is HMAC-SHA-256 under LEDGER_KEY, held outside the database and the ledger store. Without the key the rebuilt chain fails verification.</a:t>
            </a:r>
          </a:p>
          <a:p>
            <a:pPr algn="l">
              <a:spcAft>
                <a:spcPts val="500"/>
              </a:spcAft>
            </a:pPr>
            <a:r>
              <a:rPr sz="1150" b="1" i="0">
                <a:solidFill>
                  <a:srgbClr val="1B2A55"/>
                </a:solidFill>
                <a:latin typeface="Inter"/>
              </a:rPr>
              <a:t>•  </a:t>
            </a:r>
            <a:r>
              <a:rPr sz="1150" b="1" i="0">
                <a:solidFill>
                  <a:srgbClr val="1B2A55"/>
                </a:solidFill>
                <a:latin typeface="Inter"/>
              </a:rPr>
              <a:t>Roster hash:</a:t>
            </a:r>
            <a:r>
              <a:rPr sz="1150" b="0" i="0">
                <a:solidFill>
                  <a:srgbClr val="353B4A"/>
                </a:solidFill>
                <a:latin typeface="Inter"/>
              </a:rPr>
              <a:t> every block also seals the candidate list, so renaming candidates after voting is detected.</a:t>
            </a:r>
          </a:p>
          <a:p>
            <a:pPr algn="l">
              <a:spcAft>
                <a:spcPts val="500"/>
              </a:spcAft>
            </a:pPr>
            <a:r>
              <a:rPr sz="1150" b="1" i="0">
                <a:solidFill>
                  <a:srgbClr val="1B2A55"/>
                </a:solidFill>
                <a:latin typeface="Inter"/>
              </a:rPr>
              <a:t>•  </a:t>
            </a:r>
            <a:r>
              <a:rPr sz="1150" b="1" i="0">
                <a:solidFill>
                  <a:srgbClr val="1B2A55"/>
                </a:solidFill>
                <a:latin typeface="Inter"/>
              </a:rPr>
              <a:t>Backward compatible:</a:t>
            </a:r>
            <a:r>
              <a:rPr sz="1150" b="0" i="0">
                <a:solidFill>
                  <a:srgbClr val="353B4A"/>
                </a:solidFill>
                <a:latin typeface="Inter"/>
              </a:rPr>
              <a:t> blocks written before the key existed still verify (LEDGER_LEGACY_UNTIL).</a:t>
            </a:r>
          </a:p>
          <a:p>
            <a:pPr algn="l">
              <a:spcAft>
                <a:spcPts val="500"/>
              </a:spcAft>
            </a:pPr>
            <a:r>
              <a:rPr sz="1150" b="1" i="0">
                <a:solidFill>
                  <a:srgbClr val="1B2A55"/>
                </a:solidFill>
                <a:latin typeface="Inter"/>
              </a:rPr>
              <a:t>•  </a:t>
            </a:r>
            <a:r>
              <a:rPr sz="1150" b="1" i="0">
                <a:solidFill>
                  <a:srgbClr val="1B2A55"/>
                </a:solidFill>
                <a:latin typeface="Inter"/>
              </a:rPr>
              <a:t>Limit:</a:t>
            </a:r>
            <a:r>
              <a:rPr sz="1150" b="0" i="0">
                <a:solidFill>
                  <a:srgbClr val="353B4A"/>
                </a:solidFill>
                <a:latin typeface="Inter"/>
              </a:rPr>
              <a:t> whoever holds the key can still forge blocks; that needs an external witness (future work).</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INTEGRITY SWEEP</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Five rules compare the database with the ledger</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27</a:t>
            </a:r>
          </a:p>
        </p:txBody>
      </p:sp>
      <p:graphicFrame>
        <p:nvGraphicFramePr>
          <p:cNvPr id="6" name="Table 5"/>
          <p:cNvGraphicFramePr>
            <a:graphicFrameLocks noGrp="1"/>
          </p:cNvGraphicFramePr>
          <p:nvPr/>
        </p:nvGraphicFramePr>
        <p:xfrm>
          <a:off x="457200" y="1097280"/>
          <a:ext cx="8229599" cy="2880360"/>
        </p:xfrm>
        <a:graphic>
          <a:graphicData uri="http://schemas.openxmlformats.org/drawingml/2006/table">
            <a:tbl>
              <a:tblPr firstRow="1" bandRow="1">
                <a:tableStyleId>{5C22544A-7EE6-4342-B048-85BDC9FD1C3A}</a:tableStyleId>
              </a:tblPr>
              <a:tblGrid>
                <a:gridCol w="1554480"/>
                <a:gridCol w="2468880"/>
                <a:gridCol w="3383280"/>
                <a:gridCol w="822959"/>
              </a:tblGrid>
              <a:tr h="365760">
                <a:tc>
                  <a:txBody>
                    <a:bodyPr wrap="square"/>
                    <a:lstStyle/>
                    <a:p>
                      <a:r>
                        <a:rPr sz="1000" b="1" i="0">
                          <a:solidFill>
                            <a:srgbClr val="FFFFFF"/>
                          </a:solidFill>
                          <a:latin typeface="Inter"/>
                        </a:rPr>
                        <a:t>Rule</a:t>
                      </a:r>
                    </a:p>
                  </a:txBody>
                  <a:tcPr marL="73152" marR="73152" marT="36576" marB="36576" anchor="ctr">
                    <a:solidFill>
                      <a:srgbClr val="1B2A55"/>
                    </a:solidFill>
                  </a:tcPr>
                </a:tc>
                <a:tc>
                  <a:txBody>
                    <a:bodyPr wrap="square"/>
                    <a:lstStyle/>
                    <a:p>
                      <a:r>
                        <a:rPr sz="1000" b="1" i="0">
                          <a:solidFill>
                            <a:srgbClr val="FFFFFF"/>
                          </a:solidFill>
                          <a:latin typeface="Inter"/>
                        </a:rPr>
                        <a:t>Detects</a:t>
                      </a:r>
                    </a:p>
                  </a:txBody>
                  <a:tcPr marL="73152" marR="73152" marT="36576" marB="36576" anchor="ctr">
                    <a:solidFill>
                      <a:srgbClr val="1B2A55"/>
                    </a:solidFill>
                  </a:tcPr>
                </a:tc>
                <a:tc>
                  <a:txBody>
                    <a:bodyPr wrap="square"/>
                    <a:lstStyle/>
                    <a:p>
                      <a:r>
                        <a:rPr sz="1000" b="1" i="0">
                          <a:solidFill>
                            <a:srgbClr val="FFFFFF"/>
                          </a:solidFill>
                          <a:latin typeface="Inter"/>
                        </a:rPr>
                        <a:t>How</a:t>
                      </a:r>
                    </a:p>
                  </a:txBody>
                  <a:tcPr marL="73152" marR="73152" marT="36576" marB="36576" anchor="ctr">
                    <a:solidFill>
                      <a:srgbClr val="1B2A55"/>
                    </a:solidFill>
                  </a:tcPr>
                </a:tc>
                <a:tc>
                  <a:txBody>
                    <a:bodyPr wrap="square"/>
                    <a:lstStyle/>
                    <a:p>
                      <a:r>
                        <a:rPr sz="1000" b="1" i="0">
                          <a:solidFill>
                            <a:srgbClr val="FFFFFF"/>
                          </a:solidFill>
                          <a:latin typeface="Inter"/>
                        </a:rPr>
                        <a:t>New?</a:t>
                      </a:r>
                    </a:p>
                  </a:txBody>
                  <a:tcPr marL="73152" marR="73152" marT="36576" marB="36576" anchor="ctr">
                    <a:solidFill>
                      <a:srgbClr val="1B2A55"/>
                    </a:solidFill>
                  </a:tcPr>
                </a:tc>
              </a:tr>
              <a:tr h="502920">
                <a:tc>
                  <a:txBody>
                    <a:bodyPr wrap="square"/>
                    <a:lstStyle/>
                    <a:p>
                      <a:r>
                        <a:rPr sz="1050" b="1" i="0">
                          <a:solidFill>
                            <a:srgbClr val="1B2A55"/>
                          </a:solidFill>
                          <a:latin typeface="Inter"/>
                        </a:rPr>
                        <a:t>1  Modified</a:t>
                      </a:r>
                    </a:p>
                  </a:txBody>
                  <a:tcPr marL="73152" marR="73152" marT="36576" marB="36576" anchor="ctr">
                    <a:solidFill>
                      <a:srgbClr val="FFFFFF"/>
                    </a:solidFill>
                  </a:tcPr>
                </a:tc>
                <a:tc>
                  <a:txBody>
                    <a:bodyPr wrap="square"/>
                    <a:lstStyle/>
                    <a:p>
                      <a:r>
                        <a:rPr sz="1050" b="0" i="0">
                          <a:solidFill>
                            <a:srgbClr val="353B4A"/>
                          </a:solidFill>
                          <a:latin typeface="Inter"/>
                        </a:rPr>
                        <a:t>A ballot whose ranks changed</a:t>
                      </a:r>
                    </a:p>
                  </a:txBody>
                  <a:tcPr marL="73152" marR="73152" marT="36576" marB="36576" anchor="ctr">
                    <a:solidFill>
                      <a:srgbClr val="FFFFFF"/>
                    </a:solidFill>
                  </a:tcPr>
                </a:tc>
                <a:tc>
                  <a:txBody>
                    <a:bodyPr wrap="square"/>
                    <a:lstStyle/>
                    <a:p>
                      <a:r>
                        <a:rPr sz="1050" b="0" i="0">
                          <a:solidFill>
                            <a:srgbClr val="353B4A"/>
                          </a:solidFill>
                          <a:latin typeface="Inter"/>
                        </a:rPr>
                        <a:t>Recompute ranks hash; compare with the receipt</a:t>
                      </a:r>
                    </a:p>
                  </a:txBody>
                  <a:tcPr marL="73152" marR="73152" marT="36576" marB="36576" anchor="ctr">
                    <a:solidFill>
                      <a:srgbClr val="FFFFFF"/>
                    </a:solidFill>
                  </a:tcPr>
                </a:tc>
                <a:tc>
                  <a:txBody>
                    <a:bodyPr wrap="square"/>
                    <a:lstStyle/>
                    <a:p>
                      <a:r>
                        <a:rPr sz="1050" b="0" i="0">
                          <a:solidFill>
                            <a:srgbClr val="353B4A"/>
                          </a:solidFill>
                          <a:latin typeface="Inter"/>
                        </a:rPr>
                        <a:t>Review 2</a:t>
                      </a:r>
                    </a:p>
                  </a:txBody>
                  <a:tcPr marL="73152" marR="73152" marT="36576" marB="36576" anchor="ctr">
                    <a:solidFill>
                      <a:srgbClr val="FFFFFF"/>
                    </a:solidFill>
                  </a:tcPr>
                </a:tc>
              </a:tr>
              <a:tr h="502920">
                <a:tc>
                  <a:txBody>
                    <a:bodyPr wrap="square"/>
                    <a:lstStyle/>
                    <a:p>
                      <a:r>
                        <a:rPr sz="1050" b="1" i="0">
                          <a:solidFill>
                            <a:srgbClr val="1B2A55"/>
                          </a:solidFill>
                          <a:latin typeface="Inter"/>
                        </a:rPr>
                        <a:t>2  Deleted</a:t>
                      </a:r>
                    </a:p>
                  </a:txBody>
                  <a:tcPr marL="73152" marR="73152" marT="36576" marB="36576" anchor="ctr">
                    <a:solidFill>
                      <a:srgbClr val="F1F0F6"/>
                    </a:solidFill>
                  </a:tcPr>
                </a:tc>
                <a:tc>
                  <a:txBody>
                    <a:bodyPr wrap="square"/>
                    <a:lstStyle/>
                    <a:p>
                      <a:r>
                        <a:rPr sz="1050" b="0" i="0">
                          <a:solidFill>
                            <a:srgbClr val="353B4A"/>
                          </a:solidFill>
                          <a:latin typeface="Inter"/>
                        </a:rPr>
                        <a:t>A sealed ballot missing from the database</a:t>
                      </a:r>
                    </a:p>
                  </a:txBody>
                  <a:tcPr marL="73152" marR="73152" marT="36576" marB="36576" anchor="ctr">
                    <a:solidFill>
                      <a:srgbClr val="F1F0F6"/>
                    </a:solidFill>
                  </a:tcPr>
                </a:tc>
                <a:tc>
                  <a:txBody>
                    <a:bodyPr wrap="square"/>
                    <a:lstStyle/>
                    <a:p>
                      <a:r>
                        <a:rPr sz="1050" b="0" i="0">
                          <a:solidFill>
                            <a:srgbClr val="353B4A"/>
                          </a:solidFill>
                          <a:latin typeface="Inter"/>
                        </a:rPr>
                        <a:t>Receipt exists with no ballot rows</a:t>
                      </a:r>
                    </a:p>
                  </a:txBody>
                  <a:tcPr marL="73152" marR="73152" marT="36576" marB="36576" anchor="ctr">
                    <a:solidFill>
                      <a:srgbClr val="F1F0F6"/>
                    </a:solidFill>
                  </a:tcPr>
                </a:tc>
                <a:tc>
                  <a:txBody>
                    <a:bodyPr wrap="square"/>
                    <a:lstStyle/>
                    <a:p>
                      <a:r>
                        <a:rPr sz="1050" b="0" i="0">
                          <a:solidFill>
                            <a:srgbClr val="353B4A"/>
                          </a:solidFill>
                          <a:latin typeface="Inter"/>
                        </a:rPr>
                        <a:t>Review 2</a:t>
                      </a:r>
                    </a:p>
                  </a:txBody>
                  <a:tcPr marL="73152" marR="73152" marT="36576" marB="36576" anchor="ctr">
                    <a:solidFill>
                      <a:srgbClr val="F1F0F6"/>
                    </a:solidFill>
                  </a:tcPr>
                </a:tc>
              </a:tr>
              <a:tr h="502920">
                <a:tc>
                  <a:txBody>
                    <a:bodyPr wrap="square"/>
                    <a:lstStyle/>
                    <a:p>
                      <a:r>
                        <a:rPr sz="1050" b="1" i="0">
                          <a:solidFill>
                            <a:srgbClr val="1B2A55"/>
                          </a:solidFill>
                          <a:latin typeface="Inter"/>
                        </a:rPr>
                        <a:t>3  Injected</a:t>
                      </a:r>
                    </a:p>
                  </a:txBody>
                  <a:tcPr marL="73152" marR="73152" marT="36576" marB="36576" anchor="ctr">
                    <a:solidFill>
                      <a:srgbClr val="FFFFFF"/>
                    </a:solidFill>
                  </a:tcPr>
                </a:tc>
                <a:tc>
                  <a:txBody>
                    <a:bodyPr wrap="square"/>
                    <a:lstStyle/>
                    <a:p>
                      <a:r>
                        <a:rPr sz="1050" b="0" i="0">
                          <a:solidFill>
                            <a:srgbClr val="353B4A"/>
                          </a:solidFill>
                          <a:latin typeface="Inter"/>
                        </a:rPr>
                        <a:t>A ballot with no receipt</a:t>
                      </a:r>
                    </a:p>
                  </a:txBody>
                  <a:tcPr marL="73152" marR="73152" marT="36576" marB="36576" anchor="ctr">
                    <a:solidFill>
                      <a:srgbClr val="FFFFFF"/>
                    </a:solidFill>
                  </a:tcPr>
                </a:tc>
                <a:tc>
                  <a:txBody>
                    <a:bodyPr wrap="square"/>
                    <a:lstStyle/>
                    <a:p>
                      <a:r>
                        <a:rPr sz="1050" b="0" i="0">
                          <a:solidFill>
                            <a:srgbClr val="353B4A"/>
                          </a:solidFill>
                          <a:latin typeface="Inter"/>
                        </a:rPr>
                        <a:t>Ballot rows exist with no block</a:t>
                      </a:r>
                    </a:p>
                  </a:txBody>
                  <a:tcPr marL="73152" marR="73152" marT="36576" marB="36576" anchor="ctr">
                    <a:solidFill>
                      <a:srgbClr val="FFFFFF"/>
                    </a:solidFill>
                  </a:tcPr>
                </a:tc>
                <a:tc>
                  <a:txBody>
                    <a:bodyPr wrap="square"/>
                    <a:lstStyle/>
                    <a:p>
                      <a:r>
                        <a:rPr sz="1050" b="0" i="0">
                          <a:solidFill>
                            <a:srgbClr val="353B4A"/>
                          </a:solidFill>
                          <a:latin typeface="Inter"/>
                        </a:rPr>
                        <a:t>New</a:t>
                      </a:r>
                    </a:p>
                  </a:txBody>
                  <a:tcPr marL="73152" marR="73152" marT="36576" marB="36576" anchor="ctr">
                    <a:solidFill>
                      <a:srgbClr val="FFFFFF"/>
                    </a:solidFill>
                  </a:tcPr>
                </a:tc>
              </a:tr>
              <a:tr h="502920">
                <a:tc>
                  <a:txBody>
                    <a:bodyPr wrap="square"/>
                    <a:lstStyle/>
                    <a:p>
                      <a:r>
                        <a:rPr sz="1050" b="1" i="0">
                          <a:solidFill>
                            <a:srgbClr val="1B2A55"/>
                          </a:solidFill>
                          <a:latin typeface="Inter"/>
                        </a:rPr>
                        <a:t>4  Roster changed</a:t>
                      </a:r>
                    </a:p>
                  </a:txBody>
                  <a:tcPr marL="73152" marR="73152" marT="36576" marB="36576" anchor="ctr">
                    <a:solidFill>
                      <a:srgbClr val="F1F0F6"/>
                    </a:solidFill>
                  </a:tcPr>
                </a:tc>
                <a:tc>
                  <a:txBody>
                    <a:bodyPr wrap="square"/>
                    <a:lstStyle/>
                    <a:p>
                      <a:r>
                        <a:rPr sz="1050" b="0" i="0">
                          <a:solidFill>
                            <a:srgbClr val="353B4A"/>
                          </a:solidFill>
                          <a:latin typeface="Inter"/>
                        </a:rPr>
                        <a:t>Candidate names altered after voting</a:t>
                      </a:r>
                    </a:p>
                  </a:txBody>
                  <a:tcPr marL="73152" marR="73152" marT="36576" marB="36576" anchor="ctr">
                    <a:solidFill>
                      <a:srgbClr val="F1F0F6"/>
                    </a:solidFill>
                  </a:tcPr>
                </a:tc>
                <a:tc>
                  <a:txBody>
                    <a:bodyPr wrap="square"/>
                    <a:lstStyle/>
                    <a:p>
                      <a:r>
                        <a:rPr sz="1050" b="0" i="0">
                          <a:solidFill>
                            <a:srgbClr val="353B4A"/>
                          </a:solidFill>
                          <a:latin typeface="Inter"/>
                        </a:rPr>
                        <a:t>Current roster hash differs from the sealed hash</a:t>
                      </a:r>
                    </a:p>
                  </a:txBody>
                  <a:tcPr marL="73152" marR="73152" marT="36576" marB="36576" anchor="ctr">
                    <a:solidFill>
                      <a:srgbClr val="F1F0F6"/>
                    </a:solidFill>
                  </a:tcPr>
                </a:tc>
                <a:tc>
                  <a:txBody>
                    <a:bodyPr wrap="square"/>
                    <a:lstStyle/>
                    <a:p>
                      <a:r>
                        <a:rPr sz="1050" b="0" i="0">
                          <a:solidFill>
                            <a:srgbClr val="353B4A"/>
                          </a:solidFill>
                          <a:latin typeface="Inter"/>
                        </a:rPr>
                        <a:t>New</a:t>
                      </a:r>
                    </a:p>
                  </a:txBody>
                  <a:tcPr marL="73152" marR="73152" marT="36576" marB="36576" anchor="ctr">
                    <a:solidFill>
                      <a:srgbClr val="F1F0F6"/>
                    </a:solidFill>
                  </a:tcPr>
                </a:tc>
              </a:tr>
              <a:tr h="502920">
                <a:tc>
                  <a:txBody>
                    <a:bodyPr wrap="square"/>
                    <a:lstStyle/>
                    <a:p>
                      <a:r>
                        <a:rPr sz="1050" b="1" i="0">
                          <a:solidFill>
                            <a:srgbClr val="1B2A55"/>
                          </a:solidFill>
                          <a:latin typeface="Inter"/>
                        </a:rPr>
                        <a:t>5  Count mismatch</a:t>
                      </a:r>
                    </a:p>
                  </a:txBody>
                  <a:tcPr marL="73152" marR="73152" marT="36576" marB="36576" anchor="ctr">
                    <a:solidFill>
                      <a:srgbClr val="FFFFFF"/>
                    </a:solidFill>
                  </a:tcPr>
                </a:tc>
                <a:tc>
                  <a:txBody>
                    <a:bodyPr wrap="square"/>
                    <a:lstStyle/>
                    <a:p>
                      <a:r>
                        <a:rPr sz="1050" b="0" i="0">
                          <a:solidFill>
                            <a:srgbClr val="353B4A"/>
                          </a:solidFill>
                          <a:latin typeface="Inter"/>
                        </a:rPr>
                        <a:t>Flags, ballots, receipts disagree</a:t>
                      </a:r>
                    </a:p>
                  </a:txBody>
                  <a:tcPr marL="73152" marR="73152" marT="36576" marB="36576" anchor="ctr">
                    <a:solidFill>
                      <a:srgbClr val="FFFFFF"/>
                    </a:solidFill>
                  </a:tcPr>
                </a:tc>
                <a:tc>
                  <a:txBody>
                    <a:bodyPr wrap="square"/>
                    <a:lstStyle/>
                    <a:p>
                      <a:r>
                        <a:rPr sz="1050" b="0" i="0">
                          <a:solidFill>
                            <a:srgbClr val="353B4A"/>
                          </a:solidFill>
                          <a:latin typeface="Inter"/>
                        </a:rPr>
                        <a:t>Compare the three counts for the election</a:t>
                      </a:r>
                    </a:p>
                  </a:txBody>
                  <a:tcPr marL="73152" marR="73152" marT="36576" marB="36576" anchor="ctr">
                    <a:solidFill>
                      <a:srgbClr val="FFFFFF"/>
                    </a:solidFill>
                  </a:tcPr>
                </a:tc>
                <a:tc>
                  <a:txBody>
                    <a:bodyPr wrap="square"/>
                    <a:lstStyle/>
                    <a:p>
                      <a:r>
                        <a:rPr sz="1050" b="0" i="0">
                          <a:solidFill>
                            <a:srgbClr val="353B4A"/>
                          </a:solidFill>
                          <a:latin typeface="Inter"/>
                        </a:rPr>
                        <a:t>New</a:t>
                      </a:r>
                    </a:p>
                  </a:txBody>
                  <a:tcPr marL="73152" marR="73152" marT="36576" marB="36576" anchor="ctr">
                    <a:solidFill>
                      <a:srgbClr val="FFFFFF"/>
                    </a:solidFill>
                  </a:tcPr>
                </a:tc>
              </a:tr>
            </a:tbl>
          </a:graphicData>
        </a:graphic>
      </p:graphicFrame>
      <p:sp>
        <p:nvSpPr>
          <p:cNvPr id="7" name="TextBox 6"/>
          <p:cNvSpPr txBox="1"/>
          <p:nvPr/>
        </p:nvSpPr>
        <p:spPr>
          <a:xfrm>
            <a:off x="457200" y="4114800"/>
            <a:ext cx="8229600" cy="640080"/>
          </a:xfrm>
          <a:prstGeom prst="rect">
            <a:avLst/>
          </a:prstGeom>
          <a:noFill/>
        </p:spPr>
        <p:txBody>
          <a:bodyPr wrap="square" anchor="t" lIns="0" rIns="0" tIns="0" bIns="0">
            <a:spAutoFit/>
          </a:bodyPr>
          <a:lstStyle/>
          <a:p>
            <a:pPr algn="l">
              <a:spcAft>
                <a:spcPts val="0"/>
              </a:spcAft>
            </a:pPr>
            <a:r>
              <a:rPr sz="1150" b="1" i="0">
                <a:solidFill>
                  <a:srgbClr val="1B2A55"/>
                </a:solidFill>
                <a:latin typeface="Inter"/>
              </a:rPr>
              <a:t>Plus the chain check: </a:t>
            </a:r>
            <a:r>
              <a:rPr sz="1150" b="0" i="0">
                <a:solidFill>
                  <a:srgbClr val="353B4A"/>
                </a:solidFill>
                <a:latin typeface="Inter"/>
              </a:rPr>
              <a:t>recompute every block's link and hash across the whole ledger. The chain check finds edits inside the ledger; the sweep finds edits to the database.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MONGODB ATLAS LEDGER</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 real document store with its own concurrency control</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28</a:t>
            </a:r>
          </a:p>
        </p:txBody>
      </p:sp>
      <p:sp>
        <p:nvSpPr>
          <p:cNvPr id="6" name="TextBox 5"/>
          <p:cNvSpPr txBox="1"/>
          <p:nvPr/>
        </p:nvSpPr>
        <p:spPr>
          <a:xfrm>
            <a:off x="457200" y="1143000"/>
            <a:ext cx="4846320" cy="3566160"/>
          </a:xfrm>
          <a:prstGeom prst="rect">
            <a:avLst/>
          </a:prstGeom>
          <a:noFill/>
        </p:spPr>
        <p:txBody>
          <a:bodyPr wrap="square" anchor="t" lIns="0" rIns="0" tIns="0" bIns="0">
            <a:spAutoFit/>
          </a:bodyPr>
          <a:lstStyle/>
          <a:p>
            <a:pPr algn="l">
              <a:spcAft>
                <a:spcPts val="500"/>
              </a:spcAft>
            </a:pPr>
            <a:r>
              <a:rPr sz="1150" b="1" i="0">
                <a:solidFill>
                  <a:srgbClr val="1B2A55"/>
                </a:solidFill>
                <a:latin typeface="Inter"/>
              </a:rPr>
              <a:t>•  </a:t>
            </a:r>
            <a:r>
              <a:rPr sz="1150" b="1" i="0">
                <a:solidFill>
                  <a:srgbClr val="1B2A55"/>
                </a:solidFill>
                <a:latin typeface="Inter"/>
              </a:rPr>
              <a:t>Collection:</a:t>
            </a:r>
            <a:r>
              <a:rPr sz="1150" b="0" i="0">
                <a:solidFill>
                  <a:srgbClr val="353B4A"/>
                </a:solidFill>
                <a:latin typeface="Inter"/>
              </a:rPr>
              <a:t> each block is one document in polyvote.ledger.</a:t>
            </a:r>
          </a:p>
          <a:p>
            <a:pPr algn="l">
              <a:spcAft>
                <a:spcPts val="500"/>
              </a:spcAft>
            </a:pPr>
            <a:r>
              <a:rPr sz="1150" b="1" i="0">
                <a:solidFill>
                  <a:srgbClr val="1B2A55"/>
                </a:solidFill>
                <a:latin typeface="Inter"/>
              </a:rPr>
              <a:t>•  </a:t>
            </a:r>
            <a:r>
              <a:rPr sz="1150" b="1" i="0">
                <a:solidFill>
                  <a:srgbClr val="1B2A55"/>
                </a:solidFill>
                <a:latin typeface="Inter"/>
              </a:rPr>
              <a:t>Unique index on block index:</a:t>
            </a:r>
            <a:r>
              <a:rPr sz="1150" b="0" i="0">
                <a:solidFill>
                  <a:srgbClr val="353B4A"/>
                </a:solidFill>
                <a:latin typeface="Inter"/>
              </a:rPr>
              <a:t> two writers cannot both claim the next slot, so the chain cannot fork.</a:t>
            </a:r>
          </a:p>
          <a:p>
            <a:pPr algn="l">
              <a:spcAft>
                <a:spcPts val="500"/>
              </a:spcAft>
            </a:pPr>
            <a:r>
              <a:rPr sz="1150" b="1" i="0">
                <a:solidFill>
                  <a:srgbClr val="1B2A55"/>
                </a:solidFill>
                <a:latin typeface="Inter"/>
              </a:rPr>
              <a:t>•  </a:t>
            </a:r>
            <a:r>
              <a:rPr sz="1150" b="1" i="0">
                <a:solidFill>
                  <a:srgbClr val="1B2A55"/>
                </a:solidFill>
                <a:latin typeface="Inter"/>
              </a:rPr>
              <a:t>Append cost:</a:t>
            </a:r>
            <a:r>
              <a:rPr sz="1150" b="0" i="0">
                <a:solidFill>
                  <a:srgbClr val="353B4A"/>
                </a:solidFill>
                <a:latin typeface="Inter"/>
              </a:rPr>
              <a:t> reads only the last block and inserts one document, so it does not grow with the chain.</a:t>
            </a:r>
          </a:p>
          <a:p>
            <a:pPr algn="l">
              <a:spcAft>
                <a:spcPts val="500"/>
              </a:spcAft>
            </a:pPr>
            <a:r>
              <a:rPr sz="1150" b="1" i="0">
                <a:solidFill>
                  <a:srgbClr val="1B2A55"/>
                </a:solidFill>
                <a:latin typeface="Inter"/>
              </a:rPr>
              <a:t>•  </a:t>
            </a:r>
            <a:r>
              <a:rPr sz="1150" b="1" i="0">
                <a:solidFill>
                  <a:srgbClr val="1B2A55"/>
                </a:solidFill>
                <a:latin typeface="Inter"/>
              </a:rPr>
              <a:t>Fallback:</a:t>
            </a:r>
            <a:r>
              <a:rPr sz="1150" b="0" i="0">
                <a:solidFill>
                  <a:srgbClr val="353B4A"/>
                </a:solidFill>
                <a:latin typeface="Inter"/>
              </a:rPr>
              <a:t> no connection string, or Atlas unreachable, and it uses the local file; /api/health shows which.</a:t>
            </a:r>
          </a:p>
          <a:p>
            <a:pPr algn="l">
              <a:spcAft>
                <a:spcPts val="500"/>
              </a:spcAft>
            </a:pPr>
            <a:r>
              <a:rPr sz="1150" b="1" i="0">
                <a:solidFill>
                  <a:srgbClr val="1B2A55"/>
                </a:solidFill>
                <a:latin typeface="Inter"/>
              </a:rPr>
              <a:t>•  </a:t>
            </a:r>
            <a:r>
              <a:rPr sz="1150" b="1" i="0">
                <a:solidFill>
                  <a:srgbClr val="1B2A55"/>
                </a:solidFill>
                <a:latin typeface="Inter"/>
              </a:rPr>
              <a:t>Migration:</a:t>
            </a:r>
            <a:r>
              <a:rPr sz="1150" b="0" i="0">
                <a:solidFill>
                  <a:srgbClr val="353B4A"/>
                </a:solidFill>
                <a:latin typeface="Inter"/>
              </a:rPr>
              <a:t> a script copies the old blocks and verifies the chain; it refuses to overwrite a non-empty collection.</a:t>
            </a:r>
          </a:p>
          <a:p>
            <a:pPr algn="l">
              <a:spcAft>
                <a:spcPts val="500"/>
              </a:spcAft>
            </a:pPr>
            <a:r>
              <a:rPr sz="1150" b="1" i="0">
                <a:solidFill>
                  <a:srgbClr val="1B2A55"/>
                </a:solidFill>
                <a:latin typeface="Inter"/>
              </a:rPr>
              <a:t>•  </a:t>
            </a:r>
            <a:r>
              <a:rPr sz="1150" b="1" i="0">
                <a:solidFill>
                  <a:srgbClr val="1B2A55"/>
                </a:solidFill>
                <a:latin typeface="Inter"/>
              </a:rPr>
              <a:t>Secrets:</a:t>
            </a:r>
            <a:r>
              <a:rPr sz="1150" b="0" i="0">
                <a:solidFill>
                  <a:srgbClr val="353B4A"/>
                </a:solidFill>
                <a:latin typeface="Inter"/>
              </a:rPr>
              <a:t> the connection string lives in .env, never in the code or the repository.</a:t>
            </a:r>
          </a:p>
        </p:txBody>
      </p:sp>
      <p:sp>
        <p:nvSpPr>
          <p:cNvPr id="7" name="Rounded Rectangle 6"/>
          <p:cNvSpPr/>
          <p:nvPr/>
        </p:nvSpPr>
        <p:spPr>
          <a:xfrm>
            <a:off x="5577840" y="1188720"/>
            <a:ext cx="3108960" cy="33832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760720" y="1280160"/>
            <a:ext cx="2743200" cy="274320"/>
          </a:xfrm>
          <a:prstGeom prst="rect">
            <a:avLst/>
          </a:prstGeom>
          <a:noFill/>
        </p:spPr>
        <p:txBody>
          <a:bodyPr wrap="square" anchor="t" lIns="0" rIns="0" tIns="0" bIns="0">
            <a:spAutoFit/>
          </a:bodyPr>
          <a:lstStyle/>
          <a:p>
            <a:pPr algn="l">
              <a:spcAft>
                <a:spcPts val="0"/>
              </a:spcAft>
            </a:pPr>
            <a:r>
              <a:rPr sz="1200" b="1" i="0">
                <a:solidFill>
                  <a:srgbClr val="1B2A55"/>
                </a:solidFill>
                <a:latin typeface="Inter"/>
              </a:rPr>
              <a:t>Live health check</a:t>
            </a:r>
          </a:p>
        </p:txBody>
      </p:sp>
      <p:sp>
        <p:nvSpPr>
          <p:cNvPr id="9" name="TextBox 8"/>
          <p:cNvSpPr txBox="1"/>
          <p:nvPr/>
        </p:nvSpPr>
        <p:spPr>
          <a:xfrm>
            <a:off x="5760720" y="1645920"/>
            <a:ext cx="2743200" cy="914400"/>
          </a:xfrm>
          <a:prstGeom prst="rect">
            <a:avLst/>
          </a:prstGeom>
          <a:noFill/>
        </p:spPr>
        <p:txBody>
          <a:bodyPr wrap="square" anchor="t" lIns="0" rIns="0" tIns="0" bIns="0">
            <a:spAutoFit/>
          </a:bodyPr>
          <a:lstStyle/>
          <a:p>
            <a:pPr algn="l">
              <a:spcAft>
                <a:spcPts val="0"/>
              </a:spcAft>
            </a:pPr>
            <a:r>
              <a:rPr sz="900" b="0" i="0">
                <a:solidFill>
                  <a:srgbClr val="353B4A"/>
                </a:solidFill>
                <a:latin typeface="Consolas"/>
              </a:rPr>
              <a:t>{"backend":"mongodb",</a:t>
            </a:r>
          </a:p>
          <a:p>
            <a:pPr algn="l">
              <a:spcAft>
                <a:spcPts val="0"/>
              </a:spcAft>
            </a:pPr>
            <a:r>
              <a:rPr sz="900" b="0" i="0">
                <a:solidFill>
                  <a:srgbClr val="353B4A"/>
                </a:solidFill>
                <a:latin typeface="Consolas"/>
              </a:rPr>
              <a:t> "detail":"mongodb</a:t>
            </a:r>
          </a:p>
          <a:p>
            <a:pPr algn="l">
              <a:spcAft>
                <a:spcPts val="0"/>
              </a:spcAft>
            </a:pPr>
            <a:r>
              <a:rPr sz="900" b="0" i="0">
                <a:solidFill>
                  <a:srgbClr val="353B4A"/>
                </a:solidFill>
                <a:latin typeface="Consolas"/>
              </a:rPr>
              <a:t>   (polyvote.ledger)",</a:t>
            </a:r>
          </a:p>
          <a:p>
            <a:pPr algn="l">
              <a:spcAft>
                <a:spcPts val="0"/>
              </a:spcAft>
            </a:pPr>
            <a:r>
              <a:rPr sz="900" b="0" i="0">
                <a:solidFill>
                  <a:srgbClr val="353B4A"/>
                </a:solidFill>
                <a:latin typeface="Consolas"/>
              </a:rPr>
              <a:t> "sealing":"hmac-sha256"}</a:t>
            </a:r>
          </a:p>
        </p:txBody>
      </p:sp>
      <p:sp>
        <p:nvSpPr>
          <p:cNvPr id="10" name="TextBox 9"/>
          <p:cNvSpPr txBox="1"/>
          <p:nvPr/>
        </p:nvSpPr>
        <p:spPr>
          <a:xfrm>
            <a:off x="5760720" y="2743200"/>
            <a:ext cx="2743200" cy="1737360"/>
          </a:xfrm>
          <a:prstGeom prst="rect">
            <a:avLst/>
          </a:prstGeom>
          <a:noFill/>
        </p:spPr>
        <p:txBody>
          <a:bodyPr wrap="square" anchor="t" lIns="0" rIns="0" tIns="0" bIns="0">
            <a:spAutoFit/>
          </a:bodyPr>
          <a:lstStyle/>
          <a:p>
            <a:pPr algn="l">
              <a:spcAft>
                <a:spcPts val="0"/>
              </a:spcAft>
            </a:pPr>
            <a:r>
              <a:rPr sz="1100" b="0" i="0">
                <a:solidFill>
                  <a:srgbClr val="353B4A"/>
                </a:solidFill>
                <a:latin typeface="Inter"/>
              </a:rPr>
              <a:t>Editing any block in Atlas (for example a vote_data_hash) makes the Audit ledger page show "Data tampered at block 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EMAIL ONE-TIME CODE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 correct password no longer opens a ballot on its own</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29</a:t>
            </a:r>
          </a:p>
        </p:txBody>
      </p:sp>
      <p:pic>
        <p:nvPicPr>
          <p:cNvPr id="6" name="Picture 5" descr="otp_sequence.png"/>
          <p:cNvPicPr>
            <a:picLocks noChangeAspect="1"/>
          </p:cNvPicPr>
          <p:nvPr/>
        </p:nvPicPr>
        <p:blipFill>
          <a:blip r:embed="rId2"/>
          <a:stretch>
            <a:fillRect/>
          </a:stretch>
        </p:blipFill>
        <p:spPr>
          <a:xfrm>
            <a:off x="1905609" y="1051560"/>
            <a:ext cx="5332780" cy="370332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THE VOTER EXPERIENCE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Sign in, confirm by code, rank, and keep a receipt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30</a:t>
            </a:r>
          </a:p>
        </p:txBody>
      </p:sp>
      <p:pic>
        <p:nvPicPr>
          <p:cNvPr id="6" name="Picture 5" descr="voter_signin_qr.png"/>
          <p:cNvPicPr>
            <a:picLocks noChangeAspect="1"/>
          </p:cNvPicPr>
          <p:nvPr/>
        </p:nvPicPr>
        <p:blipFill>
          <a:blip r:embed="rId2"/>
          <a:stretch>
            <a:fillRect/>
          </a:stretch>
        </p:blipFill>
        <p:spPr>
          <a:xfrm>
            <a:off x="411480" y="1315508"/>
            <a:ext cx="1965960" cy="2672502"/>
          </a:xfrm>
          <a:prstGeom prst="rect">
            <a:avLst/>
          </a:prstGeom>
          <a:ln w="12700">
            <a:solidFill>
              <a:srgbClr val="D9D9E4"/>
            </a:solidFill>
          </a:ln>
        </p:spPr>
      </p:pic>
      <p:sp>
        <p:nvSpPr>
          <p:cNvPr id="7" name="TextBox 6"/>
          <p:cNvSpPr txBox="1"/>
          <p:nvPr/>
        </p:nvSpPr>
        <p:spPr>
          <a:xfrm>
            <a:off x="411480" y="4224528"/>
            <a:ext cx="1965960" cy="365760"/>
          </a:xfrm>
          <a:prstGeom prst="rect">
            <a:avLst/>
          </a:prstGeom>
          <a:noFill/>
        </p:spPr>
        <p:txBody>
          <a:bodyPr wrap="square" anchor="t" lIns="0" rIns="0" tIns="0" bIns="0">
            <a:spAutoFit/>
          </a:bodyPr>
          <a:lstStyle/>
          <a:p>
            <a:pPr algn="ctr">
              <a:spcAft>
                <a:spcPts val="0"/>
              </a:spcAft>
            </a:pPr>
            <a:r>
              <a:rPr sz="1000" b="1" i="0">
                <a:solidFill>
                  <a:srgbClr val="1B2A55"/>
                </a:solidFill>
                <a:latin typeface="Inter"/>
              </a:rPr>
              <a:t>1  Sign in (QR for phones)</a:t>
            </a:r>
          </a:p>
        </p:txBody>
      </p:sp>
      <p:pic>
        <p:nvPicPr>
          <p:cNvPr id="8" name="Picture 7" descr="voter_otp.png"/>
          <p:cNvPicPr>
            <a:picLocks noChangeAspect="1"/>
          </p:cNvPicPr>
          <p:nvPr/>
        </p:nvPicPr>
        <p:blipFill>
          <a:blip r:embed="rId3"/>
          <a:stretch>
            <a:fillRect/>
          </a:stretch>
        </p:blipFill>
        <p:spPr>
          <a:xfrm>
            <a:off x="2496312" y="1666274"/>
            <a:ext cx="1965960" cy="1970970"/>
          </a:xfrm>
          <a:prstGeom prst="rect">
            <a:avLst/>
          </a:prstGeom>
          <a:ln w="12700">
            <a:solidFill>
              <a:srgbClr val="D9D9E4"/>
            </a:solidFill>
          </a:ln>
        </p:spPr>
      </p:pic>
      <p:sp>
        <p:nvSpPr>
          <p:cNvPr id="9" name="TextBox 8"/>
          <p:cNvSpPr txBox="1"/>
          <p:nvPr/>
        </p:nvSpPr>
        <p:spPr>
          <a:xfrm>
            <a:off x="2496312" y="4224528"/>
            <a:ext cx="1965960" cy="365760"/>
          </a:xfrm>
          <a:prstGeom prst="rect">
            <a:avLst/>
          </a:prstGeom>
          <a:noFill/>
        </p:spPr>
        <p:txBody>
          <a:bodyPr wrap="square" anchor="t" lIns="0" rIns="0" tIns="0" bIns="0">
            <a:spAutoFit/>
          </a:bodyPr>
          <a:lstStyle/>
          <a:p>
            <a:pPr algn="ctr">
              <a:spcAft>
                <a:spcPts val="0"/>
              </a:spcAft>
            </a:pPr>
            <a:r>
              <a:rPr sz="1000" b="1" i="0">
                <a:solidFill>
                  <a:srgbClr val="1B2A55"/>
                </a:solidFill>
                <a:latin typeface="Inter"/>
              </a:rPr>
              <a:t>2  Enter the emailed code</a:t>
            </a:r>
          </a:p>
        </p:txBody>
      </p:sp>
      <p:pic>
        <p:nvPicPr>
          <p:cNvPr id="10" name="Picture 9" descr="voter_ballot_desktop.png"/>
          <p:cNvPicPr>
            <a:picLocks noChangeAspect="1"/>
          </p:cNvPicPr>
          <p:nvPr/>
        </p:nvPicPr>
        <p:blipFill>
          <a:blip r:embed="rId4"/>
          <a:stretch>
            <a:fillRect/>
          </a:stretch>
        </p:blipFill>
        <p:spPr>
          <a:xfrm>
            <a:off x="4581144" y="2167949"/>
            <a:ext cx="1965960" cy="967620"/>
          </a:xfrm>
          <a:prstGeom prst="rect">
            <a:avLst/>
          </a:prstGeom>
          <a:ln w="12700">
            <a:solidFill>
              <a:srgbClr val="D9D9E4"/>
            </a:solidFill>
          </a:ln>
        </p:spPr>
      </p:pic>
      <p:sp>
        <p:nvSpPr>
          <p:cNvPr id="11" name="TextBox 10"/>
          <p:cNvSpPr txBox="1"/>
          <p:nvPr/>
        </p:nvSpPr>
        <p:spPr>
          <a:xfrm>
            <a:off x="4581144" y="4224528"/>
            <a:ext cx="1965960" cy="365760"/>
          </a:xfrm>
          <a:prstGeom prst="rect">
            <a:avLst/>
          </a:prstGeom>
          <a:noFill/>
        </p:spPr>
        <p:txBody>
          <a:bodyPr wrap="square" anchor="t" lIns="0" rIns="0" tIns="0" bIns="0">
            <a:spAutoFit/>
          </a:bodyPr>
          <a:lstStyle/>
          <a:p>
            <a:pPr algn="ctr">
              <a:spcAft>
                <a:spcPts val="0"/>
              </a:spcAft>
            </a:pPr>
            <a:r>
              <a:rPr sz="1000" b="1" i="0">
                <a:solidFill>
                  <a:srgbClr val="1B2A55"/>
                </a:solidFill>
                <a:latin typeface="Inter"/>
              </a:rPr>
              <a:t>3  Rank three choices</a:t>
            </a:r>
          </a:p>
        </p:txBody>
      </p:sp>
      <p:pic>
        <p:nvPicPr>
          <p:cNvPr id="12" name="Picture 11" descr="voter_receipt.png"/>
          <p:cNvPicPr>
            <a:picLocks noChangeAspect="1"/>
          </p:cNvPicPr>
          <p:nvPr/>
        </p:nvPicPr>
        <p:blipFill>
          <a:blip r:embed="rId5"/>
          <a:stretch>
            <a:fillRect/>
          </a:stretch>
        </p:blipFill>
        <p:spPr>
          <a:xfrm>
            <a:off x="6665976" y="1749790"/>
            <a:ext cx="1965960" cy="1803939"/>
          </a:xfrm>
          <a:prstGeom prst="rect">
            <a:avLst/>
          </a:prstGeom>
          <a:ln w="12700">
            <a:solidFill>
              <a:srgbClr val="D9D9E4"/>
            </a:solidFill>
          </a:ln>
        </p:spPr>
      </p:pic>
      <p:sp>
        <p:nvSpPr>
          <p:cNvPr id="13" name="TextBox 12"/>
          <p:cNvSpPr txBox="1"/>
          <p:nvPr/>
        </p:nvSpPr>
        <p:spPr>
          <a:xfrm>
            <a:off x="6665976" y="4224528"/>
            <a:ext cx="1965960" cy="365760"/>
          </a:xfrm>
          <a:prstGeom prst="rect">
            <a:avLst/>
          </a:prstGeom>
          <a:noFill/>
        </p:spPr>
        <p:txBody>
          <a:bodyPr wrap="square" anchor="t" lIns="0" rIns="0" tIns="0" bIns="0">
            <a:spAutoFit/>
          </a:bodyPr>
          <a:lstStyle/>
          <a:p>
            <a:pPr algn="ctr">
              <a:spcAft>
                <a:spcPts val="0"/>
              </a:spcAft>
            </a:pPr>
            <a:r>
              <a:rPr sz="1000" b="1" i="0">
                <a:solidFill>
                  <a:srgbClr val="1B2A55"/>
                </a:solidFill>
                <a:latin typeface="Inter"/>
              </a:rPr>
              <a:t>4  Receipt token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PHONE VOTING AND HOSTING</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Phone voting, a public link, and an honest account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31</a:t>
            </a:r>
          </a:p>
        </p:txBody>
      </p:sp>
      <p:pic>
        <p:nvPicPr>
          <p:cNvPr id="6" name="Picture 5" descr="voter_signin_mobile.png"/>
          <p:cNvPicPr>
            <a:picLocks noChangeAspect="1"/>
          </p:cNvPicPr>
          <p:nvPr/>
        </p:nvPicPr>
        <p:blipFill>
          <a:blip r:embed="rId2"/>
          <a:stretch>
            <a:fillRect/>
          </a:stretch>
        </p:blipFill>
        <p:spPr>
          <a:xfrm>
            <a:off x="457200" y="1547446"/>
            <a:ext cx="1554480" cy="2391507"/>
          </a:xfrm>
          <a:prstGeom prst="rect">
            <a:avLst/>
          </a:prstGeom>
          <a:ln w="12700">
            <a:solidFill>
              <a:srgbClr val="D9D9E4"/>
            </a:solidFill>
          </a:ln>
        </p:spPr>
      </p:pic>
      <p:pic>
        <p:nvPicPr>
          <p:cNvPr id="7" name="Picture 6" descr="voter_ballot_mobile.png"/>
          <p:cNvPicPr>
            <a:picLocks noChangeAspect="1"/>
          </p:cNvPicPr>
          <p:nvPr/>
        </p:nvPicPr>
        <p:blipFill>
          <a:blip r:embed="rId3"/>
          <a:stretch>
            <a:fillRect/>
          </a:stretch>
        </p:blipFill>
        <p:spPr>
          <a:xfrm>
            <a:off x="2119804" y="1097280"/>
            <a:ext cx="1521110" cy="3291839"/>
          </a:xfrm>
          <a:prstGeom prst="rect">
            <a:avLst/>
          </a:prstGeom>
          <a:ln w="12700">
            <a:solidFill>
              <a:srgbClr val="D9D9E4"/>
            </a:solidFill>
          </a:ln>
        </p:spPr>
      </p:pic>
      <p:sp>
        <p:nvSpPr>
          <p:cNvPr id="8" name="TextBox 7"/>
          <p:cNvSpPr txBox="1"/>
          <p:nvPr/>
        </p:nvSpPr>
        <p:spPr>
          <a:xfrm>
            <a:off x="3931920" y="1188720"/>
            <a:ext cx="4754880" cy="3474720"/>
          </a:xfrm>
          <a:prstGeom prst="rect">
            <a:avLst/>
          </a:prstGeom>
          <a:noFill/>
        </p:spPr>
        <p:txBody>
          <a:bodyPr wrap="square" anchor="t" lIns="0" rIns="0" tIns="0" bIns="0">
            <a:spAutoFit/>
          </a:bodyPr>
          <a:lstStyle/>
          <a:p>
            <a:pPr algn="l">
              <a:spcAft>
                <a:spcPts val="500"/>
              </a:spcAft>
            </a:pPr>
            <a:r>
              <a:rPr sz="1150" b="1" i="0">
                <a:solidFill>
                  <a:srgbClr val="1B2A55"/>
                </a:solidFill>
                <a:latin typeface="Inter"/>
              </a:rPr>
              <a:t>•  </a:t>
            </a:r>
            <a:r>
              <a:rPr sz="1150" b="1" i="0">
                <a:solidFill>
                  <a:srgbClr val="1B2A55"/>
                </a:solidFill>
                <a:latin typeface="Inter"/>
              </a:rPr>
              <a:t>How:</a:t>
            </a:r>
            <a:r>
              <a:rPr sz="1150" b="0" i="0">
                <a:solidFill>
                  <a:srgbClr val="353B4A"/>
                </a:solidFill>
                <a:latin typeface="Inter"/>
              </a:rPr>
              <a:t> a Cloudflare quick tunnel gives a temporary public HTTPS address; the vote page shows a QR code for it.</a:t>
            </a:r>
          </a:p>
          <a:p>
            <a:pPr algn="l">
              <a:spcAft>
                <a:spcPts val="500"/>
              </a:spcAft>
            </a:pPr>
            <a:r>
              <a:rPr sz="1150" b="1" i="0">
                <a:solidFill>
                  <a:srgbClr val="1B2A55"/>
                </a:solidFill>
                <a:latin typeface="Inter"/>
              </a:rPr>
              <a:t>•  </a:t>
            </a:r>
            <a:r>
              <a:rPr sz="1150" b="1" i="0">
                <a:solidFill>
                  <a:srgbClr val="1B2A55"/>
                </a:solidFill>
                <a:latin typeface="Inter"/>
              </a:rPr>
              <a:t>Works from any network;</a:t>
            </a:r>
            <a:r>
              <a:rPr sz="1150" b="0" i="0">
                <a:solidFill>
                  <a:srgbClr val="353B4A"/>
                </a:solidFill>
                <a:latin typeface="Inter"/>
              </a:rPr>
              <a:t> tested casting a real ballot from a phone.</a:t>
            </a:r>
          </a:p>
          <a:p>
            <a:pPr algn="l">
              <a:spcAft>
                <a:spcPts val="500"/>
              </a:spcAft>
            </a:pPr>
            <a:r>
              <a:rPr sz="1150" b="1" i="0">
                <a:solidFill>
                  <a:srgbClr val="1B2A55"/>
                </a:solidFill>
                <a:latin typeface="Inter"/>
              </a:rPr>
              <a:t>•  </a:t>
            </a:r>
            <a:r>
              <a:rPr sz="1150" b="1" i="0">
                <a:solidFill>
                  <a:srgbClr val="1B2A55"/>
                </a:solidFill>
                <a:latin typeface="Inter"/>
              </a:rPr>
              <a:t>What it is not:</a:t>
            </a:r>
            <a:r>
              <a:rPr sz="1150" b="0" i="0">
                <a:solidFill>
                  <a:srgbClr val="353B4A"/>
                </a:solidFill>
                <a:latin typeface="Inter"/>
              </a:rPr>
              <a:t> cloud deployment. The laptop must stay on, and the address changes when the tunnel restarts.</a:t>
            </a:r>
          </a:p>
          <a:p>
            <a:pPr algn="l">
              <a:spcAft>
                <a:spcPts val="500"/>
              </a:spcAft>
            </a:pPr>
            <a:r>
              <a:rPr sz="1150" b="1" i="0">
                <a:solidFill>
                  <a:srgbClr val="1B2A55"/>
                </a:solidFill>
                <a:latin typeface="Inter"/>
              </a:rPr>
              <a:t>•  </a:t>
            </a:r>
            <a:r>
              <a:rPr sz="1150" b="1" i="0">
                <a:solidFill>
                  <a:srgbClr val="1B2A55"/>
                </a:solidFill>
                <a:latin typeface="Inter"/>
              </a:rPr>
              <a:t>Why we say so:</a:t>
            </a:r>
            <a:r>
              <a:rPr sz="1150" b="0" i="0">
                <a:solidFill>
                  <a:srgbClr val="353B4A"/>
                </a:solidFill>
                <a:latin typeface="Inter"/>
              </a:rPr>
              <a:t> a true cloud platform with Oracle is the next step.</a:t>
            </a:r>
          </a:p>
          <a:p>
            <a:pPr algn="l">
              <a:spcAft>
                <a:spcPts val="500"/>
              </a:spcAft>
            </a:pPr>
            <a:r>
              <a:rPr sz="1150" b="1" i="0">
                <a:solidFill>
                  <a:srgbClr val="1B2A55"/>
                </a:solidFill>
                <a:latin typeface="Inter"/>
              </a:rPr>
              <a:t>•  </a:t>
            </a:r>
            <a:r>
              <a:rPr sz="1150" b="1" i="0">
                <a:solidFill>
                  <a:srgbClr val="1B2A55"/>
                </a:solidFill>
                <a:latin typeface="Inter"/>
              </a:rPr>
              <a:t>Safe by default:</a:t>
            </a:r>
            <a:r>
              <a:rPr sz="1150" b="0" i="0">
                <a:solidFill>
                  <a:srgbClr val="353B4A"/>
                </a:solidFill>
                <a:latin typeface="Inter"/>
              </a:rPr>
              <a:t> secrets stay in .env; the repository holds only .env.example.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LIVE DEMO · SAMPLE POLYVOTE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The same system with email verification switched on</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32</a:t>
            </a:r>
          </a:p>
        </p:txBody>
      </p:sp>
      <p:sp>
        <p:nvSpPr>
          <p:cNvPr id="6" name="Rounded Rectangle 5"/>
          <p:cNvSpPr/>
          <p:nvPr/>
        </p:nvSpPr>
        <p:spPr>
          <a:xfrm>
            <a:off x="457200" y="114300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25272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1</a:t>
            </a:r>
          </a:p>
        </p:txBody>
      </p:sp>
      <p:sp>
        <p:nvSpPr>
          <p:cNvPr id="8" name="TextBox 7"/>
          <p:cNvSpPr txBox="1"/>
          <p:nvPr/>
        </p:nvSpPr>
        <p:spPr>
          <a:xfrm>
            <a:off x="594360" y="160020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Admin</a:t>
            </a:r>
          </a:p>
        </p:txBody>
      </p:sp>
      <p:sp>
        <p:nvSpPr>
          <p:cNvPr id="9" name="TextBox 8"/>
          <p:cNvSpPr txBox="1"/>
          <p:nvPr/>
        </p:nvSpPr>
        <p:spPr>
          <a:xfrm>
            <a:off x="594360" y="192024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Voters have emails; Mail outbox open</a:t>
            </a:r>
          </a:p>
        </p:txBody>
      </p:sp>
      <p:sp>
        <p:nvSpPr>
          <p:cNvPr id="10" name="Rounded Rectangle 9"/>
          <p:cNvSpPr/>
          <p:nvPr/>
        </p:nvSpPr>
        <p:spPr>
          <a:xfrm>
            <a:off x="2532888" y="114300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670048" y="125272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2</a:t>
            </a:r>
          </a:p>
        </p:txBody>
      </p:sp>
      <p:sp>
        <p:nvSpPr>
          <p:cNvPr id="12" name="TextBox 11"/>
          <p:cNvSpPr txBox="1"/>
          <p:nvPr/>
        </p:nvSpPr>
        <p:spPr>
          <a:xfrm>
            <a:off x="2670048" y="160020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Sign in</a:t>
            </a:r>
          </a:p>
        </p:txBody>
      </p:sp>
      <p:sp>
        <p:nvSpPr>
          <p:cNvPr id="13" name="TextBox 12"/>
          <p:cNvSpPr txBox="1"/>
          <p:nvPr/>
        </p:nvSpPr>
        <p:spPr>
          <a:xfrm>
            <a:off x="2670048" y="192024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Password right, still no ballot</a:t>
            </a:r>
          </a:p>
        </p:txBody>
      </p:sp>
      <p:sp>
        <p:nvSpPr>
          <p:cNvPr id="14" name="Rounded Rectangle 13"/>
          <p:cNvSpPr/>
          <p:nvPr/>
        </p:nvSpPr>
        <p:spPr>
          <a:xfrm>
            <a:off x="4608576" y="114300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45736" y="125272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3</a:t>
            </a:r>
          </a:p>
        </p:txBody>
      </p:sp>
      <p:sp>
        <p:nvSpPr>
          <p:cNvPr id="16" name="TextBox 15"/>
          <p:cNvSpPr txBox="1"/>
          <p:nvPr/>
        </p:nvSpPr>
        <p:spPr>
          <a:xfrm>
            <a:off x="4745736" y="160020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Code</a:t>
            </a:r>
          </a:p>
        </p:txBody>
      </p:sp>
      <p:sp>
        <p:nvSpPr>
          <p:cNvPr id="17" name="TextBox 16"/>
          <p:cNvSpPr txBox="1"/>
          <p:nvPr/>
        </p:nvSpPr>
        <p:spPr>
          <a:xfrm>
            <a:off x="4745736" y="192024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Read it from the outbox or inbox</a:t>
            </a:r>
          </a:p>
        </p:txBody>
      </p:sp>
      <p:sp>
        <p:nvSpPr>
          <p:cNvPr id="18" name="Rounded Rectangle 17"/>
          <p:cNvSpPr/>
          <p:nvPr/>
        </p:nvSpPr>
        <p:spPr>
          <a:xfrm>
            <a:off x="6684264" y="114300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821424" y="125272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4</a:t>
            </a:r>
          </a:p>
        </p:txBody>
      </p:sp>
      <p:sp>
        <p:nvSpPr>
          <p:cNvPr id="20" name="TextBox 19"/>
          <p:cNvSpPr txBox="1"/>
          <p:nvPr/>
        </p:nvSpPr>
        <p:spPr>
          <a:xfrm>
            <a:off x="6821424" y="160020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Vote</a:t>
            </a:r>
          </a:p>
        </p:txBody>
      </p:sp>
      <p:sp>
        <p:nvSpPr>
          <p:cNvPr id="21" name="TextBox 20"/>
          <p:cNvSpPr txBox="1"/>
          <p:nvPr/>
        </p:nvSpPr>
        <p:spPr>
          <a:xfrm>
            <a:off x="6821424" y="192024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Rank, cast, get the receipt</a:t>
            </a:r>
          </a:p>
        </p:txBody>
      </p:sp>
      <p:sp>
        <p:nvSpPr>
          <p:cNvPr id="22" name="Rounded Rectangle 21"/>
          <p:cNvSpPr/>
          <p:nvPr/>
        </p:nvSpPr>
        <p:spPr>
          <a:xfrm>
            <a:off x="457200" y="269748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280720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5</a:t>
            </a:r>
          </a:p>
        </p:txBody>
      </p:sp>
      <p:sp>
        <p:nvSpPr>
          <p:cNvPr id="24" name="TextBox 23"/>
          <p:cNvSpPr txBox="1"/>
          <p:nvPr/>
        </p:nvSpPr>
        <p:spPr>
          <a:xfrm>
            <a:off x="594360" y="315468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Seal</a:t>
            </a:r>
          </a:p>
        </p:txBody>
      </p:sp>
      <p:sp>
        <p:nvSpPr>
          <p:cNvPr id="25" name="TextBox 24"/>
          <p:cNvSpPr txBox="1"/>
          <p:nvPr/>
        </p:nvSpPr>
        <p:spPr>
          <a:xfrm>
            <a:off x="594360" y="347472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Receipt check; new block in Atlas</a:t>
            </a:r>
          </a:p>
        </p:txBody>
      </p:sp>
      <p:sp>
        <p:nvSpPr>
          <p:cNvPr id="26" name="Rounded Rectangle 25"/>
          <p:cNvSpPr/>
          <p:nvPr/>
        </p:nvSpPr>
        <p:spPr>
          <a:xfrm>
            <a:off x="2532888" y="269748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2670048" y="280720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6</a:t>
            </a:r>
          </a:p>
        </p:txBody>
      </p:sp>
      <p:sp>
        <p:nvSpPr>
          <p:cNvPr id="28" name="TextBox 27"/>
          <p:cNvSpPr txBox="1"/>
          <p:nvPr/>
        </p:nvSpPr>
        <p:spPr>
          <a:xfrm>
            <a:off x="2670048" y="315468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Tamper</a:t>
            </a:r>
          </a:p>
        </p:txBody>
      </p:sp>
      <p:sp>
        <p:nvSpPr>
          <p:cNvPr id="29" name="TextBox 28"/>
          <p:cNvSpPr txBox="1"/>
          <p:nvPr/>
        </p:nvSpPr>
        <p:spPr>
          <a:xfrm>
            <a:off x="2670048" y="347472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DB Studio edit; sweep names it</a:t>
            </a:r>
          </a:p>
        </p:txBody>
      </p:sp>
      <p:sp>
        <p:nvSpPr>
          <p:cNvPr id="30" name="Rounded Rectangle 29"/>
          <p:cNvSpPr/>
          <p:nvPr/>
        </p:nvSpPr>
        <p:spPr>
          <a:xfrm>
            <a:off x="4608576" y="269748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45736" y="280720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7</a:t>
            </a:r>
          </a:p>
        </p:txBody>
      </p:sp>
      <p:sp>
        <p:nvSpPr>
          <p:cNvPr id="32" name="TextBox 31"/>
          <p:cNvSpPr txBox="1"/>
          <p:nvPr/>
        </p:nvSpPr>
        <p:spPr>
          <a:xfrm>
            <a:off x="4745736" y="315468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Ledger</a:t>
            </a:r>
          </a:p>
        </p:txBody>
      </p:sp>
      <p:sp>
        <p:nvSpPr>
          <p:cNvPr id="33" name="TextBox 32"/>
          <p:cNvSpPr txBox="1"/>
          <p:nvPr/>
        </p:nvSpPr>
        <p:spPr>
          <a:xfrm>
            <a:off x="4745736" y="347472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Edit a block in Atlas; chain breaks</a:t>
            </a:r>
          </a:p>
        </p:txBody>
      </p:sp>
      <p:sp>
        <p:nvSpPr>
          <p:cNvPr id="34" name="Rounded Rectangle 33"/>
          <p:cNvSpPr/>
          <p:nvPr/>
        </p:nvSpPr>
        <p:spPr>
          <a:xfrm>
            <a:off x="6675120" y="2697480"/>
            <a:ext cx="1920240" cy="137160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12280" y="2788920"/>
            <a:ext cx="1691640" cy="1234440"/>
          </a:xfrm>
          <a:prstGeom prst="rect">
            <a:avLst/>
          </a:prstGeom>
          <a:noFill/>
        </p:spPr>
        <p:txBody>
          <a:bodyPr wrap="square" anchor="t" lIns="0" rIns="0" tIns="0" bIns="0">
            <a:spAutoFit/>
          </a:bodyPr>
          <a:lstStyle/>
          <a:p>
            <a:pPr algn="l">
              <a:spcAft>
                <a:spcPts val="300"/>
              </a:spcAft>
            </a:pPr>
            <a:r>
              <a:rPr sz="1100" b="1" i="0">
                <a:solidFill>
                  <a:srgbClr val="1B2A55"/>
                </a:solidFill>
                <a:latin typeface="Inter"/>
              </a:rPr>
              <a:t>Safety net</a:t>
            </a:r>
          </a:p>
          <a:p>
            <a:pPr algn="l">
              <a:spcAft>
                <a:spcPts val="300"/>
              </a:spcAft>
            </a:pPr>
            <a:r>
              <a:rPr sz="1000" b="0" i="0">
                <a:solidFill>
                  <a:srgbClr val="353B4A"/>
                </a:solidFill>
                <a:latin typeface="Inter"/>
              </a:rPr>
              <a:t>Every code also appears in the outbox, so a slow email cannot stall the demo.</a:t>
            </a:r>
          </a:p>
        </p:txBody>
      </p:sp>
      <p:sp>
        <p:nvSpPr>
          <p:cNvPr id="36" name="TextBox 35"/>
          <p:cNvSpPr txBox="1"/>
          <p:nvPr/>
        </p:nvSpPr>
        <p:spPr>
          <a:xfrm>
            <a:off x="457200" y="4389120"/>
            <a:ext cx="8229600" cy="365760"/>
          </a:xfrm>
          <a:prstGeom prst="rect">
            <a:avLst/>
          </a:prstGeom>
          <a:noFill/>
        </p:spPr>
        <p:txBody>
          <a:bodyPr wrap="square" anchor="t" lIns="0" rIns="0" tIns="0" bIns="0">
            <a:spAutoFit/>
          </a:bodyPr>
          <a:lstStyle/>
          <a:p>
            <a:pPr algn="l">
              <a:spcAft>
                <a:spcPts val="0"/>
              </a:spcAft>
            </a:pPr>
            <a:r>
              <a:rPr sz="1050" b="0" i="1">
                <a:solidFill>
                  <a:srgbClr val="666A78"/>
                </a:solidFill>
                <a:latin typeface="Inter"/>
              </a:rPr>
              <a:t>Separate copy: its own database, its own Atlas collection, port 8001; START_DEMO resets it in about 20 seconds.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HOW WE EVALUATED</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47 executable scenarios, old design versus final</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33</a:t>
            </a:r>
          </a:p>
        </p:txBody>
      </p:sp>
      <p:sp>
        <p:nvSpPr>
          <p:cNvPr id="6" name="Rounded Rectangle 5"/>
          <p:cNvSpPr/>
          <p:nvPr/>
        </p:nvSpPr>
        <p:spPr>
          <a:xfrm>
            <a:off x="457200" y="1143000"/>
            <a:ext cx="1536192" cy="173736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234440"/>
            <a:ext cx="1371600" cy="548640"/>
          </a:xfrm>
          <a:prstGeom prst="rect">
            <a:avLst/>
          </a:prstGeom>
          <a:noFill/>
        </p:spPr>
        <p:txBody>
          <a:bodyPr wrap="square" anchor="t" lIns="0" rIns="0" tIns="0" bIns="0">
            <a:spAutoFit/>
          </a:bodyPr>
          <a:lstStyle/>
          <a:p>
            <a:pPr algn="l">
              <a:spcAft>
                <a:spcPts val="0"/>
              </a:spcAft>
            </a:pPr>
            <a:r>
              <a:rPr sz="3000" b="1" i="0">
                <a:solidFill>
                  <a:srgbClr val="1B2A55"/>
                </a:solidFill>
                <a:latin typeface="Inter"/>
              </a:rPr>
              <a:t>7</a:t>
            </a:r>
          </a:p>
        </p:txBody>
      </p:sp>
      <p:sp>
        <p:nvSpPr>
          <p:cNvPr id="8" name="TextBox 7"/>
          <p:cNvSpPr txBox="1"/>
          <p:nvPr/>
        </p:nvSpPr>
        <p:spPr>
          <a:xfrm>
            <a:off x="548640" y="1810512"/>
            <a:ext cx="1371600" cy="27432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DB prevention</a:t>
            </a:r>
          </a:p>
        </p:txBody>
      </p:sp>
      <p:sp>
        <p:nvSpPr>
          <p:cNvPr id="9" name="TextBox 8"/>
          <p:cNvSpPr txBox="1"/>
          <p:nvPr/>
        </p:nvSpPr>
        <p:spPr>
          <a:xfrm>
            <a:off x="548640" y="2103120"/>
            <a:ext cx="137160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Statements the schema should reject</a:t>
            </a:r>
          </a:p>
        </p:txBody>
      </p:sp>
      <p:sp>
        <p:nvSpPr>
          <p:cNvPr id="10" name="Rounded Rectangle 9"/>
          <p:cNvSpPr/>
          <p:nvPr/>
        </p:nvSpPr>
        <p:spPr>
          <a:xfrm>
            <a:off x="2121408" y="1143000"/>
            <a:ext cx="1536192" cy="173736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12848" y="1234440"/>
            <a:ext cx="1371600" cy="548640"/>
          </a:xfrm>
          <a:prstGeom prst="rect">
            <a:avLst/>
          </a:prstGeom>
          <a:noFill/>
        </p:spPr>
        <p:txBody>
          <a:bodyPr wrap="square" anchor="t" lIns="0" rIns="0" tIns="0" bIns="0">
            <a:spAutoFit/>
          </a:bodyPr>
          <a:lstStyle/>
          <a:p>
            <a:pPr algn="l">
              <a:spcAft>
                <a:spcPts val="0"/>
              </a:spcAft>
            </a:pPr>
            <a:r>
              <a:rPr sz="3000" b="1" i="0">
                <a:solidFill>
                  <a:srgbClr val="1B2A55"/>
                </a:solidFill>
                <a:latin typeface="Inter"/>
              </a:rPr>
              <a:t>13</a:t>
            </a:r>
          </a:p>
        </p:txBody>
      </p:sp>
      <p:sp>
        <p:nvSpPr>
          <p:cNvPr id="12" name="TextBox 11"/>
          <p:cNvSpPr txBox="1"/>
          <p:nvPr/>
        </p:nvSpPr>
        <p:spPr>
          <a:xfrm>
            <a:off x="2212848" y="1810512"/>
            <a:ext cx="1371600" cy="27432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API abuse</a:t>
            </a:r>
          </a:p>
        </p:txBody>
      </p:sp>
      <p:sp>
        <p:nvSpPr>
          <p:cNvPr id="13" name="TextBox 12"/>
          <p:cNvSpPr txBox="1"/>
          <p:nvPr/>
        </p:nvSpPr>
        <p:spPr>
          <a:xfrm>
            <a:off x="2212848" y="2103120"/>
            <a:ext cx="137160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Wrong password, injection, replay, races</a:t>
            </a:r>
          </a:p>
        </p:txBody>
      </p:sp>
      <p:sp>
        <p:nvSpPr>
          <p:cNvPr id="14" name="Rounded Rectangle 13"/>
          <p:cNvSpPr/>
          <p:nvPr/>
        </p:nvSpPr>
        <p:spPr>
          <a:xfrm>
            <a:off x="3785616" y="1143000"/>
            <a:ext cx="1536192" cy="173736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77056" y="1234440"/>
            <a:ext cx="1371600" cy="548640"/>
          </a:xfrm>
          <a:prstGeom prst="rect">
            <a:avLst/>
          </a:prstGeom>
          <a:noFill/>
        </p:spPr>
        <p:txBody>
          <a:bodyPr wrap="square" anchor="t" lIns="0" rIns="0" tIns="0" bIns="0">
            <a:spAutoFit/>
          </a:bodyPr>
          <a:lstStyle/>
          <a:p>
            <a:pPr algn="l">
              <a:spcAft>
                <a:spcPts val="0"/>
              </a:spcAft>
            </a:pPr>
            <a:r>
              <a:rPr sz="3000" b="1" i="0">
                <a:solidFill>
                  <a:srgbClr val="1B2A55"/>
                </a:solidFill>
                <a:latin typeface="Inter"/>
              </a:rPr>
              <a:t>13</a:t>
            </a:r>
          </a:p>
        </p:txBody>
      </p:sp>
      <p:sp>
        <p:nvSpPr>
          <p:cNvPr id="16" name="TextBox 15"/>
          <p:cNvSpPr txBox="1"/>
          <p:nvPr/>
        </p:nvSpPr>
        <p:spPr>
          <a:xfrm>
            <a:off x="3877056" y="1810512"/>
            <a:ext cx="1371600" cy="27432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Tampering</a:t>
            </a:r>
          </a:p>
        </p:txBody>
      </p:sp>
      <p:sp>
        <p:nvSpPr>
          <p:cNvPr id="17" name="TextBox 16"/>
          <p:cNvSpPr txBox="1"/>
          <p:nvPr/>
        </p:nvSpPr>
        <p:spPr>
          <a:xfrm>
            <a:off x="3877056" y="2103120"/>
            <a:ext cx="137160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Edits by someone with storage access</a:t>
            </a:r>
          </a:p>
        </p:txBody>
      </p:sp>
      <p:sp>
        <p:nvSpPr>
          <p:cNvPr id="18" name="Rounded Rectangle 17"/>
          <p:cNvSpPr/>
          <p:nvPr/>
        </p:nvSpPr>
        <p:spPr>
          <a:xfrm>
            <a:off x="5449824" y="1143000"/>
            <a:ext cx="1536192" cy="173736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541264" y="1234440"/>
            <a:ext cx="1371600" cy="548640"/>
          </a:xfrm>
          <a:prstGeom prst="rect">
            <a:avLst/>
          </a:prstGeom>
          <a:noFill/>
        </p:spPr>
        <p:txBody>
          <a:bodyPr wrap="square" anchor="t" lIns="0" rIns="0" tIns="0" bIns="0">
            <a:spAutoFit/>
          </a:bodyPr>
          <a:lstStyle/>
          <a:p>
            <a:pPr algn="l">
              <a:spcAft>
                <a:spcPts val="0"/>
              </a:spcAft>
            </a:pPr>
            <a:r>
              <a:rPr sz="3000" b="1" i="0">
                <a:solidFill>
                  <a:srgbClr val="1B2A55"/>
                </a:solidFill>
                <a:latin typeface="Inter"/>
              </a:rPr>
              <a:t>14</a:t>
            </a:r>
          </a:p>
        </p:txBody>
      </p:sp>
      <p:sp>
        <p:nvSpPr>
          <p:cNvPr id="20" name="TextBox 19"/>
          <p:cNvSpPr txBox="1"/>
          <p:nvPr/>
        </p:nvSpPr>
        <p:spPr>
          <a:xfrm>
            <a:off x="5541264" y="1810512"/>
            <a:ext cx="1371600" cy="27432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One-time code</a:t>
            </a:r>
          </a:p>
        </p:txBody>
      </p:sp>
      <p:sp>
        <p:nvSpPr>
          <p:cNvPr id="21" name="TextBox 20"/>
          <p:cNvSpPr txBox="1"/>
          <p:nvPr/>
        </p:nvSpPr>
        <p:spPr>
          <a:xfrm>
            <a:off x="5541264" y="2103120"/>
            <a:ext cx="137160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Replay, expiry, limits, failure</a:t>
            </a:r>
          </a:p>
        </p:txBody>
      </p:sp>
      <p:sp>
        <p:nvSpPr>
          <p:cNvPr id="22" name="Rounded Rectangle 21"/>
          <p:cNvSpPr/>
          <p:nvPr/>
        </p:nvSpPr>
        <p:spPr>
          <a:xfrm>
            <a:off x="7114032" y="1143000"/>
            <a:ext cx="1536192" cy="173736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05472" y="1234440"/>
            <a:ext cx="1371600" cy="548640"/>
          </a:xfrm>
          <a:prstGeom prst="rect">
            <a:avLst/>
          </a:prstGeom>
          <a:noFill/>
        </p:spPr>
        <p:txBody>
          <a:bodyPr wrap="square" anchor="t" lIns="0" rIns="0" tIns="0" bIns="0">
            <a:spAutoFit/>
          </a:bodyPr>
          <a:lstStyle/>
          <a:p>
            <a:pPr algn="l">
              <a:spcAft>
                <a:spcPts val="0"/>
              </a:spcAft>
            </a:pPr>
            <a:r>
              <a:rPr sz="3000" b="1" i="0">
                <a:solidFill>
                  <a:srgbClr val="1B2A55"/>
                </a:solidFill>
                <a:latin typeface="Inter"/>
              </a:rPr>
              <a:t>3</a:t>
            </a:r>
          </a:p>
        </p:txBody>
      </p:sp>
      <p:sp>
        <p:nvSpPr>
          <p:cNvPr id="24" name="TextBox 23"/>
          <p:cNvSpPr txBox="1"/>
          <p:nvPr/>
        </p:nvSpPr>
        <p:spPr>
          <a:xfrm>
            <a:off x="7205472" y="1810512"/>
            <a:ext cx="1371600" cy="27432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Benchmark sizes</a:t>
            </a:r>
          </a:p>
        </p:txBody>
      </p:sp>
      <p:sp>
        <p:nvSpPr>
          <p:cNvPr id="25" name="TextBox 24"/>
          <p:cNvSpPr txBox="1"/>
          <p:nvPr/>
        </p:nvSpPr>
        <p:spPr>
          <a:xfrm>
            <a:off x="7205472" y="2103120"/>
            <a:ext cx="137160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100, 1,000, 10,000 ballots</a:t>
            </a:r>
          </a:p>
        </p:txBody>
      </p:sp>
      <p:sp>
        <p:nvSpPr>
          <p:cNvPr id="26" name="TextBox 25"/>
          <p:cNvSpPr txBox="1"/>
          <p:nvPr/>
        </p:nvSpPr>
        <p:spPr>
          <a:xfrm>
            <a:off x="457200" y="3108960"/>
            <a:ext cx="8229600" cy="1645920"/>
          </a:xfrm>
          <a:prstGeom prst="rect">
            <a:avLst/>
          </a:prstGeom>
          <a:noFill/>
        </p:spPr>
        <p:txBody>
          <a:bodyPr wrap="square" anchor="t" lIns="0" rIns="0" tIns="0" bIns="0">
            <a:spAutoFit/>
          </a:bodyPr>
          <a:lstStyle/>
          <a:p>
            <a:pPr algn="l">
              <a:spcAft>
                <a:spcPts val="500"/>
              </a:spcAft>
            </a:pPr>
            <a:r>
              <a:rPr sz="1150" b="1" i="0">
                <a:solidFill>
                  <a:srgbClr val="1B2A55"/>
                </a:solidFill>
                <a:latin typeface="Inter"/>
              </a:rPr>
              <a:t>•  </a:t>
            </a:r>
            <a:r>
              <a:rPr sz="1150" b="0" i="0">
                <a:solidFill>
                  <a:srgbClr val="353B4A"/>
                </a:solidFill>
                <a:latin typeface="Inter"/>
              </a:rPr>
              <a:t>A throwaway copy of the app is driven through the real API; a "rogue administrator" edits the database and ledger files directly.</a:t>
            </a:r>
          </a:p>
          <a:p>
            <a:pPr algn="l">
              <a:spcAft>
                <a:spcPts val="500"/>
              </a:spcAft>
            </a:pPr>
            <a:r>
              <a:rPr sz="1150" b="1" i="0">
                <a:solidFill>
                  <a:srgbClr val="1B2A55"/>
                </a:solidFill>
                <a:latin typeface="Inter"/>
              </a:rPr>
              <a:t>•  </a:t>
            </a:r>
            <a:r>
              <a:rPr sz="1150" b="0" i="0">
                <a:solidFill>
                  <a:srgbClr val="353B4A"/>
                </a:solidFill>
                <a:latin typeface="Inter"/>
              </a:rPr>
              <a:t>Baseline: the Review 2 design, checked out and run unchanged. Attacker scripts never receive the ledger key.</a:t>
            </a:r>
          </a:p>
          <a:p>
            <a:pPr algn="l">
              <a:spcAft>
                <a:spcPts val="500"/>
              </a:spcAft>
            </a:pPr>
            <a:r>
              <a:rPr sz="1150" b="1" i="0">
                <a:solidFill>
                  <a:srgbClr val="1B2A55"/>
                </a:solidFill>
                <a:latin typeface="Inter"/>
              </a:rPr>
              <a:t>•  </a:t>
            </a:r>
            <a:r>
              <a:rPr sz="1150" b="0" i="0">
                <a:solidFill>
                  <a:srgbClr val="353B4A"/>
                </a:solidFill>
                <a:latin typeface="Inter"/>
              </a:rPr>
              <a:t>Outcome per attack: detected by the sweep or chain, visible only in counters, or not detected. Benchmarks are medians of three runs.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PREVENTION RESULTS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Prevention results: one gap taught us something</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34</a:t>
            </a:r>
          </a:p>
        </p:txBody>
      </p:sp>
      <p:graphicFrame>
        <p:nvGraphicFramePr>
          <p:cNvPr id="6" name="Table 5"/>
          <p:cNvGraphicFramePr>
            <a:graphicFrameLocks noGrp="1"/>
          </p:cNvGraphicFramePr>
          <p:nvPr/>
        </p:nvGraphicFramePr>
        <p:xfrm>
          <a:off x="457200" y="1097280"/>
          <a:ext cx="8229599" cy="2734056"/>
        </p:xfrm>
        <a:graphic>
          <a:graphicData uri="http://schemas.openxmlformats.org/drawingml/2006/table">
            <a:tbl>
              <a:tblPr firstRow="1" bandRow="1">
                <a:tableStyleId>{5C22544A-7EE6-4342-B048-85BDC9FD1C3A}</a:tableStyleId>
              </a:tblPr>
              <a:tblGrid>
                <a:gridCol w="4206240"/>
                <a:gridCol w="2377440"/>
                <a:gridCol w="1645919"/>
              </a:tblGrid>
              <a:tr h="365760">
                <a:tc>
                  <a:txBody>
                    <a:bodyPr wrap="square"/>
                    <a:lstStyle/>
                    <a:p>
                      <a:r>
                        <a:rPr sz="1000" b="1" i="0">
                          <a:solidFill>
                            <a:srgbClr val="FFFFFF"/>
                          </a:solidFill>
                          <a:latin typeface="Inter"/>
                        </a:rPr>
                        <a:t>Attempt</a:t>
                      </a:r>
                    </a:p>
                  </a:txBody>
                  <a:tcPr marL="73152" marR="73152" marT="36576" marB="36576" anchor="ctr">
                    <a:solidFill>
                      <a:srgbClr val="1B2A55"/>
                    </a:solidFill>
                  </a:tcPr>
                </a:tc>
                <a:tc>
                  <a:txBody>
                    <a:bodyPr wrap="square"/>
                    <a:lstStyle/>
                    <a:p>
                      <a:r>
                        <a:rPr sz="1000" b="1" i="0">
                          <a:solidFill>
                            <a:srgbClr val="FFFFFF"/>
                          </a:solidFill>
                          <a:latin typeface="Inter"/>
                        </a:rPr>
                        <a:t>Stopped by</a:t>
                      </a:r>
                    </a:p>
                  </a:txBody>
                  <a:tcPr marL="73152" marR="73152" marT="36576" marB="36576" anchor="ctr">
                    <a:solidFill>
                      <a:srgbClr val="1B2A55"/>
                    </a:solidFill>
                  </a:tcPr>
                </a:tc>
                <a:tc>
                  <a:txBody>
                    <a:bodyPr wrap="square"/>
                    <a:lstStyle/>
                    <a:p>
                      <a:r>
                        <a:rPr sz="1000" b="1" i="0">
                          <a:solidFill>
                            <a:srgbClr val="FFFFFF"/>
                          </a:solidFill>
                          <a:latin typeface="Inter"/>
                        </a:rPr>
                        <a:t>Result</a:t>
                      </a:r>
                    </a:p>
                  </a:txBody>
                  <a:tcPr marL="73152" marR="73152" marT="36576" marB="36576" anchor="ctr">
                    <a:solidFill>
                      <a:srgbClr val="1B2A55"/>
                    </a:solidFill>
                  </a:tcPr>
                </a:tc>
              </a:tr>
              <a:tr h="338328">
                <a:tc>
                  <a:txBody>
                    <a:bodyPr wrap="square"/>
                    <a:lstStyle/>
                    <a:p>
                      <a:r>
                        <a:rPr sz="1050" b="1" i="0">
                          <a:solidFill>
                            <a:srgbClr val="1B2A55"/>
                          </a:solidFill>
                          <a:latin typeface="Inter"/>
                        </a:rPr>
                        <a:t>Second vote by the same voter</a:t>
                      </a:r>
                    </a:p>
                  </a:txBody>
                  <a:tcPr marL="73152" marR="73152" marT="36576" marB="36576" anchor="ctr">
                    <a:solidFill>
                      <a:srgbClr val="FFFFFF"/>
                    </a:solidFill>
                  </a:tcPr>
                </a:tc>
                <a:tc>
                  <a:txBody>
                    <a:bodyPr wrap="square"/>
                    <a:lstStyle/>
                    <a:p>
                      <a:r>
                        <a:rPr sz="1050" b="0" i="0">
                          <a:solidFill>
                            <a:srgbClr val="353B4A"/>
                          </a:solidFill>
                          <a:latin typeface="Inter"/>
                        </a:rPr>
                        <a:t>Trigger</a:t>
                      </a:r>
                    </a:p>
                  </a:txBody>
                  <a:tcPr marL="73152" marR="73152" marT="36576" marB="36576" anchor="ctr">
                    <a:solidFill>
                      <a:srgbClr val="FFFFFF"/>
                    </a:solidFill>
                  </a:tcPr>
                </a:tc>
                <a:tc>
                  <a:txBody>
                    <a:bodyPr wrap="square"/>
                    <a:lstStyle/>
                    <a:p>
                      <a:r>
                        <a:rPr sz="1050" b="0" i="0">
                          <a:solidFill>
                            <a:srgbClr val="353B4A"/>
                          </a:solidFill>
                          <a:latin typeface="Inter"/>
                        </a:rPr>
                        <a:t>Prevented</a:t>
                      </a:r>
                    </a:p>
                  </a:txBody>
                  <a:tcPr marL="73152" marR="73152" marT="36576" marB="36576" anchor="ctr">
                    <a:solidFill>
                      <a:srgbClr val="FFFFFF"/>
                    </a:solidFill>
                  </a:tcPr>
                </a:tc>
              </a:tr>
              <a:tr h="338328">
                <a:tc>
                  <a:txBody>
                    <a:bodyPr wrap="square"/>
                    <a:lstStyle/>
                    <a:p>
                      <a:r>
                        <a:rPr sz="1050" b="1" i="0">
                          <a:solidFill>
                            <a:srgbClr val="1B2A55"/>
                          </a:solidFill>
                          <a:latin typeface="Inter"/>
                        </a:rPr>
                        <a:t>Rank 4 on a 1–3 ballot</a:t>
                      </a:r>
                    </a:p>
                  </a:txBody>
                  <a:tcPr marL="73152" marR="73152" marT="36576" marB="36576" anchor="ctr">
                    <a:solidFill>
                      <a:srgbClr val="F1F0F6"/>
                    </a:solidFill>
                  </a:tcPr>
                </a:tc>
                <a:tc>
                  <a:txBody>
                    <a:bodyPr wrap="square"/>
                    <a:lstStyle/>
                    <a:p>
                      <a:r>
                        <a:rPr sz="1050" b="0" i="0">
                          <a:solidFill>
                            <a:srgbClr val="353B4A"/>
                          </a:solidFill>
                          <a:latin typeface="Inter"/>
                        </a:rPr>
                        <a:t>CHECK</a:t>
                      </a:r>
                    </a:p>
                  </a:txBody>
                  <a:tcPr marL="73152" marR="73152" marT="36576" marB="36576" anchor="ctr">
                    <a:solidFill>
                      <a:srgbClr val="F1F0F6"/>
                    </a:solidFill>
                  </a:tcPr>
                </a:tc>
                <a:tc>
                  <a:txBody>
                    <a:bodyPr wrap="square"/>
                    <a:lstStyle/>
                    <a:p>
                      <a:r>
                        <a:rPr sz="1050" b="0" i="0">
                          <a:solidFill>
                            <a:srgbClr val="353B4A"/>
                          </a:solidFill>
                          <a:latin typeface="Inter"/>
                        </a:rPr>
                        <a:t>Prevented</a:t>
                      </a:r>
                    </a:p>
                  </a:txBody>
                  <a:tcPr marL="73152" marR="73152" marT="36576" marB="36576" anchor="ctr">
                    <a:solidFill>
                      <a:srgbClr val="F1F0F6"/>
                    </a:solidFill>
                  </a:tcPr>
                </a:tc>
              </a:tr>
              <a:tr h="338328">
                <a:tc>
                  <a:txBody>
                    <a:bodyPr wrap="square"/>
                    <a:lstStyle/>
                    <a:p>
                      <a:r>
                        <a:rPr sz="1050" b="1" i="0">
                          <a:solidFill>
                            <a:srgbClr val="1B2A55"/>
                          </a:solidFill>
                          <a:latin typeface="Inter"/>
                        </a:rPr>
                        <a:t>Same candidate ranked twice</a:t>
                      </a:r>
                    </a:p>
                  </a:txBody>
                  <a:tcPr marL="73152" marR="73152" marT="36576" marB="36576" anchor="ctr">
                    <a:solidFill>
                      <a:srgbClr val="FFFFFF"/>
                    </a:solidFill>
                  </a:tcPr>
                </a:tc>
                <a:tc>
                  <a:txBody>
                    <a:bodyPr wrap="square"/>
                    <a:lstStyle/>
                    <a:p>
                      <a:r>
                        <a:rPr sz="1050" b="0" i="0">
                          <a:solidFill>
                            <a:srgbClr val="353B4A"/>
                          </a:solidFill>
                          <a:latin typeface="Inter"/>
                        </a:rPr>
                        <a:t>Composite key</a:t>
                      </a:r>
                    </a:p>
                  </a:txBody>
                  <a:tcPr marL="73152" marR="73152" marT="36576" marB="36576" anchor="ctr">
                    <a:solidFill>
                      <a:srgbClr val="FFFFFF"/>
                    </a:solidFill>
                  </a:tcPr>
                </a:tc>
                <a:tc>
                  <a:txBody>
                    <a:bodyPr wrap="square"/>
                    <a:lstStyle/>
                    <a:p>
                      <a:r>
                        <a:rPr sz="1050" b="0" i="0">
                          <a:solidFill>
                            <a:srgbClr val="353B4A"/>
                          </a:solidFill>
                          <a:latin typeface="Inter"/>
                        </a:rPr>
                        <a:t>Prevented</a:t>
                      </a:r>
                    </a:p>
                  </a:txBody>
                  <a:tcPr marL="73152" marR="73152" marT="36576" marB="36576" anchor="ctr">
                    <a:solidFill>
                      <a:srgbClr val="FFFFFF"/>
                    </a:solidFill>
                  </a:tcPr>
                </a:tc>
              </a:tr>
              <a:tr h="338328">
                <a:tc>
                  <a:txBody>
                    <a:bodyPr wrap="square"/>
                    <a:lstStyle/>
                    <a:p>
                      <a:r>
                        <a:rPr sz="1050" b="1" i="0">
                          <a:solidFill>
                            <a:srgbClr val="1B2A55"/>
                          </a:solidFill>
                          <a:latin typeface="Inter"/>
                        </a:rPr>
                        <a:t>Duplicate roster entry</a:t>
                      </a:r>
                    </a:p>
                  </a:txBody>
                  <a:tcPr marL="73152" marR="73152" marT="36576" marB="36576" anchor="ctr">
                    <a:solidFill>
                      <a:srgbClr val="F1F0F6"/>
                    </a:solidFill>
                  </a:tcPr>
                </a:tc>
                <a:tc>
                  <a:txBody>
                    <a:bodyPr wrap="square"/>
                    <a:lstStyle/>
                    <a:p>
                      <a:r>
                        <a:rPr sz="1050" b="0" i="0">
                          <a:solidFill>
                            <a:srgbClr val="353B4A"/>
                          </a:solidFill>
                          <a:latin typeface="Inter"/>
                        </a:rPr>
                        <a:t>UNIQUE</a:t>
                      </a:r>
                    </a:p>
                  </a:txBody>
                  <a:tcPr marL="73152" marR="73152" marT="36576" marB="36576" anchor="ctr">
                    <a:solidFill>
                      <a:srgbClr val="F1F0F6"/>
                    </a:solidFill>
                  </a:tcPr>
                </a:tc>
                <a:tc>
                  <a:txBody>
                    <a:bodyPr wrap="square"/>
                    <a:lstStyle/>
                    <a:p>
                      <a:r>
                        <a:rPr sz="1050" b="0" i="0">
                          <a:solidFill>
                            <a:srgbClr val="353B4A"/>
                          </a:solidFill>
                          <a:latin typeface="Inter"/>
                        </a:rPr>
                        <a:t>Prevented</a:t>
                      </a:r>
                    </a:p>
                  </a:txBody>
                  <a:tcPr marL="73152" marR="73152" marT="36576" marB="36576" anchor="ctr">
                    <a:solidFill>
                      <a:srgbClr val="F1F0F6"/>
                    </a:solidFill>
                  </a:tcPr>
                </a:tc>
              </a:tr>
              <a:tr h="338328">
                <a:tc>
                  <a:txBody>
                    <a:bodyPr wrap="square"/>
                    <a:lstStyle/>
                    <a:p>
                      <a:r>
                        <a:rPr sz="1050" b="1" i="0">
                          <a:solidFill>
                            <a:srgbClr val="1B2A55"/>
                          </a:solidFill>
                          <a:latin typeface="Inter"/>
                        </a:rPr>
                        <a:t>Wrong password, SQL injection, replayed session</a:t>
                      </a:r>
                    </a:p>
                  </a:txBody>
                  <a:tcPr marL="73152" marR="73152" marT="36576" marB="36576" anchor="ctr">
                    <a:solidFill>
                      <a:srgbClr val="FFFFFF"/>
                    </a:solidFill>
                  </a:tcPr>
                </a:tc>
                <a:tc>
                  <a:txBody>
                    <a:bodyPr wrap="square"/>
                    <a:lstStyle/>
                    <a:p>
                      <a:r>
                        <a:rPr sz="1050" b="0" i="0">
                          <a:solidFill>
                            <a:srgbClr val="353B4A"/>
                          </a:solidFill>
                          <a:latin typeface="Inter"/>
                        </a:rPr>
                        <a:t>API</a:t>
                      </a:r>
                    </a:p>
                  </a:txBody>
                  <a:tcPr marL="73152" marR="73152" marT="36576" marB="36576" anchor="ctr">
                    <a:solidFill>
                      <a:srgbClr val="FFFFFF"/>
                    </a:solidFill>
                  </a:tcPr>
                </a:tc>
                <a:tc>
                  <a:txBody>
                    <a:bodyPr wrap="square"/>
                    <a:lstStyle/>
                    <a:p>
                      <a:r>
                        <a:rPr sz="1050" b="0" i="0">
                          <a:solidFill>
                            <a:srgbClr val="353B4A"/>
                          </a:solidFill>
                          <a:latin typeface="Inter"/>
                        </a:rPr>
                        <a:t>Prevented</a:t>
                      </a:r>
                    </a:p>
                  </a:txBody>
                  <a:tcPr marL="73152" marR="73152" marT="36576" marB="36576" anchor="ctr">
                    <a:solidFill>
                      <a:srgbClr val="FFFFFF"/>
                    </a:solidFill>
                  </a:tcPr>
                </a:tc>
              </a:tr>
              <a:tr h="338328">
                <a:tc>
                  <a:txBody>
                    <a:bodyPr wrap="square"/>
                    <a:lstStyle/>
                    <a:p>
                      <a:r>
                        <a:rPr sz="1050" b="1" i="0">
                          <a:solidFill>
                            <a:srgbClr val="1B2A55"/>
                          </a:solidFill>
                          <a:latin typeface="Inter"/>
                        </a:rPr>
                        <a:t>20 simultaneous casts by one voter</a:t>
                      </a:r>
                    </a:p>
                  </a:txBody>
                  <a:tcPr marL="73152" marR="73152" marT="36576" marB="36576" anchor="ctr">
                    <a:solidFill>
                      <a:srgbClr val="F1F0F6"/>
                    </a:solidFill>
                  </a:tcPr>
                </a:tc>
                <a:tc>
                  <a:txBody>
                    <a:bodyPr wrap="square"/>
                    <a:lstStyle/>
                    <a:p>
                      <a:r>
                        <a:rPr sz="1050" b="0" i="0">
                          <a:solidFill>
                            <a:srgbClr val="353B4A"/>
                          </a:solidFill>
                          <a:latin typeface="Inter"/>
                        </a:rPr>
                        <a:t>Lock + transaction</a:t>
                      </a:r>
                    </a:p>
                  </a:txBody>
                  <a:tcPr marL="73152" marR="73152" marT="36576" marB="36576" anchor="ctr">
                    <a:solidFill>
                      <a:srgbClr val="F1F0F6"/>
                    </a:solidFill>
                  </a:tcPr>
                </a:tc>
                <a:tc>
                  <a:txBody>
                    <a:bodyPr wrap="square"/>
                    <a:lstStyle/>
                    <a:p>
                      <a:r>
                        <a:rPr sz="1050" b="0" i="0">
                          <a:solidFill>
                            <a:srgbClr val="353B4A"/>
                          </a:solidFill>
                          <a:latin typeface="Inter"/>
                        </a:rPr>
                        <a:t>Exactly one accepted</a:t>
                      </a:r>
                    </a:p>
                  </a:txBody>
                  <a:tcPr marL="73152" marR="73152" marT="36576" marB="36576" anchor="ctr">
                    <a:solidFill>
                      <a:srgbClr val="F1F0F6"/>
                    </a:solidFill>
                  </a:tcPr>
                </a:tc>
              </a:tr>
              <a:tr h="338328">
                <a:tc>
                  <a:txBody>
                    <a:bodyPr wrap="square"/>
                    <a:lstStyle/>
                    <a:p>
                      <a:r>
                        <a:rPr sz="1050" b="1" i="0">
                          <a:solidFill>
                            <a:srgbClr val="1B2A55"/>
                          </a:solidFill>
                          <a:latin typeface="Inter"/>
                        </a:rPr>
                        <a:t>Nonexistent candidate from a default console</a:t>
                      </a:r>
                    </a:p>
                  </a:txBody>
                  <a:tcPr marL="73152" marR="73152" marT="36576" marB="36576" anchor="ctr">
                    <a:solidFill>
                      <a:srgbClr val="FFFFFF"/>
                    </a:solidFill>
                  </a:tcPr>
                </a:tc>
                <a:tc>
                  <a:txBody>
                    <a:bodyPr wrap="square"/>
                    <a:lstStyle/>
                    <a:p>
                      <a:r>
                        <a:rPr sz="1050" b="0" i="0">
                          <a:solidFill>
                            <a:srgbClr val="353B4A"/>
                          </a:solidFill>
                          <a:latin typeface="Inter"/>
                        </a:rPr>
                        <a:t>FK (off by default in SQLite)</a:t>
                      </a:r>
                    </a:p>
                  </a:txBody>
                  <a:tcPr marL="73152" marR="73152" marT="36576" marB="36576" anchor="ctr">
                    <a:solidFill>
                      <a:srgbClr val="FFFFFF"/>
                    </a:solidFill>
                  </a:tcPr>
                </a:tc>
                <a:tc>
                  <a:txBody>
                    <a:bodyPr wrap="square"/>
                    <a:lstStyle/>
                    <a:p>
                      <a:r>
                        <a:rPr sz="1050" b="0" i="0">
                          <a:solidFill>
                            <a:srgbClr val="353B4A"/>
                          </a:solidFill>
                          <a:latin typeface="Inter"/>
                        </a:rPr>
                        <a:t>Not prevented</a:t>
                      </a:r>
                    </a:p>
                  </a:txBody>
                  <a:tcPr marL="73152" marR="73152" marT="36576" marB="36576" anchor="ctr">
                    <a:solidFill>
                      <a:srgbClr val="FFFFFF"/>
                    </a:solidFill>
                  </a:tcPr>
                </a:tc>
              </a:tr>
            </a:tbl>
          </a:graphicData>
        </a:graphic>
      </p:graphicFrame>
      <p:sp>
        <p:nvSpPr>
          <p:cNvPr id="7" name="TextBox 6"/>
          <p:cNvSpPr txBox="1"/>
          <p:nvPr/>
        </p:nvSpPr>
        <p:spPr>
          <a:xfrm>
            <a:off x="457200" y="4160520"/>
            <a:ext cx="8229600" cy="640080"/>
          </a:xfrm>
          <a:prstGeom prst="rect">
            <a:avLst/>
          </a:prstGeom>
          <a:noFill/>
        </p:spPr>
        <p:txBody>
          <a:bodyPr wrap="square" anchor="t" lIns="0" rIns="0" tIns="0" bIns="0">
            <a:spAutoFit/>
          </a:bodyPr>
          <a:lstStyle/>
          <a:p>
            <a:pPr algn="l">
              <a:spcAft>
                <a:spcPts val="0"/>
              </a:spcAft>
            </a:pPr>
            <a:r>
              <a:rPr sz="1100" b="1" i="0">
                <a:solidFill>
                  <a:srgbClr val="C0392B"/>
                </a:solidFill>
                <a:latin typeface="Inter"/>
              </a:rPr>
              <a:t>The gap: </a:t>
            </a:r>
            <a:r>
              <a:rPr sz="1100" b="0" i="0">
                <a:solidFill>
                  <a:srgbClr val="353B4A"/>
                </a:solidFill>
                <a:latin typeface="Inter"/>
              </a:rPr>
              <a:t>SQLite enforces foreign keys only on connections that enable it. The application does; a console with default settings does not. A server database removes this, which is part of the Oracle move.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TAMPERING RESULTS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Automatic detection rises from 6 of 13 to 12 of 13</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35</a:t>
            </a:r>
          </a:p>
        </p:txBody>
      </p:sp>
      <p:pic>
        <p:nvPicPr>
          <p:cNvPr id="6" name="Picture 5" descr="detection.png"/>
          <p:cNvPicPr>
            <a:picLocks noChangeAspect="1"/>
          </p:cNvPicPr>
          <p:nvPr/>
        </p:nvPicPr>
        <p:blipFill>
          <a:blip r:embed="rId2"/>
          <a:stretch>
            <a:fillRect/>
          </a:stretch>
        </p:blipFill>
        <p:spPr>
          <a:xfrm>
            <a:off x="1470073" y="1097280"/>
            <a:ext cx="6203852" cy="2240280"/>
          </a:xfrm>
          <a:prstGeom prst="rect">
            <a:avLst/>
          </a:prstGeom>
        </p:spPr>
      </p:pic>
      <p:sp>
        <p:nvSpPr>
          <p:cNvPr id="7" name="Rounded Rectangle 6"/>
          <p:cNvSpPr/>
          <p:nvPr/>
        </p:nvSpPr>
        <p:spPr>
          <a:xfrm>
            <a:off x="457200" y="3520440"/>
            <a:ext cx="2587752" cy="10972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3566160"/>
            <a:ext cx="1188720" cy="731520"/>
          </a:xfrm>
          <a:prstGeom prst="rect">
            <a:avLst/>
          </a:prstGeom>
          <a:noFill/>
        </p:spPr>
        <p:txBody>
          <a:bodyPr wrap="square" anchor="ctr" lIns="0" rIns="0" tIns="0" bIns="0">
            <a:spAutoFit/>
          </a:bodyPr>
          <a:lstStyle/>
          <a:p>
            <a:pPr algn="l">
              <a:spcAft>
                <a:spcPts val="0"/>
              </a:spcAft>
            </a:pPr>
            <a:r>
              <a:rPr sz="2800" b="1" i="0">
                <a:solidFill>
                  <a:srgbClr val="C0392B"/>
                </a:solidFill>
                <a:latin typeface="Inter"/>
              </a:rPr>
              <a:t>6/13</a:t>
            </a:r>
          </a:p>
        </p:txBody>
      </p:sp>
      <p:sp>
        <p:nvSpPr>
          <p:cNvPr id="9" name="TextBox 8"/>
          <p:cNvSpPr txBox="1"/>
          <p:nvPr/>
        </p:nvSpPr>
        <p:spPr>
          <a:xfrm>
            <a:off x="1828800" y="3611880"/>
            <a:ext cx="1143000" cy="914400"/>
          </a:xfrm>
          <a:prstGeom prst="rect">
            <a:avLst/>
          </a:prstGeom>
          <a:noFill/>
        </p:spPr>
        <p:txBody>
          <a:bodyPr wrap="square" anchor="ctr" lIns="0" rIns="0" tIns="0" bIns="0">
            <a:spAutoFit/>
          </a:bodyPr>
          <a:lstStyle/>
          <a:p>
            <a:pPr algn="l">
              <a:spcAft>
                <a:spcPts val="0"/>
              </a:spcAft>
            </a:pPr>
            <a:r>
              <a:rPr sz="1000" b="0" i="0">
                <a:solidFill>
                  <a:srgbClr val="353B4A"/>
                </a:solidFill>
                <a:latin typeface="Inter"/>
              </a:rPr>
              <a:t>Review 2 design: detected automatically</a:t>
            </a:r>
          </a:p>
        </p:txBody>
      </p:sp>
      <p:sp>
        <p:nvSpPr>
          <p:cNvPr id="10" name="Rounded Rectangle 9"/>
          <p:cNvSpPr/>
          <p:nvPr/>
        </p:nvSpPr>
        <p:spPr>
          <a:xfrm>
            <a:off x="3282696" y="3520440"/>
            <a:ext cx="2587752" cy="10972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19856" y="3566160"/>
            <a:ext cx="1188720" cy="731520"/>
          </a:xfrm>
          <a:prstGeom prst="rect">
            <a:avLst/>
          </a:prstGeom>
          <a:noFill/>
        </p:spPr>
        <p:txBody>
          <a:bodyPr wrap="square" anchor="ctr" lIns="0" rIns="0" tIns="0" bIns="0">
            <a:spAutoFit/>
          </a:bodyPr>
          <a:lstStyle/>
          <a:p>
            <a:pPr algn="l">
              <a:spcAft>
                <a:spcPts val="0"/>
              </a:spcAft>
            </a:pPr>
            <a:r>
              <a:rPr sz="2800" b="1" i="0">
                <a:solidFill>
                  <a:srgbClr val="1A7F37"/>
                </a:solidFill>
                <a:latin typeface="Inter"/>
              </a:rPr>
              <a:t>12/13</a:t>
            </a:r>
          </a:p>
        </p:txBody>
      </p:sp>
      <p:sp>
        <p:nvSpPr>
          <p:cNvPr id="12" name="TextBox 11"/>
          <p:cNvSpPr txBox="1"/>
          <p:nvPr/>
        </p:nvSpPr>
        <p:spPr>
          <a:xfrm>
            <a:off x="4654296" y="3611880"/>
            <a:ext cx="1143000" cy="914400"/>
          </a:xfrm>
          <a:prstGeom prst="rect">
            <a:avLst/>
          </a:prstGeom>
          <a:noFill/>
        </p:spPr>
        <p:txBody>
          <a:bodyPr wrap="square" anchor="ctr" lIns="0" rIns="0" tIns="0" bIns="0">
            <a:spAutoFit/>
          </a:bodyPr>
          <a:lstStyle/>
          <a:p>
            <a:pPr algn="l">
              <a:spcAft>
                <a:spcPts val="0"/>
              </a:spcAft>
            </a:pPr>
            <a:r>
              <a:rPr sz="1000" b="0" i="0">
                <a:solidFill>
                  <a:srgbClr val="353B4A"/>
                </a:solidFill>
                <a:latin typeface="Inter"/>
              </a:rPr>
              <a:t>Final design: detected automatically</a:t>
            </a:r>
          </a:p>
        </p:txBody>
      </p:sp>
      <p:sp>
        <p:nvSpPr>
          <p:cNvPr id="13" name="Rounded Rectangle 12"/>
          <p:cNvSpPr/>
          <p:nvPr/>
        </p:nvSpPr>
        <p:spPr>
          <a:xfrm>
            <a:off x="6108192" y="3520440"/>
            <a:ext cx="2587752" cy="10972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45352" y="3566160"/>
            <a:ext cx="1188720" cy="731520"/>
          </a:xfrm>
          <a:prstGeom prst="rect">
            <a:avLst/>
          </a:prstGeom>
          <a:noFill/>
        </p:spPr>
        <p:txBody>
          <a:bodyPr wrap="square" anchor="ctr" lIns="0" rIns="0" tIns="0" bIns="0">
            <a:spAutoFit/>
          </a:bodyPr>
          <a:lstStyle/>
          <a:p>
            <a:pPr algn="l">
              <a:spcAft>
                <a:spcPts val="0"/>
              </a:spcAft>
            </a:pPr>
            <a:r>
              <a:rPr sz="2800" b="1" i="0">
                <a:solidFill>
                  <a:srgbClr val="9A6700"/>
                </a:solidFill>
                <a:latin typeface="Inter"/>
              </a:rPr>
              <a:t>1</a:t>
            </a:r>
          </a:p>
        </p:txBody>
      </p:sp>
      <p:sp>
        <p:nvSpPr>
          <p:cNvPr id="15" name="TextBox 14"/>
          <p:cNvSpPr txBox="1"/>
          <p:nvPr/>
        </p:nvSpPr>
        <p:spPr>
          <a:xfrm>
            <a:off x="7479792" y="3611880"/>
            <a:ext cx="1143000" cy="914400"/>
          </a:xfrm>
          <a:prstGeom prst="rect">
            <a:avLst/>
          </a:prstGeom>
          <a:noFill/>
        </p:spPr>
        <p:txBody>
          <a:bodyPr wrap="square" anchor="ctr" lIns="0" rIns="0" tIns="0" bIns="0">
            <a:spAutoFit/>
          </a:bodyPr>
          <a:lstStyle/>
          <a:p>
            <a:pPr algn="l">
              <a:spcAft>
                <a:spcPts val="0"/>
              </a:spcAft>
            </a:pPr>
            <a:r>
              <a:rPr sz="1000" b="0" i="0">
                <a:solidFill>
                  <a:srgbClr val="353B4A"/>
                </a:solidFill>
                <a:latin typeface="Inter"/>
              </a:rPr>
              <a:t>Still undetected: roster injection (C13)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SWEEP IN ACTION</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 deletion and an injection hide in the counts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36</a:t>
            </a:r>
          </a:p>
        </p:txBody>
      </p:sp>
      <p:pic>
        <p:nvPicPr>
          <p:cNvPr id="6" name="Picture 5" descr="admin_sweep_tamper.png"/>
          <p:cNvPicPr>
            <a:picLocks noChangeAspect="1"/>
          </p:cNvPicPr>
          <p:nvPr/>
        </p:nvPicPr>
        <p:blipFill>
          <a:blip r:embed="rId2"/>
          <a:stretch>
            <a:fillRect/>
          </a:stretch>
        </p:blipFill>
        <p:spPr>
          <a:xfrm>
            <a:off x="457200" y="1598056"/>
            <a:ext cx="5120640" cy="2290286"/>
          </a:xfrm>
          <a:prstGeom prst="rect">
            <a:avLst/>
          </a:prstGeom>
          <a:ln w="12700">
            <a:solidFill>
              <a:srgbClr val="D9D9E4"/>
            </a:solidFill>
          </a:ln>
        </p:spPr>
      </p:pic>
      <p:pic>
        <p:nvPicPr>
          <p:cNvPr id="7" name="Picture 6" descr="admin_ledger_tampered.png"/>
          <p:cNvPicPr>
            <a:picLocks noChangeAspect="1"/>
          </p:cNvPicPr>
          <p:nvPr/>
        </p:nvPicPr>
        <p:blipFill>
          <a:blip r:embed="rId3"/>
          <a:stretch>
            <a:fillRect/>
          </a:stretch>
        </p:blipFill>
        <p:spPr>
          <a:xfrm>
            <a:off x="5760720" y="1314450"/>
            <a:ext cx="2926080" cy="1485900"/>
          </a:xfrm>
          <a:prstGeom prst="rect">
            <a:avLst/>
          </a:prstGeom>
          <a:ln w="12700">
            <a:solidFill>
              <a:srgbClr val="D9D9E4"/>
            </a:solidFill>
          </a:ln>
        </p:spPr>
      </p:pic>
      <p:sp>
        <p:nvSpPr>
          <p:cNvPr id="8" name="TextBox 7"/>
          <p:cNvSpPr txBox="1"/>
          <p:nvPr/>
        </p:nvSpPr>
        <p:spPr>
          <a:xfrm>
            <a:off x="5760720" y="3108960"/>
            <a:ext cx="2926080" cy="1737360"/>
          </a:xfrm>
          <a:prstGeom prst="rect">
            <a:avLst/>
          </a:prstGeom>
          <a:noFill/>
        </p:spPr>
        <p:txBody>
          <a:bodyPr wrap="square" anchor="t" lIns="0" rIns="0" tIns="0" bIns="0">
            <a:spAutoFit/>
          </a:bodyPr>
          <a:lstStyle/>
          <a:p>
            <a:pPr algn="l">
              <a:spcAft>
                <a:spcPts val="500"/>
              </a:spcAft>
            </a:pPr>
            <a:r>
              <a:rPr sz="1050" b="1" i="0">
                <a:solidFill>
                  <a:srgbClr val="1B2A55"/>
                </a:solidFill>
                <a:latin typeface="Inter"/>
              </a:rPr>
              <a:t>•  </a:t>
            </a:r>
            <a:r>
              <a:rPr sz="1050" b="0" i="0">
                <a:solidFill>
                  <a:srgbClr val="353B4A"/>
                </a:solidFill>
                <a:latin typeface="Inter"/>
              </a:rPr>
              <a:t>Left: counters read 46 / 46 / 46, yet the sweep reports 1 deleted and 1 without a receipt.</a:t>
            </a:r>
          </a:p>
          <a:p>
            <a:pPr algn="l">
              <a:spcAft>
                <a:spcPts val="500"/>
              </a:spcAft>
            </a:pPr>
            <a:r>
              <a:rPr sz="1050" b="1" i="0">
                <a:solidFill>
                  <a:srgbClr val="1B2A55"/>
                </a:solidFill>
                <a:latin typeface="Inter"/>
              </a:rPr>
              <a:t>•  </a:t>
            </a:r>
            <a:r>
              <a:rPr sz="1050" b="0" i="0">
                <a:solidFill>
                  <a:srgbClr val="353B4A"/>
                </a:solidFill>
                <a:latin typeface="Inter"/>
              </a:rPr>
              <a:t>Above: one edited block breaks the chain.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WHY THE KEY MATTERS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Six scenarios the Review 2 design missed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37</a:t>
            </a:r>
          </a:p>
        </p:txBody>
      </p:sp>
      <p:graphicFrame>
        <p:nvGraphicFramePr>
          <p:cNvPr id="6" name="Table 5"/>
          <p:cNvGraphicFramePr>
            <a:graphicFrameLocks noGrp="1"/>
          </p:cNvGraphicFramePr>
          <p:nvPr/>
        </p:nvGraphicFramePr>
        <p:xfrm>
          <a:off x="457200" y="1097280"/>
          <a:ext cx="8229599" cy="2670048"/>
        </p:xfrm>
        <a:graphic>
          <a:graphicData uri="http://schemas.openxmlformats.org/drawingml/2006/table">
            <a:tbl>
              <a:tblPr firstRow="1" bandRow="1">
                <a:tableStyleId>{5C22544A-7EE6-4342-B048-85BDC9FD1C3A}</a:tableStyleId>
              </a:tblPr>
              <a:tblGrid>
                <a:gridCol w="548640"/>
                <a:gridCol w="3566160"/>
                <a:gridCol w="1280160"/>
                <a:gridCol w="1097280"/>
                <a:gridCol w="1737359"/>
              </a:tblGrid>
              <a:tr h="365760">
                <a:tc>
                  <a:txBody>
                    <a:bodyPr wrap="square"/>
                    <a:lstStyle/>
                    <a:p>
                      <a:r>
                        <a:rPr sz="1000" b="1" i="0">
                          <a:solidFill>
                            <a:srgbClr val="FFFFFF"/>
                          </a:solidFill>
                          <a:latin typeface="Inter"/>
                        </a:rPr>
                        <a:t>ID</a:t>
                      </a:r>
                    </a:p>
                  </a:txBody>
                  <a:tcPr marL="73152" marR="73152" marT="36576" marB="36576" anchor="ctr">
                    <a:solidFill>
                      <a:srgbClr val="1B2A55"/>
                    </a:solidFill>
                  </a:tcPr>
                </a:tc>
                <a:tc>
                  <a:txBody>
                    <a:bodyPr wrap="square"/>
                    <a:lstStyle/>
                    <a:p>
                      <a:r>
                        <a:rPr sz="1000" b="1" i="0">
                          <a:solidFill>
                            <a:srgbClr val="FFFFFF"/>
                          </a:solidFill>
                          <a:latin typeface="Inter"/>
                        </a:rPr>
                        <a:t>Scenario</a:t>
                      </a:r>
                    </a:p>
                  </a:txBody>
                  <a:tcPr marL="73152" marR="73152" marT="36576" marB="36576" anchor="ctr">
                    <a:solidFill>
                      <a:srgbClr val="1B2A55"/>
                    </a:solidFill>
                  </a:tcPr>
                </a:tc>
                <a:tc>
                  <a:txBody>
                    <a:bodyPr wrap="square"/>
                    <a:lstStyle/>
                    <a:p>
                      <a:r>
                        <a:rPr sz="1000" b="1" i="0">
                          <a:solidFill>
                            <a:srgbClr val="FFFFFF"/>
                          </a:solidFill>
                          <a:latin typeface="Inter"/>
                        </a:rPr>
                        <a:t>Review 2</a:t>
                      </a:r>
                    </a:p>
                  </a:txBody>
                  <a:tcPr marL="73152" marR="73152" marT="36576" marB="36576" anchor="ctr">
                    <a:solidFill>
                      <a:srgbClr val="1B2A55"/>
                    </a:solidFill>
                  </a:tcPr>
                </a:tc>
                <a:tc>
                  <a:txBody>
                    <a:bodyPr wrap="square"/>
                    <a:lstStyle/>
                    <a:p>
                      <a:r>
                        <a:rPr sz="1000" b="1" i="0">
                          <a:solidFill>
                            <a:srgbClr val="FFFFFF"/>
                          </a:solidFill>
                          <a:latin typeface="Inter"/>
                        </a:rPr>
                        <a:t>Final</a:t>
                      </a:r>
                    </a:p>
                  </a:txBody>
                  <a:tcPr marL="73152" marR="73152" marT="36576" marB="36576" anchor="ctr">
                    <a:solidFill>
                      <a:srgbClr val="1B2A55"/>
                    </a:solidFill>
                  </a:tcPr>
                </a:tc>
                <a:tc>
                  <a:txBody>
                    <a:bodyPr wrap="square"/>
                    <a:lstStyle/>
                    <a:p>
                      <a:r>
                        <a:rPr sz="1000" b="1" i="0">
                          <a:solidFill>
                            <a:srgbClr val="FFFFFF"/>
                          </a:solidFill>
                          <a:latin typeface="Inter"/>
                        </a:rPr>
                        <a:t>What closed it</a:t>
                      </a:r>
                    </a:p>
                  </a:txBody>
                  <a:tcPr marL="73152" marR="73152" marT="36576" marB="36576" anchor="ctr">
                    <a:solidFill>
                      <a:srgbClr val="1B2A55"/>
                    </a:solidFill>
                  </a:tcPr>
                </a:tc>
              </a:tr>
              <a:tr h="384048">
                <a:tc>
                  <a:txBody>
                    <a:bodyPr wrap="square"/>
                    <a:lstStyle/>
                    <a:p>
                      <a:r>
                        <a:rPr sz="1050" b="1" i="0">
                          <a:solidFill>
                            <a:srgbClr val="1B2A55"/>
                          </a:solidFill>
                          <a:latin typeface="Inter"/>
                        </a:rPr>
                        <a:t>C5</a:t>
                      </a:r>
                    </a:p>
                  </a:txBody>
                  <a:tcPr marL="73152" marR="73152" marT="36576" marB="36576" anchor="ctr">
                    <a:solidFill>
                      <a:srgbClr val="FFFFFF"/>
                    </a:solidFill>
                  </a:tcPr>
                </a:tc>
                <a:tc>
                  <a:txBody>
                    <a:bodyPr wrap="square"/>
                    <a:lstStyle/>
                    <a:p>
                      <a:r>
                        <a:rPr sz="1050" b="0" i="0">
                          <a:solidFill>
                            <a:srgbClr val="353B4A"/>
                          </a:solidFill>
                          <a:latin typeface="Inter"/>
                        </a:rPr>
                        <a:t>Inject a ballot with no receipt</a:t>
                      </a:r>
                    </a:p>
                  </a:txBody>
                  <a:tcPr marL="73152" marR="73152" marT="36576" marB="36576" anchor="ctr">
                    <a:solidFill>
                      <a:srgbClr val="FFFFFF"/>
                    </a:solidFill>
                  </a:tcPr>
                </a:tc>
                <a:tc>
                  <a:txBody>
                    <a:bodyPr wrap="square"/>
                    <a:lstStyle/>
                    <a:p>
                      <a:r>
                        <a:rPr sz="1050" b="0" i="0">
                          <a:solidFill>
                            <a:srgbClr val="353B4A"/>
                          </a:solidFill>
                          <a:latin typeface="Inter"/>
                        </a:rPr>
                        <a:t>Counters only</a:t>
                      </a:r>
                    </a:p>
                  </a:txBody>
                  <a:tcPr marL="73152" marR="73152" marT="36576" marB="36576" anchor="ctr">
                    <a:solidFill>
                      <a:srgbClr val="FFFFFF"/>
                    </a:solidFill>
                  </a:tcPr>
                </a:tc>
                <a:tc>
                  <a:txBody>
                    <a:bodyPr wrap="square"/>
                    <a:lstStyle/>
                    <a:p>
                      <a:r>
                        <a:rPr sz="1050" b="0" i="0">
                          <a:solidFill>
                            <a:srgbClr val="353B4A"/>
                          </a:solidFill>
                          <a:latin typeface="Inter"/>
                        </a:rPr>
                        <a:t>Detected</a:t>
                      </a:r>
                    </a:p>
                  </a:txBody>
                  <a:tcPr marL="73152" marR="73152" marT="36576" marB="36576" anchor="ctr">
                    <a:solidFill>
                      <a:srgbClr val="FFFFFF"/>
                    </a:solidFill>
                  </a:tcPr>
                </a:tc>
                <a:tc>
                  <a:txBody>
                    <a:bodyPr wrap="square"/>
                    <a:lstStyle/>
                    <a:p>
                      <a:r>
                        <a:rPr sz="1050" b="0" i="0">
                          <a:solidFill>
                            <a:srgbClr val="353B4A"/>
                          </a:solidFill>
                          <a:latin typeface="Inter"/>
                        </a:rPr>
                        <a:t>Injected-ballot rule</a:t>
                      </a:r>
                    </a:p>
                  </a:txBody>
                  <a:tcPr marL="73152" marR="73152" marT="36576" marB="36576" anchor="ctr">
                    <a:solidFill>
                      <a:srgbClr val="FFFFFF"/>
                    </a:solidFill>
                  </a:tcPr>
                </a:tc>
              </a:tr>
              <a:tr h="384048">
                <a:tc>
                  <a:txBody>
                    <a:bodyPr wrap="square"/>
                    <a:lstStyle/>
                    <a:p>
                      <a:r>
                        <a:rPr sz="1050" b="1" i="0">
                          <a:solidFill>
                            <a:srgbClr val="1B2A55"/>
                          </a:solidFill>
                          <a:latin typeface="Inter"/>
                        </a:rPr>
                        <a:t>C6</a:t>
                      </a:r>
                    </a:p>
                  </a:txBody>
                  <a:tcPr marL="73152" marR="73152" marT="36576" marB="36576" anchor="ctr">
                    <a:solidFill>
                      <a:srgbClr val="F1F0F6"/>
                    </a:solidFill>
                  </a:tcPr>
                </a:tc>
                <a:tc>
                  <a:txBody>
                    <a:bodyPr wrap="square"/>
                    <a:lstStyle/>
                    <a:p>
                      <a:r>
                        <a:rPr sz="1050" b="0" i="0">
                          <a:solidFill>
                            <a:srgbClr val="353B4A"/>
                          </a:solidFill>
                          <a:latin typeface="Inter"/>
                        </a:rPr>
                        <a:t>Ballot stuffing: inject, forge receipt, set a flag</a:t>
                      </a:r>
                    </a:p>
                  </a:txBody>
                  <a:tcPr marL="73152" marR="73152" marT="36576" marB="36576" anchor="ctr">
                    <a:solidFill>
                      <a:srgbClr val="F1F0F6"/>
                    </a:solidFill>
                  </a:tcPr>
                </a:tc>
                <a:tc>
                  <a:txBody>
                    <a:bodyPr wrap="square"/>
                    <a:lstStyle/>
                    <a:p>
                      <a:r>
                        <a:rPr sz="1050" b="0" i="0">
                          <a:solidFill>
                            <a:srgbClr val="353B4A"/>
                          </a:solidFill>
                          <a:latin typeface="Inter"/>
                        </a:rPr>
                        <a:t>Not detected</a:t>
                      </a:r>
                    </a:p>
                  </a:txBody>
                  <a:tcPr marL="73152" marR="73152" marT="36576" marB="36576" anchor="ctr">
                    <a:solidFill>
                      <a:srgbClr val="F1F0F6"/>
                    </a:solidFill>
                  </a:tcPr>
                </a:tc>
                <a:tc>
                  <a:txBody>
                    <a:bodyPr wrap="square"/>
                    <a:lstStyle/>
                    <a:p>
                      <a:r>
                        <a:rPr sz="1050" b="0" i="0">
                          <a:solidFill>
                            <a:srgbClr val="353B4A"/>
                          </a:solidFill>
                          <a:latin typeface="Inter"/>
                        </a:rPr>
                        <a:t>Detected</a:t>
                      </a:r>
                    </a:p>
                  </a:txBody>
                  <a:tcPr marL="73152" marR="73152" marT="36576" marB="36576" anchor="ctr">
                    <a:solidFill>
                      <a:srgbClr val="F1F0F6"/>
                    </a:solidFill>
                  </a:tcPr>
                </a:tc>
                <a:tc>
                  <a:txBody>
                    <a:bodyPr wrap="square"/>
                    <a:lstStyle/>
                    <a:p>
                      <a:r>
                        <a:rPr sz="1050" b="0" i="0">
                          <a:solidFill>
                            <a:srgbClr val="353B4A"/>
                          </a:solidFill>
                          <a:latin typeface="Inter"/>
                        </a:rPr>
                        <a:t>Keyed chain</a:t>
                      </a:r>
                    </a:p>
                  </a:txBody>
                  <a:tcPr marL="73152" marR="73152" marT="36576" marB="36576" anchor="ctr">
                    <a:solidFill>
                      <a:srgbClr val="F1F0F6"/>
                    </a:solidFill>
                  </a:tcPr>
                </a:tc>
              </a:tr>
              <a:tr h="384048">
                <a:tc>
                  <a:txBody>
                    <a:bodyPr wrap="square"/>
                    <a:lstStyle/>
                    <a:p>
                      <a:r>
                        <a:rPr sz="1050" b="1" i="0">
                          <a:solidFill>
                            <a:srgbClr val="1B2A55"/>
                          </a:solidFill>
                          <a:latin typeface="Inter"/>
                        </a:rPr>
                        <a:t>C9</a:t>
                      </a:r>
                    </a:p>
                  </a:txBody>
                  <a:tcPr marL="73152" marR="73152" marT="36576" marB="36576" anchor="ctr">
                    <a:solidFill>
                      <a:srgbClr val="FFFFFF"/>
                    </a:solidFill>
                  </a:tcPr>
                </a:tc>
                <a:tc>
                  <a:txBody>
                    <a:bodyPr wrap="square"/>
                    <a:lstStyle/>
                    <a:p>
                      <a:r>
                        <a:rPr sz="1050" b="0" i="0">
                          <a:solidFill>
                            <a:srgbClr val="353B4A"/>
                          </a:solidFill>
                          <a:latin typeface="Inter"/>
                        </a:rPr>
                        <a:t>Truncate the last ledger block</a:t>
                      </a:r>
                    </a:p>
                  </a:txBody>
                  <a:tcPr marL="73152" marR="73152" marT="36576" marB="36576" anchor="ctr">
                    <a:solidFill>
                      <a:srgbClr val="FFFFFF"/>
                    </a:solidFill>
                  </a:tcPr>
                </a:tc>
                <a:tc>
                  <a:txBody>
                    <a:bodyPr wrap="square"/>
                    <a:lstStyle/>
                    <a:p>
                      <a:r>
                        <a:rPr sz="1050" b="0" i="0">
                          <a:solidFill>
                            <a:srgbClr val="353B4A"/>
                          </a:solidFill>
                          <a:latin typeface="Inter"/>
                        </a:rPr>
                        <a:t>Counters only</a:t>
                      </a:r>
                    </a:p>
                  </a:txBody>
                  <a:tcPr marL="73152" marR="73152" marT="36576" marB="36576" anchor="ctr">
                    <a:solidFill>
                      <a:srgbClr val="FFFFFF"/>
                    </a:solidFill>
                  </a:tcPr>
                </a:tc>
                <a:tc>
                  <a:txBody>
                    <a:bodyPr wrap="square"/>
                    <a:lstStyle/>
                    <a:p>
                      <a:r>
                        <a:rPr sz="1050" b="0" i="0">
                          <a:solidFill>
                            <a:srgbClr val="353B4A"/>
                          </a:solidFill>
                          <a:latin typeface="Inter"/>
                        </a:rPr>
                        <a:t>Detected</a:t>
                      </a:r>
                    </a:p>
                  </a:txBody>
                  <a:tcPr marL="73152" marR="73152" marT="36576" marB="36576" anchor="ctr">
                    <a:solidFill>
                      <a:srgbClr val="FFFFFF"/>
                    </a:solidFill>
                  </a:tcPr>
                </a:tc>
                <a:tc>
                  <a:txBody>
                    <a:bodyPr wrap="square"/>
                    <a:lstStyle/>
                    <a:p>
                      <a:r>
                        <a:rPr sz="1050" b="0" i="0">
                          <a:solidFill>
                            <a:srgbClr val="353B4A"/>
                          </a:solidFill>
                          <a:latin typeface="Inter"/>
                        </a:rPr>
                        <a:t>Reconciliation rule</a:t>
                      </a:r>
                    </a:p>
                  </a:txBody>
                  <a:tcPr marL="73152" marR="73152" marT="36576" marB="36576" anchor="ctr">
                    <a:solidFill>
                      <a:srgbClr val="FFFFFF"/>
                    </a:solidFill>
                  </a:tcPr>
                </a:tc>
              </a:tr>
              <a:tr h="384048">
                <a:tc>
                  <a:txBody>
                    <a:bodyPr wrap="square"/>
                    <a:lstStyle/>
                    <a:p>
                      <a:r>
                        <a:rPr sz="1050" b="1" i="0">
                          <a:solidFill>
                            <a:srgbClr val="1B2A55"/>
                          </a:solidFill>
                          <a:latin typeface="Inter"/>
                        </a:rPr>
                        <a:t>C10</a:t>
                      </a:r>
                    </a:p>
                  </a:txBody>
                  <a:tcPr marL="73152" marR="73152" marT="36576" marB="36576" anchor="ctr">
                    <a:solidFill>
                      <a:srgbClr val="F1F0F6"/>
                    </a:solidFill>
                  </a:tcPr>
                </a:tc>
                <a:tc>
                  <a:txBody>
                    <a:bodyPr wrap="square"/>
                    <a:lstStyle/>
                    <a:p>
                      <a:r>
                        <a:rPr sz="1050" b="0" i="0">
                          <a:solidFill>
                            <a:srgbClr val="353B4A"/>
                          </a:solidFill>
                          <a:latin typeface="Inter"/>
                        </a:rPr>
                        <a:t>Alter a ballot and rebuild the whole chain</a:t>
                      </a:r>
                    </a:p>
                  </a:txBody>
                  <a:tcPr marL="73152" marR="73152" marT="36576" marB="36576" anchor="ctr">
                    <a:solidFill>
                      <a:srgbClr val="F1F0F6"/>
                    </a:solidFill>
                  </a:tcPr>
                </a:tc>
                <a:tc>
                  <a:txBody>
                    <a:bodyPr wrap="square"/>
                    <a:lstStyle/>
                    <a:p>
                      <a:r>
                        <a:rPr sz="1050" b="0" i="0">
                          <a:solidFill>
                            <a:srgbClr val="353B4A"/>
                          </a:solidFill>
                          <a:latin typeface="Inter"/>
                        </a:rPr>
                        <a:t>Not detected</a:t>
                      </a:r>
                    </a:p>
                  </a:txBody>
                  <a:tcPr marL="73152" marR="73152" marT="36576" marB="36576" anchor="ctr">
                    <a:solidFill>
                      <a:srgbClr val="F1F0F6"/>
                    </a:solidFill>
                  </a:tcPr>
                </a:tc>
                <a:tc>
                  <a:txBody>
                    <a:bodyPr wrap="square"/>
                    <a:lstStyle/>
                    <a:p>
                      <a:r>
                        <a:rPr sz="1050" b="0" i="0">
                          <a:solidFill>
                            <a:srgbClr val="353B4A"/>
                          </a:solidFill>
                          <a:latin typeface="Inter"/>
                        </a:rPr>
                        <a:t>Detected</a:t>
                      </a:r>
                    </a:p>
                  </a:txBody>
                  <a:tcPr marL="73152" marR="73152" marT="36576" marB="36576" anchor="ctr">
                    <a:solidFill>
                      <a:srgbClr val="F1F0F6"/>
                    </a:solidFill>
                  </a:tcPr>
                </a:tc>
                <a:tc>
                  <a:txBody>
                    <a:bodyPr wrap="square"/>
                    <a:lstStyle/>
                    <a:p>
                      <a:r>
                        <a:rPr sz="1050" b="0" i="0">
                          <a:solidFill>
                            <a:srgbClr val="353B4A"/>
                          </a:solidFill>
                          <a:latin typeface="Inter"/>
                        </a:rPr>
                        <a:t>Keyed chain</a:t>
                      </a:r>
                    </a:p>
                  </a:txBody>
                  <a:tcPr marL="73152" marR="73152" marT="36576" marB="36576" anchor="ctr">
                    <a:solidFill>
                      <a:srgbClr val="F1F0F6"/>
                    </a:solidFill>
                  </a:tcPr>
                </a:tc>
              </a:tr>
              <a:tr h="384048">
                <a:tc>
                  <a:txBody>
                    <a:bodyPr wrap="square"/>
                    <a:lstStyle/>
                    <a:p>
                      <a:r>
                        <a:rPr sz="1050" b="1" i="0">
                          <a:solidFill>
                            <a:srgbClr val="1B2A55"/>
                          </a:solidFill>
                          <a:latin typeface="Inter"/>
                        </a:rPr>
                        <a:t>C11</a:t>
                      </a:r>
                    </a:p>
                  </a:txBody>
                  <a:tcPr marL="73152" marR="73152" marT="36576" marB="36576" anchor="ctr">
                    <a:solidFill>
                      <a:srgbClr val="FFFFFF"/>
                    </a:solidFill>
                  </a:tcPr>
                </a:tc>
                <a:tc>
                  <a:txBody>
                    <a:bodyPr wrap="square"/>
                    <a:lstStyle/>
                    <a:p>
                      <a:r>
                        <a:rPr sz="1050" b="0" i="0">
                          <a:solidFill>
                            <a:srgbClr val="353B4A"/>
                          </a:solidFill>
                          <a:latin typeface="Inter"/>
                        </a:rPr>
                        <a:t>Swap two candidates' names after voting</a:t>
                      </a:r>
                    </a:p>
                  </a:txBody>
                  <a:tcPr marL="73152" marR="73152" marT="36576" marB="36576" anchor="ctr">
                    <a:solidFill>
                      <a:srgbClr val="FFFFFF"/>
                    </a:solidFill>
                  </a:tcPr>
                </a:tc>
                <a:tc>
                  <a:txBody>
                    <a:bodyPr wrap="square"/>
                    <a:lstStyle/>
                    <a:p>
                      <a:r>
                        <a:rPr sz="1050" b="0" i="0">
                          <a:solidFill>
                            <a:srgbClr val="353B4A"/>
                          </a:solidFill>
                          <a:latin typeface="Inter"/>
                        </a:rPr>
                        <a:t>Not detected</a:t>
                      </a:r>
                    </a:p>
                  </a:txBody>
                  <a:tcPr marL="73152" marR="73152" marT="36576" marB="36576" anchor="ctr">
                    <a:solidFill>
                      <a:srgbClr val="FFFFFF"/>
                    </a:solidFill>
                  </a:tcPr>
                </a:tc>
                <a:tc>
                  <a:txBody>
                    <a:bodyPr wrap="square"/>
                    <a:lstStyle/>
                    <a:p>
                      <a:r>
                        <a:rPr sz="1050" b="0" i="0">
                          <a:solidFill>
                            <a:srgbClr val="353B4A"/>
                          </a:solidFill>
                          <a:latin typeface="Inter"/>
                        </a:rPr>
                        <a:t>Detected</a:t>
                      </a:r>
                    </a:p>
                  </a:txBody>
                  <a:tcPr marL="73152" marR="73152" marT="36576" marB="36576" anchor="ctr">
                    <a:solidFill>
                      <a:srgbClr val="FFFFFF"/>
                    </a:solidFill>
                  </a:tcPr>
                </a:tc>
                <a:tc>
                  <a:txBody>
                    <a:bodyPr wrap="square"/>
                    <a:lstStyle/>
                    <a:p>
                      <a:r>
                        <a:rPr sz="1050" b="0" i="0">
                          <a:solidFill>
                            <a:srgbClr val="353B4A"/>
                          </a:solidFill>
                          <a:latin typeface="Inter"/>
                        </a:rPr>
                        <a:t>Sealed roster hash</a:t>
                      </a:r>
                    </a:p>
                  </a:txBody>
                  <a:tcPr marL="73152" marR="73152" marT="36576" marB="36576" anchor="ctr">
                    <a:solidFill>
                      <a:srgbClr val="FFFFFF"/>
                    </a:solidFill>
                  </a:tcPr>
                </a:tc>
              </a:tr>
              <a:tr h="384048">
                <a:tc>
                  <a:txBody>
                    <a:bodyPr wrap="square"/>
                    <a:lstStyle/>
                    <a:p>
                      <a:r>
                        <a:rPr sz="1050" b="1" i="0">
                          <a:solidFill>
                            <a:srgbClr val="1B2A55"/>
                          </a:solidFill>
                          <a:latin typeface="Inter"/>
                        </a:rPr>
                        <a:t>C12</a:t>
                      </a:r>
                    </a:p>
                  </a:txBody>
                  <a:tcPr marL="73152" marR="73152" marT="36576" marB="36576" anchor="ctr">
                    <a:solidFill>
                      <a:srgbClr val="F1F0F6"/>
                    </a:solidFill>
                  </a:tcPr>
                </a:tc>
                <a:tc>
                  <a:txBody>
                    <a:bodyPr wrap="square"/>
                    <a:lstStyle/>
                    <a:p>
                      <a:r>
                        <a:rPr sz="1050" b="0" i="0">
                          <a:solidFill>
                            <a:srgbClr val="353B4A"/>
                          </a:solidFill>
                          <a:latin typeface="Inter"/>
                        </a:rPr>
                        <a:t>Reset a voted flag, vote again</a:t>
                      </a:r>
                    </a:p>
                  </a:txBody>
                  <a:tcPr marL="73152" marR="73152" marT="36576" marB="36576" anchor="ctr">
                    <a:solidFill>
                      <a:srgbClr val="F1F0F6"/>
                    </a:solidFill>
                  </a:tcPr>
                </a:tc>
                <a:tc>
                  <a:txBody>
                    <a:bodyPr wrap="square"/>
                    <a:lstStyle/>
                    <a:p>
                      <a:r>
                        <a:rPr sz="1050" b="0" i="0">
                          <a:solidFill>
                            <a:srgbClr val="353B4A"/>
                          </a:solidFill>
                          <a:latin typeface="Inter"/>
                        </a:rPr>
                        <a:t>Counters only</a:t>
                      </a:r>
                    </a:p>
                  </a:txBody>
                  <a:tcPr marL="73152" marR="73152" marT="36576" marB="36576" anchor="ctr">
                    <a:solidFill>
                      <a:srgbClr val="F1F0F6"/>
                    </a:solidFill>
                  </a:tcPr>
                </a:tc>
                <a:tc>
                  <a:txBody>
                    <a:bodyPr wrap="square"/>
                    <a:lstStyle/>
                    <a:p>
                      <a:r>
                        <a:rPr sz="1050" b="0" i="0">
                          <a:solidFill>
                            <a:srgbClr val="353B4A"/>
                          </a:solidFill>
                          <a:latin typeface="Inter"/>
                        </a:rPr>
                        <a:t>Detected</a:t>
                      </a:r>
                    </a:p>
                  </a:txBody>
                  <a:tcPr marL="73152" marR="73152" marT="36576" marB="36576" anchor="ctr">
                    <a:solidFill>
                      <a:srgbClr val="F1F0F6"/>
                    </a:solidFill>
                  </a:tcPr>
                </a:tc>
                <a:tc>
                  <a:txBody>
                    <a:bodyPr wrap="square"/>
                    <a:lstStyle/>
                    <a:p>
                      <a:r>
                        <a:rPr sz="1050" b="0" i="0">
                          <a:solidFill>
                            <a:srgbClr val="353B4A"/>
                          </a:solidFill>
                          <a:latin typeface="Inter"/>
                        </a:rPr>
                        <a:t>Reconciliation rule</a:t>
                      </a:r>
                    </a:p>
                  </a:txBody>
                  <a:tcPr marL="73152" marR="73152" marT="36576" marB="36576" anchor="ctr">
                    <a:solidFill>
                      <a:srgbClr val="F1F0F6"/>
                    </a:solidFill>
                  </a:tcPr>
                </a:tc>
              </a:tr>
            </a:tbl>
          </a:graphicData>
        </a:graphic>
      </p:graphicFrame>
      <p:sp>
        <p:nvSpPr>
          <p:cNvPr id="7" name="TextBox 6"/>
          <p:cNvSpPr txBox="1"/>
          <p:nvPr/>
        </p:nvSpPr>
        <p:spPr>
          <a:xfrm>
            <a:off x="457200" y="4206240"/>
            <a:ext cx="8229600" cy="548640"/>
          </a:xfrm>
          <a:prstGeom prst="rect">
            <a:avLst/>
          </a:prstGeom>
          <a:noFill/>
        </p:spPr>
        <p:txBody>
          <a:bodyPr wrap="square" anchor="t" lIns="0" rIns="0" tIns="0" bIns="0">
            <a:spAutoFit/>
          </a:bodyPr>
          <a:lstStyle/>
          <a:p>
            <a:pPr algn="l">
              <a:spcAft>
                <a:spcPts val="0"/>
              </a:spcAft>
            </a:pPr>
            <a:r>
              <a:rPr sz="1150" b="1" i="0">
                <a:solidFill>
                  <a:srgbClr val="1B2A55"/>
                </a:solidFill>
                <a:latin typeface="Inter"/>
              </a:rPr>
              <a:t>Key point: </a:t>
            </a:r>
            <a:r>
              <a:rPr sz="1150" b="0" i="0">
                <a:solidFill>
                  <a:srgbClr val="353B4A"/>
                </a:solidFill>
                <a:latin typeface="Inter"/>
              </a:rPr>
              <a:t>C6 and C10 defeat any chain that is only hashed, because the attacker recomputes the hashes. With the HMAC key they fail at the first block the attacker cannot compute.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ONE-TIME CODE TESTS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14 of 14 pass, and the suite caught a real defect on the way</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38</a:t>
            </a:r>
          </a:p>
        </p:txBody>
      </p:sp>
      <p:sp>
        <p:nvSpPr>
          <p:cNvPr id="6" name="TextBox 5"/>
          <p:cNvSpPr txBox="1"/>
          <p:nvPr/>
        </p:nvSpPr>
        <p:spPr>
          <a:xfrm>
            <a:off x="457200" y="1143000"/>
            <a:ext cx="4206240" cy="356616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  </a:t>
            </a:r>
            <a:r>
              <a:rPr sz="1100" b="0" i="0">
                <a:solidFill>
                  <a:srgbClr val="353B4A"/>
                </a:solidFill>
                <a:latin typeface="Inter"/>
              </a:rPr>
              <a:t>Password alone gives no session; the challenge id is not a token.</a:t>
            </a:r>
          </a:p>
          <a:p>
            <a:pPr algn="l">
              <a:spcAft>
                <a:spcPts val="500"/>
              </a:spcAft>
            </a:pPr>
            <a:r>
              <a:rPr sz="1100" b="1" i="0">
                <a:solidFill>
                  <a:srgbClr val="1B2A55"/>
                </a:solidFill>
                <a:latin typeface="Inter"/>
              </a:rPr>
              <a:t>•  </a:t>
            </a:r>
            <a:r>
              <a:rPr sz="1100" b="0" i="0">
                <a:solidFill>
                  <a:srgbClr val="353B4A"/>
                </a:solidFill>
                <a:latin typeface="Inter"/>
              </a:rPr>
              <a:t>Right code opens the ballot; a used code cannot be replayed.</a:t>
            </a:r>
          </a:p>
          <a:p>
            <a:pPr algn="l">
              <a:spcAft>
                <a:spcPts val="500"/>
              </a:spcAft>
            </a:pPr>
            <a:r>
              <a:rPr sz="1100" b="1" i="0">
                <a:solidFill>
                  <a:srgbClr val="1B2A55"/>
                </a:solidFill>
                <a:latin typeface="Inter"/>
              </a:rPr>
              <a:t>•  </a:t>
            </a:r>
            <a:r>
              <a:rPr sz="1100" b="0" i="0">
                <a:solidFill>
                  <a:srgbClr val="353B4A"/>
                </a:solidFill>
                <a:latin typeface="Inter"/>
              </a:rPr>
              <a:t>Three wrong codes lock the challenge, even if the right code follows.</a:t>
            </a:r>
          </a:p>
          <a:p>
            <a:pPr algn="l">
              <a:spcAft>
                <a:spcPts val="500"/>
              </a:spcAft>
            </a:pPr>
            <a:r>
              <a:rPr sz="1100" b="1" i="0">
                <a:solidFill>
                  <a:srgbClr val="1B2A55"/>
                </a:solidFill>
                <a:latin typeface="Inter"/>
              </a:rPr>
              <a:t>•  </a:t>
            </a:r>
            <a:r>
              <a:rPr sz="1100" b="0" i="0">
                <a:solidFill>
                  <a:srgbClr val="353B4A"/>
                </a:solidFill>
                <a:latin typeface="Inter"/>
              </a:rPr>
              <a:t>Expired codes, rapid resends and a sixth code are refused.</a:t>
            </a:r>
          </a:p>
          <a:p>
            <a:pPr algn="l">
              <a:spcAft>
                <a:spcPts val="500"/>
              </a:spcAft>
            </a:pPr>
            <a:r>
              <a:rPr sz="1100" b="1" i="0">
                <a:solidFill>
                  <a:srgbClr val="1B2A55"/>
                </a:solidFill>
                <a:latin typeface="Inter"/>
              </a:rPr>
              <a:t>•  </a:t>
            </a:r>
            <a:r>
              <a:rPr sz="1100" b="0" i="0">
                <a:solidFill>
                  <a:srgbClr val="353B4A"/>
                </a:solidFill>
                <a:latin typeface="Inter"/>
              </a:rPr>
              <a:t>No email on file: clear refusal.</a:t>
            </a:r>
          </a:p>
          <a:p>
            <a:pPr algn="l">
              <a:spcAft>
                <a:spcPts val="500"/>
              </a:spcAft>
            </a:pPr>
            <a:r>
              <a:rPr sz="1100" b="1" i="0">
                <a:solidFill>
                  <a:srgbClr val="1B2A55"/>
                </a:solidFill>
                <a:latin typeface="Inter"/>
              </a:rPr>
              <a:t>•  </a:t>
            </a:r>
            <a:r>
              <a:rPr sz="1100" b="0" i="0">
                <a:solidFill>
                  <a:srgbClr val="353B4A"/>
                </a:solidFill>
                <a:latin typeface="Inter"/>
              </a:rPr>
              <a:t>Plaintext codes are absent from the database.</a:t>
            </a:r>
          </a:p>
          <a:p>
            <a:pPr algn="l">
              <a:spcAft>
                <a:spcPts val="500"/>
              </a:spcAft>
            </a:pPr>
            <a:r>
              <a:rPr sz="1100" b="1" i="0">
                <a:solidFill>
                  <a:srgbClr val="1B2A55"/>
                </a:solidFill>
                <a:latin typeface="Inter"/>
              </a:rPr>
              <a:t>•  </a:t>
            </a:r>
            <a:r>
              <a:rPr sz="1100" b="0" i="0">
                <a:solidFill>
                  <a:srgbClr val="353B4A"/>
                </a:solidFill>
                <a:latin typeface="Inter"/>
              </a:rPr>
              <a:t>A failed mail server does not block sign-in.</a:t>
            </a:r>
          </a:p>
          <a:p>
            <a:pPr algn="l">
              <a:spcAft>
                <a:spcPts val="500"/>
              </a:spcAft>
            </a:pPr>
            <a:r>
              <a:rPr sz="1100" b="1" i="0">
                <a:solidFill>
                  <a:srgbClr val="1B2A55"/>
                </a:solidFill>
                <a:latin typeface="Inter"/>
              </a:rPr>
              <a:t>•  </a:t>
            </a:r>
            <a:r>
              <a:rPr sz="1100" b="0" i="0">
                <a:solidFill>
                  <a:srgbClr val="353B4A"/>
                </a:solidFill>
                <a:latin typeface="Inter"/>
              </a:rPr>
              <a:t>No email column exists in the election database.</a:t>
            </a:r>
          </a:p>
        </p:txBody>
      </p:sp>
      <p:sp>
        <p:nvSpPr>
          <p:cNvPr id="7" name="Rounded Rectangle 6"/>
          <p:cNvSpPr/>
          <p:nvPr/>
        </p:nvSpPr>
        <p:spPr>
          <a:xfrm>
            <a:off x="4846320" y="1188720"/>
            <a:ext cx="3840480" cy="329184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0" y="1280160"/>
            <a:ext cx="3474720" cy="274320"/>
          </a:xfrm>
          <a:prstGeom prst="rect">
            <a:avLst/>
          </a:prstGeom>
          <a:noFill/>
        </p:spPr>
        <p:txBody>
          <a:bodyPr wrap="square" anchor="t" lIns="0" rIns="0" tIns="0" bIns="0">
            <a:spAutoFit/>
          </a:bodyPr>
          <a:lstStyle/>
          <a:p>
            <a:pPr algn="l">
              <a:spcAft>
                <a:spcPts val="0"/>
              </a:spcAft>
            </a:pPr>
            <a:r>
              <a:rPr sz="1300" b="1" i="0">
                <a:solidFill>
                  <a:srgbClr val="C0392B"/>
                </a:solidFill>
                <a:latin typeface="Inter"/>
              </a:rPr>
              <a:t>The defect</a:t>
            </a:r>
          </a:p>
        </p:txBody>
      </p:sp>
      <p:sp>
        <p:nvSpPr>
          <p:cNvPr id="9" name="TextBox 8"/>
          <p:cNvSpPr txBox="1"/>
          <p:nvPr/>
        </p:nvSpPr>
        <p:spPr>
          <a:xfrm>
            <a:off x="5029200" y="1645920"/>
            <a:ext cx="3474720" cy="2743200"/>
          </a:xfrm>
          <a:prstGeom prst="rect">
            <a:avLst/>
          </a:prstGeom>
          <a:noFill/>
        </p:spPr>
        <p:txBody>
          <a:bodyPr wrap="square" anchor="t" lIns="0" rIns="0" tIns="0" bIns="0">
            <a:spAutoFit/>
          </a:bodyPr>
          <a:lstStyle/>
          <a:p>
            <a:pPr algn="l">
              <a:spcAft>
                <a:spcPts val="0"/>
              </a:spcAft>
            </a:pPr>
            <a:r>
              <a:rPr sz="1100" b="0" i="0">
                <a:solidFill>
                  <a:srgbClr val="353B4A"/>
                </a:solidFill>
                <a:latin typeface="Inter"/>
              </a:rPr>
              <a:t>Test F4 first failed. The wrong-guess counter was saved inside a database context, and the request then raised an error. SQLite rolls back when an exception leaves the context, so every failed guess was recorded and then undone: unlimited guessing. The fix commits state before the error propagates. Review would not have found it; the test did.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PERFORMANCE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Checks are cheap; the file ledger is the one that grows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39</a:t>
            </a:r>
          </a:p>
        </p:txBody>
      </p:sp>
      <p:pic>
        <p:nvPicPr>
          <p:cNvPr id="6" name="Picture 5" descr="bench.png"/>
          <p:cNvPicPr>
            <a:picLocks noChangeAspect="1"/>
          </p:cNvPicPr>
          <p:nvPr/>
        </p:nvPicPr>
        <p:blipFill>
          <a:blip r:embed="rId2"/>
          <a:stretch>
            <a:fillRect/>
          </a:stretch>
        </p:blipFill>
        <p:spPr>
          <a:xfrm>
            <a:off x="457200" y="1143000"/>
            <a:ext cx="4937760" cy="1920240"/>
          </a:xfrm>
          <a:prstGeom prst="rect">
            <a:avLst/>
          </a:prstGeom>
        </p:spPr>
      </p:pic>
      <p:graphicFrame>
        <p:nvGraphicFramePr>
          <p:cNvPr id="7" name="Table 6"/>
          <p:cNvGraphicFramePr>
            <a:graphicFrameLocks noGrp="1"/>
          </p:cNvGraphicFramePr>
          <p:nvPr/>
        </p:nvGraphicFramePr>
        <p:xfrm>
          <a:off x="457200" y="3246120"/>
          <a:ext cx="4937760" cy="1353312"/>
        </p:xfrm>
        <a:graphic>
          <a:graphicData uri="http://schemas.openxmlformats.org/drawingml/2006/table">
            <a:tbl>
              <a:tblPr firstRow="1" bandRow="1">
                <a:tableStyleId>{5C22544A-7EE6-4342-B048-85BDC9FD1C3A}</a:tableStyleId>
              </a:tblPr>
              <a:tblGrid>
                <a:gridCol w="1005840"/>
                <a:gridCol w="1371600"/>
                <a:gridCol w="1097280"/>
                <a:gridCol w="1463040"/>
              </a:tblGrid>
              <a:tr h="365760">
                <a:tc>
                  <a:txBody>
                    <a:bodyPr wrap="square"/>
                    <a:lstStyle/>
                    <a:p>
                      <a:r>
                        <a:rPr sz="1000" b="1" i="0">
                          <a:solidFill>
                            <a:srgbClr val="FFFFFF"/>
                          </a:solidFill>
                          <a:latin typeface="Inter"/>
                        </a:rPr>
                        <a:t>Ballots</a:t>
                      </a:r>
                    </a:p>
                  </a:txBody>
                  <a:tcPr marL="73152" marR="73152" marT="36576" marB="36576" anchor="ctr">
                    <a:solidFill>
                      <a:srgbClr val="1B2A55"/>
                    </a:solidFill>
                  </a:tcPr>
                </a:tc>
                <a:tc>
                  <a:txBody>
                    <a:bodyPr wrap="square"/>
                    <a:lstStyle/>
                    <a:p>
                      <a:r>
                        <a:rPr sz="1000" b="1" i="0">
                          <a:solidFill>
                            <a:srgbClr val="FFFFFF"/>
                          </a:solidFill>
                          <a:latin typeface="Inter"/>
                        </a:rPr>
                        <a:t>Cast ms (file)</a:t>
                      </a:r>
                    </a:p>
                  </a:txBody>
                  <a:tcPr marL="73152" marR="73152" marT="36576" marB="36576" anchor="ctr">
                    <a:solidFill>
                      <a:srgbClr val="1B2A55"/>
                    </a:solidFill>
                  </a:tcPr>
                </a:tc>
                <a:tc>
                  <a:txBody>
                    <a:bodyPr wrap="square"/>
                    <a:lstStyle/>
                    <a:p>
                      <a:r>
                        <a:rPr sz="1000" b="1" i="0">
                          <a:solidFill>
                            <a:srgbClr val="FFFFFF"/>
                          </a:solidFill>
                          <a:latin typeface="Inter"/>
                        </a:rPr>
                        <a:t>Sweep ms</a:t>
                      </a:r>
                    </a:p>
                  </a:txBody>
                  <a:tcPr marL="73152" marR="73152" marT="36576" marB="36576" anchor="ctr">
                    <a:solidFill>
                      <a:srgbClr val="1B2A55"/>
                    </a:solidFill>
                  </a:tcPr>
                </a:tc>
                <a:tc>
                  <a:txBody>
                    <a:bodyPr wrap="square"/>
                    <a:lstStyle/>
                    <a:p>
                      <a:r>
                        <a:rPr sz="1000" b="1" i="0">
                          <a:solidFill>
                            <a:srgbClr val="FFFFFF"/>
                          </a:solidFill>
                          <a:latin typeface="Inter"/>
                        </a:rPr>
                        <a:t>Atlas append ms</a:t>
                      </a:r>
                    </a:p>
                  </a:txBody>
                  <a:tcPr marL="73152" marR="73152" marT="36576" marB="36576" anchor="ctr">
                    <a:solidFill>
                      <a:srgbClr val="1B2A55"/>
                    </a:solidFill>
                  </a:tcPr>
                </a:tc>
              </a:tr>
              <a:tr h="329184">
                <a:tc>
                  <a:txBody>
                    <a:bodyPr wrap="square"/>
                    <a:lstStyle/>
                    <a:p>
                      <a:r>
                        <a:rPr sz="1000" b="1" i="0">
                          <a:solidFill>
                            <a:srgbClr val="1B2A55"/>
                          </a:solidFill>
                          <a:latin typeface="Inter"/>
                        </a:rPr>
                        <a:t>100</a:t>
                      </a:r>
                    </a:p>
                  </a:txBody>
                  <a:tcPr marL="73152" marR="73152" marT="36576" marB="36576" anchor="ctr">
                    <a:solidFill>
                      <a:srgbClr val="FFFFFF"/>
                    </a:solidFill>
                  </a:tcPr>
                </a:tc>
                <a:tc>
                  <a:txBody>
                    <a:bodyPr wrap="square"/>
                    <a:lstStyle/>
                    <a:p>
                      <a:r>
                        <a:rPr sz="1000" b="0" i="0">
                          <a:solidFill>
                            <a:srgbClr val="353B4A"/>
                          </a:solidFill>
                          <a:latin typeface="Inter"/>
                        </a:rPr>
                        <a:t>9</a:t>
                      </a:r>
                    </a:p>
                  </a:txBody>
                  <a:tcPr marL="73152" marR="73152" marT="36576" marB="36576" anchor="ctr">
                    <a:solidFill>
                      <a:srgbClr val="FFFFFF"/>
                    </a:solidFill>
                  </a:tcPr>
                </a:tc>
                <a:tc>
                  <a:txBody>
                    <a:bodyPr wrap="square"/>
                    <a:lstStyle/>
                    <a:p>
                      <a:r>
                        <a:rPr sz="1000" b="0" i="0">
                          <a:solidFill>
                            <a:srgbClr val="353B4A"/>
                          </a:solidFill>
                          <a:latin typeface="Inter"/>
                        </a:rPr>
                        <a:t>4</a:t>
                      </a:r>
                    </a:p>
                  </a:txBody>
                  <a:tcPr marL="73152" marR="73152" marT="36576" marB="36576" anchor="ctr">
                    <a:solidFill>
                      <a:srgbClr val="FFFFFF"/>
                    </a:solidFill>
                  </a:tcPr>
                </a:tc>
                <a:tc>
                  <a:txBody>
                    <a:bodyPr wrap="square"/>
                    <a:lstStyle/>
                    <a:p>
                      <a:r>
                        <a:rPr sz="1000" b="0" i="0">
                          <a:solidFill>
                            <a:srgbClr val="353B4A"/>
                          </a:solidFill>
                          <a:latin typeface="Inter"/>
                        </a:rPr>
                        <a:t>136</a:t>
                      </a:r>
                    </a:p>
                  </a:txBody>
                  <a:tcPr marL="73152" marR="73152" marT="36576" marB="36576" anchor="ctr">
                    <a:solidFill>
                      <a:srgbClr val="FFFFFF"/>
                    </a:solidFill>
                  </a:tcPr>
                </a:tc>
              </a:tr>
              <a:tr h="329184">
                <a:tc>
                  <a:txBody>
                    <a:bodyPr wrap="square"/>
                    <a:lstStyle/>
                    <a:p>
                      <a:r>
                        <a:rPr sz="1000" b="1" i="0">
                          <a:solidFill>
                            <a:srgbClr val="1B2A55"/>
                          </a:solidFill>
                          <a:latin typeface="Inter"/>
                        </a:rPr>
                        <a:t>1,000</a:t>
                      </a:r>
                    </a:p>
                  </a:txBody>
                  <a:tcPr marL="73152" marR="73152" marT="36576" marB="36576" anchor="ctr">
                    <a:solidFill>
                      <a:srgbClr val="F1F0F6"/>
                    </a:solidFill>
                  </a:tcPr>
                </a:tc>
                <a:tc>
                  <a:txBody>
                    <a:bodyPr wrap="square"/>
                    <a:lstStyle/>
                    <a:p>
                      <a:r>
                        <a:rPr sz="1000" b="0" i="0">
                          <a:solidFill>
                            <a:srgbClr val="353B4A"/>
                          </a:solidFill>
                          <a:latin typeface="Inter"/>
                        </a:rPr>
                        <a:t>33</a:t>
                      </a:r>
                    </a:p>
                  </a:txBody>
                  <a:tcPr marL="73152" marR="73152" marT="36576" marB="36576" anchor="ctr">
                    <a:solidFill>
                      <a:srgbClr val="F1F0F6"/>
                    </a:solidFill>
                  </a:tcPr>
                </a:tc>
                <a:tc>
                  <a:txBody>
                    <a:bodyPr wrap="square"/>
                    <a:lstStyle/>
                    <a:p>
                      <a:r>
                        <a:rPr sz="1000" b="0" i="0">
                          <a:solidFill>
                            <a:srgbClr val="353B4A"/>
                          </a:solidFill>
                          <a:latin typeface="Inter"/>
                        </a:rPr>
                        <a:t>12</a:t>
                      </a:r>
                    </a:p>
                  </a:txBody>
                  <a:tcPr marL="73152" marR="73152" marT="36576" marB="36576" anchor="ctr">
                    <a:solidFill>
                      <a:srgbClr val="F1F0F6"/>
                    </a:solidFill>
                  </a:tcPr>
                </a:tc>
                <a:tc>
                  <a:txBody>
                    <a:bodyPr wrap="square"/>
                    <a:lstStyle/>
                    <a:p>
                      <a:r>
                        <a:rPr sz="1000" b="0" i="0">
                          <a:solidFill>
                            <a:srgbClr val="353B4A"/>
                          </a:solidFill>
                          <a:latin typeface="Inter"/>
                        </a:rPr>
                        <a:t>147</a:t>
                      </a:r>
                    </a:p>
                  </a:txBody>
                  <a:tcPr marL="73152" marR="73152" marT="36576" marB="36576" anchor="ctr">
                    <a:solidFill>
                      <a:srgbClr val="F1F0F6"/>
                    </a:solidFill>
                  </a:tcPr>
                </a:tc>
              </a:tr>
              <a:tr h="329184">
                <a:tc>
                  <a:txBody>
                    <a:bodyPr wrap="square"/>
                    <a:lstStyle/>
                    <a:p>
                      <a:r>
                        <a:rPr sz="1000" b="1" i="0">
                          <a:solidFill>
                            <a:srgbClr val="1B2A55"/>
                          </a:solidFill>
                          <a:latin typeface="Inter"/>
                        </a:rPr>
                        <a:t>10,000</a:t>
                      </a:r>
                    </a:p>
                  </a:txBody>
                  <a:tcPr marL="73152" marR="73152" marT="36576" marB="36576" anchor="ctr">
                    <a:solidFill>
                      <a:srgbClr val="FFFFFF"/>
                    </a:solidFill>
                  </a:tcPr>
                </a:tc>
                <a:tc>
                  <a:txBody>
                    <a:bodyPr wrap="square"/>
                    <a:lstStyle/>
                    <a:p>
                      <a:r>
                        <a:rPr sz="1000" b="0" i="0">
                          <a:solidFill>
                            <a:srgbClr val="353B4A"/>
                          </a:solidFill>
                          <a:latin typeface="Inter"/>
                        </a:rPr>
                        <a:t>205</a:t>
                      </a:r>
                    </a:p>
                  </a:txBody>
                  <a:tcPr marL="73152" marR="73152" marT="36576" marB="36576" anchor="ctr">
                    <a:solidFill>
                      <a:srgbClr val="FFFFFF"/>
                    </a:solidFill>
                  </a:tcPr>
                </a:tc>
                <a:tc>
                  <a:txBody>
                    <a:bodyPr wrap="square"/>
                    <a:lstStyle/>
                    <a:p>
                      <a:r>
                        <a:rPr sz="1000" b="0" i="0">
                          <a:solidFill>
                            <a:srgbClr val="353B4A"/>
                          </a:solidFill>
                          <a:latin typeface="Inter"/>
                        </a:rPr>
                        <a:t>147</a:t>
                      </a:r>
                    </a:p>
                  </a:txBody>
                  <a:tcPr marL="73152" marR="73152" marT="36576" marB="36576" anchor="ctr">
                    <a:solidFill>
                      <a:srgbClr val="FFFFFF"/>
                    </a:solidFill>
                  </a:tcPr>
                </a:tc>
                <a:tc>
                  <a:txBody>
                    <a:bodyPr wrap="square"/>
                    <a:lstStyle/>
                    <a:p>
                      <a:r>
                        <a:rPr sz="1000" b="0" i="0">
                          <a:solidFill>
                            <a:srgbClr val="353B4A"/>
                          </a:solidFill>
                          <a:latin typeface="Inter"/>
                        </a:rPr>
                        <a:t>139</a:t>
                      </a:r>
                    </a:p>
                  </a:txBody>
                  <a:tcPr marL="73152" marR="73152" marT="36576" marB="36576" anchor="ctr">
                    <a:solidFill>
                      <a:srgbClr val="FFFFFF"/>
                    </a:solidFill>
                  </a:tcPr>
                </a:tc>
              </a:tr>
            </a:tbl>
          </a:graphicData>
        </a:graphic>
      </p:graphicFrame>
      <p:sp>
        <p:nvSpPr>
          <p:cNvPr id="8" name="TextBox 7"/>
          <p:cNvSpPr txBox="1"/>
          <p:nvPr/>
        </p:nvSpPr>
        <p:spPr>
          <a:xfrm>
            <a:off x="5669280" y="1188720"/>
            <a:ext cx="3017520" cy="3474720"/>
          </a:xfrm>
          <a:prstGeom prst="rect">
            <a:avLst/>
          </a:prstGeom>
          <a:noFill/>
        </p:spPr>
        <p:txBody>
          <a:bodyPr wrap="square" anchor="t" lIns="0" rIns="0" tIns="0" bIns="0">
            <a:spAutoFit/>
          </a:bodyPr>
          <a:lstStyle/>
          <a:p>
            <a:pPr algn="l">
              <a:spcAft>
                <a:spcPts val="500"/>
              </a:spcAft>
            </a:pPr>
            <a:r>
              <a:rPr sz="1050" b="1" i="0">
                <a:solidFill>
                  <a:srgbClr val="1B2A55"/>
                </a:solidFill>
                <a:latin typeface="Inter"/>
              </a:rPr>
              <a:t>•  </a:t>
            </a:r>
            <a:r>
              <a:rPr sz="1050" b="0" i="0">
                <a:solidFill>
                  <a:srgbClr val="353B4A"/>
                </a:solidFill>
                <a:latin typeface="Inter"/>
              </a:rPr>
              <a:t>Sweep at 10,000 ballots: 147 ms, about 15% slower than before.</a:t>
            </a:r>
          </a:p>
          <a:p>
            <a:pPr algn="l">
              <a:spcAft>
                <a:spcPts val="500"/>
              </a:spcAft>
            </a:pPr>
            <a:r>
              <a:rPr sz="1050" b="1" i="0">
                <a:solidFill>
                  <a:srgbClr val="1B2A55"/>
                </a:solidFill>
                <a:latin typeface="Inter"/>
              </a:rPr>
              <a:t>•  </a:t>
            </a:r>
            <a:r>
              <a:rPr sz="1050" b="0" i="0">
                <a:solidFill>
                  <a:srgbClr val="353B4A"/>
                </a:solidFill>
                <a:latin typeface="Inter"/>
              </a:rPr>
              <a:t>File ledger: a cast grows from 9 to 205 ms because each append rewrites the file.</a:t>
            </a:r>
          </a:p>
          <a:p>
            <a:pPr algn="l">
              <a:spcAft>
                <a:spcPts val="500"/>
              </a:spcAft>
            </a:pPr>
            <a:r>
              <a:rPr sz="1050" b="1" i="0">
                <a:solidFill>
                  <a:srgbClr val="1B2A55"/>
                </a:solidFill>
                <a:latin typeface="Inter"/>
              </a:rPr>
              <a:t>•  </a:t>
            </a:r>
            <a:r>
              <a:rPr sz="1050" b="0" i="0">
                <a:solidFill>
                  <a:srgbClr val="353B4A"/>
                </a:solidFill>
                <a:latin typeface="Inter"/>
              </a:rPr>
              <a:t>Atlas: about 147 ms at any size (network round trip).</a:t>
            </a:r>
          </a:p>
          <a:p>
            <a:pPr algn="l">
              <a:spcAft>
                <a:spcPts val="500"/>
              </a:spcAft>
            </a:pPr>
            <a:r>
              <a:rPr sz="1050" b="1" i="0">
                <a:solidFill>
                  <a:srgbClr val="1B2A55"/>
                </a:solidFill>
                <a:latin typeface="Inter"/>
              </a:rPr>
              <a:t>•  </a:t>
            </a:r>
            <a:r>
              <a:rPr sz="1050" b="0" i="0">
                <a:solidFill>
                  <a:srgbClr val="353B4A"/>
                </a:solidFill>
                <a:latin typeface="Inter"/>
              </a:rPr>
              <a:t>The file is faster when small; Atlas wins on flat growth, concurrency control and living off-machine.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COMPARATIVE STUDY · COVERAGE MATRIX</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Coverage matrix: who documents which feature</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40</a:t>
            </a:r>
          </a:p>
        </p:txBody>
      </p:sp>
      <p:sp>
        <p:nvSpPr>
          <p:cNvPr id="6" name="Rectangle 5"/>
          <p:cNvSpPr/>
          <p:nvPr/>
        </p:nvSpPr>
        <p:spPr>
          <a:xfrm>
            <a:off x="457200" y="1024128"/>
            <a:ext cx="219456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FFFFFF"/>
                </a:solidFill>
                <a:latin typeface="Inter"/>
              </a:rPr>
              <a:t>System</a:t>
            </a:r>
          </a:p>
        </p:txBody>
      </p:sp>
      <p:sp>
        <p:nvSpPr>
          <p:cNvPr id="7" name="Rectangle 6"/>
          <p:cNvSpPr/>
          <p:nvPr/>
        </p:nvSpPr>
        <p:spPr>
          <a:xfrm>
            <a:off x="2651760"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F1</a:t>
            </a:r>
          </a:p>
        </p:txBody>
      </p:sp>
      <p:sp>
        <p:nvSpPr>
          <p:cNvPr id="8" name="Rectangle 7"/>
          <p:cNvSpPr/>
          <p:nvPr/>
        </p:nvSpPr>
        <p:spPr>
          <a:xfrm>
            <a:off x="3236976"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F2</a:t>
            </a:r>
          </a:p>
        </p:txBody>
      </p:sp>
      <p:sp>
        <p:nvSpPr>
          <p:cNvPr id="9" name="Rectangle 8"/>
          <p:cNvSpPr/>
          <p:nvPr/>
        </p:nvSpPr>
        <p:spPr>
          <a:xfrm>
            <a:off x="3822191"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F3</a:t>
            </a:r>
          </a:p>
        </p:txBody>
      </p:sp>
      <p:sp>
        <p:nvSpPr>
          <p:cNvPr id="10" name="Rectangle 9"/>
          <p:cNvSpPr/>
          <p:nvPr/>
        </p:nvSpPr>
        <p:spPr>
          <a:xfrm>
            <a:off x="4407408"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F4</a:t>
            </a:r>
          </a:p>
        </p:txBody>
      </p:sp>
      <p:sp>
        <p:nvSpPr>
          <p:cNvPr id="11" name="Rectangle 10"/>
          <p:cNvSpPr/>
          <p:nvPr/>
        </p:nvSpPr>
        <p:spPr>
          <a:xfrm>
            <a:off x="4992624"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F5</a:t>
            </a:r>
          </a:p>
        </p:txBody>
      </p:sp>
      <p:sp>
        <p:nvSpPr>
          <p:cNvPr id="12" name="Rectangle 11"/>
          <p:cNvSpPr/>
          <p:nvPr/>
        </p:nvSpPr>
        <p:spPr>
          <a:xfrm>
            <a:off x="5577840"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F6</a:t>
            </a:r>
          </a:p>
        </p:txBody>
      </p:sp>
      <p:sp>
        <p:nvSpPr>
          <p:cNvPr id="13" name="Rectangle 12"/>
          <p:cNvSpPr/>
          <p:nvPr/>
        </p:nvSpPr>
        <p:spPr>
          <a:xfrm>
            <a:off x="6163056"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F7</a:t>
            </a:r>
          </a:p>
        </p:txBody>
      </p:sp>
      <p:sp>
        <p:nvSpPr>
          <p:cNvPr id="14" name="Rectangle 13"/>
          <p:cNvSpPr/>
          <p:nvPr/>
        </p:nvSpPr>
        <p:spPr>
          <a:xfrm>
            <a:off x="6748272"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F8</a:t>
            </a:r>
          </a:p>
        </p:txBody>
      </p:sp>
      <p:sp>
        <p:nvSpPr>
          <p:cNvPr id="15" name="Rectangle 14"/>
          <p:cNvSpPr/>
          <p:nvPr/>
        </p:nvSpPr>
        <p:spPr>
          <a:xfrm>
            <a:off x="7333488"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F9</a:t>
            </a:r>
          </a:p>
        </p:txBody>
      </p:sp>
      <p:sp>
        <p:nvSpPr>
          <p:cNvPr id="16" name="Rectangle 15"/>
          <p:cNvSpPr/>
          <p:nvPr/>
        </p:nvSpPr>
        <p:spPr>
          <a:xfrm>
            <a:off x="457200" y="132588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Helios</a:t>
            </a:r>
          </a:p>
        </p:txBody>
      </p:sp>
      <p:sp>
        <p:nvSpPr>
          <p:cNvPr id="17" name="Rectangle 16"/>
          <p:cNvSpPr/>
          <p:nvPr/>
        </p:nvSpPr>
        <p:spPr>
          <a:xfrm>
            <a:off x="2651760" y="1325880"/>
            <a:ext cx="548640" cy="237744"/>
          </a:xfrm>
          <a:prstGeom prst="rect">
            <a:avLst/>
          </a:prstGeom>
          <a:solidFill>
            <a:srgbClr val="F8D9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C0392B"/>
                </a:solidFill>
                <a:latin typeface="Inter"/>
              </a:rPr>
              <a:t>No</a:t>
            </a:r>
          </a:p>
        </p:txBody>
      </p:sp>
      <p:sp>
        <p:nvSpPr>
          <p:cNvPr id="18" name="Rectangle 17"/>
          <p:cNvSpPr/>
          <p:nvPr/>
        </p:nvSpPr>
        <p:spPr>
          <a:xfrm>
            <a:off x="3236976" y="132588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9" name="Rectangle 18"/>
          <p:cNvSpPr/>
          <p:nvPr/>
        </p:nvSpPr>
        <p:spPr>
          <a:xfrm>
            <a:off x="3822191" y="132588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20" name="Rectangle 19"/>
          <p:cNvSpPr/>
          <p:nvPr/>
        </p:nvSpPr>
        <p:spPr>
          <a:xfrm>
            <a:off x="4407408" y="132588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21" name="Rectangle 20"/>
          <p:cNvSpPr/>
          <p:nvPr/>
        </p:nvSpPr>
        <p:spPr>
          <a:xfrm>
            <a:off x="4992624" y="132588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22" name="Rectangle 21"/>
          <p:cNvSpPr/>
          <p:nvPr/>
        </p:nvSpPr>
        <p:spPr>
          <a:xfrm>
            <a:off x="5577840" y="132588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23" name="Rectangle 22"/>
          <p:cNvSpPr/>
          <p:nvPr/>
        </p:nvSpPr>
        <p:spPr>
          <a:xfrm>
            <a:off x="6163056" y="132588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24" name="Rectangle 23"/>
          <p:cNvSpPr/>
          <p:nvPr/>
        </p:nvSpPr>
        <p:spPr>
          <a:xfrm>
            <a:off x="6748272" y="13258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25" name="Rectangle 24"/>
          <p:cNvSpPr/>
          <p:nvPr/>
        </p:nvSpPr>
        <p:spPr>
          <a:xfrm>
            <a:off x="7333488" y="132588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26" name="Rectangle 25"/>
          <p:cNvSpPr/>
          <p:nvPr/>
        </p:nvSpPr>
        <p:spPr>
          <a:xfrm>
            <a:off x="457200" y="160020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Belenios</a:t>
            </a:r>
          </a:p>
        </p:txBody>
      </p:sp>
      <p:sp>
        <p:nvSpPr>
          <p:cNvPr id="27" name="Rectangle 26"/>
          <p:cNvSpPr/>
          <p:nvPr/>
        </p:nvSpPr>
        <p:spPr>
          <a:xfrm>
            <a:off x="2651760"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28" name="Rectangle 27"/>
          <p:cNvSpPr/>
          <p:nvPr/>
        </p:nvSpPr>
        <p:spPr>
          <a:xfrm>
            <a:off x="3236976"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29" name="Rectangle 28"/>
          <p:cNvSpPr/>
          <p:nvPr/>
        </p:nvSpPr>
        <p:spPr>
          <a:xfrm>
            <a:off x="3822191" y="16002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30" name="Rectangle 29"/>
          <p:cNvSpPr/>
          <p:nvPr/>
        </p:nvSpPr>
        <p:spPr>
          <a:xfrm>
            <a:off x="4407408"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31" name="Rectangle 30"/>
          <p:cNvSpPr/>
          <p:nvPr/>
        </p:nvSpPr>
        <p:spPr>
          <a:xfrm>
            <a:off x="4992624"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32" name="Rectangle 31"/>
          <p:cNvSpPr/>
          <p:nvPr/>
        </p:nvSpPr>
        <p:spPr>
          <a:xfrm>
            <a:off x="5577840"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33" name="Rectangle 32"/>
          <p:cNvSpPr/>
          <p:nvPr/>
        </p:nvSpPr>
        <p:spPr>
          <a:xfrm>
            <a:off x="6163056" y="16002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34" name="Rectangle 33"/>
          <p:cNvSpPr/>
          <p:nvPr/>
        </p:nvSpPr>
        <p:spPr>
          <a:xfrm>
            <a:off x="6748272" y="160020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35" name="Rectangle 34"/>
          <p:cNvSpPr/>
          <p:nvPr/>
        </p:nvSpPr>
        <p:spPr>
          <a:xfrm>
            <a:off x="7333488"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36" name="Rectangle 35"/>
          <p:cNvSpPr/>
          <p:nvPr/>
        </p:nvSpPr>
        <p:spPr>
          <a:xfrm>
            <a:off x="457200" y="1874519"/>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OpaVote</a:t>
            </a:r>
          </a:p>
        </p:txBody>
      </p:sp>
      <p:sp>
        <p:nvSpPr>
          <p:cNvPr id="37" name="Rectangle 36"/>
          <p:cNvSpPr/>
          <p:nvPr/>
        </p:nvSpPr>
        <p:spPr>
          <a:xfrm>
            <a:off x="2651760" y="1874519"/>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38" name="Rectangle 37"/>
          <p:cNvSpPr/>
          <p:nvPr/>
        </p:nvSpPr>
        <p:spPr>
          <a:xfrm>
            <a:off x="3236976" y="187451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39" name="Rectangle 38"/>
          <p:cNvSpPr/>
          <p:nvPr/>
        </p:nvSpPr>
        <p:spPr>
          <a:xfrm>
            <a:off x="3822191" y="187451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40" name="Rectangle 39"/>
          <p:cNvSpPr/>
          <p:nvPr/>
        </p:nvSpPr>
        <p:spPr>
          <a:xfrm>
            <a:off x="4407408" y="187451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41" name="Rectangle 40"/>
          <p:cNvSpPr/>
          <p:nvPr/>
        </p:nvSpPr>
        <p:spPr>
          <a:xfrm>
            <a:off x="4992624" y="187451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42" name="Rectangle 41"/>
          <p:cNvSpPr/>
          <p:nvPr/>
        </p:nvSpPr>
        <p:spPr>
          <a:xfrm>
            <a:off x="5577840" y="187451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43" name="Rectangle 42"/>
          <p:cNvSpPr/>
          <p:nvPr/>
        </p:nvSpPr>
        <p:spPr>
          <a:xfrm>
            <a:off x="6163056" y="187451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44" name="Rectangle 43"/>
          <p:cNvSpPr/>
          <p:nvPr/>
        </p:nvSpPr>
        <p:spPr>
          <a:xfrm>
            <a:off x="6748272" y="187451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45" name="Rectangle 44"/>
          <p:cNvSpPr/>
          <p:nvPr/>
        </p:nvSpPr>
        <p:spPr>
          <a:xfrm>
            <a:off x="7333488" y="187451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46" name="Rectangle 45"/>
          <p:cNvSpPr/>
          <p:nvPr/>
        </p:nvSpPr>
        <p:spPr>
          <a:xfrm>
            <a:off x="457200" y="214884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ElectionBuddy</a:t>
            </a:r>
          </a:p>
        </p:txBody>
      </p:sp>
      <p:sp>
        <p:nvSpPr>
          <p:cNvPr id="47" name="Rectangle 46"/>
          <p:cNvSpPr/>
          <p:nvPr/>
        </p:nvSpPr>
        <p:spPr>
          <a:xfrm>
            <a:off x="2651760"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48" name="Rectangle 47"/>
          <p:cNvSpPr/>
          <p:nvPr/>
        </p:nvSpPr>
        <p:spPr>
          <a:xfrm>
            <a:off x="3236976"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49" name="Rectangle 48"/>
          <p:cNvSpPr/>
          <p:nvPr/>
        </p:nvSpPr>
        <p:spPr>
          <a:xfrm>
            <a:off x="3822191" y="214884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50" name="Rectangle 49"/>
          <p:cNvSpPr/>
          <p:nvPr/>
        </p:nvSpPr>
        <p:spPr>
          <a:xfrm>
            <a:off x="4407408"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1" name="Rectangle 50"/>
          <p:cNvSpPr/>
          <p:nvPr/>
        </p:nvSpPr>
        <p:spPr>
          <a:xfrm>
            <a:off x="4992624"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2" name="Rectangle 51"/>
          <p:cNvSpPr/>
          <p:nvPr/>
        </p:nvSpPr>
        <p:spPr>
          <a:xfrm>
            <a:off x="5577840"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3" name="Rectangle 52"/>
          <p:cNvSpPr/>
          <p:nvPr/>
        </p:nvSpPr>
        <p:spPr>
          <a:xfrm>
            <a:off x="6163056"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4" name="Rectangle 53"/>
          <p:cNvSpPr/>
          <p:nvPr/>
        </p:nvSpPr>
        <p:spPr>
          <a:xfrm>
            <a:off x="6748272" y="214884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55" name="Rectangle 54"/>
          <p:cNvSpPr/>
          <p:nvPr/>
        </p:nvSpPr>
        <p:spPr>
          <a:xfrm>
            <a:off x="7333488"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6" name="Rectangle 55"/>
          <p:cNvSpPr/>
          <p:nvPr/>
        </p:nvSpPr>
        <p:spPr>
          <a:xfrm>
            <a:off x="457200" y="242316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TapVoter</a:t>
            </a:r>
          </a:p>
        </p:txBody>
      </p:sp>
      <p:sp>
        <p:nvSpPr>
          <p:cNvPr id="57" name="Rectangle 56"/>
          <p:cNvSpPr/>
          <p:nvPr/>
        </p:nvSpPr>
        <p:spPr>
          <a:xfrm>
            <a:off x="2651760"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8" name="Rectangle 57"/>
          <p:cNvSpPr/>
          <p:nvPr/>
        </p:nvSpPr>
        <p:spPr>
          <a:xfrm>
            <a:off x="3236976"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9" name="Rectangle 58"/>
          <p:cNvSpPr/>
          <p:nvPr/>
        </p:nvSpPr>
        <p:spPr>
          <a:xfrm>
            <a:off x="3822191" y="24231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60" name="Rectangle 59"/>
          <p:cNvSpPr/>
          <p:nvPr/>
        </p:nvSpPr>
        <p:spPr>
          <a:xfrm>
            <a:off x="4407408"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1" name="Rectangle 60"/>
          <p:cNvSpPr/>
          <p:nvPr/>
        </p:nvSpPr>
        <p:spPr>
          <a:xfrm>
            <a:off x="4992624"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2" name="Rectangle 61"/>
          <p:cNvSpPr/>
          <p:nvPr/>
        </p:nvSpPr>
        <p:spPr>
          <a:xfrm>
            <a:off x="5577840"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3" name="Rectangle 62"/>
          <p:cNvSpPr/>
          <p:nvPr/>
        </p:nvSpPr>
        <p:spPr>
          <a:xfrm>
            <a:off x="6163056"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4" name="Rectangle 63"/>
          <p:cNvSpPr/>
          <p:nvPr/>
        </p:nvSpPr>
        <p:spPr>
          <a:xfrm>
            <a:off x="6748272" y="242316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65" name="Rectangle 64"/>
          <p:cNvSpPr/>
          <p:nvPr/>
        </p:nvSpPr>
        <p:spPr>
          <a:xfrm>
            <a:off x="7333488"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6" name="Rectangle 65"/>
          <p:cNvSpPr/>
          <p:nvPr/>
        </p:nvSpPr>
        <p:spPr>
          <a:xfrm>
            <a:off x="457200" y="2697479"/>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BetterVoting</a:t>
            </a:r>
          </a:p>
        </p:txBody>
      </p:sp>
      <p:sp>
        <p:nvSpPr>
          <p:cNvPr id="67" name="Rectangle 66"/>
          <p:cNvSpPr/>
          <p:nvPr/>
        </p:nvSpPr>
        <p:spPr>
          <a:xfrm>
            <a:off x="2651760" y="269747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8" name="Rectangle 67"/>
          <p:cNvSpPr/>
          <p:nvPr/>
        </p:nvSpPr>
        <p:spPr>
          <a:xfrm>
            <a:off x="3236976" y="2697479"/>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69" name="Rectangle 68"/>
          <p:cNvSpPr/>
          <p:nvPr/>
        </p:nvSpPr>
        <p:spPr>
          <a:xfrm>
            <a:off x="3822191" y="269747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70" name="Rectangle 69"/>
          <p:cNvSpPr/>
          <p:nvPr/>
        </p:nvSpPr>
        <p:spPr>
          <a:xfrm>
            <a:off x="4407408" y="269747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71" name="Rectangle 70"/>
          <p:cNvSpPr/>
          <p:nvPr/>
        </p:nvSpPr>
        <p:spPr>
          <a:xfrm>
            <a:off x="4992624" y="269747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72" name="Rectangle 71"/>
          <p:cNvSpPr/>
          <p:nvPr/>
        </p:nvSpPr>
        <p:spPr>
          <a:xfrm>
            <a:off x="5577840" y="269747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73" name="Rectangle 72"/>
          <p:cNvSpPr/>
          <p:nvPr/>
        </p:nvSpPr>
        <p:spPr>
          <a:xfrm>
            <a:off x="6163056" y="269747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74" name="Rectangle 73"/>
          <p:cNvSpPr/>
          <p:nvPr/>
        </p:nvSpPr>
        <p:spPr>
          <a:xfrm>
            <a:off x="6748272" y="2697479"/>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75" name="Rectangle 74"/>
          <p:cNvSpPr/>
          <p:nvPr/>
        </p:nvSpPr>
        <p:spPr>
          <a:xfrm>
            <a:off x="7333488" y="2697479"/>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76" name="Rectangle 75"/>
          <p:cNvSpPr/>
          <p:nvPr/>
        </p:nvSpPr>
        <p:spPr>
          <a:xfrm>
            <a:off x="457200" y="297180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Google Forms</a:t>
            </a:r>
          </a:p>
        </p:txBody>
      </p:sp>
      <p:sp>
        <p:nvSpPr>
          <p:cNvPr id="77" name="Rectangle 76"/>
          <p:cNvSpPr/>
          <p:nvPr/>
        </p:nvSpPr>
        <p:spPr>
          <a:xfrm>
            <a:off x="2651760"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78" name="Rectangle 77"/>
          <p:cNvSpPr/>
          <p:nvPr/>
        </p:nvSpPr>
        <p:spPr>
          <a:xfrm>
            <a:off x="3236976"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79" name="Rectangle 78"/>
          <p:cNvSpPr/>
          <p:nvPr/>
        </p:nvSpPr>
        <p:spPr>
          <a:xfrm>
            <a:off x="3822191"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80" name="Rectangle 79"/>
          <p:cNvSpPr/>
          <p:nvPr/>
        </p:nvSpPr>
        <p:spPr>
          <a:xfrm>
            <a:off x="4407408" y="29718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81" name="Rectangle 80"/>
          <p:cNvSpPr/>
          <p:nvPr/>
        </p:nvSpPr>
        <p:spPr>
          <a:xfrm>
            <a:off x="4992624"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82" name="Rectangle 81"/>
          <p:cNvSpPr/>
          <p:nvPr/>
        </p:nvSpPr>
        <p:spPr>
          <a:xfrm>
            <a:off x="5577840" y="2971800"/>
            <a:ext cx="548640" cy="237744"/>
          </a:xfrm>
          <a:prstGeom prst="rect">
            <a:avLst/>
          </a:prstGeom>
          <a:solidFill>
            <a:srgbClr val="F8D9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C0392B"/>
                </a:solidFill>
                <a:latin typeface="Inter"/>
              </a:rPr>
              <a:t>No</a:t>
            </a:r>
          </a:p>
        </p:txBody>
      </p:sp>
      <p:sp>
        <p:nvSpPr>
          <p:cNvPr id="83" name="Rectangle 82"/>
          <p:cNvSpPr/>
          <p:nvPr/>
        </p:nvSpPr>
        <p:spPr>
          <a:xfrm>
            <a:off x="6163056"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84" name="Rectangle 83"/>
          <p:cNvSpPr/>
          <p:nvPr/>
        </p:nvSpPr>
        <p:spPr>
          <a:xfrm>
            <a:off x="6748272"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85" name="Rectangle 84"/>
          <p:cNvSpPr/>
          <p:nvPr/>
        </p:nvSpPr>
        <p:spPr>
          <a:xfrm>
            <a:off x="7333488" y="29718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86" name="Rectangle 85"/>
          <p:cNvSpPr/>
          <p:nvPr/>
        </p:nvSpPr>
        <p:spPr>
          <a:xfrm>
            <a:off x="457200" y="324612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FlexyVotes</a:t>
            </a:r>
          </a:p>
        </p:txBody>
      </p:sp>
      <p:sp>
        <p:nvSpPr>
          <p:cNvPr id="87" name="Rectangle 86"/>
          <p:cNvSpPr/>
          <p:nvPr/>
        </p:nvSpPr>
        <p:spPr>
          <a:xfrm>
            <a:off x="2651760" y="324612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88" name="Rectangle 87"/>
          <p:cNvSpPr/>
          <p:nvPr/>
        </p:nvSpPr>
        <p:spPr>
          <a:xfrm>
            <a:off x="3236976" y="324612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89" name="Rectangle 88"/>
          <p:cNvSpPr/>
          <p:nvPr/>
        </p:nvSpPr>
        <p:spPr>
          <a:xfrm>
            <a:off x="3822191" y="324612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90" name="Rectangle 89"/>
          <p:cNvSpPr/>
          <p:nvPr/>
        </p:nvSpPr>
        <p:spPr>
          <a:xfrm>
            <a:off x="4407408" y="324612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91" name="Rectangle 90"/>
          <p:cNvSpPr/>
          <p:nvPr/>
        </p:nvSpPr>
        <p:spPr>
          <a:xfrm>
            <a:off x="4992624" y="324612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92" name="Rectangle 91"/>
          <p:cNvSpPr/>
          <p:nvPr/>
        </p:nvSpPr>
        <p:spPr>
          <a:xfrm>
            <a:off x="5577840" y="324612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93" name="Rectangle 92"/>
          <p:cNvSpPr/>
          <p:nvPr/>
        </p:nvSpPr>
        <p:spPr>
          <a:xfrm>
            <a:off x="6163056" y="3246120"/>
            <a:ext cx="548640" cy="237744"/>
          </a:xfrm>
          <a:prstGeom prst="rect">
            <a:avLst/>
          </a:prstGeom>
          <a:solidFill>
            <a:srgbClr val="F8D9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C0392B"/>
                </a:solidFill>
                <a:latin typeface="Inter"/>
              </a:rPr>
              <a:t>No</a:t>
            </a:r>
          </a:p>
        </p:txBody>
      </p:sp>
      <p:sp>
        <p:nvSpPr>
          <p:cNvPr id="94" name="Rectangle 93"/>
          <p:cNvSpPr/>
          <p:nvPr/>
        </p:nvSpPr>
        <p:spPr>
          <a:xfrm>
            <a:off x="6748272" y="324612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95" name="Rectangle 94"/>
          <p:cNvSpPr/>
          <p:nvPr/>
        </p:nvSpPr>
        <p:spPr>
          <a:xfrm>
            <a:off x="7333488" y="324612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96" name="Rectangle 95"/>
          <p:cNvSpPr/>
          <p:nvPr/>
        </p:nvSpPr>
        <p:spPr>
          <a:xfrm>
            <a:off x="457200" y="3520439"/>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VeriVote</a:t>
            </a:r>
          </a:p>
        </p:txBody>
      </p:sp>
      <p:sp>
        <p:nvSpPr>
          <p:cNvPr id="97" name="Rectangle 96"/>
          <p:cNvSpPr/>
          <p:nvPr/>
        </p:nvSpPr>
        <p:spPr>
          <a:xfrm>
            <a:off x="2651760" y="352043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98" name="Rectangle 97"/>
          <p:cNvSpPr/>
          <p:nvPr/>
        </p:nvSpPr>
        <p:spPr>
          <a:xfrm>
            <a:off x="3236976" y="352043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99" name="Rectangle 98"/>
          <p:cNvSpPr/>
          <p:nvPr/>
        </p:nvSpPr>
        <p:spPr>
          <a:xfrm>
            <a:off x="3822191" y="352043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00" name="Rectangle 99"/>
          <p:cNvSpPr/>
          <p:nvPr/>
        </p:nvSpPr>
        <p:spPr>
          <a:xfrm>
            <a:off x="4407408" y="352043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01" name="Rectangle 100"/>
          <p:cNvSpPr/>
          <p:nvPr/>
        </p:nvSpPr>
        <p:spPr>
          <a:xfrm>
            <a:off x="4992624" y="352043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02" name="Rectangle 101"/>
          <p:cNvSpPr/>
          <p:nvPr/>
        </p:nvSpPr>
        <p:spPr>
          <a:xfrm>
            <a:off x="5577840" y="352043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03" name="Rectangle 102"/>
          <p:cNvSpPr/>
          <p:nvPr/>
        </p:nvSpPr>
        <p:spPr>
          <a:xfrm>
            <a:off x="6163056" y="352043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04" name="Rectangle 103"/>
          <p:cNvSpPr/>
          <p:nvPr/>
        </p:nvSpPr>
        <p:spPr>
          <a:xfrm>
            <a:off x="6748272" y="3520439"/>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05" name="Rectangle 104"/>
          <p:cNvSpPr/>
          <p:nvPr/>
        </p:nvSpPr>
        <p:spPr>
          <a:xfrm>
            <a:off x="7333488" y="352043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06" name="Rectangle 105"/>
          <p:cNvSpPr/>
          <p:nvPr/>
        </p:nvSpPr>
        <p:spPr>
          <a:xfrm>
            <a:off x="457200" y="379476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SecureVote</a:t>
            </a:r>
          </a:p>
        </p:txBody>
      </p:sp>
      <p:sp>
        <p:nvSpPr>
          <p:cNvPr id="107" name="Rectangle 106"/>
          <p:cNvSpPr/>
          <p:nvPr/>
        </p:nvSpPr>
        <p:spPr>
          <a:xfrm>
            <a:off x="2651760" y="37947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08" name="Rectangle 107"/>
          <p:cNvSpPr/>
          <p:nvPr/>
        </p:nvSpPr>
        <p:spPr>
          <a:xfrm>
            <a:off x="3236976" y="3794760"/>
            <a:ext cx="548640" cy="237744"/>
          </a:xfrm>
          <a:prstGeom prst="rect">
            <a:avLst/>
          </a:prstGeom>
          <a:solidFill>
            <a:srgbClr val="F8D9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C0392B"/>
                </a:solidFill>
                <a:latin typeface="Inter"/>
              </a:rPr>
              <a:t>No</a:t>
            </a:r>
          </a:p>
        </p:txBody>
      </p:sp>
      <p:sp>
        <p:nvSpPr>
          <p:cNvPr id="109" name="Rectangle 108"/>
          <p:cNvSpPr/>
          <p:nvPr/>
        </p:nvSpPr>
        <p:spPr>
          <a:xfrm>
            <a:off x="3822191" y="37947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10" name="Rectangle 109"/>
          <p:cNvSpPr/>
          <p:nvPr/>
        </p:nvSpPr>
        <p:spPr>
          <a:xfrm>
            <a:off x="4407408" y="37947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11" name="Rectangle 110"/>
          <p:cNvSpPr/>
          <p:nvPr/>
        </p:nvSpPr>
        <p:spPr>
          <a:xfrm>
            <a:off x="4992624" y="37947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12" name="Rectangle 111"/>
          <p:cNvSpPr/>
          <p:nvPr/>
        </p:nvSpPr>
        <p:spPr>
          <a:xfrm>
            <a:off x="5577840" y="379476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13" name="Rectangle 112"/>
          <p:cNvSpPr/>
          <p:nvPr/>
        </p:nvSpPr>
        <p:spPr>
          <a:xfrm>
            <a:off x="6163056" y="37947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14" name="Rectangle 113"/>
          <p:cNvSpPr/>
          <p:nvPr/>
        </p:nvSpPr>
        <p:spPr>
          <a:xfrm>
            <a:off x="6748272" y="37947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15" name="Rectangle 114"/>
          <p:cNvSpPr/>
          <p:nvPr/>
        </p:nvSpPr>
        <p:spPr>
          <a:xfrm>
            <a:off x="7333488" y="37947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16" name="Rectangle 115"/>
          <p:cNvSpPr/>
          <p:nvPr/>
        </p:nvSpPr>
        <p:spPr>
          <a:xfrm>
            <a:off x="457200" y="4069080"/>
            <a:ext cx="2194560" cy="237744"/>
          </a:xfrm>
          <a:prstGeom prst="rect">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PolyVote (our tests)</a:t>
            </a:r>
          </a:p>
        </p:txBody>
      </p:sp>
      <p:sp>
        <p:nvSpPr>
          <p:cNvPr id="117" name="Rectangle 116"/>
          <p:cNvSpPr/>
          <p:nvPr/>
        </p:nvSpPr>
        <p:spPr>
          <a:xfrm>
            <a:off x="2651760"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18" name="Rectangle 117"/>
          <p:cNvSpPr/>
          <p:nvPr/>
        </p:nvSpPr>
        <p:spPr>
          <a:xfrm>
            <a:off x="3236976"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19" name="Rectangle 118"/>
          <p:cNvSpPr/>
          <p:nvPr/>
        </p:nvSpPr>
        <p:spPr>
          <a:xfrm>
            <a:off x="3822191"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0" name="Rectangle 119"/>
          <p:cNvSpPr/>
          <p:nvPr/>
        </p:nvSpPr>
        <p:spPr>
          <a:xfrm>
            <a:off x="4407408"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1" name="Rectangle 120"/>
          <p:cNvSpPr/>
          <p:nvPr/>
        </p:nvSpPr>
        <p:spPr>
          <a:xfrm>
            <a:off x="4992624"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2" name="Rectangle 121"/>
          <p:cNvSpPr/>
          <p:nvPr/>
        </p:nvSpPr>
        <p:spPr>
          <a:xfrm>
            <a:off x="5577840"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3" name="Rectangle 122"/>
          <p:cNvSpPr/>
          <p:nvPr/>
        </p:nvSpPr>
        <p:spPr>
          <a:xfrm>
            <a:off x="6163056"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4" name="Rectangle 123"/>
          <p:cNvSpPr/>
          <p:nvPr/>
        </p:nvSpPr>
        <p:spPr>
          <a:xfrm>
            <a:off x="6748272"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5" name="Rectangle 124"/>
          <p:cNvSpPr/>
          <p:nvPr/>
        </p:nvSpPr>
        <p:spPr>
          <a:xfrm>
            <a:off x="7333488"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6" name="TextBox 125"/>
          <p:cNvSpPr txBox="1"/>
          <p:nvPr/>
        </p:nvSpPr>
        <p:spPr>
          <a:xfrm>
            <a:off x="8001000" y="1024128"/>
            <a:ext cx="731520" cy="2926080"/>
          </a:xfrm>
          <a:prstGeom prst="rect">
            <a:avLst/>
          </a:prstGeom>
          <a:noFill/>
        </p:spPr>
        <p:txBody>
          <a:bodyPr wrap="square" anchor="t" lIns="0" rIns="0" tIns="0" bIns="0">
            <a:spAutoFit/>
          </a:bodyPr>
          <a:lstStyle/>
          <a:p>
            <a:pPr algn="l">
              <a:spcAft>
                <a:spcPts val="0"/>
              </a:spcAft>
            </a:pPr>
            <a:r>
              <a:rPr sz="1000" b="1" i="0">
                <a:solidFill>
                  <a:srgbClr val="1A7F37"/>
                </a:solidFill>
                <a:latin typeface="Inter"/>
              </a:rPr>
              <a:t>Yes</a:t>
            </a:r>
          </a:p>
          <a:p>
            <a:pPr algn="l">
              <a:spcAft>
                <a:spcPts val="0"/>
              </a:spcAft>
            </a:pPr>
            <a:r>
              <a:rPr sz="800" b="0" i="0">
                <a:solidFill>
                  <a:srgbClr val="353B4A"/>
                </a:solidFill>
                <a:latin typeface="Inter"/>
              </a:rPr>
              <a:t>documented</a:t>
            </a:r>
          </a:p>
          <a:p>
            <a:pPr algn="l">
              <a:spcAft>
                <a:spcPts val="0"/>
              </a:spcAft>
            </a:pPr>
            <a:r>
              <a:rPr sz="1000" b="0" i="0">
                <a:solidFill>
                  <a:srgbClr val="353B4A"/>
                </a:solidFill>
                <a:latin typeface="Inter"/>
              </a:rPr>
              <a:t/>
            </a:r>
          </a:p>
          <a:p>
            <a:pPr algn="l">
              <a:spcAft>
                <a:spcPts val="0"/>
              </a:spcAft>
            </a:pPr>
            <a:r>
              <a:rPr sz="1000" b="1" i="0">
                <a:solidFill>
                  <a:srgbClr val="9A6700"/>
                </a:solidFill>
                <a:latin typeface="Inter"/>
              </a:rPr>
              <a:t>Part</a:t>
            </a:r>
          </a:p>
          <a:p>
            <a:pPr algn="l">
              <a:spcAft>
                <a:spcPts val="0"/>
              </a:spcAft>
            </a:pPr>
            <a:r>
              <a:rPr sz="800" b="0" i="0">
                <a:solidFill>
                  <a:srgbClr val="353B4A"/>
                </a:solidFill>
                <a:latin typeface="Inter"/>
              </a:rPr>
              <a:t>partly</a:t>
            </a:r>
          </a:p>
          <a:p>
            <a:pPr algn="l">
              <a:spcAft>
                <a:spcPts val="0"/>
              </a:spcAft>
            </a:pPr>
            <a:r>
              <a:rPr sz="1000" b="0" i="0">
                <a:solidFill>
                  <a:srgbClr val="353B4A"/>
                </a:solidFill>
                <a:latin typeface="Inter"/>
              </a:rPr>
              <a:t/>
            </a:r>
          </a:p>
          <a:p>
            <a:pPr algn="l">
              <a:spcAft>
                <a:spcPts val="0"/>
              </a:spcAft>
            </a:pPr>
            <a:r>
              <a:rPr sz="1000" b="1" i="0">
                <a:solidFill>
                  <a:srgbClr val="C0392B"/>
                </a:solidFill>
                <a:latin typeface="Inter"/>
              </a:rPr>
              <a:t>No</a:t>
            </a:r>
          </a:p>
          <a:p>
            <a:pPr algn="l">
              <a:spcAft>
                <a:spcPts val="0"/>
              </a:spcAft>
            </a:pPr>
            <a:r>
              <a:rPr sz="800" b="0" i="0">
                <a:solidFill>
                  <a:srgbClr val="353B4A"/>
                </a:solidFill>
                <a:latin typeface="Inter"/>
              </a:rPr>
              <a:t>absent</a:t>
            </a:r>
          </a:p>
          <a:p>
            <a:pPr algn="l">
              <a:spcAft>
                <a:spcPts val="0"/>
              </a:spcAft>
            </a:pPr>
            <a:r>
              <a:rPr sz="1000" b="0" i="0">
                <a:solidFill>
                  <a:srgbClr val="353B4A"/>
                </a:solidFill>
                <a:latin typeface="Inter"/>
              </a:rPr>
              <a:t/>
            </a:r>
          </a:p>
          <a:p>
            <a:pPr algn="l">
              <a:spcAft>
                <a:spcPts val="0"/>
              </a:spcAft>
            </a:pPr>
            <a:r>
              <a:rPr sz="1000" b="1" i="0">
                <a:solidFill>
                  <a:srgbClr val="666A78"/>
                </a:solidFill>
                <a:latin typeface="Inter"/>
              </a:rPr>
              <a:t>–</a:t>
            </a:r>
          </a:p>
          <a:p>
            <a:pPr algn="l">
              <a:spcAft>
                <a:spcPts val="0"/>
              </a:spcAft>
            </a:pPr>
            <a:r>
              <a:rPr sz="800" b="0" i="0">
                <a:solidFill>
                  <a:srgbClr val="353B4A"/>
                </a:solidFill>
                <a:latin typeface="Inter"/>
              </a:rPr>
              <a:t>not documented</a:t>
            </a:r>
          </a:p>
        </p:txBody>
      </p:sp>
      <p:sp>
        <p:nvSpPr>
          <p:cNvPr id="127" name="TextBox 126"/>
          <p:cNvSpPr txBox="1"/>
          <p:nvPr/>
        </p:nvSpPr>
        <p:spPr>
          <a:xfrm>
            <a:off x="457200" y="4434840"/>
            <a:ext cx="8229600" cy="365760"/>
          </a:xfrm>
          <a:prstGeom prst="rect">
            <a:avLst/>
          </a:prstGeom>
          <a:noFill/>
        </p:spPr>
        <p:txBody>
          <a:bodyPr wrap="square" anchor="t" lIns="0" rIns="0" tIns="0" bIns="0">
            <a:spAutoFit/>
          </a:bodyPr>
          <a:lstStyle/>
          <a:p>
            <a:pPr algn="l">
              <a:spcAft>
                <a:spcPts val="0"/>
              </a:spcAft>
            </a:pPr>
            <a:r>
              <a:rPr sz="850" b="0" i="1">
                <a:solidFill>
                  <a:srgbClr val="666A78"/>
                </a:solidFill>
                <a:latin typeface="Inter"/>
              </a:rPr>
              <a:t>33 systems read, 11 shown. F1 ranked counting · F2 many organisations · F3 database rules · F4 unlinked ballots · F5 keyed ledger and sweep · F6 email OTP · F7 QR voting · F8 receipt · F9 easy to run. Other rows: documentation we read. F5 is judged strictly (keyed chain, separate store, reconciling sweep, published attack results), so most systems score Part.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FEATURES 3-4 · DATABASE RULES AND UNLINKED BALLOTS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Database rules and unlinked ballots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41</a:t>
            </a:r>
          </a:p>
        </p:txBody>
      </p:sp>
      <p:graphicFrame>
        <p:nvGraphicFramePr>
          <p:cNvPr id="6" name="Table 5"/>
          <p:cNvGraphicFramePr>
            <a:graphicFrameLocks noGrp="1"/>
          </p:cNvGraphicFramePr>
          <p:nvPr/>
        </p:nvGraphicFramePr>
        <p:xfrm>
          <a:off x="457200" y="1051560"/>
          <a:ext cx="8229600" cy="2395728"/>
        </p:xfrm>
        <a:graphic>
          <a:graphicData uri="http://schemas.openxmlformats.org/drawingml/2006/table">
            <a:tbl>
              <a:tblPr firstRow="1" bandRow="1">
                <a:tableStyleId>{5C22544A-7EE6-4342-B048-85BDC9FD1C3A}</a:tableStyleId>
              </a:tblPr>
              <a:tblGrid>
                <a:gridCol w="1828800"/>
                <a:gridCol w="5120640"/>
                <a:gridCol w="1280160"/>
              </a:tblGrid>
              <a:tr h="292608">
                <a:tc>
                  <a:txBody>
                    <a:bodyPr wrap="square"/>
                    <a:lstStyle/>
                    <a:p>
                      <a:r>
                        <a:rPr sz="950" b="1" i="0">
                          <a:solidFill>
                            <a:srgbClr val="FFFFFF"/>
                          </a:solidFill>
                          <a:latin typeface="Inter"/>
                        </a:rPr>
                        <a:t>System</a:t>
                      </a:r>
                    </a:p>
                  </a:txBody>
                  <a:tcPr marL="73152" marR="73152" marT="36576" marB="36576" anchor="ctr">
                    <a:solidFill>
                      <a:srgbClr val="1B2A55"/>
                    </a:solidFill>
                  </a:tcPr>
                </a:tc>
                <a:tc>
                  <a:txBody>
                    <a:bodyPr wrap="square"/>
                    <a:lstStyle/>
                    <a:p>
                      <a:r>
                        <a:rPr sz="950" b="1" i="0">
                          <a:solidFill>
                            <a:srgbClr val="FFFFFF"/>
                          </a:solidFill>
                          <a:latin typeface="Inter"/>
                        </a:rPr>
                        <a:t>What its own page, README or paper documents</a:t>
                      </a:r>
                    </a:p>
                  </a:txBody>
                  <a:tcPr marL="73152" marR="73152" marT="36576" marB="36576" anchor="ctr">
                    <a:solidFill>
                      <a:srgbClr val="1B2A55"/>
                    </a:solidFill>
                  </a:tcPr>
                </a:tc>
                <a:tc>
                  <a:txBody>
                    <a:bodyPr wrap="square"/>
                    <a:lstStyle/>
                    <a:p>
                      <a:r>
                        <a:rPr sz="950" b="1" i="0">
                          <a:solidFill>
                            <a:srgbClr val="FFFFFF"/>
                          </a:solidFill>
                          <a:latin typeface="Inter"/>
                        </a:rPr>
                        <a:t>Match</a:t>
                      </a:r>
                    </a:p>
                  </a:txBody>
                  <a:tcPr marL="73152" marR="73152" marT="36576" marB="36576" anchor="ctr">
                    <a:solidFill>
                      <a:srgbClr val="1B2A55"/>
                    </a:solidFill>
                  </a:tcPr>
                </a:tc>
              </a:tr>
              <a:tr h="420624">
                <a:tc>
                  <a:txBody>
                    <a:bodyPr wrap="square"/>
                    <a:lstStyle/>
                    <a:p>
                      <a:r>
                        <a:rPr sz="950" b="1" i="0">
                          <a:solidFill>
                            <a:srgbClr val="1B2A55"/>
                          </a:solidFill>
                          <a:latin typeface="Inter"/>
                        </a:rPr>
                        <a:t>FlexyVotes (GitHub)</a:t>
                      </a:r>
                    </a:p>
                  </a:txBody>
                  <a:tcPr marL="73152" marR="73152" marT="36576" marB="36576" anchor="ctr">
                    <a:solidFill>
                      <a:srgbClr val="FFFFFF"/>
                    </a:solidFill>
                  </a:tcPr>
                </a:tc>
                <a:tc>
                  <a:txBody>
                    <a:bodyPr wrap="square"/>
                    <a:lstStyle/>
                    <a:p>
                      <a:r>
                        <a:rPr sz="950" b="0" i="0">
                          <a:solidFill>
                            <a:srgbClr val="353B4A"/>
                          </a:solidFill>
                          <a:latin typeface="Inter"/>
                        </a:rPr>
                        <a:t>Unique indexes and append-only triggers that block even raw SQL; ballot rows carry no voter key. Voters and encrypted emails share one PostgreSQL database.</a:t>
                      </a:r>
                    </a:p>
                  </a:txBody>
                  <a:tcPr marL="73152" marR="73152" marT="36576" marB="36576" anchor="ctr">
                    <a:solidFill>
                      <a:srgbClr val="FFFFFF"/>
                    </a:solidFill>
                  </a:tcPr>
                </a:tc>
                <a:tc>
                  <a:txBody>
                    <a:bodyPr wrap="square"/>
                    <a:lstStyle/>
                    <a:p>
                      <a:r>
                        <a:rPr sz="950" b="0" i="0">
                          <a:solidFill>
                            <a:srgbClr val="353B4A"/>
                          </a:solidFill>
                          <a:latin typeface="Inter"/>
                        </a:rPr>
                        <a:t>F3 Yes · F4 Part</a:t>
                      </a:r>
                    </a:p>
                  </a:txBody>
                  <a:tcPr marL="73152" marR="73152" marT="36576" marB="36576" anchor="ctr">
                    <a:solidFill>
                      <a:srgbClr val="FFFFFF"/>
                    </a:solidFill>
                  </a:tcPr>
                </a:tc>
              </a:tr>
              <a:tr h="420624">
                <a:tc>
                  <a:txBody>
                    <a:bodyPr wrap="square"/>
                    <a:lstStyle/>
                    <a:p>
                      <a:r>
                        <a:rPr sz="950" b="1" i="0">
                          <a:solidFill>
                            <a:srgbClr val="1B2A55"/>
                          </a:solidFill>
                          <a:latin typeface="Inter"/>
                        </a:rPr>
                        <a:t>VeriVote (GitHub)</a:t>
                      </a:r>
                    </a:p>
                  </a:txBody>
                  <a:tcPr marL="73152" marR="73152" marT="36576" marB="36576" anchor="ctr">
                    <a:solidFill>
                      <a:srgbClr val="F1F0F6"/>
                    </a:solidFill>
                  </a:tcPr>
                </a:tc>
                <a:tc>
                  <a:txBody>
                    <a:bodyPr wrap="square"/>
                    <a:lstStyle/>
                    <a:p>
                      <a:r>
                        <a:rPr sz="950" b="0" i="0">
                          <a:solidFill>
                            <a:srgbClr val="353B4A"/>
                          </a:solidFill>
                          <a:latin typeface="Inter"/>
                        </a:rPr>
                        <a:t>Ballots stored without voter identity; triggers, CHECK and foreign-key rules are not documented.</a:t>
                      </a:r>
                    </a:p>
                  </a:txBody>
                  <a:tcPr marL="73152" marR="73152" marT="36576" marB="36576" anchor="ctr">
                    <a:solidFill>
                      <a:srgbClr val="F1F0F6"/>
                    </a:solidFill>
                  </a:tcPr>
                </a:tc>
                <a:tc>
                  <a:txBody>
                    <a:bodyPr wrap="square"/>
                    <a:lstStyle/>
                    <a:p>
                      <a:r>
                        <a:rPr sz="950" b="0" i="0">
                          <a:solidFill>
                            <a:srgbClr val="353B4A"/>
                          </a:solidFill>
                          <a:latin typeface="Inter"/>
                        </a:rPr>
                        <a:t>F3 Part · F4 Part</a:t>
                      </a:r>
                    </a:p>
                  </a:txBody>
                  <a:tcPr marL="73152" marR="73152" marT="36576" marB="36576" anchor="ctr">
                    <a:solidFill>
                      <a:srgbClr val="F1F0F6"/>
                    </a:solidFill>
                  </a:tcPr>
                </a:tc>
              </a:tr>
              <a:tr h="420624">
                <a:tc>
                  <a:txBody>
                    <a:bodyPr wrap="square"/>
                    <a:lstStyle/>
                    <a:p>
                      <a:r>
                        <a:rPr sz="950" b="1" i="0">
                          <a:solidFill>
                            <a:srgbClr val="1B2A55"/>
                          </a:solidFill>
                          <a:latin typeface="Inter"/>
                        </a:rPr>
                        <a:t>CIVS (Cornell)</a:t>
                      </a:r>
                    </a:p>
                  </a:txBody>
                  <a:tcPr marL="73152" marR="73152" marT="36576" marB="36576" anchor="ctr">
                    <a:solidFill>
                      <a:srgbClr val="FFFFFF"/>
                    </a:solidFill>
                  </a:tcPr>
                </a:tc>
                <a:tc>
                  <a:txBody>
                    <a:bodyPr wrap="square"/>
                    <a:lstStyle/>
                    <a:p>
                      <a:r>
                        <a:rPr sz="950" b="0" i="0">
                          <a:solidFill>
                            <a:srgbClr val="353B4A"/>
                          </a:solidFill>
                          <a:latin typeface="Inter"/>
                        </a:rPr>
                        <a:t>Voter emails are erased once the election begins; ballots are stored under a hash of the receipt.</a:t>
                      </a:r>
                    </a:p>
                  </a:txBody>
                  <a:tcPr marL="73152" marR="73152" marT="36576" marB="36576" anchor="ctr">
                    <a:solidFill>
                      <a:srgbClr val="FFFFFF"/>
                    </a:solidFill>
                  </a:tcPr>
                </a:tc>
                <a:tc>
                  <a:txBody>
                    <a:bodyPr wrap="square"/>
                    <a:lstStyle/>
                    <a:p>
                      <a:r>
                        <a:rPr sz="950" b="0" i="0">
                          <a:solidFill>
                            <a:srgbClr val="353B4A"/>
                          </a:solidFill>
                          <a:latin typeface="Inter"/>
                        </a:rPr>
                        <a:t>F3 – · F4 Part</a:t>
                      </a:r>
                    </a:p>
                  </a:txBody>
                  <a:tcPr marL="73152" marR="73152" marT="36576" marB="36576" anchor="ctr">
                    <a:solidFill>
                      <a:srgbClr val="FFFFFF"/>
                    </a:solidFill>
                  </a:tcPr>
                </a:tc>
              </a:tr>
              <a:tr h="420624">
                <a:tc>
                  <a:txBody>
                    <a:bodyPr wrap="square"/>
                    <a:lstStyle/>
                    <a:p>
                      <a:r>
                        <a:rPr sz="950" b="1" i="0">
                          <a:solidFill>
                            <a:srgbClr val="1B2A55"/>
                          </a:solidFill>
                          <a:latin typeface="Inter"/>
                        </a:rPr>
                        <a:t>Helios, Belenios</a:t>
                      </a:r>
                    </a:p>
                  </a:txBody>
                  <a:tcPr marL="73152" marR="73152" marT="36576" marB="36576" anchor="ctr">
                    <a:solidFill>
                      <a:srgbClr val="F1F0F6"/>
                    </a:solidFill>
                  </a:tcPr>
                </a:tc>
                <a:tc>
                  <a:txBody>
                    <a:bodyPr wrap="square"/>
                    <a:lstStyle/>
                    <a:p>
                      <a:r>
                        <a:rPr sz="950" b="0" i="0">
                          <a:solidFill>
                            <a:srgbClr val="353B4A"/>
                          </a:solidFill>
                          <a:latin typeface="Inter"/>
                        </a:rPr>
                        <a:t>Secrecy comes from encryption, not from a schema with no linking column; ballots sit on a public ballot box.</a:t>
                      </a:r>
                    </a:p>
                  </a:txBody>
                  <a:tcPr marL="73152" marR="73152" marT="36576" marB="36576" anchor="ctr">
                    <a:solidFill>
                      <a:srgbClr val="F1F0F6"/>
                    </a:solidFill>
                  </a:tcPr>
                </a:tc>
                <a:tc>
                  <a:txBody>
                    <a:bodyPr wrap="square"/>
                    <a:lstStyle/>
                    <a:p>
                      <a:r>
                        <a:rPr sz="950" b="0" i="0">
                          <a:solidFill>
                            <a:srgbClr val="353B4A"/>
                          </a:solidFill>
                          <a:latin typeface="Inter"/>
                        </a:rPr>
                        <a:t>F3 – · F4 Part</a:t>
                      </a:r>
                    </a:p>
                  </a:txBody>
                  <a:tcPr marL="73152" marR="73152" marT="36576" marB="36576" anchor="ctr">
                    <a:solidFill>
                      <a:srgbClr val="F1F0F6"/>
                    </a:solidFill>
                  </a:tcPr>
                </a:tc>
              </a:tr>
              <a:tr h="420624">
                <a:tc>
                  <a:txBody>
                    <a:bodyPr wrap="square"/>
                    <a:lstStyle/>
                    <a:p>
                      <a:r>
                        <a:rPr sz="950" b="1" i="0">
                          <a:solidFill>
                            <a:srgbClr val="1B2A55"/>
                          </a:solidFill>
                          <a:latin typeface="Inter"/>
                        </a:rPr>
                        <a:t>Democracy Live (USENIX 2021)</a:t>
                      </a:r>
                    </a:p>
                  </a:txBody>
                  <a:tcPr marL="73152" marR="73152" marT="36576" marB="36576" anchor="ctr">
                    <a:solidFill>
                      <a:srgbClr val="FFFFFF"/>
                    </a:solidFill>
                  </a:tcPr>
                </a:tc>
                <a:tc>
                  <a:txBody>
                    <a:bodyPr wrap="square"/>
                    <a:lstStyle/>
                    <a:p>
                      <a:r>
                        <a:rPr sz="950" b="0" i="0">
                          <a:solidFill>
                            <a:srgbClr val="353B4A"/>
                          </a:solidFill>
                          <a:latin typeface="Inter"/>
                        </a:rPr>
                        <a:t>The authors report voter identity, selections and a browser fingerprint sent to the vendor.</a:t>
                      </a:r>
                    </a:p>
                  </a:txBody>
                  <a:tcPr marL="73152" marR="73152" marT="36576" marB="36576" anchor="ctr">
                    <a:solidFill>
                      <a:srgbClr val="FFFFFF"/>
                    </a:solidFill>
                  </a:tcPr>
                </a:tc>
                <a:tc>
                  <a:txBody>
                    <a:bodyPr wrap="square"/>
                    <a:lstStyle/>
                    <a:p>
                      <a:r>
                        <a:rPr sz="950" b="0" i="0">
                          <a:solidFill>
                            <a:srgbClr val="353B4A"/>
                          </a:solidFill>
                          <a:latin typeface="Inter"/>
                        </a:rPr>
                        <a:t>F4 No</a:t>
                      </a:r>
                    </a:p>
                  </a:txBody>
                  <a:tcPr marL="73152" marR="73152" marT="36576" marB="36576" anchor="ctr">
                    <a:solidFill>
                      <a:srgbClr val="FFFFFF"/>
                    </a:solidFill>
                  </a:tcPr>
                </a:tc>
              </a:tr>
            </a:tbl>
          </a:graphicData>
        </a:graphic>
      </p:graphicFrame>
      <p:sp>
        <p:nvSpPr>
          <p:cNvPr id="7" name="Rounded Rectangle 6"/>
          <p:cNvSpPr/>
          <p:nvPr/>
        </p:nvSpPr>
        <p:spPr>
          <a:xfrm>
            <a:off x="457200" y="3584448"/>
            <a:ext cx="8229600" cy="1170431"/>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657600"/>
            <a:ext cx="7863840" cy="1060703"/>
          </a:xfrm>
          <a:prstGeom prst="rect">
            <a:avLst/>
          </a:prstGeom>
          <a:noFill/>
        </p:spPr>
        <p:txBody>
          <a:bodyPr wrap="square" anchor="t" lIns="0" rIns="0" tIns="0" bIns="0">
            <a:spAutoFit/>
          </a:bodyPr>
          <a:lstStyle/>
          <a:p>
            <a:pPr algn="l">
              <a:spcAft>
                <a:spcPts val="300"/>
              </a:spcAft>
            </a:pPr>
            <a:r>
              <a:rPr sz="1000" b="1" i="0">
                <a:solidFill>
                  <a:srgbClr val="1B2A55"/>
                </a:solidFill>
                <a:latin typeface="Inter"/>
              </a:rPr>
              <a:t>PolyVote: </a:t>
            </a:r>
            <a:r>
              <a:rPr sz="1000" b="0" i="0">
                <a:solidFill>
                  <a:srgbClr val="353B4A"/>
                </a:solidFill>
                <a:latin typeface="Inter"/>
              </a:rPr>
              <a:t>6 of 7 direct SQL attempts refused by the engine, 13 of 13 API abuses refused, exactly 1 of 20 simultaneous casts accepted. An automated check finds no column shared by ballots and voters; emails live in a separate file.</a:t>
            </a:r>
          </a:p>
          <a:p>
            <a:pPr algn="l">
              <a:spcAft>
                <a:spcPts val="300"/>
              </a:spcAft>
            </a:pPr>
            <a:r>
              <a:rPr sz="1000" b="1" i="0">
                <a:solidFill>
                  <a:srgbClr val="1B2A55"/>
                </a:solidFill>
                <a:latin typeface="Inter"/>
              </a:rPr>
              <a:t>Verdict: </a:t>
            </a:r>
            <a:r>
              <a:rPr sz="1000" b="0" i="0">
                <a:solidFill>
                  <a:srgbClr val="353B4A"/>
                </a:solidFill>
                <a:latin typeface="Inter"/>
              </a:rPr>
              <a:t>FlexyVotes is stronger on database rules (append-only triggers). Our known gap is the one attempt not refused: SQLite foreign keys apply per connection.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FEATURE 5 · TAMPER-EVIDENT LEDGER</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Tamper-evident ledgers: where a keyed chain differs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42</a:t>
            </a:r>
          </a:p>
        </p:txBody>
      </p:sp>
      <p:graphicFrame>
        <p:nvGraphicFramePr>
          <p:cNvPr id="6" name="Table 5"/>
          <p:cNvGraphicFramePr>
            <a:graphicFrameLocks noGrp="1"/>
          </p:cNvGraphicFramePr>
          <p:nvPr/>
        </p:nvGraphicFramePr>
        <p:xfrm>
          <a:off x="457200" y="1051560"/>
          <a:ext cx="8229600" cy="2487168"/>
        </p:xfrm>
        <a:graphic>
          <a:graphicData uri="http://schemas.openxmlformats.org/drawingml/2006/table">
            <a:tbl>
              <a:tblPr firstRow="1" bandRow="1">
                <a:tableStyleId>{5C22544A-7EE6-4342-B048-85BDC9FD1C3A}</a:tableStyleId>
              </a:tblPr>
              <a:tblGrid>
                <a:gridCol w="1828800"/>
                <a:gridCol w="5120640"/>
                <a:gridCol w="1280160"/>
              </a:tblGrid>
              <a:tr h="292608">
                <a:tc>
                  <a:txBody>
                    <a:bodyPr wrap="square"/>
                    <a:lstStyle/>
                    <a:p>
                      <a:r>
                        <a:rPr sz="950" b="1" i="0">
                          <a:solidFill>
                            <a:srgbClr val="FFFFFF"/>
                          </a:solidFill>
                          <a:latin typeface="Inter"/>
                        </a:rPr>
                        <a:t>System</a:t>
                      </a:r>
                    </a:p>
                  </a:txBody>
                  <a:tcPr marL="73152" marR="73152" marT="36576" marB="36576" anchor="ctr">
                    <a:solidFill>
                      <a:srgbClr val="1B2A55"/>
                    </a:solidFill>
                  </a:tcPr>
                </a:tc>
                <a:tc>
                  <a:txBody>
                    <a:bodyPr wrap="square"/>
                    <a:lstStyle/>
                    <a:p>
                      <a:r>
                        <a:rPr sz="950" b="1" i="0">
                          <a:solidFill>
                            <a:srgbClr val="FFFFFF"/>
                          </a:solidFill>
                          <a:latin typeface="Inter"/>
                        </a:rPr>
                        <a:t>What its own page, README or paper documents</a:t>
                      </a:r>
                    </a:p>
                  </a:txBody>
                  <a:tcPr marL="73152" marR="73152" marT="36576" marB="36576" anchor="ctr">
                    <a:solidFill>
                      <a:srgbClr val="1B2A55"/>
                    </a:solidFill>
                  </a:tcPr>
                </a:tc>
                <a:tc>
                  <a:txBody>
                    <a:bodyPr wrap="square"/>
                    <a:lstStyle/>
                    <a:p>
                      <a:r>
                        <a:rPr sz="950" b="1" i="0">
                          <a:solidFill>
                            <a:srgbClr val="FFFFFF"/>
                          </a:solidFill>
                          <a:latin typeface="Inter"/>
                        </a:rPr>
                        <a:t>Match</a:t>
                      </a:r>
                    </a:p>
                  </a:txBody>
                  <a:tcPr marL="73152" marR="73152" marT="36576" marB="36576" anchor="ctr">
                    <a:solidFill>
                      <a:srgbClr val="1B2A55"/>
                    </a:solidFill>
                  </a:tcPr>
                </a:tc>
              </a:tr>
              <a:tr h="365760">
                <a:tc>
                  <a:txBody>
                    <a:bodyPr wrap="square"/>
                    <a:lstStyle/>
                    <a:p>
                      <a:r>
                        <a:rPr sz="900" b="1" i="0">
                          <a:solidFill>
                            <a:srgbClr val="1B2A55"/>
                          </a:solidFill>
                          <a:latin typeface="Inter"/>
                        </a:rPr>
                        <a:t>FlexyVotes (GitHub)</a:t>
                      </a:r>
                    </a:p>
                  </a:txBody>
                  <a:tcPr marL="73152" marR="73152" marT="36576" marB="36576" anchor="ctr">
                    <a:solidFill>
                      <a:srgbClr val="FFFFFF"/>
                    </a:solidFill>
                  </a:tcPr>
                </a:tc>
                <a:tc>
                  <a:txBody>
                    <a:bodyPr wrap="square"/>
                    <a:lstStyle/>
                    <a:p>
                      <a:r>
                        <a:rPr sz="900" b="0" i="0">
                          <a:solidFill>
                            <a:srgbClr val="353B4A"/>
                          </a:solidFill>
                          <a:latin typeface="Inter"/>
                        </a:rPr>
                        <a:t>SHA-256 chain per organisation inside PostgreSQL, verified every 6 hours; Merkle bulletin board; 204 tests, no published attack table.</a:t>
                      </a:r>
                    </a:p>
                  </a:txBody>
                  <a:tcPr marL="73152" marR="73152" marT="36576" marB="36576" anchor="ctr">
                    <a:solidFill>
                      <a:srgbClr val="FFFFFF"/>
                    </a:solidFill>
                  </a:tcPr>
                </a:tc>
                <a:tc>
                  <a:txBody>
                    <a:bodyPr wrap="square"/>
                    <a:lstStyle/>
                    <a:p>
                      <a:r>
                        <a:rPr sz="900" b="0" i="0">
                          <a:solidFill>
                            <a:srgbClr val="353B4A"/>
                          </a:solidFill>
                          <a:latin typeface="Inter"/>
                        </a:rPr>
                        <a:t>F5 Part</a:t>
                      </a:r>
                    </a:p>
                  </a:txBody>
                  <a:tcPr marL="73152" marR="73152" marT="36576" marB="36576" anchor="ctr">
                    <a:solidFill>
                      <a:srgbClr val="FFFFFF"/>
                    </a:solidFill>
                  </a:tcPr>
                </a:tc>
              </a:tr>
              <a:tr h="365760">
                <a:tc>
                  <a:txBody>
                    <a:bodyPr wrap="square"/>
                    <a:lstStyle/>
                    <a:p>
                      <a:r>
                        <a:rPr sz="900" b="1" i="0">
                          <a:solidFill>
                            <a:srgbClr val="1B2A55"/>
                          </a:solidFill>
                          <a:latin typeface="Inter"/>
                        </a:rPr>
                        <a:t>VeriVote (GitHub)</a:t>
                      </a:r>
                    </a:p>
                  </a:txBody>
                  <a:tcPr marL="73152" marR="73152" marT="36576" marB="36576" anchor="ctr">
                    <a:solidFill>
                      <a:srgbClr val="F1F0F6"/>
                    </a:solidFill>
                  </a:tcPr>
                </a:tc>
                <a:tc>
                  <a:txBody>
                    <a:bodyPr wrap="square"/>
                    <a:lstStyle/>
                    <a:p>
                      <a:r>
                        <a:rPr sz="900" b="0" i="0">
                          <a:solidFill>
                            <a:srgbClr val="353B4A"/>
                          </a:solidFill>
                          <a:latin typeface="Inter"/>
                        </a:rPr>
                        <a:t>SHA-256 chain in MongoDB with an audit endpoint and a manual tamper demo; no HMAC key, no reconciliation.</a:t>
                      </a:r>
                    </a:p>
                  </a:txBody>
                  <a:tcPr marL="73152" marR="73152" marT="36576" marB="36576" anchor="ctr">
                    <a:solidFill>
                      <a:srgbClr val="F1F0F6"/>
                    </a:solidFill>
                  </a:tcPr>
                </a:tc>
                <a:tc>
                  <a:txBody>
                    <a:bodyPr wrap="square"/>
                    <a:lstStyle/>
                    <a:p>
                      <a:r>
                        <a:rPr sz="900" b="0" i="0">
                          <a:solidFill>
                            <a:srgbClr val="353B4A"/>
                          </a:solidFill>
                          <a:latin typeface="Inter"/>
                        </a:rPr>
                        <a:t>F5 Part</a:t>
                      </a:r>
                    </a:p>
                  </a:txBody>
                  <a:tcPr marL="73152" marR="73152" marT="36576" marB="36576" anchor="ctr">
                    <a:solidFill>
                      <a:srgbClr val="F1F0F6"/>
                    </a:solidFill>
                  </a:tcPr>
                </a:tc>
              </a:tr>
              <a:tr h="365760">
                <a:tc>
                  <a:txBody>
                    <a:bodyPr wrap="square"/>
                    <a:lstStyle/>
                    <a:p>
                      <a:r>
                        <a:rPr sz="900" b="1" i="0">
                          <a:solidFill>
                            <a:srgbClr val="1B2A55"/>
                          </a:solidFill>
                          <a:latin typeface="Inter"/>
                        </a:rPr>
                        <a:t>SecureVote (GitHub)</a:t>
                      </a:r>
                    </a:p>
                  </a:txBody>
                  <a:tcPr marL="73152" marR="73152" marT="36576" marB="36576" anchor="ctr">
                    <a:solidFill>
                      <a:srgbClr val="FFFFFF"/>
                    </a:solidFill>
                  </a:tcPr>
                </a:tc>
                <a:tc>
                  <a:txBody>
                    <a:bodyPr wrap="square"/>
                    <a:lstStyle/>
                    <a:p>
                      <a:r>
                        <a:rPr sz="900" b="0" i="0">
                          <a:solidFill>
                            <a:srgbClr val="353B4A"/>
                          </a:solidFill>
                          <a:latin typeface="Inter"/>
                        </a:rPr>
                        <a:t>Hash-linked ledger with hashed one-time codes; no ranking; a single instance by design.</a:t>
                      </a:r>
                    </a:p>
                  </a:txBody>
                  <a:tcPr marL="73152" marR="73152" marT="36576" marB="36576" anchor="ctr">
                    <a:solidFill>
                      <a:srgbClr val="FFFFFF"/>
                    </a:solidFill>
                  </a:tcPr>
                </a:tc>
                <a:tc>
                  <a:txBody>
                    <a:bodyPr wrap="square"/>
                    <a:lstStyle/>
                    <a:p>
                      <a:r>
                        <a:rPr sz="900" b="0" i="0">
                          <a:solidFill>
                            <a:srgbClr val="353B4A"/>
                          </a:solidFill>
                          <a:latin typeface="Inter"/>
                        </a:rPr>
                        <a:t>F5 Part</a:t>
                      </a:r>
                    </a:p>
                  </a:txBody>
                  <a:tcPr marL="73152" marR="73152" marT="36576" marB="36576" anchor="ctr">
                    <a:solidFill>
                      <a:srgbClr val="FFFFFF"/>
                    </a:solidFill>
                  </a:tcPr>
                </a:tc>
              </a:tr>
              <a:tr h="365760">
                <a:tc>
                  <a:txBody>
                    <a:bodyPr wrap="square"/>
                    <a:lstStyle/>
                    <a:p>
                      <a:r>
                        <a:rPr sz="900" b="1" i="0">
                          <a:solidFill>
                            <a:srgbClr val="1B2A55"/>
                          </a:solidFill>
                          <a:latin typeface="Inter"/>
                        </a:rPr>
                        <a:t>BetterVoting (GitHub)</a:t>
                      </a:r>
                    </a:p>
                  </a:txBody>
                  <a:tcPr marL="73152" marR="73152" marT="36576" marB="36576" anchor="ctr">
                    <a:solidFill>
                      <a:srgbClr val="F1F0F6"/>
                    </a:solidFill>
                  </a:tcPr>
                </a:tc>
                <a:tc>
                  <a:txBody>
                    <a:bodyPr wrap="square"/>
                    <a:lstStyle/>
                    <a:p>
                      <a:r>
                        <a:rPr sz="900" b="0" i="0">
                          <a:solidFill>
                            <a:srgbClr val="353B4A"/>
                          </a:solidFill>
                          <a:latin typeface="Inter"/>
                        </a:rPr>
                        <a:t>Audit log covers administrator actions (sharing a link, revealing a ballot link), not a chain of ballots.</a:t>
                      </a:r>
                    </a:p>
                  </a:txBody>
                  <a:tcPr marL="73152" marR="73152" marT="36576" marB="36576" anchor="ctr">
                    <a:solidFill>
                      <a:srgbClr val="F1F0F6"/>
                    </a:solidFill>
                  </a:tcPr>
                </a:tc>
                <a:tc>
                  <a:txBody>
                    <a:bodyPr wrap="square"/>
                    <a:lstStyle/>
                    <a:p>
                      <a:r>
                        <a:rPr sz="900" b="0" i="0">
                          <a:solidFill>
                            <a:srgbClr val="353B4A"/>
                          </a:solidFill>
                          <a:latin typeface="Inter"/>
                        </a:rPr>
                        <a:t>F5 Part</a:t>
                      </a:r>
                    </a:p>
                  </a:txBody>
                  <a:tcPr marL="73152" marR="73152" marT="36576" marB="36576" anchor="ctr">
                    <a:solidFill>
                      <a:srgbClr val="F1F0F6"/>
                    </a:solidFill>
                  </a:tcPr>
                </a:tc>
              </a:tr>
              <a:tr h="365760">
                <a:tc>
                  <a:txBody>
                    <a:bodyPr wrap="square"/>
                    <a:lstStyle/>
                    <a:p>
                      <a:r>
                        <a:rPr sz="900" b="1" i="0">
                          <a:solidFill>
                            <a:srgbClr val="1B2A55"/>
                          </a:solidFill>
                          <a:latin typeface="Inter"/>
                        </a:rPr>
                        <a:t>Helios, Belenios</a:t>
                      </a:r>
                    </a:p>
                  </a:txBody>
                  <a:tcPr marL="73152" marR="73152" marT="36576" marB="36576" anchor="ctr">
                    <a:solidFill>
                      <a:srgbClr val="FFFFFF"/>
                    </a:solidFill>
                  </a:tcPr>
                </a:tc>
                <a:tc>
                  <a:txBody>
                    <a:bodyPr wrap="square"/>
                    <a:lstStyle/>
                    <a:p>
                      <a:r>
                        <a:rPr sz="900" b="0" i="0">
                          <a:solidFill>
                            <a:srgbClr val="353B4A"/>
                          </a:solidFill>
                          <a:latin typeface="Inter"/>
                        </a:rPr>
                        <a:t>A public, cryptographically verifiable ballot box: a stronger guarantee by a different mechanism.</a:t>
                      </a:r>
                    </a:p>
                  </a:txBody>
                  <a:tcPr marL="73152" marR="73152" marT="36576" marB="36576" anchor="ctr">
                    <a:solidFill>
                      <a:srgbClr val="FFFFFF"/>
                    </a:solidFill>
                  </a:tcPr>
                </a:tc>
                <a:tc>
                  <a:txBody>
                    <a:bodyPr wrap="square"/>
                    <a:lstStyle/>
                    <a:p>
                      <a:r>
                        <a:rPr sz="900" b="0" i="0">
                          <a:solidFill>
                            <a:srgbClr val="353B4A"/>
                          </a:solidFill>
                          <a:latin typeface="Inter"/>
                        </a:rPr>
                        <a:t>F5 Part</a:t>
                      </a:r>
                    </a:p>
                  </a:txBody>
                  <a:tcPr marL="73152" marR="73152" marT="36576" marB="36576" anchor="ctr">
                    <a:solidFill>
                      <a:srgbClr val="FFFFFF"/>
                    </a:solidFill>
                  </a:tcPr>
                </a:tc>
              </a:tr>
              <a:tr h="365760">
                <a:tc>
                  <a:txBody>
                    <a:bodyPr wrap="square"/>
                    <a:lstStyle/>
                    <a:p>
                      <a:r>
                        <a:rPr sz="900" b="1" i="0">
                          <a:solidFill>
                            <a:srgbClr val="1B2A55"/>
                          </a:solidFill>
                          <a:latin typeface="Inter"/>
                        </a:rPr>
                        <a:t>Voatz (USENIX 2020)</a:t>
                      </a:r>
                    </a:p>
                  </a:txBody>
                  <a:tcPr marL="73152" marR="73152" marT="36576" marB="36576" anchor="ctr">
                    <a:solidFill>
                      <a:srgbClr val="F1F0F6"/>
                    </a:solidFill>
                  </a:tcPr>
                </a:tc>
                <a:tc>
                  <a:txBody>
                    <a:bodyPr wrap="square"/>
                    <a:lstStyle/>
                    <a:p>
                      <a:r>
                        <a:rPr sz="900" b="0" i="0">
                          <a:solidFill>
                            <a:srgbClr val="353B4A"/>
                          </a:solidFill>
                          <a:latin typeface="Inter"/>
                        </a:rPr>
                        <a:t>Claims a blockchain; the analysis found no public formal description and reported flaws.</a:t>
                      </a:r>
                    </a:p>
                  </a:txBody>
                  <a:tcPr marL="73152" marR="73152" marT="36576" marB="36576" anchor="ctr">
                    <a:solidFill>
                      <a:srgbClr val="F1F0F6"/>
                    </a:solidFill>
                  </a:tcPr>
                </a:tc>
                <a:tc>
                  <a:txBody>
                    <a:bodyPr wrap="square"/>
                    <a:lstStyle/>
                    <a:p>
                      <a:r>
                        <a:rPr sz="900" b="0" i="0">
                          <a:solidFill>
                            <a:srgbClr val="353B4A"/>
                          </a:solidFill>
                          <a:latin typeface="Inter"/>
                        </a:rPr>
                        <a:t>F5 Part</a:t>
                      </a:r>
                    </a:p>
                  </a:txBody>
                  <a:tcPr marL="73152" marR="73152" marT="36576" marB="36576" anchor="ctr">
                    <a:solidFill>
                      <a:srgbClr val="F1F0F6"/>
                    </a:solidFill>
                  </a:tcPr>
                </a:tc>
              </a:tr>
            </a:tbl>
          </a:graphicData>
        </a:graphic>
      </p:graphicFrame>
      <p:sp>
        <p:nvSpPr>
          <p:cNvPr id="7" name="Rounded Rectangle 6"/>
          <p:cNvSpPr/>
          <p:nvPr/>
        </p:nvSpPr>
        <p:spPr>
          <a:xfrm>
            <a:off x="457200" y="3675888"/>
            <a:ext cx="8229600" cy="1078991"/>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749040"/>
            <a:ext cx="7863840" cy="969263"/>
          </a:xfrm>
          <a:prstGeom prst="rect">
            <a:avLst/>
          </a:prstGeom>
          <a:noFill/>
        </p:spPr>
        <p:txBody>
          <a:bodyPr wrap="square" anchor="t" lIns="0" rIns="0" tIns="0" bIns="0">
            <a:spAutoFit/>
          </a:bodyPr>
          <a:lstStyle/>
          <a:p>
            <a:pPr algn="l">
              <a:spcAft>
                <a:spcPts val="300"/>
              </a:spcAft>
            </a:pPr>
            <a:r>
              <a:rPr sz="1000" b="1" i="0">
                <a:solidFill>
                  <a:srgbClr val="1B2A55"/>
                </a:solidFill>
                <a:latin typeface="Inter"/>
              </a:rPr>
              <a:t>PolyVote: </a:t>
            </a:r>
            <a:r>
              <a:rPr sz="1000" b="0" i="0">
                <a:solidFill>
                  <a:srgbClr val="353B4A"/>
                </a:solidFill>
                <a:latin typeface="Inter"/>
              </a:rPr>
              <a:t>an HMAC-keyed chain in a separate MongoDB store, a five-rule sweep and a published attack suite. 12 of 13 attacks caught against 6 of 13 for the plain-chain design, the same in 3 runs; C6 and C10 only fail with the key.</a:t>
            </a:r>
          </a:p>
          <a:p>
            <a:pPr algn="l">
              <a:spcAft>
                <a:spcPts val="300"/>
              </a:spcAft>
            </a:pPr>
            <a:r>
              <a:rPr sz="1000" b="1" i="0">
                <a:solidFill>
                  <a:srgbClr val="1B2A55"/>
                </a:solidFill>
                <a:latin typeface="Inter"/>
              </a:rPr>
              <a:t>Verdict: </a:t>
            </a:r>
            <a:r>
              <a:rPr sz="1000" b="0" i="0">
                <a:solidFill>
                  <a:srgbClr val="353B4A"/>
                </a:solidFill>
                <a:latin typeface="Inter"/>
              </a:rPr>
              <a:t>better than a plain chain against someone who can write to the database. Not a match for cryptographic verification, and whoever holds the key can still forge.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FEATURES 6-7 · SECOND FACTOR AND QR VOTING</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Emailed codes exist elsewhere; so does QR sharing</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43</a:t>
            </a:r>
          </a:p>
        </p:txBody>
      </p:sp>
      <p:graphicFrame>
        <p:nvGraphicFramePr>
          <p:cNvPr id="6" name="Table 5"/>
          <p:cNvGraphicFramePr>
            <a:graphicFrameLocks noGrp="1"/>
          </p:cNvGraphicFramePr>
          <p:nvPr/>
        </p:nvGraphicFramePr>
        <p:xfrm>
          <a:off x="457200" y="1051560"/>
          <a:ext cx="8229600" cy="2487168"/>
        </p:xfrm>
        <a:graphic>
          <a:graphicData uri="http://schemas.openxmlformats.org/drawingml/2006/table">
            <a:tbl>
              <a:tblPr firstRow="1" bandRow="1">
                <a:tableStyleId>{5C22544A-7EE6-4342-B048-85BDC9FD1C3A}</a:tableStyleId>
              </a:tblPr>
              <a:tblGrid>
                <a:gridCol w="1828800"/>
                <a:gridCol w="5120640"/>
                <a:gridCol w="1280160"/>
              </a:tblGrid>
              <a:tr h="292608">
                <a:tc>
                  <a:txBody>
                    <a:bodyPr wrap="square"/>
                    <a:lstStyle/>
                    <a:p>
                      <a:r>
                        <a:rPr sz="950" b="1" i="0">
                          <a:solidFill>
                            <a:srgbClr val="FFFFFF"/>
                          </a:solidFill>
                          <a:latin typeface="Inter"/>
                        </a:rPr>
                        <a:t>System</a:t>
                      </a:r>
                    </a:p>
                  </a:txBody>
                  <a:tcPr marL="73152" marR="73152" marT="36576" marB="36576" anchor="ctr">
                    <a:solidFill>
                      <a:srgbClr val="1B2A55"/>
                    </a:solidFill>
                  </a:tcPr>
                </a:tc>
                <a:tc>
                  <a:txBody>
                    <a:bodyPr wrap="square"/>
                    <a:lstStyle/>
                    <a:p>
                      <a:r>
                        <a:rPr sz="950" b="1" i="0">
                          <a:solidFill>
                            <a:srgbClr val="FFFFFF"/>
                          </a:solidFill>
                          <a:latin typeface="Inter"/>
                        </a:rPr>
                        <a:t>What its own page, README or paper documents</a:t>
                      </a:r>
                    </a:p>
                  </a:txBody>
                  <a:tcPr marL="73152" marR="73152" marT="36576" marB="36576" anchor="ctr">
                    <a:solidFill>
                      <a:srgbClr val="1B2A55"/>
                    </a:solidFill>
                  </a:tcPr>
                </a:tc>
                <a:tc>
                  <a:txBody>
                    <a:bodyPr wrap="square"/>
                    <a:lstStyle/>
                    <a:p>
                      <a:r>
                        <a:rPr sz="950" b="1" i="0">
                          <a:solidFill>
                            <a:srgbClr val="FFFFFF"/>
                          </a:solidFill>
                          <a:latin typeface="Inter"/>
                        </a:rPr>
                        <a:t>Match</a:t>
                      </a:r>
                    </a:p>
                  </a:txBody>
                  <a:tcPr marL="73152" marR="73152" marT="36576" marB="36576" anchor="ctr">
                    <a:solidFill>
                      <a:srgbClr val="1B2A55"/>
                    </a:solidFill>
                  </a:tcPr>
                </a:tc>
              </a:tr>
              <a:tr h="365760">
                <a:tc>
                  <a:txBody>
                    <a:bodyPr wrap="square"/>
                    <a:lstStyle/>
                    <a:p>
                      <a:r>
                        <a:rPr sz="900" b="1" i="0">
                          <a:solidFill>
                            <a:srgbClr val="1B2A55"/>
                          </a:solidFill>
                          <a:latin typeface="Inter"/>
                        </a:rPr>
                        <a:t>FlexyVotes (GitHub)</a:t>
                      </a:r>
                    </a:p>
                  </a:txBody>
                  <a:tcPr marL="73152" marR="73152" marT="36576" marB="36576" anchor="ctr">
                    <a:solidFill>
                      <a:srgbClr val="FFFFFF"/>
                    </a:solidFill>
                  </a:tcPr>
                </a:tc>
                <a:tc>
                  <a:txBody>
                    <a:bodyPr wrap="square"/>
                    <a:lstStyle/>
                    <a:p>
                      <a:r>
                        <a:rPr sz="900" b="0" i="0">
                          <a:solidFill>
                            <a:srgbClr val="353B4A"/>
                          </a:solidFill>
                          <a:latin typeface="Inter"/>
                        </a:rPr>
                        <a:t>Keyed-hash one-time code with expiry, attempt limit and hourly rate limit; QR only for event ticket check-in.</a:t>
                      </a:r>
                    </a:p>
                  </a:txBody>
                  <a:tcPr marL="73152" marR="73152" marT="36576" marB="36576" anchor="ctr">
                    <a:solidFill>
                      <a:srgbClr val="FFFFFF"/>
                    </a:solidFill>
                  </a:tcPr>
                </a:tc>
                <a:tc>
                  <a:txBody>
                    <a:bodyPr wrap="square"/>
                    <a:lstStyle/>
                    <a:p>
                      <a:r>
                        <a:rPr sz="900" b="0" i="0">
                          <a:solidFill>
                            <a:srgbClr val="353B4A"/>
                          </a:solidFill>
                          <a:latin typeface="Inter"/>
                        </a:rPr>
                        <a:t>F6 Yes · F7 No</a:t>
                      </a:r>
                    </a:p>
                  </a:txBody>
                  <a:tcPr marL="73152" marR="73152" marT="36576" marB="36576" anchor="ctr">
                    <a:solidFill>
                      <a:srgbClr val="FFFFFF"/>
                    </a:solidFill>
                  </a:tcPr>
                </a:tc>
              </a:tr>
              <a:tr h="365760">
                <a:tc>
                  <a:txBody>
                    <a:bodyPr wrap="square"/>
                    <a:lstStyle/>
                    <a:p>
                      <a:r>
                        <a:rPr sz="900" b="1" i="0">
                          <a:solidFill>
                            <a:srgbClr val="1B2A55"/>
                          </a:solidFill>
                          <a:latin typeface="Inter"/>
                        </a:rPr>
                        <a:t>SecureVote (GitHub)</a:t>
                      </a:r>
                    </a:p>
                  </a:txBody>
                  <a:tcPr marL="73152" marR="73152" marT="36576" marB="36576" anchor="ctr">
                    <a:solidFill>
                      <a:srgbClr val="F1F0F6"/>
                    </a:solidFill>
                  </a:tcPr>
                </a:tc>
                <a:tc>
                  <a:txBody>
                    <a:bodyPr wrap="square"/>
                    <a:lstStyle/>
                    <a:p>
                      <a:r>
                        <a:rPr sz="900" b="0" i="0">
                          <a:solidFill>
                            <a:srgbClr val="353B4A"/>
                          </a:solidFill>
                          <a:latin typeface="Inter"/>
                        </a:rPr>
                        <a:t>Hashed one-time code with expiry and attempt limits.</a:t>
                      </a:r>
                    </a:p>
                  </a:txBody>
                  <a:tcPr marL="73152" marR="73152" marT="36576" marB="36576" anchor="ctr">
                    <a:solidFill>
                      <a:srgbClr val="F1F0F6"/>
                    </a:solidFill>
                  </a:tcPr>
                </a:tc>
                <a:tc>
                  <a:txBody>
                    <a:bodyPr wrap="square"/>
                    <a:lstStyle/>
                    <a:p>
                      <a:r>
                        <a:rPr sz="900" b="0" i="0">
                          <a:solidFill>
                            <a:srgbClr val="353B4A"/>
                          </a:solidFill>
                          <a:latin typeface="Inter"/>
                        </a:rPr>
                        <a:t>F6 Yes</a:t>
                      </a:r>
                    </a:p>
                  </a:txBody>
                  <a:tcPr marL="73152" marR="73152" marT="36576" marB="36576" anchor="ctr">
                    <a:solidFill>
                      <a:srgbClr val="F1F0F6"/>
                    </a:solidFill>
                  </a:tcPr>
                </a:tc>
              </a:tr>
              <a:tr h="365760">
                <a:tc>
                  <a:txBody>
                    <a:bodyPr wrap="square"/>
                    <a:lstStyle/>
                    <a:p>
                      <a:r>
                        <a:rPr sz="900" b="1" i="0">
                          <a:solidFill>
                            <a:srgbClr val="1B2A55"/>
                          </a:solidFill>
                          <a:latin typeface="Inter"/>
                        </a:rPr>
                        <a:t>VeriVote (GitHub)</a:t>
                      </a:r>
                    </a:p>
                  </a:txBody>
                  <a:tcPr marL="73152" marR="73152" marT="36576" marB="36576" anchor="ctr">
                    <a:solidFill>
                      <a:srgbClr val="FFFFFF"/>
                    </a:solidFill>
                  </a:tcPr>
                </a:tc>
                <a:tc>
                  <a:txBody>
                    <a:bodyPr wrap="square"/>
                    <a:lstStyle/>
                    <a:p>
                      <a:r>
                        <a:rPr sz="900" b="0" i="0">
                          <a:solidFill>
                            <a:srgbClr val="353B4A"/>
                          </a:solidFill>
                          <a:latin typeface="Inter"/>
                        </a:rPr>
                        <a:t>Email one-time code with rate limits.</a:t>
                      </a:r>
                    </a:p>
                  </a:txBody>
                  <a:tcPr marL="73152" marR="73152" marT="36576" marB="36576" anchor="ctr">
                    <a:solidFill>
                      <a:srgbClr val="FFFFFF"/>
                    </a:solidFill>
                  </a:tcPr>
                </a:tc>
                <a:tc>
                  <a:txBody>
                    <a:bodyPr wrap="square"/>
                    <a:lstStyle/>
                    <a:p>
                      <a:r>
                        <a:rPr sz="900" b="0" i="0">
                          <a:solidFill>
                            <a:srgbClr val="353B4A"/>
                          </a:solidFill>
                          <a:latin typeface="Inter"/>
                        </a:rPr>
                        <a:t>F6 Part</a:t>
                      </a:r>
                    </a:p>
                  </a:txBody>
                  <a:tcPr marL="73152" marR="73152" marT="36576" marB="36576" anchor="ctr">
                    <a:solidFill>
                      <a:srgbClr val="FFFFFF"/>
                    </a:solidFill>
                  </a:tcPr>
                </a:tc>
              </a:tr>
              <a:tr h="365760">
                <a:tc>
                  <a:txBody>
                    <a:bodyPr wrap="square"/>
                    <a:lstStyle/>
                    <a:p>
                      <a:r>
                        <a:rPr sz="900" b="1" i="0">
                          <a:solidFill>
                            <a:srgbClr val="1B2A55"/>
                          </a:solidFill>
                          <a:latin typeface="Inter"/>
                        </a:rPr>
                        <a:t>BetterVoting</a:t>
                      </a:r>
                    </a:p>
                  </a:txBody>
                  <a:tcPr marL="73152" marR="73152" marT="36576" marB="36576" anchor="ctr">
                    <a:solidFill>
                      <a:srgbClr val="F1F0F6"/>
                    </a:solidFill>
                  </a:tcPr>
                </a:tc>
                <a:tc>
                  <a:txBody>
                    <a:bodyPr wrap="square"/>
                    <a:lstStyle/>
                    <a:p>
                      <a:r>
                        <a:rPr sz="900" b="0" i="0">
                          <a:solidFill>
                            <a:srgbClr val="353B4A"/>
                          </a:solidFill>
                          <a:latin typeface="Inter"/>
                        </a:rPr>
                        <a:t>A unique emailed link per voter; docs mention no one-time code or 2FA; a QR code shares the election link.</a:t>
                      </a:r>
                    </a:p>
                  </a:txBody>
                  <a:tcPr marL="73152" marR="73152" marT="36576" marB="36576" anchor="ctr">
                    <a:solidFill>
                      <a:srgbClr val="F1F0F6"/>
                    </a:solidFill>
                  </a:tcPr>
                </a:tc>
                <a:tc>
                  <a:txBody>
                    <a:bodyPr wrap="square"/>
                    <a:lstStyle/>
                    <a:p>
                      <a:r>
                        <a:rPr sz="900" b="0" i="0">
                          <a:solidFill>
                            <a:srgbClr val="353B4A"/>
                          </a:solidFill>
                          <a:latin typeface="Inter"/>
                        </a:rPr>
                        <a:t>F6 Part · F7 Part</a:t>
                      </a:r>
                    </a:p>
                  </a:txBody>
                  <a:tcPr marL="73152" marR="73152" marT="36576" marB="36576" anchor="ctr">
                    <a:solidFill>
                      <a:srgbClr val="F1F0F6"/>
                    </a:solidFill>
                  </a:tcPr>
                </a:tc>
              </a:tr>
              <a:tr h="365760">
                <a:tc>
                  <a:txBody>
                    <a:bodyPr wrap="square"/>
                    <a:lstStyle/>
                    <a:p>
                      <a:r>
                        <a:rPr sz="900" b="1" i="0">
                          <a:solidFill>
                            <a:srgbClr val="1B2A55"/>
                          </a:solidFill>
                          <a:latin typeface="Inter"/>
                        </a:rPr>
                        <a:t>TapVoter</a:t>
                      </a:r>
                    </a:p>
                  </a:txBody>
                  <a:tcPr marL="73152" marR="73152" marT="36576" marB="36576" anchor="ctr">
                    <a:solidFill>
                      <a:srgbClr val="FFFFFF"/>
                    </a:solidFill>
                  </a:tcPr>
                </a:tc>
                <a:tc>
                  <a:txBody>
                    <a:bodyPr wrap="square"/>
                    <a:lstStyle/>
                    <a:p>
                      <a:r>
                        <a:rPr sz="900" b="0" i="0">
                          <a:solidFill>
                            <a:srgbClr val="353B4A"/>
                          </a:solidFill>
                          <a:latin typeface="Inter"/>
                        </a:rPr>
                        <a:t>Single-use key handed out by QR poster or email; no emailed second-factor code documented.</a:t>
                      </a:r>
                    </a:p>
                  </a:txBody>
                  <a:tcPr marL="73152" marR="73152" marT="36576" marB="36576" anchor="ctr">
                    <a:solidFill>
                      <a:srgbClr val="FFFFFF"/>
                    </a:solidFill>
                  </a:tcPr>
                </a:tc>
                <a:tc>
                  <a:txBody>
                    <a:bodyPr wrap="square"/>
                    <a:lstStyle/>
                    <a:p>
                      <a:r>
                        <a:rPr sz="900" b="0" i="0">
                          <a:solidFill>
                            <a:srgbClr val="353B4A"/>
                          </a:solidFill>
                          <a:latin typeface="Inter"/>
                        </a:rPr>
                        <a:t>F6 Part · F7 Part</a:t>
                      </a:r>
                    </a:p>
                  </a:txBody>
                  <a:tcPr marL="73152" marR="73152" marT="36576" marB="36576" anchor="ctr">
                    <a:solidFill>
                      <a:srgbClr val="FFFFFF"/>
                    </a:solidFill>
                  </a:tcPr>
                </a:tc>
              </a:tr>
              <a:tr h="365760">
                <a:tc>
                  <a:txBody>
                    <a:bodyPr wrap="square"/>
                    <a:lstStyle/>
                    <a:p>
                      <a:r>
                        <a:rPr sz="900" b="1" i="0">
                          <a:solidFill>
                            <a:srgbClr val="1B2A55"/>
                          </a:solidFill>
                          <a:latin typeface="Inter"/>
                        </a:rPr>
                        <a:t>Belenios</a:t>
                      </a:r>
                    </a:p>
                  </a:txBody>
                  <a:tcPr marL="73152" marR="73152" marT="36576" marB="36576" anchor="ctr">
                    <a:solidFill>
                      <a:srgbClr val="F1F0F6"/>
                    </a:solidFill>
                  </a:tcPr>
                </a:tc>
                <a:tc>
                  <a:txBody>
                    <a:bodyPr wrap="square"/>
                    <a:lstStyle/>
                    <a:p>
                      <a:r>
                        <a:rPr sz="900" b="0" i="0">
                          <a:solidFill>
                            <a:srgbClr val="353B4A"/>
                          </a:solidFill>
                          <a:latin typeface="Inter"/>
                        </a:rPr>
                        <a:t>Default voter login is an emailed short code at voting time; hashing, expiry and limits not documented.</a:t>
                      </a:r>
                    </a:p>
                  </a:txBody>
                  <a:tcPr marL="73152" marR="73152" marT="36576" marB="36576" anchor="ctr">
                    <a:solidFill>
                      <a:srgbClr val="F1F0F6"/>
                    </a:solidFill>
                  </a:tcPr>
                </a:tc>
                <a:tc>
                  <a:txBody>
                    <a:bodyPr wrap="square"/>
                    <a:lstStyle/>
                    <a:p>
                      <a:r>
                        <a:rPr sz="900" b="0" i="0">
                          <a:solidFill>
                            <a:srgbClr val="353B4A"/>
                          </a:solidFill>
                          <a:latin typeface="Inter"/>
                        </a:rPr>
                        <a:t>F6 Part</a:t>
                      </a:r>
                    </a:p>
                  </a:txBody>
                  <a:tcPr marL="73152" marR="73152" marT="36576" marB="36576" anchor="ctr">
                    <a:solidFill>
                      <a:srgbClr val="F1F0F6"/>
                    </a:solidFill>
                  </a:tcPr>
                </a:tc>
              </a:tr>
            </a:tbl>
          </a:graphicData>
        </a:graphic>
      </p:graphicFrame>
      <p:sp>
        <p:nvSpPr>
          <p:cNvPr id="7" name="Rounded Rectangle 6"/>
          <p:cNvSpPr/>
          <p:nvPr/>
        </p:nvSpPr>
        <p:spPr>
          <a:xfrm>
            <a:off x="457200" y="3675888"/>
            <a:ext cx="8229600" cy="1078991"/>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749040"/>
            <a:ext cx="7863840" cy="969263"/>
          </a:xfrm>
          <a:prstGeom prst="rect">
            <a:avLst/>
          </a:prstGeom>
          <a:noFill/>
        </p:spPr>
        <p:txBody>
          <a:bodyPr wrap="square" anchor="t" lIns="0" rIns="0" tIns="0" bIns="0">
            <a:spAutoFit/>
          </a:bodyPr>
          <a:lstStyle/>
          <a:p>
            <a:pPr algn="l">
              <a:spcAft>
                <a:spcPts val="300"/>
              </a:spcAft>
            </a:pPr>
            <a:r>
              <a:rPr sz="1000" b="1" i="0">
                <a:solidFill>
                  <a:srgbClr val="1B2A55"/>
                </a:solidFill>
                <a:latin typeface="Inter"/>
              </a:rPr>
              <a:t>PolyVote: </a:t>
            </a:r>
            <a:r>
              <a:rPr sz="1000" b="0" i="0">
                <a:solidFill>
                  <a:srgbClr val="353B4A"/>
                </a:solidFill>
                <a:latin typeface="Inter"/>
              </a:rPr>
              <a:t>password plus an emailed six-digit code (hashed, 5 minutes, single use, 3 guesses, resend limits). 14 of 14 tests pass, and one real defect (unlimited guesses) was found and fixed. A QR code on the vote page opens the ballot on any phone; a real ballot was cast from one.</a:t>
            </a:r>
          </a:p>
          <a:p>
            <a:pPr algn="l">
              <a:spcAft>
                <a:spcPts val="300"/>
              </a:spcAft>
            </a:pPr>
            <a:r>
              <a:rPr sz="1000" b="1" i="0">
                <a:solidFill>
                  <a:srgbClr val="1B2A55"/>
                </a:solidFill>
                <a:latin typeface="Inter"/>
              </a:rPr>
              <a:t>Verdict: </a:t>
            </a:r>
            <a:r>
              <a:rPr sz="1000" b="0" i="0">
                <a:solidFill>
                  <a:srgbClr val="353B4A"/>
                </a:solidFill>
                <a:latin typeface="Inter"/>
              </a:rPr>
              <a:t>F6 alone is not unique: FlexyVotes and SecureVote have it too. What we did not find documented is a scan-to-vote QR flow together with an emailed code.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COMPARATIVE STUDY · CLOSEST PROJECTS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The three closest projects, and what each lacks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44</a:t>
            </a:r>
          </a:p>
        </p:txBody>
      </p:sp>
      <p:graphicFrame>
        <p:nvGraphicFramePr>
          <p:cNvPr id="6" name="Table 5"/>
          <p:cNvGraphicFramePr>
            <a:graphicFrameLocks noGrp="1"/>
          </p:cNvGraphicFramePr>
          <p:nvPr/>
        </p:nvGraphicFramePr>
        <p:xfrm>
          <a:off x="457200" y="1024128"/>
          <a:ext cx="8229600" cy="2624328"/>
        </p:xfrm>
        <a:graphic>
          <a:graphicData uri="http://schemas.openxmlformats.org/drawingml/2006/table">
            <a:tbl>
              <a:tblPr firstRow="1" bandRow="1">
                <a:tableStyleId>{5C22544A-7EE6-4342-B048-85BDC9FD1C3A}</a:tableStyleId>
              </a:tblPr>
              <a:tblGrid>
                <a:gridCol w="2468880"/>
                <a:gridCol w="3017520"/>
                <a:gridCol w="2743200"/>
              </a:tblGrid>
              <a:tr h="292608">
                <a:tc>
                  <a:txBody>
                    <a:bodyPr wrap="square"/>
                    <a:lstStyle/>
                    <a:p>
                      <a:r>
                        <a:rPr sz="950" b="1" i="0">
                          <a:solidFill>
                            <a:srgbClr val="FFFFFF"/>
                          </a:solidFill>
                          <a:latin typeface="Inter"/>
                        </a:rPr>
                        <a:t>Closest project (source)</a:t>
                      </a:r>
                    </a:p>
                  </a:txBody>
                  <a:tcPr marL="73152" marR="73152" marT="36576" marB="36576" anchor="ctr">
                    <a:solidFill>
                      <a:srgbClr val="1B2A55"/>
                    </a:solidFill>
                  </a:tcPr>
                </a:tc>
                <a:tc>
                  <a:txBody>
                    <a:bodyPr wrap="square"/>
                    <a:lstStyle/>
                    <a:p>
                      <a:r>
                        <a:rPr sz="950" b="1" i="0">
                          <a:solidFill>
                            <a:srgbClr val="FFFFFF"/>
                          </a:solidFill>
                          <a:latin typeface="Inter"/>
                        </a:rPr>
                        <a:t>What it has</a:t>
                      </a:r>
                    </a:p>
                  </a:txBody>
                  <a:tcPr marL="73152" marR="73152" marT="36576" marB="36576" anchor="ctr">
                    <a:solidFill>
                      <a:srgbClr val="1B2A55"/>
                    </a:solidFill>
                  </a:tcPr>
                </a:tc>
                <a:tc>
                  <a:txBody>
                    <a:bodyPr wrap="square"/>
                    <a:lstStyle/>
                    <a:p>
                      <a:r>
                        <a:rPr sz="950" b="1" i="0">
                          <a:solidFill>
                            <a:srgbClr val="FFFFFF"/>
                          </a:solidFill>
                          <a:latin typeface="Inter"/>
                        </a:rPr>
                        <a:t>What we found it does not document</a:t>
                      </a:r>
                    </a:p>
                  </a:txBody>
                  <a:tcPr marL="73152" marR="73152" marT="36576" marB="36576" anchor="ctr">
                    <a:solidFill>
                      <a:srgbClr val="1B2A55"/>
                    </a:solidFill>
                  </a:tcPr>
                </a:tc>
              </a:tr>
              <a:tr h="777240">
                <a:tc>
                  <a:txBody>
                    <a:bodyPr wrap="square"/>
                    <a:lstStyle/>
                    <a:p>
                      <a:r>
                        <a:rPr sz="900" b="1" i="0">
                          <a:solidFill>
                            <a:srgbClr val="1B2A55"/>
                          </a:solidFill>
                          <a:latin typeface="Inter"/>
                        </a:rPr>
                        <a:t>FlexyVotes, Django and PostgreSQL (github.com/deOpty/flexyvotes)</a:t>
                      </a:r>
                    </a:p>
                  </a:txBody>
                  <a:tcPr marL="73152" marR="73152" marT="36576" marB="36576" anchor="ctr">
                    <a:solidFill>
                      <a:srgbClr val="FFFFFF"/>
                    </a:solidFill>
                  </a:tcPr>
                </a:tc>
                <a:tc>
                  <a:txBody>
                    <a:bodyPr wrap="square"/>
                    <a:lstStyle/>
                    <a:p>
                      <a:r>
                        <a:rPr sz="900" b="0" i="0">
                          <a:solidFill>
                            <a:srgbClr val="353B4A"/>
                          </a:solidFill>
                          <a:latin typeface="Inter"/>
                        </a:rPr>
                        <a:t>Many organisations; instant-runoff and STV; triggers that block raw SQL; ballots with no voter key; hash-chained audit log; hashed single-use email OTP</a:t>
                      </a:r>
                    </a:p>
                  </a:txBody>
                  <a:tcPr marL="73152" marR="73152" marT="36576" marB="36576" anchor="ctr">
                    <a:solidFill>
                      <a:srgbClr val="FFFFFF"/>
                    </a:solidFill>
                  </a:tcPr>
                </a:tc>
                <a:tc>
                  <a:txBody>
                    <a:bodyPr wrap="square"/>
                    <a:lstStyle/>
                    <a:p>
                      <a:r>
                        <a:rPr sz="900" b="0" i="0">
                          <a:solidFill>
                            <a:srgbClr val="353B4A"/>
                          </a:solidFill>
                          <a:latin typeface="Inter"/>
                        </a:rPr>
                        <a:t>QR scan-to-vote; an HMAC-keyed chain; a separate document store and email database; a reconciling sweep; published attack results</a:t>
                      </a:r>
                    </a:p>
                  </a:txBody>
                  <a:tcPr marL="73152" marR="73152" marT="36576" marB="36576" anchor="ctr">
                    <a:solidFill>
                      <a:srgbClr val="FFFFFF"/>
                    </a:solidFill>
                  </a:tcPr>
                </a:tc>
              </a:tr>
              <a:tr h="777240">
                <a:tc>
                  <a:txBody>
                    <a:bodyPr wrap="square"/>
                    <a:lstStyle/>
                    <a:p>
                      <a:r>
                        <a:rPr sz="900" b="1" i="0">
                          <a:solidFill>
                            <a:srgbClr val="1B2A55"/>
                          </a:solidFill>
                          <a:latin typeface="Inter"/>
                        </a:rPr>
                        <a:t>VeriVote, Node, React and MongoDB (github.com/9022574361/Online_Voting_System)</a:t>
                      </a:r>
                    </a:p>
                  </a:txBody>
                  <a:tcPr marL="73152" marR="73152" marT="36576" marB="36576" anchor="ctr">
                    <a:solidFill>
                      <a:srgbClr val="F1F0F6"/>
                    </a:solidFill>
                  </a:tcPr>
                </a:tc>
                <a:tc>
                  <a:txBody>
                    <a:bodyPr wrap="square"/>
                    <a:lstStyle/>
                    <a:p>
                      <a:r>
                        <a:rPr sz="900" b="0" i="0">
                          <a:solidFill>
                            <a:srgbClr val="353B4A"/>
                          </a:solidFill>
                          <a:latin typeface="Inter"/>
                        </a:rPr>
                        <a:t>SHA-256 chain in MongoDB with an audit endpoint; ballots without voter identity; email OTP with rate limits; receipt hash</a:t>
                      </a:r>
                    </a:p>
                  </a:txBody>
                  <a:tcPr marL="73152" marR="73152" marT="36576" marB="36576" anchor="ctr">
                    <a:solidFill>
                      <a:srgbClr val="F1F0F6"/>
                    </a:solidFill>
                  </a:tcPr>
                </a:tc>
                <a:tc>
                  <a:txBody>
                    <a:bodyPr wrap="square"/>
                    <a:lstStyle/>
                    <a:p>
                      <a:r>
                        <a:rPr sz="900" b="0" i="0">
                          <a:solidFill>
                            <a:srgbClr val="353B4A"/>
                          </a:solidFill>
                          <a:latin typeface="Inter"/>
                        </a:rPr>
                        <a:t>Ranked counting; many organisations; database rules; HMAC key; reconciliation; automated attack suite</a:t>
                      </a:r>
                    </a:p>
                  </a:txBody>
                  <a:tcPr marL="73152" marR="73152" marT="36576" marB="36576" anchor="ctr">
                    <a:solidFill>
                      <a:srgbClr val="F1F0F6"/>
                    </a:solidFill>
                  </a:tcPr>
                </a:tc>
              </a:tr>
              <a:tr h="777240">
                <a:tc>
                  <a:txBody>
                    <a:bodyPr wrap="square"/>
                    <a:lstStyle/>
                    <a:p>
                      <a:r>
                        <a:rPr sz="900" b="1" i="0">
                          <a:solidFill>
                            <a:srgbClr val="1B2A55"/>
                          </a:solidFill>
                          <a:latin typeface="Inter"/>
                        </a:rPr>
                        <a:t>BetterVoting (github.com/Equal-Vote/bettervoting)</a:t>
                      </a:r>
                    </a:p>
                  </a:txBody>
                  <a:tcPr marL="73152" marR="73152" marT="36576" marB="36576" anchor="ctr">
                    <a:solidFill>
                      <a:srgbClr val="FFFFFF"/>
                    </a:solidFill>
                  </a:tcPr>
                </a:tc>
                <a:tc>
                  <a:txBody>
                    <a:bodyPr wrap="square"/>
                    <a:lstStyle/>
                    <a:p>
                      <a:r>
                        <a:rPr sz="900" b="0" i="0">
                          <a:solidFill>
                            <a:srgbClr val="353B4A"/>
                          </a:solidFill>
                          <a:latin typeface="Inter"/>
                        </a:rPr>
                        <a:t>Ranked-choice voting; teams; QR sharing; receipts; free and open source (AGPL)</a:t>
                      </a:r>
                    </a:p>
                  </a:txBody>
                  <a:tcPr marL="73152" marR="73152" marT="36576" marB="36576" anchor="ctr">
                    <a:solidFill>
                      <a:srgbClr val="FFFFFF"/>
                    </a:solidFill>
                  </a:tcPr>
                </a:tc>
                <a:tc>
                  <a:txBody>
                    <a:bodyPr wrap="square"/>
                    <a:lstStyle/>
                    <a:p>
                      <a:r>
                        <a:rPr sz="900" b="0" i="0">
                          <a:solidFill>
                            <a:srgbClr val="353B4A"/>
                          </a:solidFill>
                          <a:latin typeface="Inter"/>
                        </a:rPr>
                        <a:t>Database-enforced rules; a ledger of ballots (its audit log covers admin actions); one-time-code factor; reconciliation and attack tests</a:t>
                      </a:r>
                    </a:p>
                  </a:txBody>
                  <a:tcPr marL="73152" marR="73152" marT="36576" marB="36576" anchor="ctr">
                    <a:solidFill>
                      <a:srgbClr val="FFFFFF"/>
                    </a:solidFill>
                  </a:tcPr>
                </a:tc>
              </a:tr>
            </a:tbl>
          </a:graphicData>
        </a:graphic>
      </p:graphicFrame>
      <p:sp>
        <p:nvSpPr>
          <p:cNvPr id="7" name="Rounded Rectangle 6"/>
          <p:cNvSpPr/>
          <p:nvPr/>
        </p:nvSpPr>
        <p:spPr>
          <a:xfrm>
            <a:off x="457200" y="3840480"/>
            <a:ext cx="8229600" cy="91440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904487"/>
            <a:ext cx="7863840" cy="822960"/>
          </a:xfrm>
          <a:prstGeom prst="rect">
            <a:avLst/>
          </a:prstGeom>
          <a:noFill/>
        </p:spPr>
        <p:txBody>
          <a:bodyPr wrap="square" anchor="t" lIns="0" rIns="0" tIns="0" bIns="0">
            <a:spAutoFit/>
          </a:bodyPr>
          <a:lstStyle/>
          <a:p>
            <a:pPr algn="l">
              <a:spcAft>
                <a:spcPts val="0"/>
              </a:spcAft>
            </a:pPr>
            <a:r>
              <a:rPr sz="1000" b="1" i="0">
                <a:solidFill>
                  <a:srgbClr val="1B2A55"/>
                </a:solidFill>
                <a:latin typeface="Inter"/>
              </a:rPr>
              <a:t>What we claim: </a:t>
            </a:r>
            <a:r>
              <a:rPr sz="1000" b="0" i="0">
                <a:solidFill>
                  <a:srgbClr val="353B4A"/>
                </a:solidFill>
                <a:latin typeface="Inter"/>
              </a:rPr>
              <a:t>every single feature exists somewhere, so PolyVote is not the first or the only one. We found no free small-election tool documenting all of them together. </a:t>
            </a:r>
            <a:r>
              <a:rPr sz="1000" b="1" i="0">
                <a:solidFill>
                  <a:srgbClr val="1B2A55"/>
                </a:solidFill>
                <a:latin typeface="Inter"/>
              </a:rPr>
              <a:t>What we do not claim: </a:t>
            </a:r>
            <a:r>
              <a:rPr sz="1000" b="0" i="0">
                <a:solidFill>
                  <a:srgbClr val="353B4A"/>
                </a:solidFill>
                <a:latin typeface="Inter"/>
              </a:rPr>
              <a:t>to be more secure than Helios, Belenios or ElectionGuard. Limits: GitHub code search and non-English repositories were not covered.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COMPARATIVE STUDY · VERDICT</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Best for small elections, not a Helios replacement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45</a:t>
            </a:r>
          </a:p>
        </p:txBody>
      </p:sp>
      <p:sp>
        <p:nvSpPr>
          <p:cNvPr id="6" name="Rounded Rectangle 5"/>
          <p:cNvSpPr/>
          <p:nvPr/>
        </p:nvSpPr>
        <p:spPr>
          <a:xfrm>
            <a:off x="457200" y="1097280"/>
            <a:ext cx="4023360" cy="292608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225296"/>
            <a:ext cx="290322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PolyVote IS A GOOD FIT WHEN</a:t>
            </a:r>
          </a:p>
        </p:txBody>
      </p:sp>
      <p:sp>
        <p:nvSpPr>
          <p:cNvPr id="8" name="TextBox 7"/>
          <p:cNvSpPr txBox="1"/>
          <p:nvPr/>
        </p:nvSpPr>
        <p:spPr>
          <a:xfrm>
            <a:off x="640080" y="1600200"/>
            <a:ext cx="3657600" cy="237744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  </a:t>
            </a:r>
            <a:r>
              <a:rPr sz="1100" b="0" i="0">
                <a:solidFill>
                  <a:srgbClr val="353B4A"/>
                </a:solidFill>
                <a:latin typeface="Inter"/>
              </a:rPr>
              <a:t>A club, council or class needs ranked-choice results.</a:t>
            </a:r>
          </a:p>
          <a:p>
            <a:pPr algn="l">
              <a:spcAft>
                <a:spcPts val="500"/>
              </a:spcAft>
            </a:pPr>
            <a:r>
              <a:rPr sz="1100" b="1" i="0">
                <a:solidFill>
                  <a:srgbClr val="1B2A55"/>
                </a:solidFill>
                <a:latin typeface="Inter"/>
              </a:rPr>
              <a:t>•  </a:t>
            </a:r>
            <a:r>
              <a:rPr sz="1100" b="0" i="0">
                <a:solidFill>
                  <a:srgbClr val="353B4A"/>
                </a:solidFill>
                <a:latin typeface="Inter"/>
              </a:rPr>
              <a:t>Someone must be able to run it in an afternoon, free.</a:t>
            </a:r>
          </a:p>
          <a:p>
            <a:pPr algn="l">
              <a:spcAft>
                <a:spcPts val="500"/>
              </a:spcAft>
            </a:pPr>
            <a:r>
              <a:rPr sz="1100" b="1" i="0">
                <a:solidFill>
                  <a:srgbClr val="1B2A55"/>
                </a:solidFill>
                <a:latin typeface="Inter"/>
              </a:rPr>
              <a:t>•  </a:t>
            </a:r>
            <a:r>
              <a:rPr sz="1100" b="0" i="0">
                <a:solidFill>
                  <a:srgbClr val="353B4A"/>
                </a:solidFill>
                <a:latin typeface="Inter"/>
              </a:rPr>
              <a:t>You need proof that edits and deletions are caught.</a:t>
            </a:r>
          </a:p>
          <a:p>
            <a:pPr algn="l">
              <a:spcAft>
                <a:spcPts val="500"/>
              </a:spcAft>
            </a:pPr>
            <a:r>
              <a:rPr sz="1100" b="1" i="0">
                <a:solidFill>
                  <a:srgbClr val="1B2A55"/>
                </a:solidFill>
                <a:latin typeface="Inter"/>
              </a:rPr>
              <a:t>•  </a:t>
            </a:r>
            <a:r>
              <a:rPr sz="1100" b="0" i="0">
                <a:solidFill>
                  <a:srgbClr val="353B4A"/>
                </a:solidFill>
                <a:latin typeface="Inter"/>
              </a:rPr>
              <a:t>Voters should confirm themselves by email and vote from a phone.</a:t>
            </a:r>
          </a:p>
        </p:txBody>
      </p:sp>
      <p:sp>
        <p:nvSpPr>
          <p:cNvPr id="9" name="Rounded Rectangle 8"/>
          <p:cNvSpPr/>
          <p:nvPr/>
        </p:nvSpPr>
        <p:spPr>
          <a:xfrm>
            <a:off x="4663440" y="1097280"/>
            <a:ext cx="4023360" cy="292608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846320" y="1225296"/>
            <a:ext cx="309524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CHOOSE HELIOS / BELENIOS WHEN</a:t>
            </a:r>
          </a:p>
        </p:txBody>
      </p:sp>
      <p:sp>
        <p:nvSpPr>
          <p:cNvPr id="11" name="TextBox 10"/>
          <p:cNvSpPr txBox="1"/>
          <p:nvPr/>
        </p:nvSpPr>
        <p:spPr>
          <a:xfrm>
            <a:off x="4846320" y="1600200"/>
            <a:ext cx="3657600" cy="237744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  </a:t>
            </a:r>
            <a:r>
              <a:rPr sz="1100" b="0" i="0">
                <a:solidFill>
                  <a:srgbClr val="353B4A"/>
                </a:solidFill>
                <a:latin typeface="Inter"/>
              </a:rPr>
              <a:t>The administrator itself cannot be trusted.</a:t>
            </a:r>
          </a:p>
          <a:p>
            <a:pPr algn="l">
              <a:spcAft>
                <a:spcPts val="500"/>
              </a:spcAft>
            </a:pPr>
            <a:r>
              <a:rPr sz="1100" b="1" i="0">
                <a:solidFill>
                  <a:srgbClr val="1B2A55"/>
                </a:solidFill>
                <a:latin typeface="Inter"/>
              </a:rPr>
              <a:t>•  </a:t>
            </a:r>
            <a:r>
              <a:rPr sz="1100" b="0" i="0">
                <a:solidFill>
                  <a:srgbClr val="353B4A"/>
                </a:solidFill>
                <a:latin typeface="Inter"/>
              </a:rPr>
              <a:t>Voters must verify their own ballot content.</a:t>
            </a:r>
          </a:p>
          <a:p>
            <a:pPr algn="l">
              <a:spcAft>
                <a:spcPts val="500"/>
              </a:spcAft>
            </a:pPr>
            <a:r>
              <a:rPr sz="1100" b="1" i="0">
                <a:solidFill>
                  <a:srgbClr val="1B2A55"/>
                </a:solidFill>
                <a:latin typeface="Inter"/>
              </a:rPr>
              <a:t>•  </a:t>
            </a:r>
            <a:r>
              <a:rPr sz="1100" b="0" i="0">
                <a:solidFill>
                  <a:srgbClr val="353B4A"/>
                </a:solidFill>
                <a:latin typeface="Inter"/>
              </a:rPr>
              <a:t>Coercion or vote selling is a real threat.</a:t>
            </a:r>
          </a:p>
          <a:p>
            <a:pPr algn="l">
              <a:spcAft>
                <a:spcPts val="500"/>
              </a:spcAft>
            </a:pPr>
            <a:r>
              <a:rPr sz="1100" b="1" i="0">
                <a:solidFill>
                  <a:srgbClr val="1B2A55"/>
                </a:solidFill>
                <a:latin typeface="Inter"/>
              </a:rPr>
              <a:t>•  </a:t>
            </a:r>
            <a:r>
              <a:rPr sz="1100" b="0" i="0">
                <a:solidFill>
                  <a:srgbClr val="353B4A"/>
                </a:solidFill>
                <a:latin typeface="Inter"/>
              </a:rPr>
              <a:t>A public cryptographic audit is required.</a:t>
            </a:r>
          </a:p>
        </p:txBody>
      </p:sp>
      <p:sp>
        <p:nvSpPr>
          <p:cNvPr id="12" name="Rounded Rectangle 11"/>
          <p:cNvSpPr/>
          <p:nvPr/>
        </p:nvSpPr>
        <p:spPr>
          <a:xfrm>
            <a:off x="457200" y="4160520"/>
            <a:ext cx="8229600" cy="50292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206240"/>
            <a:ext cx="7863840" cy="411480"/>
          </a:xfrm>
          <a:prstGeom prst="rect">
            <a:avLst/>
          </a:prstGeom>
          <a:noFill/>
        </p:spPr>
        <p:txBody>
          <a:bodyPr wrap="square" anchor="ctr" lIns="0" rIns="0" tIns="0" bIns="0">
            <a:spAutoFit/>
          </a:bodyPr>
          <a:lstStyle/>
          <a:p>
            <a:pPr algn="l">
              <a:spcAft>
                <a:spcPts val="0"/>
              </a:spcAft>
            </a:pPr>
            <a:r>
              <a:rPr sz="1050" b="1" i="0">
                <a:solidFill>
                  <a:srgbClr val="1B2A55"/>
                </a:solidFill>
                <a:latin typeface="Inter"/>
              </a:rPr>
              <a:t>Our claim: for small elections, PolyVote adds database-level rules and tested tamper detection to an easy setup. It is not the strongest on verifiability.</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REVIEW 2 DESIGN VERSUS FINAL DESIGN</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What improved, measured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46</a:t>
            </a:r>
          </a:p>
        </p:txBody>
      </p:sp>
      <p:graphicFrame>
        <p:nvGraphicFramePr>
          <p:cNvPr id="6" name="Table 5"/>
          <p:cNvGraphicFramePr>
            <a:graphicFrameLocks noGrp="1"/>
          </p:cNvGraphicFramePr>
          <p:nvPr/>
        </p:nvGraphicFramePr>
        <p:xfrm>
          <a:off x="457200" y="1097280"/>
          <a:ext cx="8229600" cy="3438144"/>
        </p:xfrm>
        <a:graphic>
          <a:graphicData uri="http://schemas.openxmlformats.org/drawingml/2006/table">
            <a:tbl>
              <a:tblPr firstRow="1" bandRow="1">
                <a:tableStyleId>{5C22544A-7EE6-4342-B048-85BDC9FD1C3A}</a:tableStyleId>
              </a:tblPr>
              <a:tblGrid>
                <a:gridCol w="3657600"/>
                <a:gridCol w="2468880"/>
                <a:gridCol w="2103120"/>
              </a:tblGrid>
              <a:tr h="365760">
                <a:tc>
                  <a:txBody>
                    <a:bodyPr wrap="square"/>
                    <a:lstStyle/>
                    <a:p>
                      <a:r>
                        <a:rPr sz="1000" b="1" i="0">
                          <a:solidFill>
                            <a:srgbClr val="FFFFFF"/>
                          </a:solidFill>
                          <a:latin typeface="Inter"/>
                        </a:rPr>
                        <a:t>Measure</a:t>
                      </a:r>
                    </a:p>
                  </a:txBody>
                  <a:tcPr marL="73152" marR="73152" marT="36576" marB="36576" anchor="ctr">
                    <a:solidFill>
                      <a:srgbClr val="1B2A55"/>
                    </a:solidFill>
                  </a:tcPr>
                </a:tc>
                <a:tc>
                  <a:txBody>
                    <a:bodyPr wrap="square"/>
                    <a:lstStyle/>
                    <a:p>
                      <a:r>
                        <a:rPr sz="1000" b="1" i="0">
                          <a:solidFill>
                            <a:srgbClr val="FFFFFF"/>
                          </a:solidFill>
                          <a:latin typeface="Inter"/>
                        </a:rPr>
                        <a:t>Review 2</a:t>
                      </a:r>
                    </a:p>
                  </a:txBody>
                  <a:tcPr marL="73152" marR="73152" marT="36576" marB="36576" anchor="ctr">
                    <a:solidFill>
                      <a:srgbClr val="1B2A55"/>
                    </a:solidFill>
                  </a:tcPr>
                </a:tc>
                <a:tc>
                  <a:txBody>
                    <a:bodyPr wrap="square"/>
                    <a:lstStyle/>
                    <a:p>
                      <a:r>
                        <a:rPr sz="1000" b="1" i="0">
                          <a:solidFill>
                            <a:srgbClr val="FFFFFF"/>
                          </a:solidFill>
                          <a:latin typeface="Inter"/>
                        </a:rPr>
                        <a:t>Final</a:t>
                      </a:r>
                    </a:p>
                  </a:txBody>
                  <a:tcPr marL="73152" marR="73152" marT="36576" marB="36576" anchor="ctr">
                    <a:solidFill>
                      <a:srgbClr val="1B2A55"/>
                    </a:solidFill>
                  </a:tcPr>
                </a:tc>
              </a:tr>
              <a:tr h="384048">
                <a:tc>
                  <a:txBody>
                    <a:bodyPr wrap="square"/>
                    <a:lstStyle/>
                    <a:p>
                      <a:r>
                        <a:rPr sz="1050" b="1" i="0">
                          <a:solidFill>
                            <a:srgbClr val="1B2A55"/>
                          </a:solidFill>
                          <a:latin typeface="Inter"/>
                        </a:rPr>
                        <a:t>Tampering detected automatically</a:t>
                      </a:r>
                    </a:p>
                  </a:txBody>
                  <a:tcPr marL="73152" marR="73152" marT="36576" marB="36576" anchor="ctr">
                    <a:solidFill>
                      <a:srgbClr val="FFFFFF"/>
                    </a:solidFill>
                  </a:tcPr>
                </a:tc>
                <a:tc>
                  <a:txBody>
                    <a:bodyPr wrap="square"/>
                    <a:lstStyle/>
                    <a:p>
                      <a:r>
                        <a:rPr sz="1050" b="0" i="0">
                          <a:solidFill>
                            <a:srgbClr val="353B4A"/>
                          </a:solidFill>
                          <a:latin typeface="Inter"/>
                        </a:rPr>
                        <a:t>6 of 13</a:t>
                      </a:r>
                    </a:p>
                  </a:txBody>
                  <a:tcPr marL="73152" marR="73152" marT="36576" marB="36576" anchor="ctr">
                    <a:solidFill>
                      <a:srgbClr val="FFFFFF"/>
                    </a:solidFill>
                  </a:tcPr>
                </a:tc>
                <a:tc>
                  <a:txBody>
                    <a:bodyPr wrap="square"/>
                    <a:lstStyle/>
                    <a:p>
                      <a:r>
                        <a:rPr sz="1050" b="0" i="0">
                          <a:solidFill>
                            <a:srgbClr val="353B4A"/>
                          </a:solidFill>
                          <a:latin typeface="Inter"/>
                        </a:rPr>
                        <a:t>12 of 13</a:t>
                      </a:r>
                    </a:p>
                  </a:txBody>
                  <a:tcPr marL="73152" marR="73152" marT="36576" marB="36576" anchor="ctr">
                    <a:solidFill>
                      <a:srgbClr val="FFFFFF"/>
                    </a:solidFill>
                  </a:tcPr>
                </a:tc>
              </a:tr>
              <a:tr h="384048">
                <a:tc>
                  <a:txBody>
                    <a:bodyPr wrap="square"/>
                    <a:lstStyle/>
                    <a:p>
                      <a:r>
                        <a:rPr sz="1050" b="1" i="0">
                          <a:solidFill>
                            <a:srgbClr val="1B2A55"/>
                          </a:solidFill>
                          <a:latin typeface="Inter"/>
                        </a:rPr>
                        <a:t>Forged receipt or chain rewrite</a:t>
                      </a:r>
                    </a:p>
                  </a:txBody>
                  <a:tcPr marL="73152" marR="73152" marT="36576" marB="36576" anchor="ctr">
                    <a:solidFill>
                      <a:srgbClr val="F1F0F6"/>
                    </a:solidFill>
                  </a:tcPr>
                </a:tc>
                <a:tc>
                  <a:txBody>
                    <a:bodyPr wrap="square"/>
                    <a:lstStyle/>
                    <a:p>
                      <a:r>
                        <a:rPr sz="1050" b="0" i="0">
                          <a:solidFill>
                            <a:srgbClr val="353B4A"/>
                          </a:solidFill>
                          <a:latin typeface="Inter"/>
                        </a:rPr>
                        <a:t>Undetected</a:t>
                      </a:r>
                    </a:p>
                  </a:txBody>
                  <a:tcPr marL="73152" marR="73152" marT="36576" marB="36576" anchor="ctr">
                    <a:solidFill>
                      <a:srgbClr val="F1F0F6"/>
                    </a:solidFill>
                  </a:tcPr>
                </a:tc>
                <a:tc>
                  <a:txBody>
                    <a:bodyPr wrap="square"/>
                    <a:lstStyle/>
                    <a:p>
                      <a:r>
                        <a:rPr sz="1050" b="0" i="0">
                          <a:solidFill>
                            <a:srgbClr val="353B4A"/>
                          </a:solidFill>
                          <a:latin typeface="Inter"/>
                        </a:rPr>
                        <a:t>Detected (key)</a:t>
                      </a:r>
                    </a:p>
                  </a:txBody>
                  <a:tcPr marL="73152" marR="73152" marT="36576" marB="36576" anchor="ctr">
                    <a:solidFill>
                      <a:srgbClr val="F1F0F6"/>
                    </a:solidFill>
                  </a:tcPr>
                </a:tc>
              </a:tr>
              <a:tr h="384048">
                <a:tc>
                  <a:txBody>
                    <a:bodyPr wrap="square"/>
                    <a:lstStyle/>
                    <a:p>
                      <a:r>
                        <a:rPr sz="1050" b="1" i="0">
                          <a:solidFill>
                            <a:srgbClr val="1B2A55"/>
                          </a:solidFill>
                          <a:latin typeface="Inter"/>
                        </a:rPr>
                        <a:t>Candidate renaming</a:t>
                      </a:r>
                    </a:p>
                  </a:txBody>
                  <a:tcPr marL="73152" marR="73152" marT="36576" marB="36576" anchor="ctr">
                    <a:solidFill>
                      <a:srgbClr val="FFFFFF"/>
                    </a:solidFill>
                  </a:tcPr>
                </a:tc>
                <a:tc>
                  <a:txBody>
                    <a:bodyPr wrap="square"/>
                    <a:lstStyle/>
                    <a:p>
                      <a:r>
                        <a:rPr sz="1050" b="0" i="0">
                          <a:solidFill>
                            <a:srgbClr val="353B4A"/>
                          </a:solidFill>
                          <a:latin typeface="Inter"/>
                        </a:rPr>
                        <a:t>Undetected</a:t>
                      </a:r>
                    </a:p>
                  </a:txBody>
                  <a:tcPr marL="73152" marR="73152" marT="36576" marB="36576" anchor="ctr">
                    <a:solidFill>
                      <a:srgbClr val="FFFFFF"/>
                    </a:solidFill>
                  </a:tcPr>
                </a:tc>
                <a:tc>
                  <a:txBody>
                    <a:bodyPr wrap="square"/>
                    <a:lstStyle/>
                    <a:p>
                      <a:r>
                        <a:rPr sz="1050" b="0" i="0">
                          <a:solidFill>
                            <a:srgbClr val="353B4A"/>
                          </a:solidFill>
                          <a:latin typeface="Inter"/>
                        </a:rPr>
                        <a:t>Detected (sealed roster)</a:t>
                      </a:r>
                    </a:p>
                  </a:txBody>
                  <a:tcPr marL="73152" marR="73152" marT="36576" marB="36576" anchor="ctr">
                    <a:solidFill>
                      <a:srgbClr val="FFFFFF"/>
                    </a:solidFill>
                  </a:tcPr>
                </a:tc>
              </a:tr>
              <a:tr h="384048">
                <a:tc>
                  <a:txBody>
                    <a:bodyPr wrap="square"/>
                    <a:lstStyle/>
                    <a:p>
                      <a:r>
                        <a:rPr sz="1050" b="1" i="0">
                          <a:solidFill>
                            <a:srgbClr val="1B2A55"/>
                          </a:solidFill>
                          <a:latin typeface="Inter"/>
                        </a:rPr>
                        <a:t>Voter authentication</a:t>
                      </a:r>
                    </a:p>
                  </a:txBody>
                  <a:tcPr marL="73152" marR="73152" marT="36576" marB="36576" anchor="ctr">
                    <a:solidFill>
                      <a:srgbClr val="F1F0F6"/>
                    </a:solidFill>
                  </a:tcPr>
                </a:tc>
                <a:tc>
                  <a:txBody>
                    <a:bodyPr wrap="square"/>
                    <a:lstStyle/>
                    <a:p>
                      <a:r>
                        <a:rPr sz="1050" b="0" i="0">
                          <a:solidFill>
                            <a:srgbClr val="353B4A"/>
                          </a:solidFill>
                          <a:latin typeface="Inter"/>
                        </a:rPr>
                        <a:t>Password</a:t>
                      </a:r>
                    </a:p>
                  </a:txBody>
                  <a:tcPr marL="73152" marR="73152" marT="36576" marB="36576" anchor="ctr">
                    <a:solidFill>
                      <a:srgbClr val="F1F0F6"/>
                    </a:solidFill>
                  </a:tcPr>
                </a:tc>
                <a:tc>
                  <a:txBody>
                    <a:bodyPr wrap="square"/>
                    <a:lstStyle/>
                    <a:p>
                      <a:r>
                        <a:rPr sz="1050" b="0" i="0">
                          <a:solidFill>
                            <a:srgbClr val="353B4A"/>
                          </a:solidFill>
                          <a:latin typeface="Inter"/>
                        </a:rPr>
                        <a:t>Password + emailed code</a:t>
                      </a:r>
                    </a:p>
                  </a:txBody>
                  <a:tcPr marL="73152" marR="73152" marT="36576" marB="36576" anchor="ctr">
                    <a:solidFill>
                      <a:srgbClr val="F1F0F6"/>
                    </a:solidFill>
                  </a:tcPr>
                </a:tc>
              </a:tr>
              <a:tr h="384048">
                <a:tc>
                  <a:txBody>
                    <a:bodyPr wrap="square"/>
                    <a:lstStyle/>
                    <a:p>
                      <a:r>
                        <a:rPr sz="1050" b="1" i="0">
                          <a:solidFill>
                            <a:srgbClr val="1B2A55"/>
                          </a:solidFill>
                          <a:latin typeface="Inter"/>
                        </a:rPr>
                        <a:t>Ledger storage</a:t>
                      </a:r>
                    </a:p>
                  </a:txBody>
                  <a:tcPr marL="73152" marR="73152" marT="36576" marB="36576" anchor="ctr">
                    <a:solidFill>
                      <a:srgbClr val="FFFFFF"/>
                    </a:solidFill>
                  </a:tcPr>
                </a:tc>
                <a:tc>
                  <a:txBody>
                    <a:bodyPr wrap="square"/>
                    <a:lstStyle/>
                    <a:p>
                      <a:r>
                        <a:rPr sz="1050" b="0" i="0">
                          <a:solidFill>
                            <a:srgbClr val="353B4A"/>
                          </a:solidFill>
                          <a:latin typeface="Inter"/>
                        </a:rPr>
                        <a:t>Local file</a:t>
                      </a:r>
                    </a:p>
                  </a:txBody>
                  <a:tcPr marL="73152" marR="73152" marT="36576" marB="36576" anchor="ctr">
                    <a:solidFill>
                      <a:srgbClr val="FFFFFF"/>
                    </a:solidFill>
                  </a:tcPr>
                </a:tc>
                <a:tc>
                  <a:txBody>
                    <a:bodyPr wrap="square"/>
                    <a:lstStyle/>
                    <a:p>
                      <a:r>
                        <a:rPr sz="1050" b="0" i="0">
                          <a:solidFill>
                            <a:srgbClr val="353B4A"/>
                          </a:solidFill>
                          <a:latin typeface="Inter"/>
                        </a:rPr>
                        <a:t>MongoDB Atlas</a:t>
                      </a:r>
                    </a:p>
                  </a:txBody>
                  <a:tcPr marL="73152" marR="73152" marT="36576" marB="36576" anchor="ctr">
                    <a:solidFill>
                      <a:srgbClr val="FFFFFF"/>
                    </a:solidFill>
                  </a:tcPr>
                </a:tc>
              </a:tr>
              <a:tr h="384048">
                <a:tc>
                  <a:txBody>
                    <a:bodyPr wrap="square"/>
                    <a:lstStyle/>
                    <a:p>
                      <a:r>
                        <a:rPr sz="1050" b="1" i="0">
                          <a:solidFill>
                            <a:srgbClr val="1B2A55"/>
                          </a:solidFill>
                          <a:latin typeface="Inter"/>
                        </a:rPr>
                        <a:t>Ledger append at 10,000 ballots</a:t>
                      </a:r>
                    </a:p>
                  </a:txBody>
                  <a:tcPr marL="73152" marR="73152" marT="36576" marB="36576" anchor="ctr">
                    <a:solidFill>
                      <a:srgbClr val="F1F0F6"/>
                    </a:solidFill>
                  </a:tcPr>
                </a:tc>
                <a:tc>
                  <a:txBody>
                    <a:bodyPr wrap="square"/>
                    <a:lstStyle/>
                    <a:p>
                      <a:r>
                        <a:rPr sz="1050" b="0" i="0">
                          <a:solidFill>
                            <a:srgbClr val="353B4A"/>
                          </a:solidFill>
                          <a:latin typeface="Inter"/>
                        </a:rPr>
                        <a:t>205 ms (file, whole cast)</a:t>
                      </a:r>
                    </a:p>
                  </a:txBody>
                  <a:tcPr marL="73152" marR="73152" marT="36576" marB="36576" anchor="ctr">
                    <a:solidFill>
                      <a:srgbClr val="F1F0F6"/>
                    </a:solidFill>
                  </a:tcPr>
                </a:tc>
                <a:tc>
                  <a:txBody>
                    <a:bodyPr wrap="square"/>
                    <a:lstStyle/>
                    <a:p>
                      <a:r>
                        <a:rPr sz="1050" b="0" i="0">
                          <a:solidFill>
                            <a:srgbClr val="353B4A"/>
                          </a:solidFill>
                          <a:latin typeface="Inter"/>
                        </a:rPr>
                        <a:t>~147 ms (Atlas, flat)</a:t>
                      </a:r>
                    </a:p>
                  </a:txBody>
                  <a:tcPr marL="73152" marR="73152" marT="36576" marB="36576" anchor="ctr">
                    <a:solidFill>
                      <a:srgbClr val="F1F0F6"/>
                    </a:solidFill>
                  </a:tcPr>
                </a:tc>
              </a:tr>
              <a:tr h="384048">
                <a:tc>
                  <a:txBody>
                    <a:bodyPr wrap="square"/>
                    <a:lstStyle/>
                    <a:p>
                      <a:r>
                        <a:rPr sz="1050" b="1" i="0">
                          <a:solidFill>
                            <a:srgbClr val="1B2A55"/>
                          </a:solidFill>
                          <a:latin typeface="Inter"/>
                        </a:rPr>
                        <a:t>Sweep at 10,000 ballots</a:t>
                      </a:r>
                    </a:p>
                  </a:txBody>
                  <a:tcPr marL="73152" marR="73152" marT="36576" marB="36576" anchor="ctr">
                    <a:solidFill>
                      <a:srgbClr val="FFFFFF"/>
                    </a:solidFill>
                  </a:tcPr>
                </a:tc>
                <a:tc>
                  <a:txBody>
                    <a:bodyPr wrap="square"/>
                    <a:lstStyle/>
                    <a:p>
                      <a:r>
                        <a:rPr sz="1050" b="0" i="0">
                          <a:solidFill>
                            <a:srgbClr val="353B4A"/>
                          </a:solidFill>
                          <a:latin typeface="Inter"/>
                        </a:rPr>
                        <a:t>129 ms</a:t>
                      </a:r>
                    </a:p>
                  </a:txBody>
                  <a:tcPr marL="73152" marR="73152" marT="36576" marB="36576" anchor="ctr">
                    <a:solidFill>
                      <a:srgbClr val="FFFFFF"/>
                    </a:solidFill>
                  </a:tcPr>
                </a:tc>
                <a:tc>
                  <a:txBody>
                    <a:bodyPr wrap="square"/>
                    <a:lstStyle/>
                    <a:p>
                      <a:r>
                        <a:rPr sz="1050" b="0" i="0">
                          <a:solidFill>
                            <a:srgbClr val="353B4A"/>
                          </a:solidFill>
                          <a:latin typeface="Inter"/>
                        </a:rPr>
                        <a:t>147 ms</a:t>
                      </a:r>
                    </a:p>
                  </a:txBody>
                  <a:tcPr marL="73152" marR="73152" marT="36576" marB="36576" anchor="ctr">
                    <a:solidFill>
                      <a:srgbClr val="FFFFFF"/>
                    </a:solidFill>
                  </a:tcPr>
                </a:tc>
              </a:tr>
              <a:tr h="384048">
                <a:tc>
                  <a:txBody>
                    <a:bodyPr wrap="square"/>
                    <a:lstStyle/>
                    <a:p>
                      <a:r>
                        <a:rPr sz="1050" b="1" i="0">
                          <a:solidFill>
                            <a:srgbClr val="1B2A55"/>
                          </a:solidFill>
                          <a:latin typeface="Inter"/>
                        </a:rPr>
                        <a:t>Access</a:t>
                      </a:r>
                    </a:p>
                  </a:txBody>
                  <a:tcPr marL="73152" marR="73152" marT="36576" marB="36576" anchor="ctr">
                    <a:solidFill>
                      <a:srgbClr val="F1F0F6"/>
                    </a:solidFill>
                  </a:tcPr>
                </a:tc>
                <a:tc>
                  <a:txBody>
                    <a:bodyPr wrap="square"/>
                    <a:lstStyle/>
                    <a:p>
                      <a:r>
                        <a:rPr sz="1050" b="0" i="0">
                          <a:solidFill>
                            <a:srgbClr val="353B4A"/>
                          </a:solidFill>
                          <a:latin typeface="Inter"/>
                        </a:rPr>
                        <a:t>Local only</a:t>
                      </a:r>
                    </a:p>
                  </a:txBody>
                  <a:tcPr marL="73152" marR="73152" marT="36576" marB="36576" anchor="ctr">
                    <a:solidFill>
                      <a:srgbClr val="F1F0F6"/>
                    </a:solidFill>
                  </a:tcPr>
                </a:tc>
                <a:tc>
                  <a:txBody>
                    <a:bodyPr wrap="square"/>
                    <a:lstStyle/>
                    <a:p>
                      <a:r>
                        <a:rPr sz="1050" b="0" i="0">
                          <a:solidFill>
                            <a:srgbClr val="353B4A"/>
                          </a:solidFill>
                          <a:latin typeface="Inter"/>
                        </a:rPr>
                        <a:t>Public link + QR</a:t>
                      </a:r>
                    </a:p>
                  </a:txBody>
                  <a:tcPr marL="73152" marR="73152" marT="36576" marB="36576" anchor="ctr">
                    <a:solidFill>
                      <a:srgbClr val="F1F0F6"/>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THE WEB PAGE · LAUNCH CHECKLIST</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Website launch checklist: 17 pass, 4 N/A, 0 fail</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47</a:t>
            </a:r>
          </a:p>
        </p:txBody>
      </p:sp>
      <p:sp>
        <p:nvSpPr>
          <p:cNvPr id="6" name="TextBox 5"/>
          <p:cNvSpPr txBox="1"/>
          <p:nvPr/>
        </p:nvSpPr>
        <p:spPr>
          <a:xfrm>
            <a:off x="457200" y="1051560"/>
            <a:ext cx="2606040" cy="3383280"/>
          </a:xfrm>
          <a:prstGeom prst="rect">
            <a:avLst/>
          </a:prstGeom>
          <a:noFill/>
        </p:spPr>
        <p:txBody>
          <a:bodyPr wrap="square" anchor="t" lIns="0" rIns="0" tIns="0" bIns="0">
            <a:spAutoFit/>
          </a:bodyPr>
          <a:lstStyle/>
          <a:p>
            <a:pPr algn="l">
              <a:spcAft>
                <a:spcPts val="700"/>
              </a:spcAft>
            </a:pPr>
            <a:r>
              <a:rPr sz="850" b="1" i="0">
                <a:solidFill>
                  <a:srgbClr val="1A7F37"/>
                </a:solidFill>
                <a:latin typeface="Consolas"/>
              </a:rPr>
              <a:t>PASS </a:t>
            </a:r>
            <a:r>
              <a:rPr sz="1050" b="0" i="0">
                <a:solidFill>
                  <a:srgbClr val="353B4A"/>
                </a:solidFill>
                <a:latin typeface="Inter"/>
              </a:rPr>
              <a:t>Server-side rendering (pre-rendered shell)</a:t>
            </a:r>
          </a:p>
          <a:p>
            <a:pPr algn="l">
              <a:spcAft>
                <a:spcPts val="700"/>
              </a:spcAft>
            </a:pPr>
            <a:r>
              <a:rPr sz="850" b="1" i="0">
                <a:solidFill>
                  <a:srgbClr val="9A6700"/>
                </a:solidFill>
                <a:latin typeface="Consolas"/>
              </a:rPr>
              <a:t>N/A  </a:t>
            </a:r>
            <a:r>
              <a:rPr sz="1050" b="0" i="0">
                <a:solidFill>
                  <a:srgbClr val="353B4A"/>
                </a:solidFill>
                <a:latin typeface="Inter"/>
              </a:rPr>
              <a:t>HTTPS and mobile viewport</a:t>
            </a:r>
          </a:p>
          <a:p>
            <a:pPr algn="l">
              <a:spcAft>
                <a:spcPts val="700"/>
              </a:spcAft>
            </a:pPr>
            <a:r>
              <a:rPr sz="850" b="1" i="0">
                <a:solidFill>
                  <a:srgbClr val="1A7F37"/>
                </a:solidFill>
                <a:latin typeface="Consolas"/>
              </a:rPr>
              <a:t>PASS </a:t>
            </a:r>
            <a:r>
              <a:rPr sz="1050" b="0" i="0">
                <a:solidFill>
                  <a:srgbClr val="353B4A"/>
                </a:solidFill>
                <a:latin typeface="Inter"/>
              </a:rPr>
              <a:t>robots.txt</a:t>
            </a:r>
          </a:p>
          <a:p>
            <a:pPr algn="l">
              <a:spcAft>
                <a:spcPts val="700"/>
              </a:spcAft>
            </a:pPr>
            <a:r>
              <a:rPr sz="850" b="1" i="0">
                <a:solidFill>
                  <a:srgbClr val="1A7F37"/>
                </a:solidFill>
                <a:latin typeface="Consolas"/>
              </a:rPr>
              <a:t>PASS </a:t>
            </a:r>
            <a:r>
              <a:rPr sz="1050" b="0" i="0">
                <a:solidFill>
                  <a:srgbClr val="353B4A"/>
                </a:solidFill>
                <a:latin typeface="Inter"/>
              </a:rPr>
              <a:t>sitemap.xml</a:t>
            </a:r>
          </a:p>
          <a:p>
            <a:pPr algn="l">
              <a:spcAft>
                <a:spcPts val="700"/>
              </a:spcAft>
            </a:pPr>
            <a:r>
              <a:rPr sz="850" b="1" i="0">
                <a:solidFill>
                  <a:srgbClr val="1A7F37"/>
                </a:solidFill>
                <a:latin typeface="Consolas"/>
              </a:rPr>
              <a:t>PASS </a:t>
            </a:r>
            <a:r>
              <a:rPr sz="1050" b="0" i="0">
                <a:solidFill>
                  <a:srgbClr val="353B4A"/>
                </a:solidFill>
                <a:latin typeface="Inter"/>
              </a:rPr>
              <a:t>Unique title tags</a:t>
            </a:r>
          </a:p>
          <a:p>
            <a:pPr algn="l">
              <a:spcAft>
                <a:spcPts val="700"/>
              </a:spcAft>
            </a:pPr>
            <a:r>
              <a:rPr sz="850" b="1" i="0">
                <a:solidFill>
                  <a:srgbClr val="1A7F37"/>
                </a:solidFill>
                <a:latin typeface="Consolas"/>
              </a:rPr>
              <a:t>PASS </a:t>
            </a:r>
            <a:r>
              <a:rPr sz="1050" b="0" i="0">
                <a:solidFill>
                  <a:srgbClr val="353B4A"/>
                </a:solidFill>
                <a:latin typeface="Inter"/>
              </a:rPr>
              <a:t>Meta descriptions</a:t>
            </a:r>
          </a:p>
          <a:p>
            <a:pPr algn="l">
              <a:spcAft>
                <a:spcPts val="700"/>
              </a:spcAft>
            </a:pPr>
            <a:r>
              <a:rPr sz="850" b="1" i="0">
                <a:solidFill>
                  <a:srgbClr val="1A7F37"/>
                </a:solidFill>
                <a:latin typeface="Consolas"/>
              </a:rPr>
              <a:t>PASS </a:t>
            </a:r>
            <a:r>
              <a:rPr sz="1050" b="0" i="0">
                <a:solidFill>
                  <a:srgbClr val="353B4A"/>
                </a:solidFill>
                <a:latin typeface="Inter"/>
              </a:rPr>
              <a:t>One H1 per page</a:t>
            </a:r>
          </a:p>
          <a:p>
            <a:pPr algn="l">
              <a:spcAft>
                <a:spcPts val="700"/>
              </a:spcAft>
            </a:pPr>
            <a:r>
              <a:rPr sz="850" b="1" i="0">
                <a:solidFill>
                  <a:srgbClr val="1A7F37"/>
                </a:solidFill>
                <a:latin typeface="Consolas"/>
              </a:rPr>
              <a:t>PASS </a:t>
            </a:r>
            <a:r>
              <a:rPr sz="1050" b="0" i="0">
                <a:solidFill>
                  <a:srgbClr val="353B4A"/>
                </a:solidFill>
                <a:latin typeface="Inter"/>
              </a:rPr>
              <a:t>Canonical tags</a:t>
            </a:r>
          </a:p>
          <a:p>
            <a:pPr algn="l">
              <a:spcAft>
                <a:spcPts val="700"/>
              </a:spcAft>
            </a:pPr>
            <a:r>
              <a:rPr sz="850" b="1" i="0">
                <a:solidFill>
                  <a:srgbClr val="1A7F37"/>
                </a:solidFill>
                <a:latin typeface="Consolas"/>
              </a:rPr>
              <a:t>PASS </a:t>
            </a:r>
            <a:r>
              <a:rPr sz="1050" b="0" i="0">
                <a:solidFill>
                  <a:srgbClr val="353B4A"/>
                </a:solidFill>
                <a:latin typeface="Inter"/>
              </a:rPr>
              <a:t>Open Graph images</a:t>
            </a:r>
          </a:p>
          <a:p>
            <a:pPr algn="l">
              <a:spcAft>
                <a:spcPts val="700"/>
              </a:spcAft>
            </a:pPr>
            <a:r>
              <a:rPr sz="850" b="1" i="0">
                <a:solidFill>
                  <a:srgbClr val="1A7F37"/>
                </a:solidFill>
                <a:latin typeface="Consolas"/>
              </a:rPr>
              <a:t>PASS </a:t>
            </a:r>
            <a:r>
              <a:rPr sz="1050" b="0" i="0">
                <a:solidFill>
                  <a:srgbClr val="353B4A"/>
                </a:solidFill>
                <a:latin typeface="Inter"/>
              </a:rPr>
              <a:t>Custom 404 page</a:t>
            </a:r>
          </a:p>
          <a:p>
            <a:pPr algn="l">
              <a:spcAft>
                <a:spcPts val="700"/>
              </a:spcAft>
            </a:pPr>
            <a:r>
              <a:rPr sz="850" b="1" i="0">
                <a:solidFill>
                  <a:srgbClr val="1A7F37"/>
                </a:solidFill>
                <a:latin typeface="Consolas"/>
              </a:rPr>
              <a:t>PASS </a:t>
            </a:r>
            <a:r>
              <a:rPr sz="1050" b="0" i="0">
                <a:solidFill>
                  <a:srgbClr val="353B4A"/>
                </a:solidFill>
                <a:latin typeface="Inter"/>
              </a:rPr>
              <a:t>301 redirects</a:t>
            </a:r>
          </a:p>
        </p:txBody>
      </p:sp>
      <p:sp>
        <p:nvSpPr>
          <p:cNvPr id="7" name="TextBox 6"/>
          <p:cNvSpPr txBox="1"/>
          <p:nvPr/>
        </p:nvSpPr>
        <p:spPr>
          <a:xfrm>
            <a:off x="3154680" y="1051560"/>
            <a:ext cx="2606040" cy="3383280"/>
          </a:xfrm>
          <a:prstGeom prst="rect">
            <a:avLst/>
          </a:prstGeom>
          <a:noFill/>
        </p:spPr>
        <p:txBody>
          <a:bodyPr wrap="square" anchor="t" lIns="0" rIns="0" tIns="0" bIns="0">
            <a:spAutoFit/>
          </a:bodyPr>
          <a:lstStyle/>
          <a:p>
            <a:pPr algn="l">
              <a:spcAft>
                <a:spcPts val="700"/>
              </a:spcAft>
            </a:pPr>
            <a:r>
              <a:rPr sz="850" b="1" i="0">
                <a:solidFill>
                  <a:srgbClr val="1A7F37"/>
                </a:solidFill>
                <a:latin typeface="Consolas"/>
              </a:rPr>
              <a:t>PASS </a:t>
            </a:r>
            <a:r>
              <a:rPr sz="1050" b="0" i="0">
                <a:solidFill>
                  <a:srgbClr val="353B4A"/>
                </a:solidFill>
                <a:latin typeface="Inter"/>
              </a:rPr>
              <a:t>Alt text on images</a:t>
            </a:r>
          </a:p>
          <a:p>
            <a:pPr algn="l">
              <a:spcAft>
                <a:spcPts val="700"/>
              </a:spcAft>
            </a:pPr>
            <a:r>
              <a:rPr sz="850" b="1" i="0">
                <a:solidFill>
                  <a:srgbClr val="9A6700"/>
                </a:solidFill>
                <a:latin typeface="Consolas"/>
              </a:rPr>
              <a:t>N/A  </a:t>
            </a:r>
            <a:r>
              <a:rPr sz="1050" b="0" i="0">
                <a:solidFill>
                  <a:srgbClr val="353B4A"/>
                </a:solidFill>
                <a:latin typeface="Inter"/>
              </a:rPr>
              <a:t>WebP images</a:t>
            </a:r>
          </a:p>
          <a:p>
            <a:pPr algn="l">
              <a:spcAft>
                <a:spcPts val="700"/>
              </a:spcAft>
            </a:pPr>
            <a:r>
              <a:rPr sz="850" b="1" i="0">
                <a:solidFill>
                  <a:srgbClr val="1A7F37"/>
                </a:solidFill>
                <a:latin typeface="Consolas"/>
              </a:rPr>
              <a:t>PASS </a:t>
            </a:r>
            <a:r>
              <a:rPr sz="1050" b="0" i="0">
                <a:solidFill>
                  <a:srgbClr val="353B4A"/>
                </a:solidFill>
                <a:latin typeface="Inter"/>
              </a:rPr>
              <a:t>Lazy loading</a:t>
            </a:r>
          </a:p>
          <a:p>
            <a:pPr algn="l">
              <a:spcAft>
                <a:spcPts val="700"/>
              </a:spcAft>
            </a:pPr>
            <a:r>
              <a:rPr sz="850" b="1" i="0">
                <a:solidFill>
                  <a:srgbClr val="1A7F37"/>
                </a:solidFill>
                <a:latin typeface="Consolas"/>
              </a:rPr>
              <a:t>PASS </a:t>
            </a:r>
            <a:r>
              <a:rPr sz="1050" b="0" i="0">
                <a:solidFill>
                  <a:srgbClr val="353B4A"/>
                </a:solidFill>
                <a:latin typeface="Inter"/>
              </a:rPr>
              <a:t>Organization schema</a:t>
            </a:r>
          </a:p>
          <a:p>
            <a:pPr algn="l">
              <a:spcAft>
                <a:spcPts val="700"/>
              </a:spcAft>
            </a:pPr>
            <a:r>
              <a:rPr sz="850" b="1" i="0">
                <a:solidFill>
                  <a:srgbClr val="1A7F37"/>
                </a:solidFill>
                <a:latin typeface="Consolas"/>
              </a:rPr>
              <a:t>PASS </a:t>
            </a:r>
            <a:r>
              <a:rPr sz="1050" b="0" i="0">
                <a:solidFill>
                  <a:srgbClr val="353B4A"/>
                </a:solidFill>
                <a:latin typeface="Inter"/>
              </a:rPr>
              <a:t>Breadcrumbs</a:t>
            </a:r>
          </a:p>
          <a:p>
            <a:pPr algn="l">
              <a:spcAft>
                <a:spcPts val="700"/>
              </a:spcAft>
            </a:pPr>
            <a:r>
              <a:rPr sz="850" b="1" i="0">
                <a:solidFill>
                  <a:srgbClr val="1A7F37"/>
                </a:solidFill>
                <a:latin typeface="Consolas"/>
              </a:rPr>
              <a:t>PASS </a:t>
            </a:r>
            <a:r>
              <a:rPr sz="1050" b="0" i="0">
                <a:solidFill>
                  <a:srgbClr val="353B4A"/>
                </a:solidFill>
                <a:latin typeface="Inter"/>
              </a:rPr>
              <a:t>Internal links</a:t>
            </a:r>
          </a:p>
          <a:p>
            <a:pPr algn="l">
              <a:spcAft>
                <a:spcPts val="700"/>
              </a:spcAft>
            </a:pPr>
            <a:r>
              <a:rPr sz="850" b="1" i="0">
                <a:solidFill>
                  <a:srgbClr val="9A6700"/>
                </a:solidFill>
                <a:latin typeface="Consolas"/>
              </a:rPr>
              <a:t>N/A  </a:t>
            </a:r>
            <a:r>
              <a:rPr sz="1050" b="0" i="0">
                <a:solidFill>
                  <a:srgbClr val="353B4A"/>
                </a:solidFill>
                <a:latin typeface="Inter"/>
              </a:rPr>
              <a:t>Google Analytics</a:t>
            </a:r>
          </a:p>
          <a:p>
            <a:pPr algn="l">
              <a:spcAft>
                <a:spcPts val="700"/>
              </a:spcAft>
            </a:pPr>
            <a:r>
              <a:rPr sz="850" b="1" i="0">
                <a:solidFill>
                  <a:srgbClr val="9A6700"/>
                </a:solidFill>
                <a:latin typeface="Consolas"/>
              </a:rPr>
              <a:t>N/A  </a:t>
            </a:r>
            <a:r>
              <a:rPr sz="1050" b="0" i="0">
                <a:solidFill>
                  <a:srgbClr val="353B4A"/>
                </a:solidFill>
                <a:latin typeface="Inter"/>
              </a:rPr>
              <a:t>Search Console</a:t>
            </a:r>
          </a:p>
          <a:p>
            <a:pPr algn="l">
              <a:spcAft>
                <a:spcPts val="700"/>
              </a:spcAft>
            </a:pPr>
            <a:r>
              <a:rPr sz="850" b="1" i="0">
                <a:solidFill>
                  <a:srgbClr val="1A7F37"/>
                </a:solidFill>
                <a:latin typeface="Consolas"/>
              </a:rPr>
              <a:t>PASS </a:t>
            </a:r>
            <a:r>
              <a:rPr sz="1050" b="0" i="0">
                <a:solidFill>
                  <a:srgbClr val="353B4A"/>
                </a:solidFill>
                <a:latin typeface="Inter"/>
              </a:rPr>
              <a:t>Privacy policy</a:t>
            </a:r>
          </a:p>
          <a:p>
            <a:pPr algn="l">
              <a:spcAft>
                <a:spcPts val="700"/>
              </a:spcAft>
            </a:pPr>
            <a:r>
              <a:rPr sz="850" b="1" i="0">
                <a:solidFill>
                  <a:srgbClr val="1A7F37"/>
                </a:solidFill>
                <a:latin typeface="Consolas"/>
              </a:rPr>
              <a:t>PASS </a:t>
            </a:r>
            <a:r>
              <a:rPr sz="1050" b="0" i="0">
                <a:solidFill>
                  <a:srgbClr val="353B4A"/>
                </a:solidFill>
                <a:latin typeface="Inter"/>
              </a:rPr>
              <a:t>Working contact form</a:t>
            </a:r>
          </a:p>
        </p:txBody>
      </p:sp>
      <p:pic>
        <p:nvPicPr>
          <p:cNvPr id="8" name="Picture 7" descr="web_home.png"/>
          <p:cNvPicPr>
            <a:picLocks noChangeAspect="1"/>
          </p:cNvPicPr>
          <p:nvPr/>
        </p:nvPicPr>
        <p:blipFill>
          <a:blip r:embed="rId2"/>
          <a:stretch>
            <a:fillRect/>
          </a:stretch>
        </p:blipFill>
        <p:spPr>
          <a:xfrm>
            <a:off x="5902452" y="1051560"/>
            <a:ext cx="2779776" cy="1737360"/>
          </a:xfrm>
          <a:prstGeom prst="rect">
            <a:avLst/>
          </a:prstGeom>
          <a:ln w="12700">
            <a:solidFill>
              <a:srgbClr val="D9D9E4"/>
            </a:solidFill>
          </a:ln>
        </p:spPr>
      </p:pic>
      <p:pic>
        <p:nvPicPr>
          <p:cNvPr id="9" name="Picture 8" descr="web_404.png"/>
          <p:cNvPicPr>
            <a:picLocks noChangeAspect="1"/>
          </p:cNvPicPr>
          <p:nvPr/>
        </p:nvPicPr>
        <p:blipFill>
          <a:blip r:embed="rId3"/>
          <a:stretch>
            <a:fillRect/>
          </a:stretch>
        </p:blipFill>
        <p:spPr>
          <a:xfrm>
            <a:off x="5902452" y="2880360"/>
            <a:ext cx="2779776" cy="1737360"/>
          </a:xfrm>
          <a:prstGeom prst="rect">
            <a:avLst/>
          </a:prstGeom>
          <a:ln w="12700">
            <a:solidFill>
              <a:srgbClr val="D9D9E4"/>
            </a:solidFill>
          </a:ln>
        </p:spPr>
      </p:pic>
      <p:sp>
        <p:nvSpPr>
          <p:cNvPr id="10" name="TextBox 9"/>
          <p:cNvSpPr txBox="1"/>
          <p:nvPr/>
        </p:nvSpPr>
        <p:spPr>
          <a:xfrm>
            <a:off x="457200" y="4434840"/>
            <a:ext cx="5303520" cy="411480"/>
          </a:xfrm>
          <a:prstGeom prst="rect">
            <a:avLst/>
          </a:prstGeom>
          <a:noFill/>
        </p:spPr>
        <p:txBody>
          <a:bodyPr wrap="square" anchor="t" lIns="0" rIns="0" tIns="0" bIns="0">
            <a:spAutoFit/>
          </a:bodyPr>
          <a:lstStyle/>
          <a:p>
            <a:pPr algn="l">
              <a:spcAft>
                <a:spcPts val="0"/>
              </a:spcAft>
            </a:pPr>
            <a:r>
              <a:rPr sz="850" b="0" i="1">
                <a:solidFill>
                  <a:srgbClr val="666A78"/>
                </a:solidFill>
                <a:latin typeface="Inter"/>
              </a:rPr>
              <a:t>N/A: HTTPS (a local run; the host provides it), WebP (no raster images in the pages), Google Analytics and Search Console (need the owner's own IDs).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PRIVACY AND ETHICS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Privacy and ethics: what is stored, and where</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48</a:t>
            </a:r>
          </a:p>
        </p:txBody>
      </p:sp>
      <p:graphicFrame>
        <p:nvGraphicFramePr>
          <p:cNvPr id="6" name="Table 5"/>
          <p:cNvGraphicFramePr>
            <a:graphicFrameLocks noGrp="1"/>
          </p:cNvGraphicFramePr>
          <p:nvPr/>
        </p:nvGraphicFramePr>
        <p:xfrm>
          <a:off x="457200" y="1024128"/>
          <a:ext cx="5029200" cy="3026664"/>
        </p:xfrm>
        <a:graphic>
          <a:graphicData uri="http://schemas.openxmlformats.org/drawingml/2006/table">
            <a:tbl>
              <a:tblPr firstRow="1" bandRow="1">
                <a:tableStyleId>{5C22544A-7EE6-4342-B048-85BDC9FD1C3A}</a:tableStyleId>
              </a:tblPr>
              <a:tblGrid>
                <a:gridCol w="1371600"/>
                <a:gridCol w="2011680"/>
                <a:gridCol w="1645920"/>
              </a:tblGrid>
              <a:tr h="274320">
                <a:tc>
                  <a:txBody>
                    <a:bodyPr wrap="square"/>
                    <a:lstStyle/>
                    <a:p>
                      <a:r>
                        <a:rPr sz="950" b="1" i="0">
                          <a:solidFill>
                            <a:srgbClr val="FFFFFF"/>
                          </a:solidFill>
                          <a:latin typeface="Inter"/>
                        </a:rPr>
                        <a:t>Data</a:t>
                      </a:r>
                    </a:p>
                  </a:txBody>
                  <a:tcPr marL="73152" marR="73152" marT="36576" marB="36576" anchor="ctr">
                    <a:solidFill>
                      <a:srgbClr val="1B2A55"/>
                    </a:solidFill>
                  </a:tcPr>
                </a:tc>
                <a:tc>
                  <a:txBody>
                    <a:bodyPr wrap="square"/>
                    <a:lstStyle/>
                    <a:p>
                      <a:r>
                        <a:rPr sz="950" b="1" i="0">
                          <a:solidFill>
                            <a:srgbClr val="FFFFFF"/>
                          </a:solidFill>
                          <a:latin typeface="Inter"/>
                        </a:rPr>
                        <a:t>Where it lives</a:t>
                      </a:r>
                    </a:p>
                  </a:txBody>
                  <a:tcPr marL="73152" marR="73152" marT="36576" marB="36576" anchor="ctr">
                    <a:solidFill>
                      <a:srgbClr val="1B2A55"/>
                    </a:solidFill>
                  </a:tcPr>
                </a:tc>
                <a:tc>
                  <a:txBody>
                    <a:bodyPr wrap="square"/>
                    <a:lstStyle/>
                    <a:p>
                      <a:r>
                        <a:rPr sz="950" b="1" i="0">
                          <a:solidFill>
                            <a:srgbClr val="FFFFFF"/>
                          </a:solidFill>
                          <a:latin typeface="Inter"/>
                        </a:rPr>
                        <a:t>Stored as</a:t>
                      </a:r>
                    </a:p>
                  </a:txBody>
                  <a:tcPr marL="73152" marR="73152" marT="36576" marB="36576" anchor="ctr">
                    <a:solidFill>
                      <a:srgbClr val="1B2A55"/>
                    </a:solidFill>
                  </a:tcPr>
                </a:tc>
              </a:tr>
              <a:tr h="393192">
                <a:tc>
                  <a:txBody>
                    <a:bodyPr wrap="square"/>
                    <a:lstStyle/>
                    <a:p>
                      <a:r>
                        <a:rPr sz="900" b="1" i="0">
                          <a:solidFill>
                            <a:srgbClr val="1B2A55"/>
                          </a:solidFill>
                          <a:latin typeface="Inter"/>
                        </a:rPr>
                        <a:t>Registration number</a:t>
                      </a:r>
                    </a:p>
                  </a:txBody>
                  <a:tcPr marL="73152" marR="73152" marT="36576" marB="36576" anchor="ctr">
                    <a:solidFill>
                      <a:srgbClr val="FFFFFF"/>
                    </a:solidFill>
                  </a:tcPr>
                </a:tc>
                <a:tc>
                  <a:txBody>
                    <a:bodyPr wrap="square"/>
                    <a:lstStyle/>
                    <a:p>
                      <a:r>
                        <a:rPr sz="900" b="0" i="0">
                          <a:solidFill>
                            <a:srgbClr val="353B4A"/>
                          </a:solidFill>
                          <a:latin typeface="Inter"/>
                        </a:rPr>
                        <a:t>Election database</a:t>
                      </a:r>
                    </a:p>
                  </a:txBody>
                  <a:tcPr marL="73152" marR="73152" marT="36576" marB="36576" anchor="ctr">
                    <a:solidFill>
                      <a:srgbClr val="FFFFFF"/>
                    </a:solidFill>
                  </a:tcPr>
                </a:tc>
                <a:tc>
                  <a:txBody>
                    <a:bodyPr wrap="square"/>
                    <a:lstStyle/>
                    <a:p>
                      <a:r>
                        <a:rPr sz="900" b="0" i="0">
                          <a:solidFill>
                            <a:srgbClr val="353B4A"/>
                          </a:solidFill>
                          <a:latin typeface="Inter"/>
                        </a:rPr>
                        <a:t>Roster entry</a:t>
                      </a:r>
                    </a:p>
                  </a:txBody>
                  <a:tcPr marL="73152" marR="73152" marT="36576" marB="36576" anchor="ctr">
                    <a:solidFill>
                      <a:srgbClr val="FFFFFF"/>
                    </a:solidFill>
                  </a:tcPr>
                </a:tc>
              </a:tr>
              <a:tr h="393192">
                <a:tc>
                  <a:txBody>
                    <a:bodyPr wrap="square"/>
                    <a:lstStyle/>
                    <a:p>
                      <a:r>
                        <a:rPr sz="900" b="1" i="0">
                          <a:solidFill>
                            <a:srgbClr val="1B2A55"/>
                          </a:solidFill>
                          <a:latin typeface="Inter"/>
                        </a:rPr>
                        <a:t>Password</a:t>
                      </a:r>
                    </a:p>
                  </a:txBody>
                  <a:tcPr marL="73152" marR="73152" marT="36576" marB="36576" anchor="ctr">
                    <a:solidFill>
                      <a:srgbClr val="F1F0F6"/>
                    </a:solidFill>
                  </a:tcPr>
                </a:tc>
                <a:tc>
                  <a:txBody>
                    <a:bodyPr wrap="square"/>
                    <a:lstStyle/>
                    <a:p>
                      <a:r>
                        <a:rPr sz="900" b="0" i="0">
                          <a:solidFill>
                            <a:srgbClr val="353B4A"/>
                          </a:solidFill>
                          <a:latin typeface="Inter"/>
                        </a:rPr>
                        <a:t>Election database</a:t>
                      </a:r>
                    </a:p>
                  </a:txBody>
                  <a:tcPr marL="73152" marR="73152" marT="36576" marB="36576" anchor="ctr">
                    <a:solidFill>
                      <a:srgbClr val="F1F0F6"/>
                    </a:solidFill>
                  </a:tcPr>
                </a:tc>
                <a:tc>
                  <a:txBody>
                    <a:bodyPr wrap="square"/>
                    <a:lstStyle/>
                    <a:p>
                      <a:r>
                        <a:rPr sz="900" b="0" i="0">
                          <a:solidFill>
                            <a:srgbClr val="353B4A"/>
                          </a:solidFill>
                          <a:latin typeface="Inter"/>
                        </a:rPr>
                        <a:t>SHA-256 hash only</a:t>
                      </a:r>
                    </a:p>
                  </a:txBody>
                  <a:tcPr marL="73152" marR="73152" marT="36576" marB="36576" anchor="ctr">
                    <a:solidFill>
                      <a:srgbClr val="F1F0F6"/>
                    </a:solidFill>
                  </a:tcPr>
                </a:tc>
              </a:tr>
              <a:tr h="393192">
                <a:tc>
                  <a:txBody>
                    <a:bodyPr wrap="square"/>
                    <a:lstStyle/>
                    <a:p>
                      <a:r>
                        <a:rPr sz="900" b="1" i="0">
                          <a:solidFill>
                            <a:srgbClr val="1B2A55"/>
                          </a:solidFill>
                          <a:latin typeface="Inter"/>
                        </a:rPr>
                        <a:t>Email address</a:t>
                      </a:r>
                    </a:p>
                  </a:txBody>
                  <a:tcPr marL="73152" marR="73152" marT="36576" marB="36576" anchor="ctr">
                    <a:solidFill>
                      <a:srgbClr val="FFFFFF"/>
                    </a:solidFill>
                  </a:tcPr>
                </a:tc>
                <a:tc>
                  <a:txBody>
                    <a:bodyPr wrap="square"/>
                    <a:lstStyle/>
                    <a:p>
                      <a:r>
                        <a:rPr sz="900" b="0" i="0">
                          <a:solidFill>
                            <a:srgbClr val="353B4A"/>
                          </a:solidFill>
                          <a:latin typeface="Inter"/>
                        </a:rPr>
                        <a:t>Verification database (separate file)</a:t>
                      </a:r>
                    </a:p>
                  </a:txBody>
                  <a:tcPr marL="73152" marR="73152" marT="36576" marB="36576" anchor="ctr">
                    <a:solidFill>
                      <a:srgbClr val="FFFFFF"/>
                    </a:solidFill>
                  </a:tcPr>
                </a:tc>
                <a:tc>
                  <a:txBody>
                    <a:bodyPr wrap="square"/>
                    <a:lstStyle/>
                    <a:p>
                      <a:r>
                        <a:rPr sz="900" b="0" i="0">
                          <a:solidFill>
                            <a:srgbClr val="353B4A"/>
                          </a:solidFill>
                          <a:latin typeface="Inter"/>
                        </a:rPr>
                        <a:t>Never stored with ballots</a:t>
                      </a:r>
                    </a:p>
                  </a:txBody>
                  <a:tcPr marL="73152" marR="73152" marT="36576" marB="36576" anchor="ctr">
                    <a:solidFill>
                      <a:srgbClr val="FFFFFF"/>
                    </a:solidFill>
                  </a:tcPr>
                </a:tc>
              </a:tr>
              <a:tr h="393192">
                <a:tc>
                  <a:txBody>
                    <a:bodyPr wrap="square"/>
                    <a:lstStyle/>
                    <a:p>
                      <a:r>
                        <a:rPr sz="900" b="1" i="0">
                          <a:solidFill>
                            <a:srgbClr val="1B2A55"/>
                          </a:solidFill>
                          <a:latin typeface="Inter"/>
                        </a:rPr>
                        <a:t>One-time code</a:t>
                      </a:r>
                    </a:p>
                  </a:txBody>
                  <a:tcPr marL="73152" marR="73152" marT="36576" marB="36576" anchor="ctr">
                    <a:solidFill>
                      <a:srgbClr val="F1F0F6"/>
                    </a:solidFill>
                  </a:tcPr>
                </a:tc>
                <a:tc>
                  <a:txBody>
                    <a:bodyPr wrap="square"/>
                    <a:lstStyle/>
                    <a:p>
                      <a:r>
                        <a:rPr sz="900" b="0" i="0">
                          <a:solidFill>
                            <a:srgbClr val="353B4A"/>
                          </a:solidFill>
                          <a:latin typeface="Inter"/>
                        </a:rPr>
                        <a:t>Verification database</a:t>
                      </a:r>
                    </a:p>
                  </a:txBody>
                  <a:tcPr marL="73152" marR="73152" marT="36576" marB="36576" anchor="ctr">
                    <a:solidFill>
                      <a:srgbClr val="F1F0F6"/>
                    </a:solidFill>
                  </a:tcPr>
                </a:tc>
                <a:tc>
                  <a:txBody>
                    <a:bodyPr wrap="square"/>
                    <a:lstStyle/>
                    <a:p>
                      <a:r>
                        <a:rPr sz="900" b="0" i="0">
                          <a:solidFill>
                            <a:srgbClr val="353B4A"/>
                          </a:solidFill>
                          <a:latin typeface="Inter"/>
                        </a:rPr>
                        <a:t>Keyed hash only; 5 min, one use</a:t>
                      </a:r>
                    </a:p>
                  </a:txBody>
                  <a:tcPr marL="73152" marR="73152" marT="36576" marB="36576" anchor="ctr">
                    <a:solidFill>
                      <a:srgbClr val="F1F0F6"/>
                    </a:solidFill>
                  </a:tcPr>
                </a:tc>
              </a:tr>
              <a:tr h="393192">
                <a:tc>
                  <a:txBody>
                    <a:bodyPr wrap="square"/>
                    <a:lstStyle/>
                    <a:p>
                      <a:r>
                        <a:rPr sz="900" b="1" i="0">
                          <a:solidFill>
                            <a:srgbClr val="1B2A55"/>
                          </a:solidFill>
                          <a:latin typeface="Inter"/>
                        </a:rPr>
                        <a:t>Your ballot</a:t>
                      </a:r>
                    </a:p>
                  </a:txBody>
                  <a:tcPr marL="73152" marR="73152" marT="36576" marB="36576" anchor="ctr">
                    <a:solidFill>
                      <a:srgbClr val="FFFFFF"/>
                    </a:solidFill>
                  </a:tcPr>
                </a:tc>
                <a:tc>
                  <a:txBody>
                    <a:bodyPr wrap="square"/>
                    <a:lstStyle/>
                    <a:p>
                      <a:r>
                        <a:rPr sz="900" b="0" i="0">
                          <a:solidFill>
                            <a:srgbClr val="353B4A"/>
                          </a:solidFill>
                          <a:latin typeface="Inter"/>
                        </a:rPr>
                        <a:t>Election database</a:t>
                      </a:r>
                    </a:p>
                  </a:txBody>
                  <a:tcPr marL="73152" marR="73152" marT="36576" marB="36576" anchor="ctr">
                    <a:solidFill>
                      <a:srgbClr val="FFFFFF"/>
                    </a:solidFill>
                  </a:tcPr>
                </a:tc>
                <a:tc>
                  <a:txBody>
                    <a:bodyPr wrap="square"/>
                    <a:lstStyle/>
                    <a:p>
                      <a:r>
                        <a:rPr sz="900" b="0" i="0">
                          <a:solidFill>
                            <a:srgbClr val="353B4A"/>
                          </a:solidFill>
                          <a:latin typeface="Inter"/>
                        </a:rPr>
                        <a:t>Random token; no voter column</a:t>
                      </a:r>
                    </a:p>
                  </a:txBody>
                  <a:tcPr marL="73152" marR="73152" marT="36576" marB="36576" anchor="ctr">
                    <a:solidFill>
                      <a:srgbClr val="FFFFFF"/>
                    </a:solidFill>
                  </a:tcPr>
                </a:tc>
              </a:tr>
              <a:tr h="393192">
                <a:tc>
                  <a:txBody>
                    <a:bodyPr wrap="square"/>
                    <a:lstStyle/>
                    <a:p>
                      <a:r>
                        <a:rPr sz="900" b="1" i="0">
                          <a:solidFill>
                            <a:srgbClr val="1B2A55"/>
                          </a:solidFill>
                          <a:latin typeface="Inter"/>
                        </a:rPr>
                        <a:t>Receipt block</a:t>
                      </a:r>
                    </a:p>
                  </a:txBody>
                  <a:tcPr marL="73152" marR="73152" marT="36576" marB="36576" anchor="ctr">
                    <a:solidFill>
                      <a:srgbClr val="F1F0F6"/>
                    </a:solidFill>
                  </a:tcPr>
                </a:tc>
                <a:tc>
                  <a:txBody>
                    <a:bodyPr wrap="square"/>
                    <a:lstStyle/>
                    <a:p>
                      <a:r>
                        <a:rPr sz="900" b="0" i="0">
                          <a:solidFill>
                            <a:srgbClr val="353B4A"/>
                          </a:solidFill>
                          <a:latin typeface="Inter"/>
                        </a:rPr>
                        <a:t>Audit ledger</a:t>
                      </a:r>
                    </a:p>
                  </a:txBody>
                  <a:tcPr marL="73152" marR="73152" marT="36576" marB="36576" anchor="ctr">
                    <a:solidFill>
                      <a:srgbClr val="F1F0F6"/>
                    </a:solidFill>
                  </a:tcPr>
                </a:tc>
                <a:tc>
                  <a:txBody>
                    <a:bodyPr wrap="square"/>
                    <a:lstStyle/>
                    <a:p>
                      <a:r>
                        <a:rPr sz="900" b="0" i="0">
                          <a:solidFill>
                            <a:srgbClr val="353B4A"/>
                          </a:solidFill>
                          <a:latin typeface="Inter"/>
                        </a:rPr>
                        <a:t>Token and hash of the ranks</a:t>
                      </a:r>
                    </a:p>
                  </a:txBody>
                  <a:tcPr marL="73152" marR="73152" marT="36576" marB="36576" anchor="ctr">
                    <a:solidFill>
                      <a:srgbClr val="F1F0F6"/>
                    </a:solidFill>
                  </a:tcPr>
                </a:tc>
              </a:tr>
              <a:tr h="393192">
                <a:tc>
                  <a:txBody>
                    <a:bodyPr wrap="square"/>
                    <a:lstStyle/>
                    <a:p>
                      <a:r>
                        <a:rPr sz="900" b="1" i="0">
                          <a:solidFill>
                            <a:srgbClr val="1B2A55"/>
                          </a:solidFill>
                          <a:latin typeface="Inter"/>
                        </a:rPr>
                        <a:t>Contact message</a:t>
                      </a:r>
                    </a:p>
                  </a:txBody>
                  <a:tcPr marL="73152" marR="73152" marT="36576" marB="36576" anchor="ctr">
                    <a:solidFill>
                      <a:srgbClr val="FFFFFF"/>
                    </a:solidFill>
                  </a:tcPr>
                </a:tc>
                <a:tc>
                  <a:txBody>
                    <a:bodyPr wrap="square"/>
                    <a:lstStyle/>
                    <a:p>
                      <a:r>
                        <a:rPr sz="900" b="0" i="0">
                          <a:solidFill>
                            <a:srgbClr val="353B4A"/>
                          </a:solidFill>
                          <a:latin typeface="Inter"/>
                        </a:rPr>
                        <a:t>Verification database</a:t>
                      </a:r>
                    </a:p>
                  </a:txBody>
                  <a:tcPr marL="73152" marR="73152" marT="36576" marB="36576" anchor="ctr">
                    <a:solidFill>
                      <a:srgbClr val="FFFFFF"/>
                    </a:solidFill>
                  </a:tcPr>
                </a:tc>
                <a:tc>
                  <a:txBody>
                    <a:bodyPr wrap="square"/>
                    <a:lstStyle/>
                    <a:p>
                      <a:r>
                        <a:rPr sz="900" b="0" i="0">
                          <a:solidFill>
                            <a:srgbClr val="353B4A"/>
                          </a:solidFill>
                          <a:latin typeface="Inter"/>
                        </a:rPr>
                        <a:t>Admins only</a:t>
                      </a:r>
                    </a:p>
                  </a:txBody>
                  <a:tcPr marL="73152" marR="73152" marT="36576" marB="36576" anchor="ctr">
                    <a:solidFill>
                      <a:srgbClr val="FFFFFF"/>
                    </a:solidFill>
                  </a:tcPr>
                </a:tc>
              </a:tr>
            </a:tbl>
          </a:graphicData>
        </a:graphic>
      </p:graphicFrame>
      <p:sp>
        <p:nvSpPr>
          <p:cNvPr id="7" name="Rounded Rectangle 6"/>
          <p:cNvSpPr/>
          <p:nvPr/>
        </p:nvSpPr>
        <p:spPr>
          <a:xfrm>
            <a:off x="5669280" y="1024128"/>
            <a:ext cx="3017520" cy="36118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833872" y="1133856"/>
            <a:ext cx="194310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ETHICS AND LIMITS</a:t>
            </a:r>
          </a:p>
        </p:txBody>
      </p:sp>
      <p:sp>
        <p:nvSpPr>
          <p:cNvPr id="9" name="TextBox 8"/>
          <p:cNvSpPr txBox="1"/>
          <p:nvPr/>
        </p:nvSpPr>
        <p:spPr>
          <a:xfrm>
            <a:off x="5833872" y="1481328"/>
            <a:ext cx="2743200" cy="3108960"/>
          </a:xfrm>
          <a:prstGeom prst="rect">
            <a:avLst/>
          </a:prstGeom>
          <a:noFill/>
        </p:spPr>
        <p:txBody>
          <a:bodyPr wrap="square" anchor="t" lIns="0" rIns="0" tIns="0" bIns="0">
            <a:spAutoFit/>
          </a:bodyPr>
          <a:lstStyle/>
          <a:p>
            <a:pPr algn="l">
              <a:spcAft>
                <a:spcPts val="300"/>
              </a:spcAft>
            </a:pPr>
            <a:r>
              <a:rPr sz="950" b="1" i="0">
                <a:solidFill>
                  <a:srgbClr val="1B2A55"/>
                </a:solidFill>
                <a:latin typeface="Inter"/>
              </a:rPr>
              <a:t>•  </a:t>
            </a:r>
            <a:r>
              <a:rPr sz="950" b="1" i="0">
                <a:solidFill>
                  <a:srgbClr val="1B2A55"/>
                </a:solidFill>
                <a:latin typeface="Inter"/>
              </a:rPr>
              <a:t>Sample data:</a:t>
            </a:r>
            <a:r>
              <a:rPr sz="950" b="0" i="0">
                <a:solidFill>
                  <a:srgbClr val="353B4A"/>
                </a:solidFill>
                <a:latin typeface="Inter"/>
              </a:rPr>
              <a:t> the demo uses sample voters and resets on restart.</a:t>
            </a:r>
          </a:p>
          <a:p>
            <a:pPr algn="l">
              <a:spcAft>
                <a:spcPts val="300"/>
              </a:spcAft>
            </a:pPr>
            <a:r>
              <a:rPr sz="950" b="1" i="0">
                <a:solidFill>
                  <a:srgbClr val="1B2A55"/>
                </a:solidFill>
                <a:latin typeface="Inter"/>
              </a:rPr>
              <a:t>•  </a:t>
            </a:r>
            <a:r>
              <a:rPr sz="950" b="1" i="0">
                <a:solidFill>
                  <a:srgbClr val="1B2A55"/>
                </a:solidFill>
                <a:latin typeface="Inter"/>
              </a:rPr>
              <a:t>Officers see more:</a:t>
            </a:r>
            <a:r>
              <a:rPr sz="950" b="0" i="0">
                <a:solidFill>
                  <a:srgbClr val="353B4A"/>
                </a:solidFill>
                <a:latin typeface="Inter"/>
              </a:rPr>
              <a:t> the roster, emails and an outbox that lists codes for ten minutes. We kept it so a demo never stalls; a real election should switch it off.</a:t>
            </a:r>
          </a:p>
          <a:p>
            <a:pPr algn="l">
              <a:spcAft>
                <a:spcPts val="300"/>
              </a:spcAft>
            </a:pPr>
            <a:r>
              <a:rPr sz="950" b="1" i="0">
                <a:solidFill>
                  <a:srgbClr val="1B2A55"/>
                </a:solidFill>
                <a:latin typeface="Inter"/>
              </a:rPr>
              <a:t>•  </a:t>
            </a:r>
            <a:r>
              <a:rPr sz="950" b="1" i="0">
                <a:solidFill>
                  <a:srgbClr val="1B2A55"/>
                </a:solidFill>
                <a:latin typeface="Inter"/>
              </a:rPr>
              <a:t>Receipts:</a:t>
            </a:r>
            <a:r>
              <a:rPr sz="950" b="0" i="0">
                <a:solidFill>
                  <a:srgbClr val="353B4A"/>
                </a:solidFill>
                <a:latin typeface="Inter"/>
              </a:rPr>
              <a:t> prove a ballot is counted, not its content.</a:t>
            </a:r>
          </a:p>
          <a:p>
            <a:pPr algn="l">
              <a:spcAft>
                <a:spcPts val="300"/>
              </a:spcAft>
            </a:pPr>
            <a:r>
              <a:rPr sz="950" b="1" i="0">
                <a:solidFill>
                  <a:srgbClr val="1B2A55"/>
                </a:solidFill>
                <a:latin typeface="Inter"/>
              </a:rPr>
              <a:t>•  </a:t>
            </a:r>
            <a:r>
              <a:rPr sz="950" b="1" i="0">
                <a:solidFill>
                  <a:srgbClr val="1B2A55"/>
                </a:solidFill>
                <a:latin typeface="Inter"/>
              </a:rPr>
              <a:t>No tracking:</a:t>
            </a:r>
            <a:r>
              <a:rPr sz="950" b="0" i="0">
                <a:solidFill>
                  <a:srgbClr val="353B4A"/>
                </a:solidFill>
                <a:latin typeface="Inter"/>
              </a:rPr>
              <a:t> no tracking cookies; analytics is off unless the operator enables it.</a:t>
            </a:r>
          </a:p>
          <a:p>
            <a:pPr algn="l">
              <a:spcAft>
                <a:spcPts val="300"/>
              </a:spcAft>
            </a:pPr>
            <a:r>
              <a:rPr sz="950" b="1" i="0">
                <a:solidFill>
                  <a:srgbClr val="1B2A55"/>
                </a:solidFill>
                <a:latin typeface="Inter"/>
              </a:rPr>
              <a:t>•  </a:t>
            </a:r>
            <a:r>
              <a:rPr sz="950" b="1" i="0">
                <a:solidFill>
                  <a:srgbClr val="1B2A55"/>
                </a:solidFill>
                <a:latin typeface="Inter"/>
              </a:rPr>
              <a:t>Not for binding votes:</a:t>
            </a:r>
            <a:r>
              <a:rPr sz="950" b="0" i="0">
                <a:solidFill>
                  <a:srgbClr val="353B4A"/>
                </a:solidFill>
                <a:latin typeface="Inter"/>
              </a:rPr>
              <a:t> no independent review yet; passwords use plain SHA-256.</a:t>
            </a:r>
          </a:p>
        </p:txBody>
      </p:sp>
      <p:sp>
        <p:nvSpPr>
          <p:cNvPr id="10" name="TextBox 9"/>
          <p:cNvSpPr txBox="1"/>
          <p:nvPr/>
        </p:nvSpPr>
        <p:spPr>
          <a:xfrm>
            <a:off x="457200" y="4224528"/>
            <a:ext cx="5029200" cy="548640"/>
          </a:xfrm>
          <a:prstGeom prst="rect">
            <a:avLst/>
          </a:prstGeom>
          <a:noFill/>
        </p:spPr>
        <p:txBody>
          <a:bodyPr wrap="square" anchor="t" lIns="0" rIns="0" tIns="0" bIns="0">
            <a:spAutoFit/>
          </a:bodyPr>
          <a:lstStyle/>
          <a:p>
            <a:pPr algn="l">
              <a:spcAft>
                <a:spcPts val="0"/>
              </a:spcAft>
            </a:pPr>
            <a:r>
              <a:rPr sz="1000" b="1" i="0">
                <a:solidFill>
                  <a:srgbClr val="1B2A55"/>
                </a:solidFill>
                <a:latin typeface="Inter"/>
              </a:rPr>
              <a:t>The ballot table and the voter table share no column, so the database cannot say who cast which ballot. A person with direct file access could read ballots, but not link them to people.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LIMITATIONS AND FUTURE WORK</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What we do not claim, and what comes next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49</a:t>
            </a:r>
          </a:p>
        </p:txBody>
      </p:sp>
      <p:graphicFrame>
        <p:nvGraphicFramePr>
          <p:cNvPr id="6" name="Table 5"/>
          <p:cNvGraphicFramePr>
            <a:graphicFrameLocks noGrp="1"/>
          </p:cNvGraphicFramePr>
          <p:nvPr/>
        </p:nvGraphicFramePr>
        <p:xfrm>
          <a:off x="457200" y="1097280"/>
          <a:ext cx="8229600" cy="3310128"/>
        </p:xfrm>
        <a:graphic>
          <a:graphicData uri="http://schemas.openxmlformats.org/drawingml/2006/table">
            <a:tbl>
              <a:tblPr firstRow="1" bandRow="1">
                <a:tableStyleId>{5C22544A-7EE6-4342-B048-85BDC9FD1C3A}</a:tableStyleId>
              </a:tblPr>
              <a:tblGrid>
                <a:gridCol w="4206240"/>
                <a:gridCol w="4023360"/>
              </a:tblGrid>
              <a:tr h="365760">
                <a:tc>
                  <a:txBody>
                    <a:bodyPr wrap="square"/>
                    <a:lstStyle/>
                    <a:p>
                      <a:r>
                        <a:rPr sz="1000" b="1" i="0">
                          <a:solidFill>
                            <a:srgbClr val="FFFFFF"/>
                          </a:solidFill>
                          <a:latin typeface="Inter"/>
                        </a:rPr>
                        <a:t>Limitation</a:t>
                      </a:r>
                    </a:p>
                  </a:txBody>
                  <a:tcPr marL="73152" marR="73152" marT="36576" marB="36576" anchor="ctr">
                    <a:solidFill>
                      <a:srgbClr val="1B2A55"/>
                    </a:solidFill>
                  </a:tcPr>
                </a:tc>
                <a:tc>
                  <a:txBody>
                    <a:bodyPr wrap="square"/>
                    <a:lstStyle/>
                    <a:p>
                      <a:r>
                        <a:rPr sz="1000" b="1" i="0">
                          <a:solidFill>
                            <a:srgbClr val="FFFFFF"/>
                          </a:solidFill>
                          <a:latin typeface="Inter"/>
                        </a:rPr>
                        <a:t>Direction</a:t>
                      </a:r>
                    </a:p>
                  </a:txBody>
                  <a:tcPr marL="73152" marR="73152" marT="36576" marB="36576" anchor="ctr">
                    <a:solidFill>
                      <a:srgbClr val="1B2A55"/>
                    </a:solidFill>
                  </a:tcPr>
                </a:tc>
              </a:tr>
              <a:tr h="420624">
                <a:tc>
                  <a:txBody>
                    <a:bodyPr wrap="square"/>
                    <a:lstStyle/>
                    <a:p>
                      <a:r>
                        <a:rPr sz="1000" b="1" i="0">
                          <a:solidFill>
                            <a:srgbClr val="1B2A55"/>
                          </a:solidFill>
                          <a:latin typeface="Inter"/>
                        </a:rPr>
                        <a:t>Insider with key and both stores can forge (A6)</a:t>
                      </a:r>
                    </a:p>
                  </a:txBody>
                  <a:tcPr marL="73152" marR="73152" marT="36576" marB="36576" anchor="ctr">
                    <a:solidFill>
                      <a:srgbClr val="FFFFFF"/>
                    </a:solidFill>
                  </a:tcPr>
                </a:tc>
                <a:tc>
                  <a:txBody>
                    <a:bodyPr wrap="square"/>
                    <a:lstStyle/>
                    <a:p>
                      <a:r>
                        <a:rPr sz="1000" b="0" i="0">
                          <a:solidFill>
                            <a:srgbClr val="353B4A"/>
                          </a:solidFill>
                          <a:latin typeface="Inter"/>
                        </a:rPr>
                        <a:t>Publish the chain head to an external witness; managed secret store</a:t>
                      </a:r>
                    </a:p>
                  </a:txBody>
                  <a:tcPr marL="73152" marR="73152" marT="36576" marB="36576" anchor="ctr">
                    <a:solidFill>
                      <a:srgbClr val="FFFFFF"/>
                    </a:solidFill>
                  </a:tcPr>
                </a:tc>
              </a:tr>
              <a:tr h="420624">
                <a:tc>
                  <a:txBody>
                    <a:bodyPr wrap="square"/>
                    <a:lstStyle/>
                    <a:p>
                      <a:r>
                        <a:rPr sz="1000" b="1" i="0">
                          <a:solidFill>
                            <a:srgbClr val="1B2A55"/>
                          </a:solidFill>
                          <a:latin typeface="Inter"/>
                        </a:rPr>
                        <a:t>Roster injection is not detected (A7)</a:t>
                      </a:r>
                    </a:p>
                  </a:txBody>
                  <a:tcPr marL="73152" marR="73152" marT="36576" marB="36576" anchor="ctr">
                    <a:solidFill>
                      <a:srgbClr val="F1F0F6"/>
                    </a:solidFill>
                  </a:tcPr>
                </a:tc>
                <a:tc>
                  <a:txBody>
                    <a:bodyPr wrap="square"/>
                    <a:lstStyle/>
                    <a:p>
                      <a:r>
                        <a:rPr sz="1000" b="0" i="0">
                          <a:solidFill>
                            <a:srgbClr val="353B4A"/>
                          </a:solidFill>
                          <a:latin typeface="Inter"/>
                        </a:rPr>
                        <a:t>Committed or signed roster, checked at sweep time</a:t>
                      </a:r>
                    </a:p>
                  </a:txBody>
                  <a:tcPr marL="73152" marR="73152" marT="36576" marB="36576" anchor="ctr">
                    <a:solidFill>
                      <a:srgbClr val="F1F0F6"/>
                    </a:solidFill>
                  </a:tcPr>
                </a:tc>
              </a:tr>
              <a:tr h="420624">
                <a:tc>
                  <a:txBody>
                    <a:bodyPr wrap="square"/>
                    <a:lstStyle/>
                    <a:p>
                      <a:r>
                        <a:rPr sz="1000" b="1" i="0">
                          <a:solidFill>
                            <a:srgbClr val="1B2A55"/>
                          </a:solidFill>
                          <a:latin typeface="Inter"/>
                        </a:rPr>
                        <a:t>Not end-to-end verifiable; receipt shows recorded, not content</a:t>
                      </a:r>
                    </a:p>
                  </a:txBody>
                  <a:tcPr marL="73152" marR="73152" marT="36576" marB="36576" anchor="ctr">
                    <a:solidFill>
                      <a:srgbClr val="FFFFFF"/>
                    </a:solidFill>
                  </a:tcPr>
                </a:tc>
                <a:tc>
                  <a:txBody>
                    <a:bodyPr wrap="square"/>
                    <a:lstStyle/>
                    <a:p>
                      <a:r>
                        <a:rPr sz="1000" b="0" i="0">
                          <a:solidFill>
                            <a:srgbClr val="353B4A"/>
                          </a:solidFill>
                          <a:latin typeface="Inter"/>
                        </a:rPr>
                        <a:t>Cast-as-intended mechanism, or a verifiable protocol if needed</a:t>
                      </a:r>
                    </a:p>
                  </a:txBody>
                  <a:tcPr marL="73152" marR="73152" marT="36576" marB="36576" anchor="ctr">
                    <a:solidFill>
                      <a:srgbClr val="FFFFFF"/>
                    </a:solidFill>
                  </a:tcPr>
                </a:tc>
              </a:tr>
              <a:tr h="420624">
                <a:tc>
                  <a:txBody>
                    <a:bodyPr wrap="square"/>
                    <a:lstStyle/>
                    <a:p>
                      <a:r>
                        <a:rPr sz="1000" b="1" i="0">
                          <a:solidFill>
                            <a:srgbClr val="1B2A55"/>
                          </a:solidFill>
                          <a:latin typeface="Inter"/>
                        </a:rPr>
                        <a:t>Passwords stored as plain SHA-256; default admin login</a:t>
                      </a:r>
                    </a:p>
                  </a:txBody>
                  <a:tcPr marL="73152" marR="73152" marT="36576" marB="36576" anchor="ctr">
                    <a:solidFill>
                      <a:srgbClr val="F1F0F6"/>
                    </a:solidFill>
                  </a:tcPr>
                </a:tc>
                <a:tc>
                  <a:txBody>
                    <a:bodyPr wrap="square"/>
                    <a:lstStyle/>
                    <a:p>
                      <a:r>
                        <a:rPr sz="1000" b="0" i="0">
                          <a:solidFill>
                            <a:srgbClr val="353B4A"/>
                          </a:solidFill>
                          <a:latin typeface="Inter"/>
                        </a:rPr>
                        <a:t>Salted, slow hashing; forced first-login change</a:t>
                      </a:r>
                    </a:p>
                  </a:txBody>
                  <a:tcPr marL="73152" marR="73152" marT="36576" marB="36576" anchor="ctr">
                    <a:solidFill>
                      <a:srgbClr val="F1F0F6"/>
                    </a:solidFill>
                  </a:tcPr>
                </a:tc>
              </a:tr>
              <a:tr h="420624">
                <a:tc>
                  <a:txBody>
                    <a:bodyPr wrap="square"/>
                    <a:lstStyle/>
                    <a:p>
                      <a:r>
                        <a:rPr sz="1000" b="1" i="0">
                          <a:solidFill>
                            <a:srgbClr val="1B2A55"/>
                          </a:solidFill>
                          <a:latin typeface="Inter"/>
                        </a:rPr>
                        <a:t>Email is a weak second factor</a:t>
                      </a:r>
                    </a:p>
                  </a:txBody>
                  <a:tcPr marL="73152" marR="73152" marT="36576" marB="36576" anchor="ctr">
                    <a:solidFill>
                      <a:srgbClr val="FFFFFF"/>
                    </a:solidFill>
                  </a:tcPr>
                </a:tc>
                <a:tc>
                  <a:txBody>
                    <a:bodyPr wrap="square"/>
                    <a:lstStyle/>
                    <a:p>
                      <a:r>
                        <a:rPr sz="1000" b="0" i="0">
                          <a:solidFill>
                            <a:srgbClr val="353B4A"/>
                          </a:solidFill>
                          <a:latin typeface="Inter"/>
                        </a:rPr>
                        <a:t>Authenticator app (TOTP) or printed one-time slip</a:t>
                      </a:r>
                    </a:p>
                  </a:txBody>
                  <a:tcPr marL="73152" marR="73152" marT="36576" marB="36576" anchor="ctr">
                    <a:solidFill>
                      <a:srgbClr val="FFFFFF"/>
                    </a:solidFill>
                  </a:tcPr>
                </a:tc>
              </a:tr>
              <a:tr h="420624">
                <a:tc>
                  <a:txBody>
                    <a:bodyPr wrap="square"/>
                    <a:lstStyle/>
                    <a:p>
                      <a:r>
                        <a:rPr sz="1000" b="1" i="0">
                          <a:solidFill>
                            <a:srgbClr val="1B2A55"/>
                          </a:solidFill>
                          <a:latin typeface="Inter"/>
                        </a:rPr>
                        <a:t>IRV ties broken arbitrarily; no statistical audit</a:t>
                      </a:r>
                    </a:p>
                  </a:txBody>
                  <a:tcPr marL="73152" marR="73152" marT="36576" marB="36576" anchor="ctr">
                    <a:solidFill>
                      <a:srgbClr val="F1F0F6"/>
                    </a:solidFill>
                  </a:tcPr>
                </a:tc>
                <a:tc>
                  <a:txBody>
                    <a:bodyPr wrap="square"/>
                    <a:lstStyle/>
                    <a:p>
                      <a:r>
                        <a:rPr sz="1000" b="0" i="0">
                          <a:solidFill>
                            <a:srgbClr val="353B4A"/>
                          </a:solidFill>
                          <a:latin typeface="Inter"/>
                        </a:rPr>
                        <a:t>Published tie rule; risk-limiting audit</a:t>
                      </a:r>
                    </a:p>
                  </a:txBody>
                  <a:tcPr marL="73152" marR="73152" marT="36576" marB="36576" anchor="ctr">
                    <a:solidFill>
                      <a:srgbClr val="F1F0F6"/>
                    </a:solidFill>
                  </a:tcPr>
                </a:tc>
              </a:tr>
              <a:tr h="420624">
                <a:tc>
                  <a:txBody>
                    <a:bodyPr wrap="square"/>
                    <a:lstStyle/>
                    <a:p>
                      <a:r>
                        <a:rPr sz="1000" b="1" i="0">
                          <a:solidFill>
                            <a:srgbClr val="1B2A55"/>
                          </a:solidFill>
                          <a:latin typeface="Inter"/>
                        </a:rPr>
                        <a:t>SQLite foreign keys are per connection; single node</a:t>
                      </a:r>
                    </a:p>
                  </a:txBody>
                  <a:tcPr marL="73152" marR="73152" marT="36576" marB="36576" anchor="ctr">
                    <a:solidFill>
                      <a:srgbClr val="FFFFFF"/>
                    </a:solidFill>
                  </a:tcPr>
                </a:tc>
                <a:tc>
                  <a:txBody>
                    <a:bodyPr wrap="square"/>
                    <a:lstStyle/>
                    <a:p>
                      <a:r>
                        <a:rPr sz="1000" b="0" i="0">
                          <a:solidFill>
                            <a:srgbClr val="353B4A"/>
                          </a:solidFill>
                          <a:latin typeface="Inter"/>
                        </a:rPr>
                        <a:t>Oracle or PostgreSQL with PL/SQL, roles; cloud platform</a:t>
                      </a:r>
                    </a:p>
                  </a:txBody>
                  <a:tcPr marL="73152" marR="73152" marT="36576" marB="36576" anchor="ctr">
                    <a:solidFill>
                      <a:srgbClr val="FFFFFF"/>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GLOSSARY</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Glossary in plain words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50</a:t>
            </a:r>
          </a:p>
        </p:txBody>
      </p:sp>
      <p:graphicFrame>
        <p:nvGraphicFramePr>
          <p:cNvPr id="6" name="Table 5"/>
          <p:cNvGraphicFramePr>
            <a:graphicFrameLocks noGrp="1"/>
          </p:cNvGraphicFramePr>
          <p:nvPr/>
        </p:nvGraphicFramePr>
        <p:xfrm>
          <a:off x="457200" y="1024128"/>
          <a:ext cx="3977640" cy="3675888"/>
        </p:xfrm>
        <a:graphic>
          <a:graphicData uri="http://schemas.openxmlformats.org/drawingml/2006/table">
            <a:tbl>
              <a:tblPr firstRow="1" bandRow="1">
                <a:tableStyleId>{5C22544A-7EE6-4342-B048-85BDC9FD1C3A}</a:tableStyleId>
              </a:tblPr>
              <a:tblGrid>
                <a:gridCol w="1097280"/>
                <a:gridCol w="2880360"/>
              </a:tblGrid>
              <a:tr h="274320">
                <a:tc>
                  <a:txBody>
                    <a:bodyPr wrap="square"/>
                    <a:lstStyle/>
                    <a:p>
                      <a:r>
                        <a:rPr sz="950" b="1" i="0">
                          <a:solidFill>
                            <a:srgbClr val="FFFFFF"/>
                          </a:solidFill>
                          <a:latin typeface="Inter"/>
                        </a:rPr>
                        <a:t>Term</a:t>
                      </a:r>
                    </a:p>
                  </a:txBody>
                  <a:tcPr marL="73152" marR="73152" marT="36576" marB="36576" anchor="ctr">
                    <a:solidFill>
                      <a:srgbClr val="1B2A55"/>
                    </a:solidFill>
                  </a:tcPr>
                </a:tc>
                <a:tc>
                  <a:txBody>
                    <a:bodyPr wrap="square"/>
                    <a:lstStyle/>
                    <a:p>
                      <a:r>
                        <a:rPr sz="950" b="1" i="0">
                          <a:solidFill>
                            <a:srgbClr val="FFFFFF"/>
                          </a:solidFill>
                          <a:latin typeface="Inter"/>
                        </a:rPr>
                        <a:t>In plain words</a:t>
                      </a:r>
                    </a:p>
                  </a:txBody>
                  <a:tcPr marL="73152" marR="73152" marT="36576" marB="36576" anchor="ctr">
                    <a:solidFill>
                      <a:srgbClr val="1B2A55"/>
                    </a:solidFill>
                  </a:tcPr>
                </a:tc>
              </a:tr>
              <a:tr h="566928">
                <a:tc>
                  <a:txBody>
                    <a:bodyPr wrap="square"/>
                    <a:lstStyle/>
                    <a:p>
                      <a:r>
                        <a:rPr sz="900" b="1" i="0">
                          <a:solidFill>
                            <a:srgbClr val="1B2A55"/>
                          </a:solidFill>
                          <a:latin typeface="Inter"/>
                        </a:rPr>
                        <a:t>Hash</a:t>
                      </a:r>
                    </a:p>
                  </a:txBody>
                  <a:tcPr marL="73152" marR="73152" marT="36576" marB="36576" anchor="ctr">
                    <a:solidFill>
                      <a:srgbClr val="FFFFFF"/>
                    </a:solidFill>
                  </a:tcPr>
                </a:tc>
                <a:tc>
                  <a:txBody>
                    <a:bodyPr wrap="square"/>
                    <a:lstStyle/>
                    <a:p>
                      <a:r>
                        <a:rPr sz="900" b="0" i="0">
                          <a:solidFill>
                            <a:srgbClr val="353B4A"/>
                          </a:solidFill>
                          <a:latin typeface="Inter"/>
                        </a:rPr>
                        <a:t>A fixed-length fingerprint of data. Change one character and the fingerprint changes completely.</a:t>
                      </a:r>
                    </a:p>
                  </a:txBody>
                  <a:tcPr marL="73152" marR="73152" marT="36576" marB="36576" anchor="ctr">
                    <a:solidFill>
                      <a:srgbClr val="FFFFFF"/>
                    </a:solidFill>
                  </a:tcPr>
                </a:tc>
              </a:tr>
              <a:tr h="566928">
                <a:tc>
                  <a:txBody>
                    <a:bodyPr wrap="square"/>
                    <a:lstStyle/>
                    <a:p>
                      <a:r>
                        <a:rPr sz="900" b="1" i="0">
                          <a:solidFill>
                            <a:srgbClr val="1B2A55"/>
                          </a:solidFill>
                          <a:latin typeface="Inter"/>
                        </a:rPr>
                        <a:t>HMAC</a:t>
                      </a:r>
                    </a:p>
                  </a:txBody>
                  <a:tcPr marL="73152" marR="73152" marT="36576" marB="36576" anchor="ctr">
                    <a:solidFill>
                      <a:srgbClr val="F1F0F6"/>
                    </a:solidFill>
                  </a:tcPr>
                </a:tc>
                <a:tc>
                  <a:txBody>
                    <a:bodyPr wrap="square"/>
                    <a:lstStyle/>
                    <a:p>
                      <a:r>
                        <a:rPr sz="900" b="0" i="0">
                          <a:solidFill>
                            <a:srgbClr val="353B4A"/>
                          </a:solidFill>
                          <a:latin typeface="Inter"/>
                        </a:rPr>
                        <a:t>A hash made with a secret key, so only someone holding the key can produce a valid one.</a:t>
                      </a:r>
                    </a:p>
                  </a:txBody>
                  <a:tcPr marL="73152" marR="73152" marT="36576" marB="36576" anchor="ctr">
                    <a:solidFill>
                      <a:srgbClr val="F1F0F6"/>
                    </a:solidFill>
                  </a:tcPr>
                </a:tc>
              </a:tr>
              <a:tr h="566928">
                <a:tc>
                  <a:txBody>
                    <a:bodyPr wrap="square"/>
                    <a:lstStyle/>
                    <a:p>
                      <a:r>
                        <a:rPr sz="900" b="1" i="0">
                          <a:solidFill>
                            <a:srgbClr val="1B2A55"/>
                          </a:solidFill>
                          <a:latin typeface="Inter"/>
                        </a:rPr>
                        <a:t>Hash chain</a:t>
                      </a:r>
                    </a:p>
                  </a:txBody>
                  <a:tcPr marL="73152" marR="73152" marT="36576" marB="36576" anchor="ctr">
                    <a:solidFill>
                      <a:srgbClr val="FFFFFF"/>
                    </a:solidFill>
                  </a:tcPr>
                </a:tc>
                <a:tc>
                  <a:txBody>
                    <a:bodyPr wrap="square"/>
                    <a:lstStyle/>
                    <a:p>
                      <a:r>
                        <a:rPr sz="900" b="0" i="0">
                          <a:solidFill>
                            <a:srgbClr val="353B4A"/>
                          </a:solidFill>
                          <a:latin typeface="Inter"/>
                        </a:rPr>
                        <a:t>Each record stores the previous record's hash, so editing one breaks every later link.</a:t>
                      </a:r>
                    </a:p>
                  </a:txBody>
                  <a:tcPr marL="73152" marR="73152" marT="36576" marB="36576" anchor="ctr">
                    <a:solidFill>
                      <a:srgbClr val="FFFFFF"/>
                    </a:solidFill>
                  </a:tcPr>
                </a:tc>
              </a:tr>
              <a:tr h="566928">
                <a:tc>
                  <a:txBody>
                    <a:bodyPr wrap="square"/>
                    <a:lstStyle/>
                    <a:p>
                      <a:r>
                        <a:rPr sz="900" b="1" i="0">
                          <a:solidFill>
                            <a:srgbClr val="1B2A55"/>
                          </a:solidFill>
                          <a:latin typeface="Inter"/>
                        </a:rPr>
                        <a:t>Ledger, block</a:t>
                      </a:r>
                    </a:p>
                  </a:txBody>
                  <a:tcPr marL="73152" marR="73152" marT="36576" marB="36576" anchor="ctr">
                    <a:solidFill>
                      <a:srgbClr val="F1F0F6"/>
                    </a:solidFill>
                  </a:tcPr>
                </a:tc>
                <a:tc>
                  <a:txBody>
                    <a:bodyPr wrap="square"/>
                    <a:lstStyle/>
                    <a:p>
                      <a:r>
                        <a:rPr sz="900" b="0" i="0">
                          <a:solidFill>
                            <a:srgbClr val="353B4A"/>
                          </a:solidFill>
                          <a:latin typeface="Inter"/>
                        </a:rPr>
                        <a:t>The append-only list of receipts; one block for each ballot.</a:t>
                      </a:r>
                    </a:p>
                  </a:txBody>
                  <a:tcPr marL="73152" marR="73152" marT="36576" marB="36576" anchor="ctr">
                    <a:solidFill>
                      <a:srgbClr val="F1F0F6"/>
                    </a:solidFill>
                  </a:tcPr>
                </a:tc>
              </a:tr>
              <a:tr h="566928">
                <a:tc>
                  <a:txBody>
                    <a:bodyPr wrap="square"/>
                    <a:lstStyle/>
                    <a:p>
                      <a:r>
                        <a:rPr sz="900" b="1" i="0">
                          <a:solidFill>
                            <a:srgbClr val="1B2A55"/>
                          </a:solidFill>
                          <a:latin typeface="Inter"/>
                        </a:rPr>
                        <a:t>Instant-runoff</a:t>
                      </a:r>
                    </a:p>
                  </a:txBody>
                  <a:tcPr marL="73152" marR="73152" marT="36576" marB="36576" anchor="ctr">
                    <a:solidFill>
                      <a:srgbClr val="FFFFFF"/>
                    </a:solidFill>
                  </a:tcPr>
                </a:tc>
                <a:tc>
                  <a:txBody>
                    <a:bodyPr wrap="square"/>
                    <a:lstStyle/>
                    <a:p>
                      <a:r>
                        <a:rPr sz="900" b="0" i="0">
                          <a:solidFill>
                            <a:srgbClr val="353B4A"/>
                          </a:solidFill>
                          <a:latin typeface="Inter"/>
                        </a:rPr>
                        <a:t>Rank candidates; last place drops out each round and its ballots move on, until someone has a majority.</a:t>
                      </a:r>
                    </a:p>
                  </a:txBody>
                  <a:tcPr marL="73152" marR="73152" marT="36576" marB="36576" anchor="ctr">
                    <a:solidFill>
                      <a:srgbClr val="FFFFFF"/>
                    </a:solidFill>
                  </a:tcPr>
                </a:tc>
              </a:tr>
              <a:tr h="566928">
                <a:tc>
                  <a:txBody>
                    <a:bodyPr wrap="square"/>
                    <a:lstStyle/>
                    <a:p>
                      <a:r>
                        <a:rPr sz="900" b="1" i="0">
                          <a:solidFill>
                            <a:srgbClr val="1B2A55"/>
                          </a:solidFill>
                          <a:latin typeface="Inter"/>
                        </a:rPr>
                        <a:t>OTP</a:t>
                      </a:r>
                    </a:p>
                  </a:txBody>
                  <a:tcPr marL="73152" marR="73152" marT="36576" marB="36576" anchor="ctr">
                    <a:solidFill>
                      <a:srgbClr val="F1F0F6"/>
                    </a:solidFill>
                  </a:tcPr>
                </a:tc>
                <a:tc>
                  <a:txBody>
                    <a:bodyPr wrap="square"/>
                    <a:lstStyle/>
                    <a:p>
                      <a:r>
                        <a:rPr sz="900" b="0" i="0">
                          <a:solidFill>
                            <a:srgbClr val="353B4A"/>
                          </a:solidFill>
                          <a:latin typeface="Inter"/>
                        </a:rPr>
                        <a:t>One-time password: a short code that works once and expires.</a:t>
                      </a:r>
                    </a:p>
                  </a:txBody>
                  <a:tcPr marL="73152" marR="73152" marT="36576" marB="36576" anchor="ctr">
                    <a:solidFill>
                      <a:srgbClr val="F1F0F6"/>
                    </a:solidFill>
                  </a:tcPr>
                </a:tc>
              </a:tr>
            </a:tbl>
          </a:graphicData>
        </a:graphic>
      </p:graphicFrame>
      <p:graphicFrame>
        <p:nvGraphicFramePr>
          <p:cNvPr id="7" name="Table 6"/>
          <p:cNvGraphicFramePr>
            <a:graphicFrameLocks noGrp="1"/>
          </p:cNvGraphicFramePr>
          <p:nvPr/>
        </p:nvGraphicFramePr>
        <p:xfrm>
          <a:off x="4709160" y="1024128"/>
          <a:ext cx="3977640" cy="3675888"/>
        </p:xfrm>
        <a:graphic>
          <a:graphicData uri="http://schemas.openxmlformats.org/drawingml/2006/table">
            <a:tbl>
              <a:tblPr firstRow="1" bandRow="1">
                <a:tableStyleId>{5C22544A-7EE6-4342-B048-85BDC9FD1C3A}</a:tableStyleId>
              </a:tblPr>
              <a:tblGrid>
                <a:gridCol w="1097280"/>
                <a:gridCol w="2880360"/>
              </a:tblGrid>
              <a:tr h="274320">
                <a:tc>
                  <a:txBody>
                    <a:bodyPr wrap="square"/>
                    <a:lstStyle/>
                    <a:p>
                      <a:r>
                        <a:rPr sz="950" b="1" i="0">
                          <a:solidFill>
                            <a:srgbClr val="FFFFFF"/>
                          </a:solidFill>
                          <a:latin typeface="Inter"/>
                        </a:rPr>
                        <a:t>Term</a:t>
                      </a:r>
                    </a:p>
                  </a:txBody>
                  <a:tcPr marL="73152" marR="73152" marT="36576" marB="36576" anchor="ctr">
                    <a:solidFill>
                      <a:srgbClr val="1B2A55"/>
                    </a:solidFill>
                  </a:tcPr>
                </a:tc>
                <a:tc>
                  <a:txBody>
                    <a:bodyPr wrap="square"/>
                    <a:lstStyle/>
                    <a:p>
                      <a:r>
                        <a:rPr sz="950" b="1" i="0">
                          <a:solidFill>
                            <a:srgbClr val="FFFFFF"/>
                          </a:solidFill>
                          <a:latin typeface="Inter"/>
                        </a:rPr>
                        <a:t>In plain words</a:t>
                      </a:r>
                    </a:p>
                  </a:txBody>
                  <a:tcPr marL="73152" marR="73152" marT="36576" marB="36576" anchor="ctr">
                    <a:solidFill>
                      <a:srgbClr val="1B2A55"/>
                    </a:solidFill>
                  </a:tcPr>
                </a:tc>
              </a:tr>
              <a:tr h="566928">
                <a:tc>
                  <a:txBody>
                    <a:bodyPr wrap="square"/>
                    <a:lstStyle/>
                    <a:p>
                      <a:r>
                        <a:rPr sz="900" b="1" i="0">
                          <a:solidFill>
                            <a:srgbClr val="1B2A55"/>
                          </a:solidFill>
                          <a:latin typeface="Inter"/>
                        </a:rPr>
                        <a:t>Roster hash</a:t>
                      </a:r>
                    </a:p>
                  </a:txBody>
                  <a:tcPr marL="73152" marR="73152" marT="36576" marB="36576" anchor="ctr">
                    <a:solidFill>
                      <a:srgbClr val="FFFFFF"/>
                    </a:solidFill>
                  </a:tcPr>
                </a:tc>
                <a:tc>
                  <a:txBody>
                    <a:bodyPr wrap="square"/>
                    <a:lstStyle/>
                    <a:p>
                      <a:r>
                        <a:rPr sz="900" b="0" i="0">
                          <a:solidFill>
                            <a:srgbClr val="353B4A"/>
                          </a:solidFill>
                          <a:latin typeface="Inter"/>
                        </a:rPr>
                        <a:t>A fingerprint of the candidate list, sealed into every block.</a:t>
                      </a:r>
                    </a:p>
                  </a:txBody>
                  <a:tcPr marL="73152" marR="73152" marT="36576" marB="36576" anchor="ctr">
                    <a:solidFill>
                      <a:srgbClr val="FFFFFF"/>
                    </a:solidFill>
                  </a:tcPr>
                </a:tc>
              </a:tr>
              <a:tr h="566928">
                <a:tc>
                  <a:txBody>
                    <a:bodyPr wrap="square"/>
                    <a:lstStyle/>
                    <a:p>
                      <a:r>
                        <a:rPr sz="900" b="1" i="0">
                          <a:solidFill>
                            <a:srgbClr val="1B2A55"/>
                          </a:solidFill>
                          <a:latin typeface="Inter"/>
                        </a:rPr>
                        <a:t>Receipt token</a:t>
                      </a:r>
                    </a:p>
                  </a:txBody>
                  <a:tcPr marL="73152" marR="73152" marT="36576" marB="36576" anchor="ctr">
                    <a:solidFill>
                      <a:srgbClr val="F1F0F6"/>
                    </a:solidFill>
                  </a:tcPr>
                </a:tc>
                <a:tc>
                  <a:txBody>
                    <a:bodyPr wrap="square"/>
                    <a:lstStyle/>
                    <a:p>
                      <a:r>
                        <a:rPr sz="900" b="0" i="0">
                          <a:solidFill>
                            <a:srgbClr val="353B4A"/>
                          </a:solidFill>
                          <a:latin typeface="Inter"/>
                        </a:rPr>
                        <a:t>A random code that shows a ballot is recorded. It does not show the vote.</a:t>
                      </a:r>
                    </a:p>
                  </a:txBody>
                  <a:tcPr marL="73152" marR="73152" marT="36576" marB="36576" anchor="ctr">
                    <a:solidFill>
                      <a:srgbClr val="F1F0F6"/>
                    </a:solidFill>
                  </a:tcPr>
                </a:tc>
              </a:tr>
              <a:tr h="566928">
                <a:tc>
                  <a:txBody>
                    <a:bodyPr wrap="square"/>
                    <a:lstStyle/>
                    <a:p>
                      <a:r>
                        <a:rPr sz="900" b="1" i="0">
                          <a:solidFill>
                            <a:srgbClr val="1B2A55"/>
                          </a:solidFill>
                          <a:latin typeface="Inter"/>
                        </a:rPr>
                        <a:t>Trigger, CHECK, UNIQUE</a:t>
                      </a:r>
                    </a:p>
                  </a:txBody>
                  <a:tcPr marL="73152" marR="73152" marT="36576" marB="36576" anchor="ctr">
                    <a:solidFill>
                      <a:srgbClr val="FFFFFF"/>
                    </a:solidFill>
                  </a:tcPr>
                </a:tc>
                <a:tc>
                  <a:txBody>
                    <a:bodyPr wrap="square"/>
                    <a:lstStyle/>
                    <a:p>
                      <a:r>
                        <a:rPr sz="900" b="0" i="0">
                          <a:solidFill>
                            <a:srgbClr val="353B4A"/>
                          </a:solidFill>
                          <a:latin typeface="Inter"/>
                        </a:rPr>
                        <a:t>Rules the database enforces itself, even against direct SQL.</a:t>
                      </a:r>
                    </a:p>
                  </a:txBody>
                  <a:tcPr marL="73152" marR="73152" marT="36576" marB="36576" anchor="ctr">
                    <a:solidFill>
                      <a:srgbClr val="FFFFFF"/>
                    </a:solidFill>
                  </a:tcPr>
                </a:tc>
              </a:tr>
              <a:tr h="566928">
                <a:tc>
                  <a:txBody>
                    <a:bodyPr wrap="square"/>
                    <a:lstStyle/>
                    <a:p>
                      <a:r>
                        <a:rPr sz="900" b="1" i="0">
                          <a:solidFill>
                            <a:srgbClr val="1B2A55"/>
                          </a:solidFill>
                          <a:latin typeface="Inter"/>
                        </a:rPr>
                        <a:t>Integrity sweep</a:t>
                      </a:r>
                    </a:p>
                  </a:txBody>
                  <a:tcPr marL="73152" marR="73152" marT="36576" marB="36576" anchor="ctr">
                    <a:solidFill>
                      <a:srgbClr val="F1F0F6"/>
                    </a:solidFill>
                  </a:tcPr>
                </a:tc>
                <a:tc>
                  <a:txBody>
                    <a:bodyPr wrap="square"/>
                    <a:lstStyle/>
                    <a:p>
                      <a:r>
                        <a:rPr sz="900" b="0" i="0">
                          <a:solidFill>
                            <a:srgbClr val="353B4A"/>
                          </a:solidFill>
                          <a:latin typeface="Inter"/>
                        </a:rPr>
                        <a:t>Recomputes the election from the database and compares it with the ledger.</a:t>
                      </a:r>
                    </a:p>
                  </a:txBody>
                  <a:tcPr marL="73152" marR="73152" marT="36576" marB="36576" anchor="ctr">
                    <a:solidFill>
                      <a:srgbClr val="F1F0F6"/>
                    </a:solidFill>
                  </a:tcPr>
                </a:tc>
              </a:tr>
              <a:tr h="566928">
                <a:tc>
                  <a:txBody>
                    <a:bodyPr wrap="square"/>
                    <a:lstStyle/>
                    <a:p>
                      <a:r>
                        <a:rPr sz="900" b="1" i="0">
                          <a:solidFill>
                            <a:srgbClr val="1B2A55"/>
                          </a:solidFill>
                          <a:latin typeface="Inter"/>
                        </a:rPr>
                        <a:t>Polyglot persistence</a:t>
                      </a:r>
                    </a:p>
                  </a:txBody>
                  <a:tcPr marL="73152" marR="73152" marT="36576" marB="36576" anchor="ctr">
                    <a:solidFill>
                      <a:srgbClr val="FFFFFF"/>
                    </a:solidFill>
                  </a:tcPr>
                </a:tc>
                <a:tc>
                  <a:txBody>
                    <a:bodyPr wrap="square"/>
                    <a:lstStyle/>
                    <a:p>
                      <a:r>
                        <a:rPr sz="900" b="0" i="0">
                          <a:solidFill>
                            <a:srgbClr val="353B4A"/>
                          </a:solidFill>
                          <a:latin typeface="Inter"/>
                        </a:rPr>
                        <a:t>Different kinds of database for different jobs: SQLite and MongoDB here.</a:t>
                      </a:r>
                    </a:p>
                  </a:txBody>
                  <a:tcPr marL="73152" marR="73152" marT="36576" marB="36576" anchor="ctr">
                    <a:solidFill>
                      <a:srgbClr val="FFFFFF"/>
                    </a:solidFill>
                  </a:tcPr>
                </a:tc>
              </a:tr>
              <a:tr h="566928">
                <a:tc>
                  <a:txBody>
                    <a:bodyPr wrap="square"/>
                    <a:lstStyle/>
                    <a:p>
                      <a:r>
                        <a:rPr sz="900" b="1" i="0">
                          <a:solidFill>
                            <a:srgbClr val="1B2A55"/>
                          </a:solidFill>
                          <a:latin typeface="Inter"/>
                        </a:rPr>
                        <a:t>Multi-tenant</a:t>
                      </a:r>
                    </a:p>
                  </a:txBody>
                  <a:tcPr marL="73152" marR="73152" marT="36576" marB="36576" anchor="ctr">
                    <a:solidFill>
                      <a:srgbClr val="F1F0F6"/>
                    </a:solidFill>
                  </a:tcPr>
                </a:tc>
                <a:tc>
                  <a:txBody>
                    <a:bodyPr wrap="square"/>
                    <a:lstStyle/>
                    <a:p>
                      <a:r>
                        <a:rPr sz="900" b="0" i="0">
                          <a:solidFill>
                            <a:srgbClr val="353B4A"/>
                          </a:solidFill>
                          <a:latin typeface="Inter"/>
                        </a:rPr>
                        <a:t>Many organisations share one install, each with its own elections.</a:t>
                      </a:r>
                    </a:p>
                  </a:txBody>
                  <a:tcPr marL="73152" marR="73152" marT="36576" marB="36576" anchor="ctr">
                    <a:solidFill>
                      <a:srgbClr val="F1F0F6"/>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EVIDENCE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Evidence: where every claim can be checked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51</a:t>
            </a:r>
          </a:p>
        </p:txBody>
      </p:sp>
      <p:graphicFrame>
        <p:nvGraphicFramePr>
          <p:cNvPr id="6" name="Table 5"/>
          <p:cNvGraphicFramePr>
            <a:graphicFrameLocks noGrp="1"/>
          </p:cNvGraphicFramePr>
          <p:nvPr/>
        </p:nvGraphicFramePr>
        <p:xfrm>
          <a:off x="457200" y="1024128"/>
          <a:ext cx="8229600" cy="2898648"/>
        </p:xfrm>
        <a:graphic>
          <a:graphicData uri="http://schemas.openxmlformats.org/drawingml/2006/table">
            <a:tbl>
              <a:tblPr firstRow="1" bandRow="1">
                <a:tableStyleId>{5C22544A-7EE6-4342-B048-85BDC9FD1C3A}</a:tableStyleId>
              </a:tblPr>
              <a:tblGrid>
                <a:gridCol w="3108960"/>
                <a:gridCol w="2651760"/>
                <a:gridCol w="2468880"/>
              </a:tblGrid>
              <a:tr h="274320">
                <a:tc>
                  <a:txBody>
                    <a:bodyPr wrap="square"/>
                    <a:lstStyle/>
                    <a:p>
                      <a:r>
                        <a:rPr sz="950" b="1" i="0">
                          <a:solidFill>
                            <a:srgbClr val="FFFFFF"/>
                          </a:solidFill>
                          <a:latin typeface="Inter"/>
                        </a:rPr>
                        <a:t>Claim in this deck</a:t>
                      </a:r>
                    </a:p>
                  </a:txBody>
                  <a:tcPr marL="73152" marR="73152" marT="36576" marB="36576" anchor="ctr">
                    <a:solidFill>
                      <a:srgbClr val="1B2A55"/>
                    </a:solidFill>
                  </a:tcPr>
                </a:tc>
                <a:tc>
                  <a:txBody>
                    <a:bodyPr wrap="square"/>
                    <a:lstStyle/>
                    <a:p>
                      <a:r>
                        <a:rPr sz="950" b="1" i="0">
                          <a:solidFill>
                            <a:srgbClr val="FFFFFF"/>
                          </a:solidFill>
                          <a:latin typeface="Inter"/>
                        </a:rPr>
                        <a:t>How it was produced</a:t>
                      </a:r>
                    </a:p>
                  </a:txBody>
                  <a:tcPr marL="73152" marR="73152" marT="36576" marB="36576" anchor="ctr">
                    <a:solidFill>
                      <a:srgbClr val="1B2A55"/>
                    </a:solidFill>
                  </a:tcPr>
                </a:tc>
                <a:tc>
                  <a:txBody>
                    <a:bodyPr wrap="square"/>
                    <a:lstStyle/>
                    <a:p>
                      <a:r>
                        <a:rPr sz="950" b="1" i="0">
                          <a:solidFill>
                            <a:srgbClr val="FFFFFF"/>
                          </a:solidFill>
                          <a:latin typeface="Inter"/>
                        </a:rPr>
                        <a:t>Where to look</a:t>
                      </a:r>
                    </a:p>
                  </a:txBody>
                  <a:tcPr marL="73152" marR="73152" marT="36576" marB="36576" anchor="ctr">
                    <a:solidFill>
                      <a:srgbClr val="1B2A55"/>
                    </a:solidFill>
                  </a:tcPr>
                </a:tc>
              </a:tr>
              <a:tr h="374904">
                <a:tc>
                  <a:txBody>
                    <a:bodyPr wrap="square"/>
                    <a:lstStyle/>
                    <a:p>
                      <a:r>
                        <a:rPr sz="900" b="1" i="0">
                          <a:solidFill>
                            <a:srgbClr val="1B2A55"/>
                          </a:solidFill>
                          <a:latin typeface="Inter"/>
                        </a:rPr>
                        <a:t>Tampering caught: 6 of 13 (old), 12 of 13 (final)</a:t>
                      </a:r>
                    </a:p>
                  </a:txBody>
                  <a:tcPr marL="73152" marR="73152" marT="36576" marB="36576" anchor="ctr">
                    <a:solidFill>
                      <a:srgbClr val="FFFFFF"/>
                    </a:solidFill>
                  </a:tcPr>
                </a:tc>
                <a:tc>
                  <a:txBody>
                    <a:bodyPr wrap="square"/>
                    <a:lstStyle/>
                    <a:p>
                      <a:r>
                        <a:rPr sz="900" b="0" i="0">
                          <a:solidFill>
                            <a:srgbClr val="353B4A"/>
                          </a:solidFill>
                          <a:latin typeface="Inter"/>
                        </a:rPr>
                        <a:t>Executable suite, 3 identical runs</a:t>
                      </a:r>
                    </a:p>
                  </a:txBody>
                  <a:tcPr marL="73152" marR="73152" marT="36576" marB="36576" anchor="ctr">
                    <a:solidFill>
                      <a:srgbClr val="FFFFFF"/>
                    </a:solidFill>
                  </a:tcPr>
                </a:tc>
                <a:tc>
                  <a:txBody>
                    <a:bodyPr wrap="square"/>
                    <a:lstStyle/>
                    <a:p>
                      <a:r>
                        <a:rPr sz="900" b="0" i="0">
                          <a:solidFill>
                            <a:srgbClr val="353B4A"/>
                          </a:solidFill>
                          <a:latin typeface="Inter"/>
                        </a:rPr>
                        <a:t>experiments/results/summary.json, detection.png</a:t>
                      </a:r>
                    </a:p>
                  </a:txBody>
                  <a:tcPr marL="73152" marR="73152" marT="36576" marB="36576" anchor="ctr">
                    <a:solidFill>
                      <a:srgbClr val="FFFFFF"/>
                    </a:solidFill>
                  </a:tcPr>
                </a:tc>
              </a:tr>
              <a:tr h="374904">
                <a:tc>
                  <a:txBody>
                    <a:bodyPr wrap="square"/>
                    <a:lstStyle/>
                    <a:p>
                      <a:r>
                        <a:rPr sz="900" b="1" i="0">
                          <a:solidFill>
                            <a:srgbClr val="1B2A55"/>
                          </a:solidFill>
                          <a:latin typeface="Inter"/>
                        </a:rPr>
                        <a:t>Database refuses bad votes (6 of 7; 13 of 13; 1 of 20)</a:t>
                      </a:r>
                    </a:p>
                  </a:txBody>
                  <a:tcPr marL="73152" marR="73152" marT="36576" marB="36576" anchor="ctr">
                    <a:solidFill>
                      <a:srgbClr val="F1F0F6"/>
                    </a:solidFill>
                  </a:tcPr>
                </a:tc>
                <a:tc>
                  <a:txBody>
                    <a:bodyPr wrap="square"/>
                    <a:lstStyle/>
                    <a:p>
                      <a:r>
                        <a:rPr sz="900" b="0" i="0">
                          <a:solidFill>
                            <a:srgbClr val="353B4A"/>
                          </a:solidFill>
                          <a:latin typeface="Inter"/>
                        </a:rPr>
                        <a:t>Direct SQL and API tests</a:t>
                      </a:r>
                    </a:p>
                  </a:txBody>
                  <a:tcPr marL="73152" marR="73152" marT="36576" marB="36576" anchor="ctr">
                    <a:solidFill>
                      <a:srgbClr val="F1F0F6"/>
                    </a:solidFill>
                  </a:tcPr>
                </a:tc>
                <a:tc>
                  <a:txBody>
                    <a:bodyPr wrap="square"/>
                    <a:lstStyle/>
                    <a:p>
                      <a:r>
                        <a:rPr sz="900" b="0" i="0">
                          <a:solidFill>
                            <a:srgbClr val="353B4A"/>
                          </a:solidFill>
                          <a:latin typeface="Inter"/>
                        </a:rPr>
                        <a:t>experiments/run_experiments.py</a:t>
                      </a:r>
                    </a:p>
                  </a:txBody>
                  <a:tcPr marL="73152" marR="73152" marT="36576" marB="36576" anchor="ctr">
                    <a:solidFill>
                      <a:srgbClr val="F1F0F6"/>
                    </a:solidFill>
                  </a:tcPr>
                </a:tc>
              </a:tr>
              <a:tr h="374904">
                <a:tc>
                  <a:txBody>
                    <a:bodyPr wrap="square"/>
                    <a:lstStyle/>
                    <a:p>
                      <a:r>
                        <a:rPr sz="900" b="1" i="0">
                          <a:solidFill>
                            <a:srgbClr val="1B2A55"/>
                          </a:solidFill>
                          <a:latin typeface="Inter"/>
                        </a:rPr>
                        <a:t>14 of 14 one-time-code tests</a:t>
                      </a:r>
                    </a:p>
                  </a:txBody>
                  <a:tcPr marL="73152" marR="73152" marT="36576" marB="36576" anchor="ctr">
                    <a:solidFill>
                      <a:srgbClr val="FFFFFF"/>
                    </a:solidFill>
                  </a:tcPr>
                </a:tc>
                <a:tc>
                  <a:txBody>
                    <a:bodyPr wrap="square"/>
                    <a:lstStyle/>
                    <a:p>
                      <a:r>
                        <a:rPr sz="900" b="0" i="0">
                          <a:solidFill>
                            <a:srgbClr val="353B4A"/>
                          </a:solidFill>
                          <a:latin typeface="Inter"/>
                        </a:rPr>
                        <a:t>Tests F1 to F14 on a throwaway copy</a:t>
                      </a:r>
                    </a:p>
                  </a:txBody>
                  <a:tcPr marL="73152" marR="73152" marT="36576" marB="36576" anchor="ctr">
                    <a:solidFill>
                      <a:srgbClr val="FFFFFF"/>
                    </a:solidFill>
                  </a:tcPr>
                </a:tc>
                <a:tc>
                  <a:txBody>
                    <a:bodyPr wrap="square"/>
                    <a:lstStyle/>
                    <a:p>
                      <a:r>
                        <a:rPr sz="900" b="0" i="0">
                          <a:solidFill>
                            <a:srgbClr val="353B4A"/>
                          </a:solidFill>
                          <a:latin typeface="Inter"/>
                        </a:rPr>
                        <a:t>experiments/run_experiments.py</a:t>
                      </a:r>
                    </a:p>
                  </a:txBody>
                  <a:tcPr marL="73152" marR="73152" marT="36576" marB="36576" anchor="ctr">
                    <a:solidFill>
                      <a:srgbClr val="FFFFFF"/>
                    </a:solidFill>
                  </a:tcPr>
                </a:tc>
              </a:tr>
              <a:tr h="374904">
                <a:tc>
                  <a:txBody>
                    <a:bodyPr wrap="square"/>
                    <a:lstStyle/>
                    <a:p>
                      <a:r>
                        <a:rPr sz="900" b="1" i="0">
                          <a:solidFill>
                            <a:srgbClr val="1B2A55"/>
                          </a:solidFill>
                          <a:latin typeface="Inter"/>
                        </a:rPr>
                        <a:t>Sweep +15% at 10,000 ballots; Atlas append flat</a:t>
                      </a:r>
                    </a:p>
                  </a:txBody>
                  <a:tcPr marL="73152" marR="73152" marT="36576" marB="36576" anchor="ctr">
                    <a:solidFill>
                      <a:srgbClr val="F1F0F6"/>
                    </a:solidFill>
                  </a:tcPr>
                </a:tc>
                <a:tc>
                  <a:txBody>
                    <a:bodyPr wrap="square"/>
                    <a:lstStyle/>
                    <a:p>
                      <a:r>
                        <a:rPr sz="900" b="0" i="0">
                          <a:solidFill>
                            <a:srgbClr val="353B4A"/>
                          </a:solidFill>
                          <a:latin typeface="Inter"/>
                        </a:rPr>
                        <a:t>Benchmarks, median of 3 runs</a:t>
                      </a:r>
                    </a:p>
                  </a:txBody>
                  <a:tcPr marL="73152" marR="73152" marT="36576" marB="36576" anchor="ctr">
                    <a:solidFill>
                      <a:srgbClr val="F1F0F6"/>
                    </a:solidFill>
                  </a:tcPr>
                </a:tc>
                <a:tc>
                  <a:txBody>
                    <a:bodyPr wrap="square"/>
                    <a:lstStyle/>
                    <a:p>
                      <a:r>
                        <a:rPr sz="900" b="0" i="0">
                          <a:solidFill>
                            <a:srgbClr val="353B4A"/>
                          </a:solidFill>
                          <a:latin typeface="Inter"/>
                        </a:rPr>
                        <a:t>bench.png, mongo_bench.json</a:t>
                      </a:r>
                    </a:p>
                  </a:txBody>
                  <a:tcPr marL="73152" marR="73152" marT="36576" marB="36576" anchor="ctr">
                    <a:solidFill>
                      <a:srgbClr val="F1F0F6"/>
                    </a:solidFill>
                  </a:tcPr>
                </a:tc>
              </a:tr>
              <a:tr h="374904">
                <a:tc>
                  <a:txBody>
                    <a:bodyPr wrap="square"/>
                    <a:lstStyle/>
                    <a:p>
                      <a:r>
                        <a:rPr sz="900" b="1" i="0">
                          <a:solidFill>
                            <a:srgbClr val="1B2A55"/>
                          </a:solidFill>
                          <a:latin typeface="Inter"/>
                        </a:rPr>
                        <a:t>Website checklist 17 / 4 / 0</a:t>
                      </a:r>
                    </a:p>
                  </a:txBody>
                  <a:tcPr marL="73152" marR="73152" marT="36576" marB="36576" anchor="ctr">
                    <a:solidFill>
                      <a:srgbClr val="FFFFFF"/>
                    </a:solidFill>
                  </a:tcPr>
                </a:tc>
                <a:tc>
                  <a:txBody>
                    <a:bodyPr wrap="square"/>
                    <a:lstStyle/>
                    <a:p>
                      <a:r>
                        <a:rPr sz="900" b="0" i="0">
                          <a:solidFill>
                            <a:srgbClr val="353B4A"/>
                          </a:solidFill>
                          <a:latin typeface="Inter"/>
                        </a:rPr>
                        <a:t>Automated check of 21 items</a:t>
                      </a:r>
                    </a:p>
                  </a:txBody>
                  <a:tcPr marL="73152" marR="73152" marT="36576" marB="36576" anchor="ctr">
                    <a:solidFill>
                      <a:srgbClr val="FFFFFF"/>
                    </a:solidFill>
                  </a:tcPr>
                </a:tc>
                <a:tc>
                  <a:txBody>
                    <a:bodyPr wrap="square"/>
                    <a:lstStyle/>
                    <a:p>
                      <a:r>
                        <a:rPr sz="900" b="0" i="0">
                          <a:solidFill>
                            <a:srgbClr val="353B4A"/>
                          </a:solidFill>
                          <a:latin typeface="Inter"/>
                        </a:rPr>
                        <a:t>experiments/web_checklist.py, web_checklist.json</a:t>
                      </a:r>
                    </a:p>
                  </a:txBody>
                  <a:tcPr marL="73152" marR="73152" marT="36576" marB="36576" anchor="ctr">
                    <a:solidFill>
                      <a:srgbClr val="FFFFFF"/>
                    </a:solidFill>
                  </a:tcPr>
                </a:tc>
              </a:tr>
              <a:tr h="374904">
                <a:tc>
                  <a:txBody>
                    <a:bodyPr wrap="square"/>
                    <a:lstStyle/>
                    <a:p>
                      <a:r>
                        <a:rPr sz="900" b="1" i="0">
                          <a:solidFill>
                            <a:srgbClr val="1B2A55"/>
                          </a:solidFill>
                          <a:latin typeface="Inter"/>
                        </a:rPr>
                        <a:t>What 33 other systems offer</a:t>
                      </a:r>
                    </a:p>
                  </a:txBody>
                  <a:tcPr marL="73152" marR="73152" marT="36576" marB="36576" anchor="ctr">
                    <a:solidFill>
                      <a:srgbClr val="F1F0F6"/>
                    </a:solidFill>
                  </a:tcPr>
                </a:tc>
                <a:tc>
                  <a:txBody>
                    <a:bodyPr wrap="square"/>
                    <a:lstStyle/>
                    <a:p>
                      <a:r>
                        <a:rPr sz="900" b="0" i="0">
                          <a:solidFill>
                            <a:srgbClr val="353B4A"/>
                          </a:solidFill>
                          <a:latin typeface="Inter"/>
                        </a:rPr>
                        <a:t>Their own pages, READMEs, papers; a URL for every cell</a:t>
                      </a:r>
                    </a:p>
                  </a:txBody>
                  <a:tcPr marL="73152" marR="73152" marT="36576" marB="36576" anchor="ctr">
                    <a:solidFill>
                      <a:srgbClr val="F1F0F6"/>
                    </a:solidFill>
                  </a:tcPr>
                </a:tc>
                <a:tc>
                  <a:txBody>
                    <a:bodyPr wrap="square"/>
                    <a:lstStyle/>
                    <a:p>
                      <a:r>
                        <a:rPr sz="900" b="0" i="0">
                          <a:solidFill>
                            <a:srgbClr val="353B4A"/>
                          </a:solidFill>
                          <a:latin typeface="Inter"/>
                        </a:rPr>
                        <a:t>docs/review3/uniqueness_evidence.md</a:t>
                      </a:r>
                    </a:p>
                  </a:txBody>
                  <a:tcPr marL="73152" marR="73152" marT="36576" marB="36576" anchor="ctr">
                    <a:solidFill>
                      <a:srgbClr val="F1F0F6"/>
                    </a:solidFill>
                  </a:tcPr>
                </a:tc>
              </a:tr>
              <a:tr h="374904">
                <a:tc>
                  <a:txBody>
                    <a:bodyPr wrap="square"/>
                    <a:lstStyle/>
                    <a:p>
                      <a:r>
                        <a:rPr sz="900" b="1" i="0">
                          <a:solidFill>
                            <a:srgbClr val="1B2A55"/>
                          </a:solidFill>
                          <a:latin typeface="Inter"/>
                        </a:rPr>
                        <a:t>Closest projects and their gaps</a:t>
                      </a:r>
                    </a:p>
                  </a:txBody>
                  <a:tcPr marL="73152" marR="73152" marT="36576" marB="36576" anchor="ctr">
                    <a:solidFill>
                      <a:srgbClr val="FFFFFF"/>
                    </a:solidFill>
                  </a:tcPr>
                </a:tc>
                <a:tc>
                  <a:txBody>
                    <a:bodyPr wrap="square"/>
                    <a:lstStyle/>
                    <a:p>
                      <a:r>
                        <a:rPr sz="900" b="0" i="0">
                          <a:solidFill>
                            <a:srgbClr val="353B4A"/>
                          </a:solidFill>
                          <a:latin typeface="Inter"/>
                        </a:rPr>
                        <a:t>FlexyVotes code and docs read directly</a:t>
                      </a:r>
                    </a:p>
                  </a:txBody>
                  <a:tcPr marL="73152" marR="73152" marT="36576" marB="36576" anchor="ctr">
                    <a:solidFill>
                      <a:srgbClr val="FFFFFF"/>
                    </a:solidFill>
                  </a:tcPr>
                </a:tc>
                <a:tc>
                  <a:txBody>
                    <a:bodyPr wrap="square"/>
                    <a:lstStyle/>
                    <a:p>
                      <a:r>
                        <a:rPr sz="900" b="0" i="0">
                          <a:solidFill>
                            <a:srgbClr val="353B4A"/>
                          </a:solidFill>
                          <a:latin typeface="Inter"/>
                        </a:rPr>
                        <a:t>docs/review3/uniqueness_evidence.md</a:t>
                      </a:r>
                    </a:p>
                  </a:txBody>
                  <a:tcPr marL="73152" marR="73152" marT="36576" marB="36576" anchor="ctr">
                    <a:solidFill>
                      <a:srgbClr val="FFFFFF"/>
                    </a:solidFill>
                  </a:tcPr>
                </a:tc>
              </a:tr>
            </a:tbl>
          </a:graphicData>
        </a:graphic>
      </p:graphicFrame>
      <p:sp>
        <p:nvSpPr>
          <p:cNvPr id="7" name="Rounded Rectangle 6"/>
          <p:cNvSpPr/>
          <p:nvPr/>
        </p:nvSpPr>
        <p:spPr>
          <a:xfrm>
            <a:off x="457200" y="4206240"/>
            <a:ext cx="8229600" cy="54864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251960"/>
            <a:ext cx="7863840" cy="457200"/>
          </a:xfrm>
          <a:prstGeom prst="rect">
            <a:avLst/>
          </a:prstGeom>
          <a:noFill/>
        </p:spPr>
        <p:txBody>
          <a:bodyPr wrap="square" anchor="t" lIns="0" rIns="0" tIns="0" bIns="0">
            <a:spAutoFit/>
          </a:bodyPr>
          <a:lstStyle/>
          <a:p>
            <a:pPr algn="l">
              <a:spcAft>
                <a:spcPts val="0"/>
              </a:spcAft>
            </a:pPr>
            <a:r>
              <a:rPr sz="1000" b="1" i="0">
                <a:solidFill>
                  <a:srgbClr val="1B2A55"/>
                </a:solidFill>
                <a:latin typeface="Inter"/>
              </a:rPr>
              <a:t>Search method: </a:t>
            </a:r>
            <a:r>
              <a:rPr sz="1000" b="0" i="0">
                <a:solidFill>
                  <a:srgbClr val="353B4A"/>
                </a:solidFill>
                <a:latin typeface="Inter"/>
              </a:rPr>
              <a:t>23 web queries, 20 GitHub repository searches, 33 systems, on 23 October 2026. </a:t>
            </a:r>
            <a:r>
              <a:rPr sz="1000" b="1" i="0">
                <a:solidFill>
                  <a:srgbClr val="1B2A55"/>
                </a:solidFill>
                <a:latin typeface="Inter"/>
              </a:rPr>
              <a:t>Not covered: </a:t>
            </a:r>
            <a:r>
              <a:rPr sz="1000" b="0" i="0">
                <a:solidFill>
                  <a:srgbClr val="353B4A"/>
                </a:solidFill>
                <a:latin typeface="Inter"/>
              </a:rPr>
              <a:t>GitHub code search, non-English and private repositories, commercial internals.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INDIA ONLY · NIRF TOP-100 HOSTS · OPEN TODAY</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India only, NIRF top-100 hosts, cheapest first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52</a:t>
            </a:r>
          </a:p>
        </p:txBody>
      </p:sp>
      <p:graphicFrame>
        <p:nvGraphicFramePr>
          <p:cNvPr id="6" name="Table 5"/>
          <p:cNvGraphicFramePr>
            <a:graphicFrameLocks noGrp="1"/>
          </p:cNvGraphicFramePr>
          <p:nvPr/>
        </p:nvGraphicFramePr>
        <p:xfrm>
          <a:off x="365760" y="987552"/>
          <a:ext cx="8412477" cy="3200400"/>
        </p:xfrm>
        <a:graphic>
          <a:graphicData uri="http://schemas.openxmlformats.org/drawingml/2006/table">
            <a:tbl>
              <a:tblPr firstRow="1" bandRow="1">
                <a:tableStyleId>{5C22544A-7EE6-4342-B048-85BDC9FD1C3A}</a:tableStyleId>
              </a:tblPr>
              <a:tblGrid>
                <a:gridCol w="268483"/>
                <a:gridCol w="1297669"/>
                <a:gridCol w="2550592"/>
                <a:gridCol w="894944"/>
                <a:gridCol w="1029186"/>
                <a:gridCol w="1029186"/>
                <a:gridCol w="1342417"/>
              </a:tblGrid>
              <a:tr h="274320">
                <a:tc>
                  <a:txBody>
                    <a:bodyPr wrap="square"/>
                    <a:lstStyle/>
                    <a:p>
                      <a:r>
                        <a:rPr sz="850" b="1" i="0">
                          <a:solidFill>
                            <a:srgbClr val="FFFFFF"/>
                          </a:solidFill>
                          <a:latin typeface="Inter"/>
                        </a:rPr>
                        <a:t>#</a:t>
                      </a:r>
                    </a:p>
                  </a:txBody>
                  <a:tcPr marL="73152" marR="73152" marT="36576" marB="36576" anchor="ctr">
                    <a:solidFill>
                      <a:srgbClr val="1B2A55"/>
                    </a:solidFill>
                  </a:tcPr>
                </a:tc>
                <a:tc>
                  <a:txBody>
                    <a:bodyPr wrap="square"/>
                    <a:lstStyle/>
                    <a:p>
                      <a:r>
                        <a:rPr sz="850" b="1" i="0">
                          <a:solidFill>
                            <a:srgbClr val="FFFFFF"/>
                          </a:solidFill>
                          <a:latin typeface="Inter"/>
                        </a:rPr>
                        <a:t>Venue</a:t>
                      </a:r>
                    </a:p>
                  </a:txBody>
                  <a:tcPr marL="73152" marR="73152" marT="36576" marB="36576" anchor="ctr">
                    <a:solidFill>
                      <a:srgbClr val="1B2A55"/>
                    </a:solidFill>
                  </a:tcPr>
                </a:tc>
                <a:tc>
                  <a:txBody>
                    <a:bodyPr wrap="square"/>
                    <a:lstStyle/>
                    <a:p>
                      <a:r>
                        <a:rPr sz="850" b="1" i="0">
                          <a:solidFill>
                            <a:srgbClr val="FFFFFF"/>
                          </a:solidFill>
                          <a:latin typeface="Inter"/>
                        </a:rPr>
                        <a:t>Host university (NIRF 2025 rank)</a:t>
                      </a:r>
                    </a:p>
                  </a:txBody>
                  <a:tcPr marL="73152" marR="73152" marT="36576" marB="36576" anchor="ctr">
                    <a:solidFill>
                      <a:srgbClr val="1B2A55"/>
                    </a:solidFill>
                  </a:tcPr>
                </a:tc>
                <a:tc>
                  <a:txBody>
                    <a:bodyPr wrap="square"/>
                    <a:lstStyle/>
                    <a:p>
                      <a:r>
                        <a:rPr sz="850" b="1" i="0">
                          <a:solidFill>
                            <a:srgbClr val="FFFFFF"/>
                          </a:solidFill>
                          <a:latin typeface="Inter"/>
                        </a:rPr>
                        <a:t>Submit by</a:t>
                      </a:r>
                    </a:p>
                  </a:txBody>
                  <a:tcPr marL="73152" marR="73152" marT="36576" marB="36576" anchor="ctr">
                    <a:solidFill>
                      <a:srgbClr val="1B2A55"/>
                    </a:solidFill>
                  </a:tcPr>
                </a:tc>
                <a:tc>
                  <a:txBody>
                    <a:bodyPr wrap="square"/>
                    <a:lstStyle/>
                    <a:p>
                      <a:r>
                        <a:rPr sz="850" b="1" i="0">
                          <a:solidFill>
                            <a:srgbClr val="FFFFFF"/>
                          </a:solidFill>
                          <a:latin typeface="Inter"/>
                        </a:rPr>
                        <a:t>Student fee, INR</a:t>
                      </a:r>
                    </a:p>
                  </a:txBody>
                  <a:tcPr marL="73152" marR="73152" marT="36576" marB="36576" anchor="ctr">
                    <a:solidFill>
                      <a:srgbClr val="1B2A55"/>
                    </a:solidFill>
                  </a:tcPr>
                </a:tc>
                <a:tc>
                  <a:txBody>
                    <a:bodyPr wrap="square"/>
                    <a:lstStyle/>
                    <a:p>
                      <a:r>
                        <a:rPr sz="850" b="1" i="0">
                          <a:solidFill>
                            <a:srgbClr val="FFFFFF"/>
                          </a:solidFill>
                          <a:latin typeface="Inter"/>
                        </a:rPr>
                        <a:t>Held</a:t>
                      </a:r>
                    </a:p>
                  </a:txBody>
                  <a:tcPr marL="73152" marR="73152" marT="36576" marB="36576" anchor="ctr">
                    <a:solidFill>
                      <a:srgbClr val="1B2A55"/>
                    </a:solidFill>
                  </a:tcPr>
                </a:tc>
                <a:tc>
                  <a:txBody>
                    <a:bodyPr wrap="square"/>
                    <a:lstStyle/>
                    <a:p>
                      <a:r>
                        <a:rPr sz="850" b="1" i="0">
                          <a:solidFill>
                            <a:srgbClr val="FFFFFF"/>
                          </a:solidFill>
                          <a:latin typeface="Inter"/>
                        </a:rPr>
                        <a:t>Indexing</a:t>
                      </a:r>
                    </a:p>
                  </a:txBody>
                  <a:tcPr marL="73152" marR="73152" marT="36576" marB="36576" anchor="ctr">
                    <a:solidFill>
                      <a:srgbClr val="1B2A55"/>
                    </a:solidFill>
                  </a:tcPr>
                </a:tc>
              </a:tr>
              <a:tr h="365760">
                <a:tc>
                  <a:txBody>
                    <a:bodyPr wrap="square"/>
                    <a:lstStyle/>
                    <a:p>
                      <a:r>
                        <a:rPr sz="800" b="1" i="0">
                          <a:solidFill>
                            <a:srgbClr val="1B2A55"/>
                          </a:solidFill>
                          <a:latin typeface="Inter"/>
                        </a:rPr>
                        <a:t>1</a:t>
                      </a:r>
                    </a:p>
                  </a:txBody>
                  <a:tcPr marL="73152" marR="73152" marT="36576" marB="36576" anchor="ctr">
                    <a:solidFill>
                      <a:srgbClr val="FFFFFF"/>
                    </a:solidFill>
                  </a:tcPr>
                </a:tc>
                <a:tc>
                  <a:txBody>
                    <a:bodyPr wrap="square"/>
                    <a:lstStyle/>
                    <a:p>
                      <a:r>
                        <a:rPr sz="800" b="0" i="0">
                          <a:solidFill>
                            <a:srgbClr val="353B4A"/>
                          </a:solidFill>
                          <a:latin typeface="Inter"/>
                        </a:rPr>
                        <a:t>SCES-2027</a:t>
                      </a:r>
                    </a:p>
                  </a:txBody>
                  <a:tcPr marL="73152" marR="73152" marT="36576" marB="36576" anchor="ctr">
                    <a:solidFill>
                      <a:srgbClr val="FFFFFF"/>
                    </a:solidFill>
                  </a:tcPr>
                </a:tc>
                <a:tc>
                  <a:txBody>
                    <a:bodyPr wrap="square"/>
                    <a:lstStyle/>
                    <a:p>
                      <a:r>
                        <a:rPr sz="800" b="0" i="0">
                          <a:solidFill>
                            <a:srgbClr val="353B4A"/>
                          </a:solidFill>
                          <a:latin typeface="Inter"/>
                        </a:rPr>
                        <a:t>MNNIT Allahabad, Prayagraj (Engineering 62)</a:t>
                      </a:r>
                    </a:p>
                  </a:txBody>
                  <a:tcPr marL="73152" marR="73152" marT="36576" marB="36576" anchor="ctr">
                    <a:solidFill>
                      <a:srgbClr val="FFFFFF"/>
                    </a:solidFill>
                  </a:tcPr>
                </a:tc>
                <a:tc>
                  <a:txBody>
                    <a:bodyPr wrap="square"/>
                    <a:lstStyle/>
                    <a:p>
                      <a:r>
                        <a:rPr sz="800" b="0" i="0">
                          <a:solidFill>
                            <a:srgbClr val="353B4A"/>
                          </a:solidFill>
                          <a:latin typeface="Inter"/>
                        </a:rPr>
                        <a:t>15 Nov 2026*</a:t>
                      </a:r>
                    </a:p>
                  </a:txBody>
                  <a:tcPr marL="73152" marR="73152" marT="36576" marB="36576" anchor="ctr">
                    <a:solidFill>
                      <a:srgbClr val="FFFFFF"/>
                    </a:solidFill>
                  </a:tcPr>
                </a:tc>
                <a:tc>
                  <a:txBody>
                    <a:bodyPr wrap="square"/>
                    <a:lstStyle/>
                    <a:p>
                      <a:r>
                        <a:rPr sz="800" b="0" i="0">
                          <a:solidFill>
                            <a:srgbClr val="353B4A"/>
                          </a:solidFill>
                          <a:latin typeface="Inter"/>
                        </a:rPr>
                        <a:t>5,900 incl. GST</a:t>
                      </a:r>
                    </a:p>
                  </a:txBody>
                  <a:tcPr marL="73152" marR="73152" marT="36576" marB="36576" anchor="ctr">
                    <a:solidFill>
                      <a:srgbClr val="FFFFFF"/>
                    </a:solidFill>
                  </a:tcPr>
                </a:tc>
                <a:tc>
                  <a:txBody>
                    <a:bodyPr wrap="square"/>
                    <a:lstStyle/>
                    <a:p>
                      <a:r>
                        <a:rPr sz="800" b="0" i="0">
                          <a:solidFill>
                            <a:srgbClr val="353B4A"/>
                          </a:solidFill>
                          <a:latin typeface="Inter"/>
                        </a:rPr>
                        <a:t>12-14 Mar 2027</a:t>
                      </a:r>
                    </a:p>
                  </a:txBody>
                  <a:tcPr marL="73152" marR="73152" marT="36576" marB="36576" anchor="ctr">
                    <a:solidFill>
                      <a:srgbClr val="FFFFFF"/>
                    </a:solidFill>
                  </a:tcPr>
                </a:tc>
                <a:tc>
                  <a:txBody>
                    <a:bodyPr wrap="square"/>
                    <a:lstStyle/>
                    <a:p>
                      <a:r>
                        <a:rPr sz="800" b="0" i="0">
                          <a:solidFill>
                            <a:srgbClr val="353B4A"/>
                          </a:solidFill>
                          <a:latin typeface="Inter"/>
                        </a:rPr>
                        <a:t>Claimed</a:t>
                      </a:r>
                    </a:p>
                  </a:txBody>
                  <a:tcPr marL="73152" marR="73152" marT="36576" marB="36576" anchor="ctr">
                    <a:solidFill>
                      <a:srgbClr val="FFFFFF"/>
                    </a:solidFill>
                  </a:tcPr>
                </a:tc>
              </a:tr>
              <a:tr h="365760">
                <a:tc>
                  <a:txBody>
                    <a:bodyPr wrap="square"/>
                    <a:lstStyle/>
                    <a:p>
                      <a:r>
                        <a:rPr sz="800" b="1" i="0">
                          <a:solidFill>
                            <a:srgbClr val="1B2A55"/>
                          </a:solidFill>
                          <a:latin typeface="Inter"/>
                        </a:rPr>
                        <a:t>2</a:t>
                      </a:r>
                    </a:p>
                  </a:txBody>
                  <a:tcPr marL="73152" marR="73152" marT="36576" marB="36576" anchor="ctr">
                    <a:solidFill>
                      <a:srgbClr val="F1F0F6"/>
                    </a:solidFill>
                  </a:tcPr>
                </a:tc>
                <a:tc>
                  <a:txBody>
                    <a:bodyPr wrap="square"/>
                    <a:lstStyle/>
                    <a:p>
                      <a:r>
                        <a:rPr sz="800" b="0" i="0">
                          <a:solidFill>
                            <a:srgbClr val="353B4A"/>
                          </a:solidFill>
                          <a:latin typeface="Inter"/>
                        </a:rPr>
                        <a:t>IEEE COEP CON 2027</a:t>
                      </a:r>
                    </a:p>
                  </a:txBody>
                  <a:tcPr marL="73152" marR="73152" marT="36576" marB="36576" anchor="ctr">
                    <a:solidFill>
                      <a:srgbClr val="F1F0F6"/>
                    </a:solidFill>
                  </a:tcPr>
                </a:tc>
                <a:tc>
                  <a:txBody>
                    <a:bodyPr wrap="square"/>
                    <a:lstStyle/>
                    <a:p>
                      <a:r>
                        <a:rPr sz="800" b="0" i="0">
                          <a:solidFill>
                            <a:srgbClr val="353B4A"/>
                          </a:solidFill>
                          <a:latin typeface="Inter"/>
                        </a:rPr>
                        <a:t>COEP Technological Univ., Pune (Engineering 90)</a:t>
                      </a:r>
                    </a:p>
                  </a:txBody>
                  <a:tcPr marL="73152" marR="73152" marT="36576" marB="36576" anchor="ctr">
                    <a:solidFill>
                      <a:srgbClr val="F1F0F6"/>
                    </a:solidFill>
                  </a:tcPr>
                </a:tc>
                <a:tc>
                  <a:txBody>
                    <a:bodyPr wrap="square"/>
                    <a:lstStyle/>
                    <a:p>
                      <a:r>
                        <a:rPr sz="800" b="0" i="0">
                          <a:solidFill>
                            <a:srgbClr val="353B4A"/>
                          </a:solidFill>
                          <a:latin typeface="Inter"/>
                        </a:rPr>
                        <a:t>31 Mar 2027</a:t>
                      </a:r>
                    </a:p>
                  </a:txBody>
                  <a:tcPr marL="73152" marR="73152" marT="36576" marB="36576" anchor="ctr">
                    <a:solidFill>
                      <a:srgbClr val="F1F0F6"/>
                    </a:solidFill>
                  </a:tcPr>
                </a:tc>
                <a:tc>
                  <a:txBody>
                    <a:bodyPr wrap="square"/>
                    <a:lstStyle/>
                    <a:p>
                      <a:r>
                        <a:rPr sz="800" b="0" i="0">
                          <a:solidFill>
                            <a:srgbClr val="353B4A"/>
                          </a:solidFill>
                          <a:latin typeface="Inter"/>
                        </a:rPr>
                        <a:t>6,000†</a:t>
                      </a:r>
                    </a:p>
                  </a:txBody>
                  <a:tcPr marL="73152" marR="73152" marT="36576" marB="36576" anchor="ctr">
                    <a:solidFill>
                      <a:srgbClr val="F1F0F6"/>
                    </a:solidFill>
                  </a:tcPr>
                </a:tc>
                <a:tc>
                  <a:txBody>
                    <a:bodyPr wrap="square"/>
                    <a:lstStyle/>
                    <a:p>
                      <a:r>
                        <a:rPr sz="800" b="0" i="0">
                          <a:solidFill>
                            <a:srgbClr val="353B4A"/>
                          </a:solidFill>
                          <a:latin typeface="Inter"/>
                        </a:rPr>
                        <a:t>4-6 Jun 2027</a:t>
                      </a:r>
                    </a:p>
                  </a:txBody>
                  <a:tcPr marL="73152" marR="73152" marT="36576" marB="36576" anchor="ctr">
                    <a:solidFill>
                      <a:srgbClr val="F1F0F6"/>
                    </a:solidFill>
                  </a:tcPr>
                </a:tc>
                <a:tc>
                  <a:txBody>
                    <a:bodyPr wrap="square"/>
                    <a:lstStyle/>
                    <a:p>
                      <a:r>
                        <a:rPr sz="800" b="0" i="0">
                          <a:solidFill>
                            <a:srgbClr val="353B4A"/>
                          </a:solidFill>
                          <a:latin typeface="Inter"/>
                        </a:rPr>
                        <a:t>Claimed</a:t>
                      </a:r>
                    </a:p>
                  </a:txBody>
                  <a:tcPr marL="73152" marR="73152" marT="36576" marB="36576" anchor="ctr">
                    <a:solidFill>
                      <a:srgbClr val="F1F0F6"/>
                    </a:solidFill>
                  </a:tcPr>
                </a:tc>
              </a:tr>
              <a:tr h="365760">
                <a:tc>
                  <a:txBody>
                    <a:bodyPr wrap="square"/>
                    <a:lstStyle/>
                    <a:p>
                      <a:r>
                        <a:rPr sz="800" b="1" i="0">
                          <a:solidFill>
                            <a:srgbClr val="1B2A55"/>
                          </a:solidFill>
                          <a:latin typeface="Inter"/>
                        </a:rPr>
                        <a:t>3</a:t>
                      </a:r>
                    </a:p>
                  </a:txBody>
                  <a:tcPr marL="73152" marR="73152" marT="36576" marB="36576" anchor="ctr">
                    <a:solidFill>
                      <a:srgbClr val="FFFFFF"/>
                    </a:solidFill>
                  </a:tcPr>
                </a:tc>
                <a:tc>
                  <a:txBody>
                    <a:bodyPr wrap="square"/>
                    <a:lstStyle/>
                    <a:p>
                      <a:r>
                        <a:rPr sz="800" b="0" i="0">
                          <a:solidFill>
                            <a:srgbClr val="353B4A"/>
                          </a:solidFill>
                          <a:latin typeface="Inter"/>
                        </a:rPr>
                        <a:t>IEEE SANKALP 2027</a:t>
                      </a:r>
                    </a:p>
                  </a:txBody>
                  <a:tcPr marL="73152" marR="73152" marT="36576" marB="36576" anchor="ctr">
                    <a:solidFill>
                      <a:srgbClr val="FFFFFF"/>
                    </a:solidFill>
                  </a:tcPr>
                </a:tc>
                <a:tc>
                  <a:txBody>
                    <a:bodyPr wrap="square"/>
                    <a:lstStyle/>
                    <a:p>
                      <a:r>
                        <a:rPr sz="800" b="0" i="0">
                          <a:solidFill>
                            <a:srgbClr val="353B4A"/>
                          </a:solidFill>
                          <a:latin typeface="Inter"/>
                        </a:rPr>
                        <a:t>ABV-IIITM, Gwalior (Engineering 96)</a:t>
                      </a:r>
                    </a:p>
                  </a:txBody>
                  <a:tcPr marL="73152" marR="73152" marT="36576" marB="36576" anchor="ctr">
                    <a:solidFill>
                      <a:srgbClr val="FFFFFF"/>
                    </a:solidFill>
                  </a:tcPr>
                </a:tc>
                <a:tc>
                  <a:txBody>
                    <a:bodyPr wrap="square"/>
                    <a:lstStyle/>
                    <a:p>
                      <a:r>
                        <a:rPr sz="800" b="0" i="0">
                          <a:solidFill>
                            <a:srgbClr val="353B4A"/>
                          </a:solidFill>
                          <a:latin typeface="Inter"/>
                        </a:rPr>
                        <a:t>30 Nov 2026</a:t>
                      </a:r>
                    </a:p>
                  </a:txBody>
                  <a:tcPr marL="73152" marR="73152" marT="36576" marB="36576" anchor="ctr">
                    <a:solidFill>
                      <a:srgbClr val="FFFFFF"/>
                    </a:solidFill>
                  </a:tcPr>
                </a:tc>
                <a:tc>
                  <a:txBody>
                    <a:bodyPr wrap="square"/>
                    <a:lstStyle/>
                    <a:p>
                      <a:r>
                        <a:rPr sz="800" b="0" i="0">
                          <a:solidFill>
                            <a:srgbClr val="353B4A"/>
                          </a:solidFill>
                          <a:latin typeface="Inter"/>
                        </a:rPr>
                        <a:t>7,000</a:t>
                      </a:r>
                    </a:p>
                  </a:txBody>
                  <a:tcPr marL="73152" marR="73152" marT="36576" marB="36576" anchor="ctr">
                    <a:solidFill>
                      <a:srgbClr val="FFFFFF"/>
                    </a:solidFill>
                  </a:tcPr>
                </a:tc>
                <a:tc>
                  <a:txBody>
                    <a:bodyPr wrap="square"/>
                    <a:lstStyle/>
                    <a:p>
                      <a:r>
                        <a:rPr sz="800" b="0" i="0">
                          <a:solidFill>
                            <a:srgbClr val="353B4A"/>
                          </a:solidFill>
                          <a:latin typeface="Inter"/>
                        </a:rPr>
                        <a:t>9-11 Apr 2027</a:t>
                      </a:r>
                    </a:p>
                  </a:txBody>
                  <a:tcPr marL="73152" marR="73152" marT="36576" marB="36576" anchor="ctr">
                    <a:solidFill>
                      <a:srgbClr val="FFFFFF"/>
                    </a:solidFill>
                  </a:tcPr>
                </a:tc>
                <a:tc>
                  <a:txBody>
                    <a:bodyPr wrap="square"/>
                    <a:lstStyle/>
                    <a:p>
                      <a:r>
                        <a:rPr sz="800" b="0" i="0">
                          <a:solidFill>
                            <a:srgbClr val="353B4A"/>
                          </a:solidFill>
                          <a:latin typeface="Inter"/>
                        </a:rPr>
                        <a:t>IEEE record #73342 shown</a:t>
                      </a:r>
                    </a:p>
                  </a:txBody>
                  <a:tcPr marL="73152" marR="73152" marT="36576" marB="36576" anchor="ctr">
                    <a:solidFill>
                      <a:srgbClr val="FFFFFF"/>
                    </a:solidFill>
                  </a:tcPr>
                </a:tc>
              </a:tr>
              <a:tr h="365760">
                <a:tc>
                  <a:txBody>
                    <a:bodyPr wrap="square"/>
                    <a:lstStyle/>
                    <a:p>
                      <a:r>
                        <a:rPr sz="800" b="1" i="0">
                          <a:solidFill>
                            <a:srgbClr val="1B2A55"/>
                          </a:solidFill>
                          <a:latin typeface="Inter"/>
                        </a:rPr>
                        <a:t>4</a:t>
                      </a:r>
                    </a:p>
                  </a:txBody>
                  <a:tcPr marL="73152" marR="73152" marT="36576" marB="36576" anchor="ctr">
                    <a:solidFill>
                      <a:srgbClr val="F1F0F6"/>
                    </a:solidFill>
                  </a:tcPr>
                </a:tc>
                <a:tc>
                  <a:txBody>
                    <a:bodyPr wrap="square"/>
                    <a:lstStyle/>
                    <a:p>
                      <a:r>
                        <a:rPr sz="800" b="0" i="0">
                          <a:solidFill>
                            <a:srgbClr val="353B4A"/>
                          </a:solidFill>
                          <a:latin typeface="Inter"/>
                        </a:rPr>
                        <a:t>ICESICSC-2027</a:t>
                      </a:r>
                    </a:p>
                  </a:txBody>
                  <a:tcPr marL="73152" marR="73152" marT="36576" marB="36576" anchor="ctr">
                    <a:solidFill>
                      <a:srgbClr val="F1F0F6"/>
                    </a:solidFill>
                  </a:tcPr>
                </a:tc>
                <a:tc>
                  <a:txBody>
                    <a:bodyPr wrap="square"/>
                    <a:lstStyle/>
                    <a:p>
                      <a:r>
                        <a:rPr sz="800" b="0" i="0">
                          <a:solidFill>
                            <a:srgbClr val="353B4A"/>
                          </a:solidFill>
                          <a:latin typeface="Inter"/>
                        </a:rPr>
                        <a:t>KIIT, Bhubaneswar (Overall 27)</a:t>
                      </a:r>
                    </a:p>
                  </a:txBody>
                  <a:tcPr marL="73152" marR="73152" marT="36576" marB="36576" anchor="ctr">
                    <a:solidFill>
                      <a:srgbClr val="F1F0F6"/>
                    </a:solidFill>
                  </a:tcPr>
                </a:tc>
                <a:tc>
                  <a:txBody>
                    <a:bodyPr wrap="square"/>
                    <a:lstStyle/>
                    <a:p>
                      <a:r>
                        <a:rPr sz="800" b="0" i="0">
                          <a:solidFill>
                            <a:srgbClr val="353B4A"/>
                          </a:solidFill>
                          <a:latin typeface="Inter"/>
                        </a:rPr>
                        <a:t>30 Oct 2026</a:t>
                      </a:r>
                    </a:p>
                  </a:txBody>
                  <a:tcPr marL="73152" marR="73152" marT="36576" marB="36576" anchor="ctr">
                    <a:solidFill>
                      <a:srgbClr val="F1F0F6"/>
                    </a:solidFill>
                  </a:tcPr>
                </a:tc>
                <a:tc>
                  <a:txBody>
                    <a:bodyPr wrap="square"/>
                    <a:lstStyle/>
                    <a:p>
                      <a:r>
                        <a:rPr sz="800" b="0" i="0">
                          <a:solidFill>
                            <a:srgbClr val="353B4A"/>
                          </a:solidFill>
                          <a:latin typeface="Inter"/>
                        </a:rPr>
                        <a:t>9,000</a:t>
                      </a:r>
                    </a:p>
                  </a:txBody>
                  <a:tcPr marL="73152" marR="73152" marT="36576" marB="36576" anchor="ctr">
                    <a:solidFill>
                      <a:srgbClr val="F1F0F6"/>
                    </a:solidFill>
                  </a:tcPr>
                </a:tc>
                <a:tc>
                  <a:txBody>
                    <a:bodyPr wrap="square"/>
                    <a:lstStyle/>
                    <a:p>
                      <a:r>
                        <a:rPr sz="800" b="0" i="0">
                          <a:solidFill>
                            <a:srgbClr val="353B4A"/>
                          </a:solidFill>
                          <a:latin typeface="Inter"/>
                        </a:rPr>
                        <a:t>20-21 Feb 2027</a:t>
                      </a:r>
                    </a:p>
                  </a:txBody>
                  <a:tcPr marL="73152" marR="73152" marT="36576" marB="36576" anchor="ctr">
                    <a:solidFill>
                      <a:srgbClr val="F1F0F6"/>
                    </a:solidFill>
                  </a:tcPr>
                </a:tc>
                <a:tc>
                  <a:txBody>
                    <a:bodyPr wrap="square"/>
                    <a:lstStyle/>
                    <a:p>
                      <a:r>
                        <a:rPr sz="800" b="0" i="0">
                          <a:solidFill>
                            <a:srgbClr val="353B4A"/>
                          </a:solidFill>
                          <a:latin typeface="Inter"/>
                        </a:rPr>
                        <a:t>Claimed</a:t>
                      </a:r>
                    </a:p>
                  </a:txBody>
                  <a:tcPr marL="73152" marR="73152" marT="36576" marB="36576" anchor="ctr">
                    <a:solidFill>
                      <a:srgbClr val="F1F0F6"/>
                    </a:solidFill>
                  </a:tcPr>
                </a:tc>
              </a:tr>
              <a:tr h="365760">
                <a:tc>
                  <a:txBody>
                    <a:bodyPr wrap="square"/>
                    <a:lstStyle/>
                    <a:p>
                      <a:r>
                        <a:rPr sz="800" b="1" i="0">
                          <a:solidFill>
                            <a:srgbClr val="1B2A55"/>
                          </a:solidFill>
                          <a:latin typeface="Inter"/>
                        </a:rPr>
                        <a:t>5</a:t>
                      </a:r>
                    </a:p>
                  </a:txBody>
                  <a:tcPr marL="73152" marR="73152" marT="36576" marB="36576" anchor="ctr">
                    <a:solidFill>
                      <a:srgbClr val="FFFFFF"/>
                    </a:solidFill>
                  </a:tcPr>
                </a:tc>
                <a:tc>
                  <a:txBody>
                    <a:bodyPr wrap="square"/>
                    <a:lstStyle/>
                    <a:p>
                      <a:r>
                        <a:rPr sz="800" b="0" i="0">
                          <a:solidFill>
                            <a:srgbClr val="353B4A"/>
                          </a:solidFill>
                          <a:latin typeface="Inter"/>
                        </a:rPr>
                        <a:t>Confluence 2027</a:t>
                      </a:r>
                    </a:p>
                  </a:txBody>
                  <a:tcPr marL="73152" marR="73152" marT="36576" marB="36576" anchor="ctr">
                    <a:solidFill>
                      <a:srgbClr val="FFFFFF"/>
                    </a:solidFill>
                  </a:tcPr>
                </a:tc>
                <a:tc>
                  <a:txBody>
                    <a:bodyPr wrap="square"/>
                    <a:lstStyle/>
                    <a:p>
                      <a:r>
                        <a:rPr sz="800" b="0" i="0">
                          <a:solidFill>
                            <a:srgbClr val="353B4A"/>
                          </a:solidFill>
                          <a:latin typeface="Inter"/>
                        </a:rPr>
                        <a:t>Amity University, Noida (Overall 37)</a:t>
                      </a:r>
                    </a:p>
                  </a:txBody>
                  <a:tcPr marL="73152" marR="73152" marT="36576" marB="36576" anchor="ctr">
                    <a:solidFill>
                      <a:srgbClr val="FFFFFF"/>
                    </a:solidFill>
                  </a:tcPr>
                </a:tc>
                <a:tc>
                  <a:txBody>
                    <a:bodyPr wrap="square"/>
                    <a:lstStyle/>
                    <a:p>
                      <a:r>
                        <a:rPr sz="800" b="0" i="0">
                          <a:solidFill>
                            <a:srgbClr val="353B4A"/>
                          </a:solidFill>
                          <a:latin typeface="Inter"/>
                        </a:rPr>
                        <a:t>4 Dec 2026</a:t>
                      </a:r>
                    </a:p>
                  </a:txBody>
                  <a:tcPr marL="73152" marR="73152" marT="36576" marB="36576" anchor="ctr">
                    <a:solidFill>
                      <a:srgbClr val="FFFFFF"/>
                    </a:solidFill>
                  </a:tcPr>
                </a:tc>
                <a:tc>
                  <a:txBody>
                    <a:bodyPr wrap="square"/>
                    <a:lstStyle/>
                    <a:p>
                      <a:r>
                        <a:rPr sz="800" b="0" i="0">
                          <a:solidFill>
                            <a:srgbClr val="353B4A"/>
                          </a:solidFill>
                          <a:latin typeface="Inter"/>
                        </a:rPr>
                        <a:t>9,440 incl. GST</a:t>
                      </a:r>
                    </a:p>
                  </a:txBody>
                  <a:tcPr marL="73152" marR="73152" marT="36576" marB="36576" anchor="ctr">
                    <a:solidFill>
                      <a:srgbClr val="FFFFFF"/>
                    </a:solidFill>
                  </a:tcPr>
                </a:tc>
                <a:tc>
                  <a:txBody>
                    <a:bodyPr wrap="square"/>
                    <a:lstStyle/>
                    <a:p>
                      <a:r>
                        <a:rPr sz="800" b="0" i="0">
                          <a:solidFill>
                            <a:srgbClr val="353B4A"/>
                          </a:solidFill>
                          <a:latin typeface="Inter"/>
                        </a:rPr>
                        <a:t>21-22 Jan 2027</a:t>
                      </a:r>
                    </a:p>
                  </a:txBody>
                  <a:tcPr marL="73152" marR="73152" marT="36576" marB="36576" anchor="ctr">
                    <a:solidFill>
                      <a:srgbClr val="FFFFFF"/>
                    </a:solidFill>
                  </a:tcPr>
                </a:tc>
                <a:tc>
                  <a:txBody>
                    <a:bodyPr wrap="square"/>
                    <a:lstStyle/>
                    <a:p>
                      <a:r>
                        <a:rPr sz="800" b="0" i="0">
                          <a:solidFill>
                            <a:srgbClr val="353B4A"/>
                          </a:solidFill>
                          <a:latin typeface="Inter"/>
                        </a:rPr>
                        <a:t>IEEE record #71526 shown</a:t>
                      </a:r>
                    </a:p>
                  </a:txBody>
                  <a:tcPr marL="73152" marR="73152" marT="36576" marB="36576" anchor="ctr">
                    <a:solidFill>
                      <a:srgbClr val="FFFFFF"/>
                    </a:solidFill>
                  </a:tcPr>
                </a:tc>
              </a:tr>
              <a:tr h="365760">
                <a:tc>
                  <a:txBody>
                    <a:bodyPr wrap="square"/>
                    <a:lstStyle/>
                    <a:p>
                      <a:r>
                        <a:rPr sz="800" b="1" i="0">
                          <a:solidFill>
                            <a:srgbClr val="1B2A55"/>
                          </a:solidFill>
                          <a:latin typeface="Inter"/>
                        </a:rPr>
                        <a:t>6</a:t>
                      </a:r>
                    </a:p>
                  </a:txBody>
                  <a:tcPr marL="73152" marR="73152" marT="36576" marB="36576" anchor="ctr">
                    <a:solidFill>
                      <a:srgbClr val="F1F0F6"/>
                    </a:solidFill>
                  </a:tcPr>
                </a:tc>
                <a:tc>
                  <a:txBody>
                    <a:bodyPr wrap="square"/>
                    <a:lstStyle/>
                    <a:p>
                      <a:r>
                        <a:rPr sz="800" b="0" i="0">
                          <a:solidFill>
                            <a:srgbClr val="353B4A"/>
                          </a:solidFill>
                          <a:latin typeface="Inter"/>
                        </a:rPr>
                        <a:t>INDIACom-2027</a:t>
                      </a:r>
                    </a:p>
                  </a:txBody>
                  <a:tcPr marL="73152" marR="73152" marT="36576" marB="36576" anchor="ctr">
                    <a:solidFill>
                      <a:srgbClr val="F1F0F6"/>
                    </a:solidFill>
                  </a:tcPr>
                </a:tc>
                <a:tc>
                  <a:txBody>
                    <a:bodyPr wrap="square"/>
                    <a:lstStyle/>
                    <a:p>
                      <a:r>
                        <a:rPr sz="800" b="0" i="0">
                          <a:solidFill>
                            <a:srgbClr val="353B4A"/>
                          </a:solidFill>
                          <a:latin typeface="Inter"/>
                        </a:rPr>
                        <a:t>BVICAM, Bharati Vidyapeeth, New Delhi (parent only, University 59)</a:t>
                      </a:r>
                    </a:p>
                  </a:txBody>
                  <a:tcPr marL="73152" marR="73152" marT="36576" marB="36576" anchor="ctr">
                    <a:solidFill>
                      <a:srgbClr val="F1F0F6"/>
                    </a:solidFill>
                  </a:tcPr>
                </a:tc>
                <a:tc>
                  <a:txBody>
                    <a:bodyPr wrap="square"/>
                    <a:lstStyle/>
                    <a:p>
                      <a:r>
                        <a:rPr sz="800" b="0" i="0">
                          <a:solidFill>
                            <a:srgbClr val="353B4A"/>
                          </a:solidFill>
                          <a:latin typeface="Inter"/>
                        </a:rPr>
                        <a:t>7 Dec 2026</a:t>
                      </a:r>
                    </a:p>
                  </a:txBody>
                  <a:tcPr marL="73152" marR="73152" marT="36576" marB="36576" anchor="ctr">
                    <a:solidFill>
                      <a:srgbClr val="F1F0F6"/>
                    </a:solidFill>
                  </a:tcPr>
                </a:tc>
                <a:tc>
                  <a:txBody>
                    <a:bodyPr wrap="square"/>
                    <a:lstStyle/>
                    <a:p>
                      <a:r>
                        <a:rPr sz="800" b="0" i="0">
                          <a:solidFill>
                            <a:srgbClr val="353B4A"/>
                          </a:solidFill>
                          <a:latin typeface="Inter"/>
                        </a:rPr>
                        <a:t>9,440 incl. GST</a:t>
                      </a:r>
                    </a:p>
                  </a:txBody>
                  <a:tcPr marL="73152" marR="73152" marT="36576" marB="36576" anchor="ctr">
                    <a:solidFill>
                      <a:srgbClr val="F1F0F6"/>
                    </a:solidFill>
                  </a:tcPr>
                </a:tc>
                <a:tc>
                  <a:txBody>
                    <a:bodyPr wrap="square"/>
                    <a:lstStyle/>
                    <a:p>
                      <a:r>
                        <a:rPr sz="800" b="0" i="0">
                          <a:solidFill>
                            <a:srgbClr val="353B4A"/>
                          </a:solidFill>
                          <a:latin typeface="Inter"/>
                        </a:rPr>
                        <a:t>7-9 Apr 2027</a:t>
                      </a:r>
                    </a:p>
                  </a:txBody>
                  <a:tcPr marL="73152" marR="73152" marT="36576" marB="36576" anchor="ctr">
                    <a:solidFill>
                      <a:srgbClr val="F1F0F6"/>
                    </a:solidFill>
                  </a:tcPr>
                </a:tc>
                <a:tc>
                  <a:txBody>
                    <a:bodyPr wrap="square"/>
                    <a:lstStyle/>
                    <a:p>
                      <a:r>
                        <a:rPr sz="800" b="0" i="0">
                          <a:solidFill>
                            <a:srgbClr val="353B4A"/>
                          </a:solidFill>
                          <a:latin typeface="Inter"/>
                        </a:rPr>
                        <a:t>Claimed</a:t>
                      </a:r>
                    </a:p>
                  </a:txBody>
                  <a:tcPr marL="73152" marR="73152" marT="36576" marB="36576" anchor="ctr">
                    <a:solidFill>
                      <a:srgbClr val="F1F0F6"/>
                    </a:solidFill>
                  </a:tcPr>
                </a:tc>
              </a:tr>
              <a:tr h="365760">
                <a:tc>
                  <a:txBody>
                    <a:bodyPr wrap="square"/>
                    <a:lstStyle/>
                    <a:p>
                      <a:r>
                        <a:rPr sz="800" b="1" i="0">
                          <a:solidFill>
                            <a:srgbClr val="1B2A55"/>
                          </a:solidFill>
                          <a:latin typeface="Inter"/>
                        </a:rPr>
                        <a:t>7</a:t>
                      </a:r>
                    </a:p>
                  </a:txBody>
                  <a:tcPr marL="73152" marR="73152" marT="36576" marB="36576" anchor="ctr">
                    <a:solidFill>
                      <a:srgbClr val="FFFFFF"/>
                    </a:solidFill>
                  </a:tcPr>
                </a:tc>
                <a:tc>
                  <a:txBody>
                    <a:bodyPr wrap="square"/>
                    <a:lstStyle/>
                    <a:p>
                      <a:r>
                        <a:rPr sz="800" b="0" i="0">
                          <a:solidFill>
                            <a:srgbClr val="353B4A"/>
                          </a:solidFill>
                          <a:latin typeface="Inter"/>
                        </a:rPr>
                        <a:t>i-PACT 2027</a:t>
                      </a:r>
                    </a:p>
                  </a:txBody>
                  <a:tcPr marL="73152" marR="73152" marT="36576" marB="36576" anchor="ctr">
                    <a:solidFill>
                      <a:srgbClr val="FFFFFF"/>
                    </a:solidFill>
                  </a:tcPr>
                </a:tc>
                <a:tc>
                  <a:txBody>
                    <a:bodyPr wrap="square"/>
                    <a:lstStyle/>
                    <a:p>
                      <a:r>
                        <a:rPr sz="800" b="0" i="0">
                          <a:solidFill>
                            <a:srgbClr val="353B4A"/>
                          </a:solidFill>
                          <a:latin typeface="Inter"/>
                        </a:rPr>
                        <a:t>VIT, Vellore (Overall 21)</a:t>
                      </a:r>
                    </a:p>
                  </a:txBody>
                  <a:tcPr marL="73152" marR="73152" marT="36576" marB="36576" anchor="ctr">
                    <a:solidFill>
                      <a:srgbClr val="FFFFFF"/>
                    </a:solidFill>
                  </a:tcPr>
                </a:tc>
                <a:tc>
                  <a:txBody>
                    <a:bodyPr wrap="square"/>
                    <a:lstStyle/>
                    <a:p>
                      <a:r>
                        <a:rPr sz="800" b="0" i="0">
                          <a:solidFill>
                            <a:srgbClr val="353B4A"/>
                          </a:solidFill>
                          <a:latin typeface="Inter"/>
                        </a:rPr>
                        <a:t>31 May 2027</a:t>
                      </a:r>
                    </a:p>
                  </a:txBody>
                  <a:tcPr marL="73152" marR="73152" marT="36576" marB="36576" anchor="ctr">
                    <a:solidFill>
                      <a:srgbClr val="FFFFFF"/>
                    </a:solidFill>
                  </a:tcPr>
                </a:tc>
                <a:tc>
                  <a:txBody>
                    <a:bodyPr wrap="square"/>
                    <a:lstStyle/>
                    <a:p>
                      <a:r>
                        <a:rPr sz="800" b="0" i="0">
                          <a:solidFill>
                            <a:srgbClr val="353B4A"/>
                          </a:solidFill>
                          <a:latin typeface="Inter"/>
                        </a:rPr>
                        <a:t>12,000</a:t>
                      </a:r>
                    </a:p>
                  </a:txBody>
                  <a:tcPr marL="73152" marR="73152" marT="36576" marB="36576" anchor="ctr">
                    <a:solidFill>
                      <a:srgbClr val="FFFFFF"/>
                    </a:solidFill>
                  </a:tcPr>
                </a:tc>
                <a:tc>
                  <a:txBody>
                    <a:bodyPr wrap="square"/>
                    <a:lstStyle/>
                    <a:p>
                      <a:r>
                        <a:rPr sz="800" b="0" i="0">
                          <a:solidFill>
                            <a:srgbClr val="353B4A"/>
                          </a:solidFill>
                          <a:latin typeface="Inter"/>
                        </a:rPr>
                        <a:t>2-3 Sep 2027</a:t>
                      </a:r>
                    </a:p>
                  </a:txBody>
                  <a:tcPr marL="73152" marR="73152" marT="36576" marB="36576" anchor="ctr">
                    <a:solidFill>
                      <a:srgbClr val="FFFFFF"/>
                    </a:solidFill>
                  </a:tcPr>
                </a:tc>
                <a:tc>
                  <a:txBody>
                    <a:bodyPr wrap="square"/>
                    <a:lstStyle/>
                    <a:p>
                      <a:r>
                        <a:rPr sz="800" b="0" i="0">
                          <a:solidFill>
                            <a:srgbClr val="353B4A"/>
                          </a:solidFill>
                          <a:latin typeface="Inter"/>
                        </a:rPr>
                        <a:t>Claimed</a:t>
                      </a:r>
                    </a:p>
                  </a:txBody>
                  <a:tcPr marL="73152" marR="73152" marT="36576" marB="36576" anchor="ctr">
                    <a:solidFill>
                      <a:srgbClr val="FFFFFF"/>
                    </a:solidFill>
                  </a:tcPr>
                </a:tc>
              </a:tr>
              <a:tr h="365760">
                <a:tc>
                  <a:txBody>
                    <a:bodyPr wrap="square"/>
                    <a:lstStyle/>
                    <a:p>
                      <a:r>
                        <a:rPr sz="800" b="1" i="0">
                          <a:solidFill>
                            <a:srgbClr val="1B2A55"/>
                          </a:solidFill>
                          <a:latin typeface="Inter"/>
                        </a:rPr>
                        <a:t>8</a:t>
                      </a:r>
                    </a:p>
                  </a:txBody>
                  <a:tcPr marL="73152" marR="73152" marT="36576" marB="36576" anchor="ctr">
                    <a:solidFill>
                      <a:srgbClr val="F1F0F6"/>
                    </a:solidFill>
                  </a:tcPr>
                </a:tc>
                <a:tc>
                  <a:txBody>
                    <a:bodyPr wrap="square"/>
                    <a:lstStyle/>
                    <a:p>
                      <a:r>
                        <a:rPr sz="800" b="0" i="0">
                          <a:solidFill>
                            <a:srgbClr val="353B4A"/>
                          </a:solidFill>
                          <a:latin typeface="Inter"/>
                        </a:rPr>
                        <a:t>ICICC-2027</a:t>
                      </a:r>
                    </a:p>
                  </a:txBody>
                  <a:tcPr marL="73152" marR="73152" marT="36576" marB="36576" anchor="ctr">
                    <a:solidFill>
                      <a:srgbClr val="F1F0F6"/>
                    </a:solidFill>
                  </a:tcPr>
                </a:tc>
                <a:tc>
                  <a:txBody>
                    <a:bodyPr wrap="square"/>
                    <a:lstStyle/>
                    <a:p>
                      <a:r>
                        <a:rPr sz="800" b="0" i="0">
                          <a:solidFill>
                            <a:srgbClr val="353B4A"/>
                          </a:solidFill>
                          <a:latin typeface="Inter"/>
                        </a:rPr>
                        <a:t>Shaheed Sukhdev College, Univ. of Delhi (parent only, Overall 15)</a:t>
                      </a:r>
                    </a:p>
                  </a:txBody>
                  <a:tcPr marL="73152" marR="73152" marT="36576" marB="36576" anchor="ctr">
                    <a:solidFill>
                      <a:srgbClr val="F1F0F6"/>
                    </a:solidFill>
                  </a:tcPr>
                </a:tc>
                <a:tc>
                  <a:txBody>
                    <a:bodyPr wrap="square"/>
                    <a:lstStyle/>
                    <a:p>
                      <a:r>
                        <a:rPr sz="800" b="0" i="0">
                          <a:solidFill>
                            <a:srgbClr val="353B4A"/>
                          </a:solidFill>
                          <a:latin typeface="Inter"/>
                        </a:rPr>
                        <a:t>30 Oct 2026</a:t>
                      </a:r>
                    </a:p>
                  </a:txBody>
                  <a:tcPr marL="73152" marR="73152" marT="36576" marB="36576" anchor="ctr">
                    <a:solidFill>
                      <a:srgbClr val="F1F0F6"/>
                    </a:solidFill>
                  </a:tcPr>
                </a:tc>
                <a:tc>
                  <a:txBody>
                    <a:bodyPr wrap="square"/>
                    <a:lstStyle/>
                    <a:p>
                      <a:r>
                        <a:rPr sz="800" b="0" i="0">
                          <a:solidFill>
                            <a:srgbClr val="353B4A"/>
                          </a:solidFill>
                          <a:latin typeface="Inter"/>
                        </a:rPr>
                        <a:t>13,000</a:t>
                      </a:r>
                    </a:p>
                  </a:txBody>
                  <a:tcPr marL="73152" marR="73152" marT="36576" marB="36576" anchor="ctr">
                    <a:solidFill>
                      <a:srgbClr val="F1F0F6"/>
                    </a:solidFill>
                  </a:tcPr>
                </a:tc>
                <a:tc>
                  <a:txBody>
                    <a:bodyPr wrap="square"/>
                    <a:lstStyle/>
                    <a:p>
                      <a:r>
                        <a:rPr sz="800" b="0" i="0">
                          <a:solidFill>
                            <a:srgbClr val="353B4A"/>
                          </a:solidFill>
                          <a:latin typeface="Inter"/>
                        </a:rPr>
                        <a:t>5-6 Feb 2027</a:t>
                      </a:r>
                    </a:p>
                  </a:txBody>
                  <a:tcPr marL="73152" marR="73152" marT="36576" marB="36576" anchor="ctr">
                    <a:solidFill>
                      <a:srgbClr val="F1F0F6"/>
                    </a:solidFill>
                  </a:tcPr>
                </a:tc>
                <a:tc>
                  <a:txBody>
                    <a:bodyPr wrap="square"/>
                    <a:lstStyle/>
                    <a:p>
                      <a:r>
                        <a:rPr sz="800" b="0" i="0">
                          <a:solidFill>
                            <a:srgbClr val="353B4A"/>
                          </a:solidFill>
                          <a:latin typeface="Inter"/>
                        </a:rPr>
                        <a:t>Claimed (LNNS "approved")</a:t>
                      </a:r>
                    </a:p>
                  </a:txBody>
                  <a:tcPr marL="73152" marR="73152" marT="36576" marB="36576" anchor="ctr">
                    <a:solidFill>
                      <a:srgbClr val="F1F0F6"/>
                    </a:solidFill>
                  </a:tcPr>
                </a:tc>
              </a:tr>
            </a:tbl>
          </a:graphicData>
        </a:graphic>
      </p:graphicFrame>
      <p:sp>
        <p:nvSpPr>
          <p:cNvPr id="7" name="TextBox 6"/>
          <p:cNvSpPr txBox="1"/>
          <p:nvPr/>
        </p:nvSpPr>
        <p:spPr>
          <a:xfrm>
            <a:off x="365760" y="4297680"/>
            <a:ext cx="8412480" cy="548640"/>
          </a:xfrm>
          <a:prstGeom prst="rect">
            <a:avLst/>
          </a:prstGeom>
          <a:noFill/>
        </p:spPr>
        <p:txBody>
          <a:bodyPr wrap="square" anchor="t" lIns="0" rIns="0" tIns="0" bIns="0">
            <a:spAutoFit/>
          </a:bodyPr>
          <a:lstStyle/>
          <a:p>
            <a:pPr algn="l">
              <a:spcAft>
                <a:spcPts val="0"/>
              </a:spcAft>
            </a:pPr>
            <a:r>
              <a:rPr sz="800" b="0" i="1">
                <a:solidFill>
                  <a:srgbClr val="666A78"/>
                </a:solidFill>
                <a:latin typeface="Inter"/>
              </a:rPr>
              <a:t>*Page marks the date tentative.  †Fee read from a flattened table.  "IEEE record shown" means a record number is on the official page, not checked on the IEEE site; nothing here is confirmed for IEEE Xplore. Also qualify, but off-topic or no published fee: ICSEAMS (Amrita), ICCIDS (SSN), PerCom work-in-progress (BITS Pilani Goa), NCC (IISc). Dropped, host not in the top 100: ICRCICN, IEM-ICDC, iConCISE, ICPCSN.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RECOMMENDED SUBMISSION ORDER</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One venue at a time: dual submission is not allowed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53</a:t>
            </a:r>
          </a:p>
        </p:txBody>
      </p:sp>
      <p:graphicFrame>
        <p:nvGraphicFramePr>
          <p:cNvPr id="6" name="Table 5"/>
          <p:cNvGraphicFramePr>
            <a:graphicFrameLocks noGrp="1"/>
          </p:cNvGraphicFramePr>
          <p:nvPr/>
        </p:nvGraphicFramePr>
        <p:xfrm>
          <a:off x="457200" y="1097280"/>
          <a:ext cx="8229599" cy="2651760"/>
        </p:xfrm>
        <a:graphic>
          <a:graphicData uri="http://schemas.openxmlformats.org/drawingml/2006/table">
            <a:tbl>
              <a:tblPr firstRow="1" bandRow="1">
                <a:tableStyleId>{5C22544A-7EE6-4342-B048-85BDC9FD1C3A}</a:tableStyleId>
              </a:tblPr>
              <a:tblGrid>
                <a:gridCol w="548640"/>
                <a:gridCol w="1737359"/>
                <a:gridCol w="1920240"/>
                <a:gridCol w="1097280"/>
                <a:gridCol w="2926080"/>
              </a:tblGrid>
              <a:tr h="365760">
                <a:tc>
                  <a:txBody>
                    <a:bodyPr wrap="square"/>
                    <a:lstStyle/>
                    <a:p>
                      <a:r>
                        <a:rPr sz="1000" b="1" i="0">
                          <a:solidFill>
                            <a:srgbClr val="FFFFFF"/>
                          </a:solidFill>
                          <a:latin typeface="Inter"/>
                        </a:rPr>
                        <a:t>Step</a:t>
                      </a:r>
                    </a:p>
                  </a:txBody>
                  <a:tcPr marL="73152" marR="73152" marT="36576" marB="36576" anchor="ctr">
                    <a:solidFill>
                      <a:srgbClr val="1B2A55"/>
                    </a:solidFill>
                  </a:tcPr>
                </a:tc>
                <a:tc>
                  <a:txBody>
                    <a:bodyPr wrap="square"/>
                    <a:lstStyle/>
                    <a:p>
                      <a:r>
                        <a:rPr sz="1000" b="1" i="0">
                          <a:solidFill>
                            <a:srgbClr val="FFFFFF"/>
                          </a:solidFill>
                          <a:latin typeface="Inter"/>
                        </a:rPr>
                        <a:t>Venue</a:t>
                      </a:r>
                    </a:p>
                  </a:txBody>
                  <a:tcPr marL="73152" marR="73152" marT="36576" marB="36576" anchor="ctr">
                    <a:solidFill>
                      <a:srgbClr val="1B2A55"/>
                    </a:solidFill>
                  </a:tcPr>
                </a:tc>
                <a:tc>
                  <a:txBody>
                    <a:bodyPr wrap="square"/>
                    <a:lstStyle/>
                    <a:p>
                      <a:r>
                        <a:rPr sz="1000" b="1" i="0">
                          <a:solidFill>
                            <a:srgbClr val="FFFFFF"/>
                          </a:solidFill>
                          <a:latin typeface="Inter"/>
                        </a:rPr>
                        <a:t>Host university</a:t>
                      </a:r>
                    </a:p>
                  </a:txBody>
                  <a:tcPr marL="73152" marR="73152" marT="36576" marB="36576" anchor="ctr">
                    <a:solidFill>
                      <a:srgbClr val="1B2A55"/>
                    </a:solidFill>
                  </a:tcPr>
                </a:tc>
                <a:tc>
                  <a:txBody>
                    <a:bodyPr wrap="square"/>
                    <a:lstStyle/>
                    <a:p>
                      <a:r>
                        <a:rPr sz="1000" b="1" i="0">
                          <a:solidFill>
                            <a:srgbClr val="FFFFFF"/>
                          </a:solidFill>
                          <a:latin typeface="Inter"/>
                        </a:rPr>
                        <a:t>Submit by</a:t>
                      </a:r>
                    </a:p>
                  </a:txBody>
                  <a:tcPr marL="73152" marR="73152" marT="36576" marB="36576" anchor="ctr">
                    <a:solidFill>
                      <a:srgbClr val="1B2A55"/>
                    </a:solidFill>
                  </a:tcPr>
                </a:tc>
                <a:tc>
                  <a:txBody>
                    <a:bodyPr wrap="square"/>
                    <a:lstStyle/>
                    <a:p>
                      <a:r>
                        <a:rPr sz="1000" b="1" i="0">
                          <a:solidFill>
                            <a:srgbClr val="FFFFFF"/>
                          </a:solidFill>
                          <a:latin typeface="Inter"/>
                        </a:rPr>
                        <a:t>Why this order</a:t>
                      </a:r>
                    </a:p>
                  </a:txBody>
                  <a:tcPr marL="73152" marR="73152" marT="36576" marB="36576" anchor="ctr">
                    <a:solidFill>
                      <a:srgbClr val="1B2A55"/>
                    </a:solidFill>
                  </a:tcPr>
                </a:tc>
              </a:tr>
              <a:tr h="457200">
                <a:tc>
                  <a:txBody>
                    <a:bodyPr wrap="square"/>
                    <a:lstStyle/>
                    <a:p>
                      <a:r>
                        <a:rPr sz="950" b="1" i="0">
                          <a:solidFill>
                            <a:srgbClr val="1B2A55"/>
                          </a:solidFill>
                          <a:latin typeface="Inter"/>
                        </a:rPr>
                        <a:t>1</a:t>
                      </a:r>
                    </a:p>
                  </a:txBody>
                  <a:tcPr marL="73152" marR="73152" marT="36576" marB="36576" anchor="ctr">
                    <a:solidFill>
                      <a:srgbClr val="FFFFFF"/>
                    </a:solidFill>
                  </a:tcPr>
                </a:tc>
                <a:tc>
                  <a:txBody>
                    <a:bodyPr wrap="square"/>
                    <a:lstStyle/>
                    <a:p>
                      <a:r>
                        <a:rPr sz="950" b="0" i="0">
                          <a:solidFill>
                            <a:srgbClr val="353B4A"/>
                          </a:solidFill>
                          <a:latin typeface="Inter"/>
                        </a:rPr>
                        <a:t>IEEE SANKALP 2027</a:t>
                      </a:r>
                    </a:p>
                  </a:txBody>
                  <a:tcPr marL="73152" marR="73152" marT="36576" marB="36576" anchor="ctr">
                    <a:solidFill>
                      <a:srgbClr val="FFFFFF"/>
                    </a:solidFill>
                  </a:tcPr>
                </a:tc>
                <a:tc>
                  <a:txBody>
                    <a:bodyPr wrap="square"/>
                    <a:lstStyle/>
                    <a:p>
                      <a:r>
                        <a:rPr sz="950" b="0" i="0">
                          <a:solidFill>
                            <a:srgbClr val="353B4A"/>
                          </a:solidFill>
                          <a:latin typeface="Inter"/>
                        </a:rPr>
                        <a:t>ABV-IIITM Gwalior</a:t>
                      </a:r>
                    </a:p>
                  </a:txBody>
                  <a:tcPr marL="73152" marR="73152" marT="36576" marB="36576" anchor="ctr">
                    <a:solidFill>
                      <a:srgbClr val="FFFFFF"/>
                    </a:solidFill>
                  </a:tcPr>
                </a:tc>
                <a:tc>
                  <a:txBody>
                    <a:bodyPr wrap="square"/>
                    <a:lstStyle/>
                    <a:p>
                      <a:r>
                        <a:rPr sz="950" b="0" i="0">
                          <a:solidFill>
                            <a:srgbClr val="353B4A"/>
                          </a:solidFill>
                          <a:latin typeface="Inter"/>
                        </a:rPr>
                        <a:t>30 Nov 2026</a:t>
                      </a:r>
                    </a:p>
                  </a:txBody>
                  <a:tcPr marL="73152" marR="73152" marT="36576" marB="36576" anchor="ctr">
                    <a:solidFill>
                      <a:srgbClr val="FFFFFF"/>
                    </a:solidFill>
                  </a:tcPr>
                </a:tc>
                <a:tc>
                  <a:txBody>
                    <a:bodyPr wrap="square"/>
                    <a:lstStyle/>
                    <a:p>
                      <a:r>
                        <a:rPr sz="950" b="0" i="0">
                          <a:solidFill>
                            <a:srgbClr val="353B4A"/>
                          </a:solidFill>
                          <a:latin typeface="Inter"/>
                        </a:rPr>
                        <a:t>IEEE record number shown; security and distributed-database tracks; INR 7,000</a:t>
                      </a:r>
                    </a:p>
                  </a:txBody>
                  <a:tcPr marL="73152" marR="73152" marT="36576" marB="36576" anchor="ctr">
                    <a:solidFill>
                      <a:srgbClr val="FFFFFF"/>
                    </a:solidFill>
                  </a:tcPr>
                </a:tc>
              </a:tr>
              <a:tr h="457200">
                <a:tc>
                  <a:txBody>
                    <a:bodyPr wrap="square"/>
                    <a:lstStyle/>
                    <a:p>
                      <a:r>
                        <a:rPr sz="950" b="1" i="0">
                          <a:solidFill>
                            <a:srgbClr val="1B2A55"/>
                          </a:solidFill>
                          <a:latin typeface="Inter"/>
                        </a:rPr>
                        <a:t>2</a:t>
                      </a:r>
                    </a:p>
                  </a:txBody>
                  <a:tcPr marL="73152" marR="73152" marT="36576" marB="36576" anchor="ctr">
                    <a:solidFill>
                      <a:srgbClr val="F1F0F6"/>
                    </a:solidFill>
                  </a:tcPr>
                </a:tc>
                <a:tc>
                  <a:txBody>
                    <a:bodyPr wrap="square"/>
                    <a:lstStyle/>
                    <a:p>
                      <a:r>
                        <a:rPr sz="950" b="0" i="0">
                          <a:solidFill>
                            <a:srgbClr val="353B4A"/>
                          </a:solidFill>
                          <a:latin typeface="Inter"/>
                        </a:rPr>
                        <a:t>Confluence 2027</a:t>
                      </a:r>
                    </a:p>
                  </a:txBody>
                  <a:tcPr marL="73152" marR="73152" marT="36576" marB="36576" anchor="ctr">
                    <a:solidFill>
                      <a:srgbClr val="F1F0F6"/>
                    </a:solidFill>
                  </a:tcPr>
                </a:tc>
                <a:tc>
                  <a:txBody>
                    <a:bodyPr wrap="square"/>
                    <a:lstStyle/>
                    <a:p>
                      <a:r>
                        <a:rPr sz="950" b="0" i="0">
                          <a:solidFill>
                            <a:srgbClr val="353B4A"/>
                          </a:solidFill>
                          <a:latin typeface="Inter"/>
                        </a:rPr>
                        <a:t>Amity University, Noida</a:t>
                      </a:r>
                    </a:p>
                  </a:txBody>
                  <a:tcPr marL="73152" marR="73152" marT="36576" marB="36576" anchor="ctr">
                    <a:solidFill>
                      <a:srgbClr val="F1F0F6"/>
                    </a:solidFill>
                  </a:tcPr>
                </a:tc>
                <a:tc>
                  <a:txBody>
                    <a:bodyPr wrap="square"/>
                    <a:lstStyle/>
                    <a:p>
                      <a:r>
                        <a:rPr sz="950" b="0" i="0">
                          <a:solidFill>
                            <a:srgbClr val="353B4A"/>
                          </a:solidFill>
                          <a:latin typeface="Inter"/>
                        </a:rPr>
                        <a:t>4 Dec 2026</a:t>
                      </a:r>
                    </a:p>
                  </a:txBody>
                  <a:tcPr marL="73152" marR="73152" marT="36576" marB="36576" anchor="ctr">
                    <a:solidFill>
                      <a:srgbClr val="F1F0F6"/>
                    </a:solidFill>
                  </a:tcPr>
                </a:tc>
                <a:tc>
                  <a:txBody>
                    <a:bodyPr wrap="square"/>
                    <a:lstStyle/>
                    <a:p>
                      <a:r>
                        <a:rPr sz="950" b="0" i="0">
                          <a:solidFill>
                            <a:srgbClr val="353B4A"/>
                          </a:solidFill>
                          <a:latin typeface="Inter"/>
                        </a:rPr>
                        <a:t>IEEE record number shown; INR 9,440; fast decision</a:t>
                      </a:r>
                    </a:p>
                  </a:txBody>
                  <a:tcPr marL="73152" marR="73152" marT="36576" marB="36576" anchor="ctr">
                    <a:solidFill>
                      <a:srgbClr val="F1F0F6"/>
                    </a:solidFill>
                  </a:tcPr>
                </a:tc>
              </a:tr>
              <a:tr h="457200">
                <a:tc>
                  <a:txBody>
                    <a:bodyPr wrap="square"/>
                    <a:lstStyle/>
                    <a:p>
                      <a:r>
                        <a:rPr sz="950" b="1" i="0">
                          <a:solidFill>
                            <a:srgbClr val="1B2A55"/>
                          </a:solidFill>
                          <a:latin typeface="Inter"/>
                        </a:rPr>
                        <a:t>3</a:t>
                      </a:r>
                    </a:p>
                  </a:txBody>
                  <a:tcPr marL="73152" marR="73152" marT="36576" marB="36576" anchor="ctr">
                    <a:solidFill>
                      <a:srgbClr val="FFFFFF"/>
                    </a:solidFill>
                  </a:tcPr>
                </a:tc>
                <a:tc>
                  <a:txBody>
                    <a:bodyPr wrap="square"/>
                    <a:lstStyle/>
                    <a:p>
                      <a:r>
                        <a:rPr sz="950" b="0" i="0">
                          <a:solidFill>
                            <a:srgbClr val="353B4A"/>
                          </a:solidFill>
                          <a:latin typeface="Inter"/>
                        </a:rPr>
                        <a:t>ICESICSC-2027</a:t>
                      </a:r>
                    </a:p>
                  </a:txBody>
                  <a:tcPr marL="73152" marR="73152" marT="36576" marB="36576" anchor="ctr">
                    <a:solidFill>
                      <a:srgbClr val="FFFFFF"/>
                    </a:solidFill>
                  </a:tcPr>
                </a:tc>
                <a:tc>
                  <a:txBody>
                    <a:bodyPr wrap="square"/>
                    <a:lstStyle/>
                    <a:p>
                      <a:r>
                        <a:rPr sz="950" b="0" i="0">
                          <a:solidFill>
                            <a:srgbClr val="353B4A"/>
                          </a:solidFill>
                          <a:latin typeface="Inter"/>
                        </a:rPr>
                        <a:t>KIIT, Bhubaneswar</a:t>
                      </a:r>
                    </a:p>
                  </a:txBody>
                  <a:tcPr marL="73152" marR="73152" marT="36576" marB="36576" anchor="ctr">
                    <a:solidFill>
                      <a:srgbClr val="FFFFFF"/>
                    </a:solidFill>
                  </a:tcPr>
                </a:tc>
                <a:tc>
                  <a:txBody>
                    <a:bodyPr wrap="square"/>
                    <a:lstStyle/>
                    <a:p>
                      <a:r>
                        <a:rPr sz="950" b="0" i="0">
                          <a:solidFill>
                            <a:srgbClr val="353B4A"/>
                          </a:solidFill>
                          <a:latin typeface="Inter"/>
                        </a:rPr>
                        <a:t>30 Oct 2026</a:t>
                      </a:r>
                    </a:p>
                  </a:txBody>
                  <a:tcPr marL="73152" marR="73152" marT="36576" marB="36576" anchor="ctr">
                    <a:solidFill>
                      <a:srgbClr val="FFFFFF"/>
                    </a:solidFill>
                  </a:tcPr>
                </a:tc>
                <a:tc>
                  <a:txBody>
                    <a:bodyPr wrap="square"/>
                    <a:lstStyle/>
                    <a:p>
                      <a:r>
                        <a:rPr sz="950" b="0" i="0">
                          <a:solidFill>
                            <a:srgbClr val="353B4A"/>
                          </a:solidFill>
                          <a:latin typeface="Inter"/>
                        </a:rPr>
                        <a:t>Closes in 7 days; only if the paper already fits their template</a:t>
                      </a:r>
                    </a:p>
                  </a:txBody>
                  <a:tcPr marL="73152" marR="73152" marT="36576" marB="36576" anchor="ctr">
                    <a:solidFill>
                      <a:srgbClr val="FFFFFF"/>
                    </a:solidFill>
                  </a:tcPr>
                </a:tc>
              </a:tr>
              <a:tr h="457200">
                <a:tc>
                  <a:txBody>
                    <a:bodyPr wrap="square"/>
                    <a:lstStyle/>
                    <a:p>
                      <a:r>
                        <a:rPr sz="950" b="1" i="0">
                          <a:solidFill>
                            <a:srgbClr val="1B2A55"/>
                          </a:solidFill>
                          <a:latin typeface="Inter"/>
                        </a:rPr>
                        <a:t>4</a:t>
                      </a:r>
                    </a:p>
                  </a:txBody>
                  <a:tcPr marL="73152" marR="73152" marT="36576" marB="36576" anchor="ctr">
                    <a:solidFill>
                      <a:srgbClr val="F1F0F6"/>
                    </a:solidFill>
                  </a:tcPr>
                </a:tc>
                <a:tc>
                  <a:txBody>
                    <a:bodyPr wrap="square"/>
                    <a:lstStyle/>
                    <a:p>
                      <a:r>
                        <a:rPr sz="950" b="0" i="0">
                          <a:solidFill>
                            <a:srgbClr val="353B4A"/>
                          </a:solidFill>
                          <a:latin typeface="Inter"/>
                        </a:rPr>
                        <a:t>INDIACom-2027</a:t>
                      </a:r>
                    </a:p>
                  </a:txBody>
                  <a:tcPr marL="73152" marR="73152" marT="36576" marB="36576" anchor="ctr">
                    <a:solidFill>
                      <a:srgbClr val="F1F0F6"/>
                    </a:solidFill>
                  </a:tcPr>
                </a:tc>
                <a:tc>
                  <a:txBody>
                    <a:bodyPr wrap="square"/>
                    <a:lstStyle/>
                    <a:p>
                      <a:r>
                        <a:rPr sz="950" b="0" i="0">
                          <a:solidFill>
                            <a:srgbClr val="353B4A"/>
                          </a:solidFill>
                          <a:latin typeface="Inter"/>
                        </a:rPr>
                        <a:t>BVICAM, Bharati Vidyapeeth</a:t>
                      </a:r>
                    </a:p>
                  </a:txBody>
                  <a:tcPr marL="73152" marR="73152" marT="36576" marB="36576" anchor="ctr">
                    <a:solidFill>
                      <a:srgbClr val="F1F0F6"/>
                    </a:solidFill>
                  </a:tcPr>
                </a:tc>
                <a:tc>
                  <a:txBody>
                    <a:bodyPr wrap="square"/>
                    <a:lstStyle/>
                    <a:p>
                      <a:r>
                        <a:rPr sz="950" b="0" i="0">
                          <a:solidFill>
                            <a:srgbClr val="353B4A"/>
                          </a:solidFill>
                          <a:latin typeface="Inter"/>
                        </a:rPr>
                        <a:t>7 Dec 2026</a:t>
                      </a:r>
                    </a:p>
                  </a:txBody>
                  <a:tcPr marL="73152" marR="73152" marT="36576" marB="36576" anchor="ctr">
                    <a:solidFill>
                      <a:srgbClr val="F1F0F6"/>
                    </a:solidFill>
                  </a:tcPr>
                </a:tc>
                <a:tc>
                  <a:txBody>
                    <a:bodyPr wrap="square"/>
                    <a:lstStyle/>
                    <a:p>
                      <a:r>
                        <a:rPr sz="950" b="0" i="0">
                          <a:solidFill>
                            <a:srgbClr val="353B4A"/>
                          </a:solidFill>
                          <a:latin typeface="Inter"/>
                        </a:rPr>
                        <a:t>Borderline host: only the parent university is ranked</a:t>
                      </a:r>
                    </a:p>
                  </a:txBody>
                  <a:tcPr marL="73152" marR="73152" marT="36576" marB="36576" anchor="ctr">
                    <a:solidFill>
                      <a:srgbClr val="F1F0F6"/>
                    </a:solidFill>
                  </a:tcPr>
                </a:tc>
              </a:tr>
              <a:tr h="457200">
                <a:tc>
                  <a:txBody>
                    <a:bodyPr wrap="square"/>
                    <a:lstStyle/>
                    <a:p>
                      <a:r>
                        <a:rPr sz="950" b="1" i="0">
                          <a:solidFill>
                            <a:srgbClr val="1B2A55"/>
                          </a:solidFill>
                          <a:latin typeface="Inter"/>
                        </a:rPr>
                        <a:t>5</a:t>
                      </a:r>
                    </a:p>
                  </a:txBody>
                  <a:tcPr marL="73152" marR="73152" marT="36576" marB="36576" anchor="ctr">
                    <a:solidFill>
                      <a:srgbClr val="FFFFFF"/>
                    </a:solidFill>
                  </a:tcPr>
                </a:tc>
                <a:tc>
                  <a:txBody>
                    <a:bodyPr wrap="square"/>
                    <a:lstStyle/>
                    <a:p>
                      <a:r>
                        <a:rPr sz="950" b="0" i="0">
                          <a:solidFill>
                            <a:srgbClr val="353B4A"/>
                          </a:solidFill>
                          <a:latin typeface="Inter"/>
                        </a:rPr>
                        <a:t>i-PACT 2027</a:t>
                      </a:r>
                    </a:p>
                  </a:txBody>
                  <a:tcPr marL="73152" marR="73152" marT="36576" marB="36576" anchor="ctr">
                    <a:solidFill>
                      <a:srgbClr val="FFFFFF"/>
                    </a:solidFill>
                  </a:tcPr>
                </a:tc>
                <a:tc>
                  <a:txBody>
                    <a:bodyPr wrap="square"/>
                    <a:lstStyle/>
                    <a:p>
                      <a:r>
                        <a:rPr sz="950" b="0" i="0">
                          <a:solidFill>
                            <a:srgbClr val="353B4A"/>
                          </a:solidFill>
                          <a:latin typeface="Inter"/>
                        </a:rPr>
                        <a:t>VIT, Vellore</a:t>
                      </a:r>
                    </a:p>
                  </a:txBody>
                  <a:tcPr marL="73152" marR="73152" marT="36576" marB="36576" anchor="ctr">
                    <a:solidFill>
                      <a:srgbClr val="FFFFFF"/>
                    </a:solidFill>
                  </a:tcPr>
                </a:tc>
                <a:tc>
                  <a:txBody>
                    <a:bodyPr wrap="square"/>
                    <a:lstStyle/>
                    <a:p>
                      <a:r>
                        <a:rPr sz="950" b="0" i="0">
                          <a:solidFill>
                            <a:srgbClr val="353B4A"/>
                          </a:solidFill>
                          <a:latin typeface="Inter"/>
                        </a:rPr>
                        <a:t>31 May 2027</a:t>
                      </a:r>
                    </a:p>
                  </a:txBody>
                  <a:tcPr marL="73152" marR="73152" marT="36576" marB="36576" anchor="ctr">
                    <a:solidFill>
                      <a:srgbClr val="FFFFFF"/>
                    </a:solidFill>
                  </a:tcPr>
                </a:tc>
                <a:tc>
                  <a:txBody>
                    <a:bodyPr wrap="square"/>
                    <a:lstStyle/>
                    <a:p>
                      <a:r>
                        <a:rPr sz="950" b="0" i="0">
                          <a:solidFill>
                            <a:srgbClr val="353B4A"/>
                          </a:solidFill>
                          <a:latin typeface="Inter"/>
                        </a:rPr>
                        <a:t>Our own campus, but a power-engineering conference</a:t>
                      </a:r>
                    </a:p>
                  </a:txBody>
                  <a:tcPr marL="73152" marR="73152" marT="36576" marB="36576" anchor="ctr">
                    <a:solidFill>
                      <a:srgbClr val="FFFFFF"/>
                    </a:solidFill>
                  </a:tcPr>
                </a:tc>
              </a:tr>
            </a:tbl>
          </a:graphicData>
        </a:graphic>
      </p:graphicFrame>
      <p:sp>
        <p:nvSpPr>
          <p:cNvPr id="7" name="TextBox 6"/>
          <p:cNvSpPr txBox="1"/>
          <p:nvPr/>
        </p:nvSpPr>
        <p:spPr>
          <a:xfrm>
            <a:off x="457200" y="3840480"/>
            <a:ext cx="8229600" cy="914400"/>
          </a:xfrm>
          <a:prstGeom prst="rect">
            <a:avLst/>
          </a:prstGeom>
          <a:noFill/>
        </p:spPr>
        <p:txBody>
          <a:bodyPr wrap="square" anchor="t" lIns="0" rIns="0" tIns="0" bIns="0">
            <a:spAutoFit/>
          </a:bodyPr>
          <a:lstStyle/>
          <a:p>
            <a:pPr algn="l">
              <a:spcAft>
                <a:spcPts val="0"/>
              </a:spcAft>
            </a:pPr>
            <a:r>
              <a:rPr sz="1050" b="1" i="0">
                <a:solidFill>
                  <a:srgbClr val="1B2A55"/>
                </a:solidFill>
                <a:latin typeface="Inter"/>
              </a:rPr>
              <a:t>Before submitting: </a:t>
            </a:r>
            <a:r>
              <a:rPr sz="1050" b="0" i="0">
                <a:solidFill>
                  <a:srgbClr val="353B4A"/>
                </a:solidFill>
                <a:latin typeface="Inter"/>
              </a:rPr>
              <a:t>check the IEEE site for each record number, recheck the deadline and the NIRF edition (a 2026 list may be published), remove author names where double-blind, and follow each venue's AI-disclosure rule. Journals cost USD 2,000 to 3,000 in fees: only as a later extended version.</a:t>
            </a:r>
          </a:p>
        </p:txBody>
      </p:sp>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14"/>
          <p:cNvSpPr/>
          <p:nvPr/>
        </p:nvSpPr>
        <p:spPr>
          <a:xfrm>
            <a:off x="342900" y="457200"/>
            <a:ext cx="2483644"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14"/>
          <p:cNvSpPr/>
          <p:nvPr/>
        </p:nvSpPr>
        <p:spPr>
          <a:xfrm>
            <a:off x="440010" y="505718"/>
            <a:ext cx="2746623"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PROJECT CONCLUSION · REVIEW 3</a:t>
            </a:r>
            <a:endParaRPr b="0" i="0" sz="1000" u="none" cap="none" strike="noStrike">
              <a:solidFill>
                <a:schemeClr val="dk1"/>
              </a:solidFill>
              <a:latin typeface="Calibri"/>
              <a:ea typeface="Calibri"/>
              <a:cs typeface="Calibri"/>
              <a:sym typeface="Calibri"/>
            </a:endParaRPr>
          </a:p>
        </p:txBody>
      </p:sp>
      <p:sp>
        <p:nvSpPr>
          <p:cNvPr id="190" name="Google Shape;190;p14"/>
          <p:cNvSpPr/>
          <p:nvPr/>
        </p:nvSpPr>
        <p:spPr>
          <a:xfrm>
            <a:off x="342900" y="891972"/>
            <a:ext cx="5105400" cy="460995"/>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3300"/>
              <a:buFont typeface="Inter"/>
              <a:buNone/>
            </a:pPr>
            <a:r>
              <a:rPr b="1" i="0" lang="en-US" sz="3300" u="none" cap="none" strike="noStrike">
                <a:solidFill>
                  <a:srgbClr val="1B2A55"/>
                </a:solidFill>
                <a:latin typeface="Inter"/>
                <a:ea typeface="Inter"/>
                <a:cs typeface="Inter"/>
                <a:sym typeface="Inter"/>
              </a:rPr>
              <a:t>Thank You</a:t>
            </a:r>
            <a:endParaRPr b="0" i="0" sz="3300" u="none" cap="none" strike="noStrike">
              <a:solidFill>
                <a:schemeClr val="dk1"/>
              </a:solidFill>
              <a:latin typeface="Calibri"/>
              <a:ea typeface="Calibri"/>
              <a:cs typeface="Calibri"/>
              <a:sym typeface="Calibri"/>
            </a:endParaRPr>
          </a:p>
        </p:txBody>
      </p:sp>
      <p:sp>
        <p:nvSpPr>
          <p:cNvPr id="191" name="Google Shape;191;p14"/>
          <p:cNvSpPr/>
          <p:nvPr/>
        </p:nvSpPr>
        <p:spPr>
          <a:xfrm>
            <a:off x="342900" y="4519166"/>
            <a:ext cx="54483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3 | Fall Semester 2026 · Slide 54</a:t>
            </a:r>
            <a:endParaRPr b="0" i="0" sz="950" u="none" cap="none" strike="noStrike">
              <a:solidFill>
                <a:schemeClr val="dk1"/>
              </a:solidFill>
              <a:latin typeface="Calibri"/>
              <a:ea typeface="Calibri"/>
              <a:cs typeface="Calibri"/>
              <a:sym typeface="Calibri"/>
            </a:endParaRPr>
          </a:p>
        </p:txBody>
      </p:sp>
      <p:sp>
        <p:nvSpPr>
          <p:cNvPr id="192" name="Google Shape;192;p14"/>
          <p:cNvSpPr/>
          <p:nvPr/>
        </p:nvSpPr>
        <p:spPr>
          <a:xfrm>
            <a:off x="5791200" y="0"/>
            <a:ext cx="3352800" cy="5143500"/>
          </a:xfrm>
          <a:prstGeom prst="rect">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TextBox 192"/>
          <p:cNvSpPr txBox="1"/>
          <p:nvPr/>
        </p:nvSpPr>
        <p:spPr>
          <a:xfrm>
            <a:off x="347472" y="1600200"/>
            <a:ext cx="5120640" cy="274320"/>
          </a:xfrm>
          <a:prstGeom prst="rect">
            <a:avLst/>
          </a:prstGeom>
          <a:noFill/>
        </p:spPr>
        <p:txBody>
          <a:bodyPr wrap="square" anchor="t" lIns="0" rIns="0" tIns="0" bIns="0">
            <a:spAutoFit/>
          </a:bodyPr>
          <a:lstStyle/>
          <a:p>
            <a:pPr algn="l">
              <a:spcAft>
                <a:spcPts val="0"/>
              </a:spcAft>
            </a:pPr>
            <a:r>
              <a:rPr sz="1600" b="1" i="0">
                <a:solidFill>
                  <a:srgbClr val="353B4A"/>
                </a:solidFill>
                <a:latin typeface="Inter"/>
              </a:rPr>
              <a:t>Questions and discussion</a:t>
            </a:r>
          </a:p>
        </p:txBody>
      </p:sp>
      <p:sp>
        <p:nvSpPr>
          <p:cNvPr id="194" name="TextBox 193"/>
          <p:cNvSpPr txBox="1"/>
          <p:nvPr/>
        </p:nvSpPr>
        <p:spPr>
          <a:xfrm>
            <a:off x="347472" y="2057400"/>
            <a:ext cx="5120640" cy="2011680"/>
          </a:xfrm>
          <a:prstGeom prst="rect">
            <a:avLst/>
          </a:prstGeom>
          <a:noFill/>
        </p:spPr>
        <p:txBody>
          <a:bodyPr wrap="square" anchor="t" lIns="0" rIns="0" tIns="0" bIns="0">
            <a:spAutoFit/>
          </a:bodyPr>
          <a:lstStyle/>
          <a:p>
            <a:pPr algn="l">
              <a:spcAft>
                <a:spcPts val="300"/>
              </a:spcAft>
            </a:pPr>
            <a:r>
              <a:rPr sz="1200" b="1" i="0">
                <a:solidFill>
                  <a:srgbClr val="1B2A55"/>
                </a:solidFill>
                <a:latin typeface="Inter"/>
              </a:rPr>
              <a:t>Source code and documents</a:t>
            </a:r>
          </a:p>
          <a:p>
            <a:pPr algn="l">
              <a:spcAft>
                <a:spcPts val="300"/>
              </a:spcAft>
            </a:pPr>
            <a:r>
              <a:rPr sz="1100" b="0" i="0">
                <a:solidFill>
                  <a:srgbClr val="353B4A"/>
                </a:solidFill>
                <a:latin typeface="Inter"/>
              </a:rPr>
              <a:t>github.com/Tharakeshtj/polyvote-election-platform</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