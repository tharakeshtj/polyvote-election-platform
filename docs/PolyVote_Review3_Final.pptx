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26"/>
    <p:sldId id="257" r:id="rId7"/>
    <p:sldId id="258" r:id="rId8"/>
    <p:sldId id="259" r:id="rId9"/>
    <p:sldId id="260" r:id="rId10"/>
    <p:sldId id="261" r:id="rId11"/>
    <p:sldId id="262" r:id="rId12"/>
    <p:sldId id="263" r:id="rId13"/>
    <p:sldId id="267" r:id="rId27"/>
    <p:sldId id="268" r:id="rId28"/>
    <p:sldId id="269" r:id="rId29"/>
    <p:sldId id="270" r:id="rId30"/>
    <p:sldId id="271" r:id="rId31"/>
    <p:sldId id="272" r:id="rId32"/>
    <p:sldId id="273" r:id="rId33"/>
    <p:sldId id="274" r:id="rId34"/>
    <p:sldId id="275" r:id="rId35"/>
    <p:sldId id="276" r:id="rId36"/>
    <p:sldId id="264" r:id="rId14"/>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309" r:id="rId69"/>
    <p:sldId id="310" r:id="rId70"/>
    <p:sldId id="311" r:id="rId71"/>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20.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2.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Chaitanya Reddy</c:v>
                </c:pt>
              </c:strCache>
            </c:strRef>
          </c:tx>
          <c:spPr>
            <a:solidFill>
              <a:srgbClr val="1A7F37"/>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Sheet1!$B$2:$B$5</c:f>
              <c:numCache>
                <c:formatCode>General</c:formatCode>
                <c:ptCount val="4"/>
                <c:pt idx="0">
                  <c:v>9</c:v>
                </c:pt>
                <c:pt idx="1">
                  <c:v>11</c:v>
                </c:pt>
                <c:pt idx="2">
                  <c:v>15</c:v>
                </c:pt>
                <c:pt idx="3">
                  <c:v>23</c:v>
                </c:pt>
              </c:numCache>
            </c:numRef>
          </c:val>
        </c:ser>
        <c:ser>
          <c:idx val="1"/>
          <c:order val="1"/>
          <c:tx>
            <c:strRef>
              <c:f>Sheet1!$C$1</c:f>
              <c:strCache>
                <c:ptCount val="1"/>
                <c:pt idx="0">
                  <c:v>Diya Sharma</c:v>
                </c:pt>
              </c:strCache>
            </c:strRef>
          </c:tx>
          <c:spPr>
            <a:solidFill>
              <a:srgbClr val="1B2A55"/>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Sheet1!$C$2:$C$5</c:f>
              <c:numCache>
                <c:formatCode>General</c:formatCode>
                <c:ptCount val="4"/>
                <c:pt idx="0">
                  <c:v>10</c:v>
                </c:pt>
                <c:pt idx="1">
                  <c:v>13</c:v>
                </c:pt>
                <c:pt idx="2">
                  <c:v>16</c:v>
                </c:pt>
                <c:pt idx="3">
                  <c:v>22</c:v>
                </c:pt>
              </c:numCache>
            </c:numRef>
          </c:val>
        </c:ser>
        <c:ser>
          <c:idx val="2"/>
          <c:order val="2"/>
          <c:tx>
            <c:strRef>
              <c:f>Sheet1!$D$1</c:f>
              <c:strCache>
                <c:ptCount val="1"/>
                <c:pt idx="0">
                  <c:v>Arun Kumar</c:v>
                </c:pt>
              </c:strCache>
            </c:strRef>
          </c:tx>
          <c:spPr>
            <a:solidFill>
              <a:srgbClr val="8DA0D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Sheet1!$D$2:$D$5</c:f>
              <c:numCache>
                <c:formatCode>General</c:formatCode>
                <c:ptCount val="4"/>
                <c:pt idx="0">
                  <c:v>10</c:v>
                </c:pt>
                <c:pt idx="1">
                  <c:v>12</c:v>
                </c:pt>
                <c:pt idx="2">
                  <c:v>14</c:v>
                </c:pt>
              </c:numCache>
            </c:numRef>
          </c:val>
        </c:ser>
        <c:ser>
          <c:idx val="3"/>
          <c:order val="3"/>
          <c:tx>
            <c:strRef>
              <c:f>Sheet1!$E$1</c:f>
              <c:strCache>
                <c:ptCount val="1"/>
                <c:pt idx="0">
                  <c:v>Eshaan Iyer</c:v>
                </c:pt>
              </c:strCache>
            </c:strRef>
          </c:tx>
          <c:spPr>
            <a:solidFill>
              <a:srgbClr val="C8CEE3"/>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Sheet1!$E$2:$E$5</c:f>
              <c:numCache>
                <c:formatCode>General</c:formatCode>
                <c:ptCount val="4"/>
                <c:pt idx="0">
                  <c:v>8</c:v>
                </c:pt>
                <c:pt idx="1">
                  <c:v>9</c:v>
                </c:pt>
              </c:numCache>
            </c:numRef>
          </c:val>
        </c:ser>
        <c:ser>
          <c:idx val="4"/>
          <c:order val="4"/>
          <c:tx>
            <c:strRef>
              <c:f>Sheet1!$F$1</c:f>
              <c:strCache>
                <c:ptCount val="1"/>
                <c:pt idx="0">
                  <c:v>Bhavya Singh</c:v>
                </c:pt>
              </c:strCache>
            </c:strRef>
          </c:tx>
          <c:spPr>
            <a:solidFill>
              <a:srgbClr val="E4E6F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Sheet1!$F$2:$F$5</c:f>
              <c:numCache>
                <c:formatCode>General</c:formatCode>
                <c:ptCount val="4"/>
                <c:pt idx="0">
                  <c:v>8</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45.0"/>
          <c:min val="0.0"/>
        </c:scaling>
        <c:delete val="0"/>
        <c:axPos val="l"/>
        <c:majorGridlines>
          <c:spPr>
            <a:ln>
              <a:solidFill>
                <a:srgbClr val="D9D9E4"/>
              </a:solidFill>
            </a:ln>
          </c:spPr>
        </c:majorGridlines>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15.0"/>
      </c:valAx>
    </c:plotArea>
    <c:legend>
      <c:legendPos val="b"/>
      <c:overlay val="0"/>
      <c:txPr>
        <a:bodyPr/>
        <a:lstStyle/>
        <a:p>
          <a:pPr>
            <a:defRPr sz="1000">
              <a:solidFill>
                <a:srgbClr val="353B4A"/>
              </a:solidFill>
              <a:latin typeface="Inter"/>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Implemented</c:v>
                </c:pt>
              </c:strCache>
            </c:strRef>
          </c:tx>
          <c:spPr>
            <a:solidFill>
              <a:srgbClr val="1B2A55"/>
            </a:solidFill>
          </c:spPr>
          <c:dPt>
            <c:idx val="3"/>
            <c:spPr>
              <a:solidFill>
                <a:srgbClr val="1A7F37"/>
              </a:solidFill>
            </c:spPr>
          </c:dPt>
          <c:dLbls>
            <c:numFmt formatCode="0&quot;%&quot;" sourceLinked="0"/>
            <c:txPr>
              <a:bodyPr/>
              <a:lstStyle/>
              <a:p>
                <a:pPr>
                  <a:defRPr sz="1200" b="1">
                    <a:solidFill>
                      <a:srgbClr val="1B2A55"/>
                    </a:solidFill>
                    <a:latin typeface="Inter"/>
                  </a:defRPr>
                </a:pPr>
              </a:p>
            </c:txPr>
            <c:dLblPos val="outEnd"/>
            <c:showLegendKey val="0"/>
            <c:showVal val="1"/>
            <c:showCatName val="0"/>
            <c:showSerName val="0"/>
            <c:showPercent val="0"/>
            <c:showBubbleSize val="0"/>
            <c:showLeaderLines val="1"/>
          </c:dLbls>
          <c:cat>
            <c:strRef>
              <c:f>Sheet1!$A$2:$A$5</c:f>
              <c:strCache>
                <c:ptCount val="4"/>
                <c:pt idx="0">
                  <c:v>Core features (7)</c:v>
                </c:pt>
                <c:pt idx="1">
                  <c:v>Modules (4)</c:v>
                </c:pt>
                <c:pt idx="2">
                  <c:v>Deliverables (3)</c:v>
                </c:pt>
                <c:pt idx="3">
                  <c:v>Overall (14)</c:v>
                </c:pt>
              </c:strCache>
            </c:strRef>
          </c:cat>
          <c:val>
            <c:numRef>
              <c:f>Sheet1!$B$2:$B$5</c:f>
              <c:numCache>
                <c:formatCode>General</c:formatCode>
                <c:ptCount val="4"/>
                <c:pt idx="0">
                  <c:v>64</c:v>
                </c:pt>
                <c:pt idx="1">
                  <c:v>91</c:v>
                </c:pt>
                <c:pt idx="2">
                  <c:v>80</c:v>
                </c:pt>
                <c:pt idx="3">
                  <c:v>75</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9D9E4"/>
              </a:solidFill>
            </a:ln>
          </c:spPr>
        </c:majorGridlines>
        <c:numFmt formatCode="0&quot;%&quot;" sourceLinked="0"/>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deck has two parts: slides 2 to 20 are the Review 2 presentation, and from slide 21 we continue with Review 3.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Quick reminder of why we built this. Plurality voting can crown a winner without majority support, single-election systems are hard to reuse, and an administrator with UPDATE access can silently change results. Our answer is ranked-choice voting, one shared multi-tenant schema, voter identity separated from ballot content, and a hash chain over the audit records. The outcome is a reusable web service with a public link and QR phone voting.</a:t>
            </a: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six techniques from Review 1. Techniques one, two and three, multi-tenancy, instant-runoff and hash chaining, work as designed, and the chain is now sealed with an HMAC key. Four, polyglot persistence, uses a relational SQLite store plus the audit ledger in MongoDB Atlas, with a local-file fallback. Five, integrity, is enforced by constraints and a trigger and backed by a five-rule integrity sweep. Six, the service runs as one web service behind a public HTTPS link with QR phone voting.</a:t>
            </a: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literature table from Review 1, unchanged. Aulbach for multi-tenant schemas, Haber and Stornetta for hash chains, Sadalage and Fowler for polyglot persistence, Chaum for receipts that keep the ballot secret, Crosby and Wallach for tamper-evident logs, and Blom for auditing ranked-choice elections. We treat these as the foundation, and the next slide shows how our implementation closes the gaps they leave.</a:t>
            </a:r>
          </a:p>
        </p:txBody>
      </p:sp>
      <p:sp>
        <p:nvSpPr>
          <p:cNvPr id="97" name="Google Shape;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four gaps from the literature. The one we want you to hold on to is gap two, passive audit logs. A hash chain alone proves nothing unless something actively verifies it. That is why we built the integrity sweep, which recomputes every ballot from the database and compares it with its sealed receipt. You will see it catch tampering live in a few slides.</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four modules are the same as planned, with the technology as it stands. Module one is the relational core, SQLite. Module two is the Python tally engine. Module three is the ledger of HMAC-sealed receipts in MongoDB Atlas. Module four is the application, React plus FastAPI, with an emailed one-time code that confirms the voter and Streamlit retained. The core entities are six tables, including ADMIN_USERS, and POSITION is not implemented. The privacy boundary holds: only an anonymous token connects a voter to a ballot.</a:t>
            </a: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updated data flow diagram, redrawn to match what we built. At the top is the React app with the voter booth, receipt check and admin console, plus DB Studio, which simulates a rogue database administrator. Everything passes through one FastAPI layer.</a:t>
            </a:r>
          </a:p>
          <a:p>
            <a:r>
              <a:t>Below that are two stores. Flows one to six create organizations, elections, candidates and voters, and store anonymous ranks in the relational schema. Flow seven appends the HMAC-sealed receipt to the separate ledger in MongoDB Atlas.</a:t>
            </a:r>
          </a:p>
          <a:p>
            <a:r>
              <a:t>At the bottom is the Python engine. Eight feeds ranks to the instant-runoff tally. Nine recomputes ballot hashes, and ten cross-checks them against the ledger. The red dashed arrow, twelve, is the tampering path that DB Studio simulates and the sweep is built to expose.</a:t>
            </a:r>
          </a:p>
        </p:txBody>
      </p:sp>
      <p:sp>
        <p:nvSpPr>
          <p:cNvPr id="144" name="Google Shape;1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h76c2e4d2857ee8e7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h76c2e4d2857ee8e7_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This is the updated ER diagram. The five Review 1 tables are unchanged: ORGANIZATION hosts ELECTIONS, which have CANDIDATES and VOTER_PARTICIPATION, and BALLOT_RANKS ties candidates to anonymous ballot tokens. What is new is, first, ADMIN_USERS, a standalone table for officer logins with no link to ballots. Second, the constraints are now visible: the CHECK on has_voted, the one-to-three CHECK on preference_rank, and the UNIQUE rule on registration number per election. Third, the grey dashed box is the ledger block, a JSON document linked to a ballot by its token, not by a foreign key. Note there is no voter identifier anywhere in BALLOT_RANKS.</a:t>
            </a:r>
          </a:p>
        </p:txBody>
      </p:sp>
      <p:sp>
        <p:nvSpPr>
          <p:cNvPr id="155" name="Google Shape;155;h76c2e4d2857ee8e7_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Looking at the three reviews together. Review 1 presented the design and Review 2 presented the working implementation with live outputs and a tamper demonstration; both are done. This is Review 3, the final review. We delivered the MongoDB Atlas ledger, the emailed one-time code, public hosting with phone voting, a 47-scenario evaluation and a comparison with 33 existing systems. Oracle with PL/SQL procedures and DCL roles, and the POSITION entity, were left out, and SQLite was kept; the conclusion slides at the end explain why and how Oracle would be possible.</a:t>
            </a: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and documents are on GitHub,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short recap of where we stand. Review 1 is done: we presented the design, the relational schema and ER diagram, the security approach, the literature review and a planned architecture on Oracle, MongoDB and Streamlit. Review 2 is done: a working system with a React voter booth and admin console, a FastAPI service, a SQLite schema with trigger and views, the instant-runoff tally, hash-chained receipts and a live tamper test. Review 3, this one, is the final review: the MongoDB Atlas ledger, the emailed one-time code with QR voting, public hosting, a 47-scenario evaluation and a comparison with existing systems. One thing to flag early: we did not use Oracle. SQLite stood in for it throughout, and the conclusion slides at the end explain why and how Oracle would fit.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implementation, starting at the database. The point of this slide is that the database refuses invalid votes by itself, regardless of the application.</a:t>
            </a:r>
          </a:p>
          <a:p>
            <a:r>
              <a:t>We tried to break four rules directly in SQL. A second vote by the same voter hits our trigger and is aborted with a trigger violation. A rank of four fails the CHECK constraint. Ranking the same candidate twice fails the composite primary key. A candidate that does not exist fails the foreign key. These are the database's own messages, not ours, and each statement was rolled back afterwards.</a:t>
            </a:r>
          </a:p>
          <a:p>
            <a:r>
              <a:t>Below, two views, turnout and first preferences, feed the dashboards. In the demo election, forty-five of sixty voters have voted, seventy-five percent turnout.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voter side, three steps. First, the voter picks an open election; only elections in the Voting phase can be entered. The voter signs in with a password and then types the code emailed to them. Second, the voter ranks three candidates in order of preference, with a review step before casting. Third, the voter gets a receipt token.</a:t>
            </a:r>
          </a:p>
          <a:p>
            <a:r>
              <a:t>The guards matter. A wrong password is rejected, the emailed code is required, a voter who already voted is refused, and a ballot cannot be changed once cast. The receipt proves the ballot is sealed, not how you voted.</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heart of the privacy design. When a voter casts a ballot, one database transaction does two things. On the identity side, it sets has_voted to one in VOTER_PARTICIPATION. On the ballot side, it stores a random ballot token with the three ranked candidates in BALLOT_RANKS. There is no voter identifier stored with the ballot, so the two records cannot be joined.</a:t>
            </a:r>
          </a:p>
          <a:p>
            <a:r>
              <a:t>After the commit, the system appends a receipt to the ledger: a SHA-256 hash of the ranks chained to the previous block and sealed with an HMAC key. The token goes back to the voter.</a:t>
            </a:r>
          </a:p>
          <a:p>
            <a:r>
              <a:t>The three boxes underneath summarise why it is safe: the writes are atomic, a server-side lock serializes simultaneous ballots, and voters can verify later without revealing their choices.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tallying engine, instant-runoff voting, run on the demo election with forty-five ballots. Each bar is a round. In round one, nobody has a majority, and Bhavya Singh and Eshaan Iyer tie for last with eight each, so one is eliminated and those ballots move to their next choice. After round two Eshaan goes, after round three Arun goes, and in round four Chaitanya Reddy has twenty-three of forty-five continuing ballots, fifty-one percent, against twenty-two for Diya Sharma.</a:t>
            </a:r>
          </a:p>
          <a:p>
            <a:r>
              <a:t>The engine also handles exhausted ballots and empty elections, and the interface flags a last-place tie, as in round one, because a published tie-break rule is future work.</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audit ledger. Each ballot gets one block with its token, a vote hash, which is SHA-256 of the ranked choices, the previous block's hash, and the block's own hash. Look at the green values: block two's prev_hash is exactly block one's curr_hash, and block three links to block two. Change any block and every link after it breaks.</a:t>
            </a:r>
          </a:p>
          <a:p>
            <a:r>
              <a:t>We verify at two levels. The chain check recomputes every hash and link, and all forty-five blocks are intact. The integrity sweep recomputes each ballot from the database and compares it with its receipt. The blocks are sealed with an HMAC key, so rebuilding the chain needs the key.</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administrator side. The election list shows each organization's election, its phase and turnout. Inside an election the officer works through a guarded lifecycle. In Nominations, they add candidates and build the roster by hand or in bulk. In Voting, candidates are locked and voters cast ballots. In Closed, no more votes are accepted, and the officer runs the sweep and the count. Each transition asks for confirmation and a closed election cannot be reopened.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live tamper test, the main thing the ledger exists for. In DB Studio, which simulates a rogue DBA, we re-assigned one ballot's first choice and deleted two ballot rows, including a voter's own ballot. Then we ran the integrity sweep. It reported tampering detected: three ballots no longer match their receipts, one modified and two deleted, each identified by token. The counts also stop agreeing: forty-three ballots against forty-five receipts and forty-five voters marked as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summarise the evidence, here are seven checks with expected and observed results. A second vote is refused and a wrong password rejected. The hash chain is intact across all forty-five receipts. After tampering, all three altered ballots are flagged, the voter's receipt check warns that the ballot is recorded but missing from the count, and the count mismatch is visible. And the tally gives a winner with a real majority. Every observed result came from the running system.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our progress against the Review 1 scope. On the left, what is done: the multi-tenant schema, trigger and views, the instant-runoff tally, the keyed hash-chained ledger on MongoDB Atlas, tamper detection, the emailed one-time code, and the voter and admin applications with public hosting. On the right, what is not implemented: Oracle with PL/SQL procedures and DCL, the POSITION entity, and a managed cloud database platform.</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table explains every place the build differs from the plan. Oracle became SQLite for zero-setup development and repeatable tests, with the schema kept portable. MongoDB Atlas is in use, with an HMAC-keyed chain and a file fallback. Streamlit gained a React and FastAPI front end for separate voter and admin experiences. We added ADMIN_USERS and did not implement POSITION. The lifecycle is guarded transitions because SQLite has no stored procedures. Oracle with PL/SQL was not used; the code is structured so it would be a migration, not a rewrite.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had a working system,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updated ER diagram. The left frame is the election database, unchanged in structure from Review 2 apart from what it protects. The dashed box is a ledger block, a JSON document linked to a ballot by its token, not by a foreign key. The right frame is new: the verification database with voter contacts, challenges and a mail log. Notice there is deliberately no line from it to the ballot table. A voter's email can never be joined to a ballot.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summary of improvements over our own Review 2 design. Automatic detection of tampering rises from six to twelve of thirteen. Forged receipts, rebuilt chains and renamed candidates move from undetected to detected. Authentication goes from password only to password plus an emailed code. The ledger moves to Atlas, and the system becomes publicly reachable. The cost is small: the sweep at ten thousand ballots goes from about one hundred and twenty-nine to about one hundred and forty-seven milliseconds.</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narrowed the list to conferences held in India and hosted by an institution in the NIRF top one hundred, using the 2025 India Rankings, which are the latest published; a 2026 edition has not been released, so ranks could change. The cheapest is SCES at Motilal Nehru National Institute in Prayagraj, about five thousand nine hundred rupees. SANKALP at the IIIT in Gwalior costs seven thousand and shows an IEEE record number. ICESICSC at KIIT closes on the thirtieth of October. Confluence at Amity Noida is nine thousand four hundred and forty with tax and also shows an IEEE record number. INDIACom and ICICC are borderline, because only the parent university is ranked, not the institute or college that hosts. i-PACT is on our own campus at VIT. Indexing: a record number on an official page is not confirmation of IEEE Xplore, and every other venue only claims it. We dropped ICRCICN, IEM-ICDC, iConCISE and ICPCSN because their hosts are not in the top one hundred.</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remembering that we cannot submit to two venues at the same time. SANKALP at the IIIT in Gwalior is first: it shows an IEEE record number, has security and distributed-database tracks, and costs seven thousand rupees. Confluence at Amity Noida is second, also with an IEEE record number. ICESICSC at KIIT closes on the thirtieth of October, so it is only realistic if the paper already fits its template. INDIACom is borderline because only the parent university is ranked. i-PACT is on our own campus but is a power-engineering conference. Before submitting, verify each record number on the IEEE site, recheck deadlines and the NIRF edition, remove author names for double-blind venues, and follow each venue's AI-disclosure policy.</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conclusion. Against what we planned at Reviews one and two: the multi-tenant schema with views and the trigger, the instant-runoff tally and admin console, the hash-chained receipts and integrity sweep, now keyed and with five rules, the MongoDB Atlas ledger, a second factor for the voter, public hosting with phone voting, and the comparative study with forty-seven test scenarios are all delivered. A true cloud platform is only partly done: we have free-tier hosting configured but no managed cloud database. Two items were left out: Oracle with PL/SQL procedures and DCL roles, because we kept SQLite, and the POSITION entity, which was deferred. The next slide explains why we chose SQLite and how Oracle would be possible.</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Why SQLite, and how Oracle is possible. We chose SQLite because there is nothing to install, it is one file, anyone can run the project with one command on a laptop or free hosting, and our evaluation copies that file into a throwaway sandbox so the forty-seven scenarios rerun identically. Oracle would need a licence or a cloud account and a set-up that a semester project and a demo over a mobile hotspot cannot rely on. The trade-offs we accept are that foreign keys apply only on connections that switch them on, that it is a single node, and that there are no roles. Moving to Oracle is a migration rather than a redesign. The schema is five tables, one trigger and two views in a single file, so AUTOINCREMENT becomes identity columns and the trigger becomes a PL/SQL trigger. The database calls are in a handful of modules, so we would swap the sqlite3 driver for python-oracledb and change the placeholders. Then we would add what SQLite lacks, GRANT-based roles and PL/SQL procedures, with foreign keys always on, which closes the one gap our tests found. The MongoDB ledger, the one-time-code module and the React app would not change. To be clear, this is the planned path and we have not run it on Oracle.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Reviews 2 and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WHERE WE STAND · FINAL REVIEW</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Reviews 1 and 2 are done; this is Review 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DONE</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1</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relational schema and ER diagram, security approach, literature review, and a planned architecture on Oracle, MongoDB and Streamlit.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79095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DONE</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2</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 working system: React voter booth and admin console, FastAPI service, SQLite schema with trigger and views, instant-runoff tally, hash-chained receipts and a live tamper test.</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NOW</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3 · final review</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MongoDB Atlas ledger, emailed one-time code and QR voting, public hosting, a 47-scenario evaluation and a comparison with existing systems.</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400" b="1" i="0">
                <a:solidFill>
                  <a:srgbClr val="1B2A55"/>
                </a:solidFill>
                <a:latin typeface="Inter"/>
              </a:rPr>
              <a:t>Done</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Reviews 1 and 2</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200" b="1" i="0">
                <a:solidFill>
                  <a:srgbClr val="1B2A55"/>
                </a:solidFill>
                <a:latin typeface="Inter"/>
              </a:rPr>
              <a:t>We did not use Oracle: </a:t>
            </a:r>
            <a:r>
              <a:rPr sz="1200" b="0" i="0">
                <a:solidFill>
                  <a:srgbClr val="353B4A"/>
                </a:solidFill>
                <a:latin typeface="Inter"/>
              </a:rPr>
              <a:t>SQLite stood in for it throughout (see the conclusion slides).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6"/>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SYSTEM RATIONALE</a:t>
            </a:r>
            <a:endParaRPr b="0" i="0" sz="950" u="none" cap="none" strike="noStrike">
              <a:solidFill>
                <a:schemeClr val="dk1"/>
              </a:solidFill>
              <a:latin typeface="Calibri"/>
              <a:ea typeface="Calibri"/>
              <a:cs typeface="Calibri"/>
              <a:sym typeface="Calibri"/>
            </a:endParaRPr>
          </a:p>
        </p:txBody>
      </p:sp>
      <p:sp>
        <p:nvSpPr>
          <p:cNvPr id="37" name="Google Shape;37;p6"/>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PolyVote tackles three weaknesses in digital elections</a:t>
            </a:r>
            <a:endParaRPr b="0" i="0" sz="2250" u="none" cap="none" strike="noStrike">
              <a:solidFill>
                <a:schemeClr val="dk1"/>
              </a:solidFill>
              <a:latin typeface="Calibri"/>
              <a:ea typeface="Calibri"/>
              <a:cs typeface="Calibri"/>
              <a:sym typeface="Calibri"/>
            </a:endParaRPr>
          </a:p>
        </p:txBody>
      </p:sp>
      <p:sp>
        <p:nvSpPr>
          <p:cNvPr id="38" name="Google Shape;38;p6"/>
          <p:cNvSpPr/>
          <p:nvPr/>
        </p:nvSpPr>
        <p:spPr>
          <a:xfrm>
            <a:off x="4572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p:nvPr/>
        </p:nvSpPr>
        <p:spPr>
          <a:xfrm>
            <a:off x="638175" y="1203424"/>
            <a:ext cx="839242"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6"/>
          <p:cNvSpPr/>
          <p:nvPr/>
        </p:nvSpPr>
        <p:spPr>
          <a:xfrm>
            <a:off x="735285" y="1251942"/>
            <a:ext cx="1102221"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PROBLEM</a:t>
            </a:r>
            <a:endParaRPr b="0" i="0" sz="1000" u="none" cap="none" strike="noStrike">
              <a:solidFill>
                <a:schemeClr val="dk1"/>
              </a:solidFill>
              <a:latin typeface="Calibri"/>
              <a:ea typeface="Calibri"/>
              <a:cs typeface="Calibri"/>
              <a:sym typeface="Calibri"/>
            </a:endParaRPr>
          </a:p>
        </p:txBody>
      </p:sp>
      <p:sp>
        <p:nvSpPr>
          <p:cNvPr id="41" name="Google Shape;41;p6"/>
          <p:cNvSpPr/>
          <p:nvPr/>
        </p:nvSpPr>
        <p:spPr>
          <a:xfrm>
            <a:off x="6381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Plurality &amp; Insider Risk</a:t>
            </a:r>
            <a:endParaRPr b="0" i="0" sz="1500" u="none" cap="none" strike="noStrike">
              <a:solidFill>
                <a:schemeClr val="dk1"/>
              </a:solidFill>
              <a:latin typeface="Calibri"/>
              <a:ea typeface="Calibri"/>
              <a:cs typeface="Calibri"/>
              <a:sym typeface="Calibri"/>
            </a:endParaRPr>
          </a:p>
        </p:txBody>
      </p:sp>
      <p:sp>
        <p:nvSpPr>
          <p:cNvPr id="42" name="Google Shape;42;p6"/>
          <p:cNvSpPr/>
          <p:nvPr/>
        </p:nvSpPr>
        <p:spPr>
          <a:xfrm>
            <a:off x="638175" y="1896450"/>
            <a:ext cx="2131200" cy="2100600"/>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200" u="none" cap="none" strike="noStrike">
                <a:solidFill>
                  <a:srgbClr val="1B2A55"/>
                </a:solidFill>
                <a:latin typeface="Inter"/>
                <a:ea typeface="Inter"/>
                <a:cs typeface="Inter"/>
                <a:sym typeface="Inter"/>
              </a:rPr>
              <a:t>Plurality records one choice and can split support across three or more candidates, producing a winner without majority backing. Single-election systems are hard to reuse across organizations, and an administrator with </a:t>
            </a:r>
            <a:r>
              <a:rPr b="0" i="0" lang="en-US" sz="1200" u="none" cap="none" strike="noStrike">
                <a:solidFill>
                  <a:srgbClr val="1B2A55"/>
                </a:solidFill>
                <a:highlight>
                  <a:srgbClr val="F1F0F6"/>
                </a:highlight>
                <a:latin typeface="Consolas"/>
                <a:ea typeface="Consolas"/>
                <a:cs typeface="Consolas"/>
                <a:sym typeface="Consolas"/>
              </a:rPr>
              <a:t>UPDATE</a:t>
            </a:r>
            <a:r>
              <a:rPr b="0" i="0" lang="en-US" sz="1200" u="none" cap="none" strike="noStrike">
                <a:solidFill>
                  <a:srgbClr val="1B2A55"/>
                </a:solidFill>
                <a:latin typeface="Inter"/>
                <a:ea typeface="Inter"/>
                <a:cs typeface="Inter"/>
                <a:sym typeface="Inter"/>
              </a:rPr>
              <a:t> access can silently alter results. </a:t>
            </a:r>
            <a:endParaRPr b="0" i="0" sz="1200" u="none" cap="none" strike="noStrike">
              <a:solidFill>
                <a:schemeClr val="dk1"/>
              </a:solidFill>
              <a:latin typeface="Calibri"/>
              <a:ea typeface="Calibri"/>
              <a:cs typeface="Calibri"/>
              <a:sym typeface="Calibri"/>
            </a:endParaRPr>
          </a:p>
        </p:txBody>
      </p:sp>
      <p:sp>
        <p:nvSpPr>
          <p:cNvPr id="43" name="Google Shape;43;p6"/>
          <p:cNvSpPr/>
          <p:nvPr/>
        </p:nvSpPr>
        <p:spPr>
          <a:xfrm>
            <a:off x="32766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3457575" y="1203424"/>
            <a:ext cx="888727"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3554685" y="1251942"/>
            <a:ext cx="115170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SOLUTION</a:t>
            </a:r>
            <a:endParaRPr b="0" i="0" sz="1000" u="none" cap="none" strike="noStrike">
              <a:solidFill>
                <a:schemeClr val="dk1"/>
              </a:solidFill>
              <a:latin typeface="Calibri"/>
              <a:ea typeface="Calibri"/>
              <a:cs typeface="Calibri"/>
              <a:sym typeface="Calibri"/>
            </a:endParaRPr>
          </a:p>
        </p:txBody>
      </p:sp>
      <p:sp>
        <p:nvSpPr>
          <p:cNvPr id="46" name="Google Shape;46;p6"/>
          <p:cNvSpPr/>
          <p:nvPr/>
        </p:nvSpPr>
        <p:spPr>
          <a:xfrm>
            <a:off x="3457575" y="1551161"/>
            <a:ext cx="222885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Ranked Choice &amp; Hash Chain</a:t>
            </a:r>
            <a:endParaRPr b="0" i="0" sz="1500" u="none" cap="none" strike="noStrike">
              <a:solidFill>
                <a:schemeClr val="dk1"/>
              </a:solidFill>
              <a:latin typeface="Calibri"/>
              <a:ea typeface="Calibri"/>
              <a:cs typeface="Calibri"/>
              <a:sym typeface="Calibri"/>
            </a:endParaRPr>
          </a:p>
        </p:txBody>
      </p:sp>
      <p:sp>
        <p:nvSpPr>
          <p:cNvPr id="47" name="Google Shape;47;p6"/>
          <p:cNvSpPr/>
          <p:nvPr/>
        </p:nvSpPr>
        <p:spPr>
          <a:xfrm>
            <a:off x="3457575" y="2125042"/>
            <a:ext cx="2228850" cy="187821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Let voters rank candidates, then use Instant-Runoff Voting (IRV). Host organizations in one tenant-scoped schema; separate voter identity from ballot content; link audit records in a hash chain. </a:t>
            </a:r>
            <a:endParaRPr b="0" i="0" sz="1300" u="none" cap="none" strike="noStrike">
              <a:solidFill>
                <a:schemeClr val="dk1"/>
              </a:solidFill>
              <a:latin typeface="Calibri"/>
              <a:ea typeface="Calibri"/>
              <a:cs typeface="Calibri"/>
              <a:sym typeface="Calibri"/>
            </a:endParaRPr>
          </a:p>
        </p:txBody>
      </p:sp>
      <p:sp>
        <p:nvSpPr>
          <p:cNvPr id="48" name="Google Shape;48;p6"/>
          <p:cNvSpPr/>
          <p:nvPr/>
        </p:nvSpPr>
        <p:spPr>
          <a:xfrm>
            <a:off x="60960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a:off x="6276975" y="1203424"/>
            <a:ext cx="884039"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6374085" y="1251942"/>
            <a:ext cx="1147018"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OUTCOME</a:t>
            </a:r>
            <a:endParaRPr b="0" i="0" sz="1000" u="none" cap="none" strike="noStrike">
              <a:solidFill>
                <a:schemeClr val="dk1"/>
              </a:solidFill>
              <a:latin typeface="Calibri"/>
              <a:ea typeface="Calibri"/>
              <a:cs typeface="Calibri"/>
              <a:sym typeface="Calibri"/>
            </a:endParaRPr>
          </a:p>
        </p:txBody>
      </p:sp>
      <p:sp>
        <p:nvSpPr>
          <p:cNvPr id="51" name="Google Shape;51;p6"/>
          <p:cNvSpPr/>
          <p:nvPr/>
        </p:nvSpPr>
        <p:spPr>
          <a:xfrm>
            <a:off x="62769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Reusable Web Service</a:t>
            </a:r>
            <a:endParaRPr b="0" i="0" sz="1500" u="none" cap="none" strike="noStrike">
              <a:solidFill>
                <a:schemeClr val="dk1"/>
              </a:solidFill>
              <a:latin typeface="Calibri"/>
              <a:ea typeface="Calibri"/>
              <a:cs typeface="Calibri"/>
              <a:sym typeface="Calibri"/>
            </a:endParaRPr>
          </a:p>
        </p:txBody>
      </p:sp>
      <p:sp>
        <p:nvSpPr>
          <p:cNvPr id="52" name="Google Shape;52;p6"/>
          <p:cNvSpPr/>
          <p:nvPr/>
        </p:nvSpPr>
        <p:spPr>
          <a:xfrm>
            <a:off x="6276975" y="1896442"/>
            <a:ext cx="2228850" cy="1408658"/>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A reusable, multi-organization web service (with a public HTTPS link and QR phone voting), designed for a continuing-ballot majority winner, detectable record changes, and a secret ballot.</a:t>
            </a:r>
            <a:endParaRPr b="0" i="0" sz="1300" u="none" cap="none" strike="noStrike">
              <a:solidFill>
                <a:schemeClr val="dk1"/>
              </a:solidFill>
              <a:latin typeface="Calibri"/>
              <a:ea typeface="Calibri"/>
              <a:cs typeface="Calibri"/>
              <a:sym typeface="Calibri"/>
            </a:endParaRPr>
          </a:p>
        </p:txBody>
      </p:sp>
      <p:sp>
        <p:nvSpPr>
          <p:cNvPr id="53" name="Google Shape;53;p6"/>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3</a:t>
            </a:r>
            <a:endParaRPr b="0" i="0" sz="950" u="none" cap="none" strike="noStrike">
              <a:solidFill>
                <a:schemeClr val="dk1"/>
              </a:solidFill>
              <a:latin typeface="Calibri"/>
              <a:ea typeface="Calibri"/>
              <a:cs typeface="Calibri"/>
              <a:sym typeface="Calibri"/>
            </a:endParaRPr>
          </a:p>
        </p:txBody>
      </p:sp>
      <p:sp>
        <p:nvSpPr>
          <p:cNvPr id="54" name="Google Shape;54;p6"/>
          <p:cNvSpPr/>
          <p:nvPr/>
        </p:nvSpPr>
        <p:spPr>
          <a:xfrm>
            <a:off x="8061875" y="4839725"/>
            <a:ext cx="1015800" cy="242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p:nvPr/>
        </p:nvSpPr>
        <p:spPr>
          <a:xfrm>
            <a:off x="457200" y="457200"/>
            <a:ext cx="8686800" cy="1412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CORE ARCHITECTURE</a:t>
            </a:r>
            <a:endParaRPr b="0" i="0" sz="950" u="none" cap="none" strike="noStrike">
              <a:solidFill>
                <a:schemeClr val="dk1"/>
              </a:solidFill>
              <a:latin typeface="Calibri"/>
              <a:ea typeface="Calibri"/>
              <a:cs typeface="Calibri"/>
              <a:sym typeface="Calibri"/>
            </a:endParaRPr>
          </a:p>
        </p:txBody>
      </p:sp>
      <p:sp>
        <p:nvSpPr>
          <p:cNvPr id="61" name="Google Shape;61;p7"/>
          <p:cNvSpPr/>
          <p:nvPr/>
        </p:nvSpPr>
        <p:spPr>
          <a:xfrm>
            <a:off x="457200" y="663582"/>
            <a:ext cx="8229600" cy="298772"/>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150"/>
              <a:buFont typeface="Inter"/>
              <a:buNone/>
            </a:pPr>
            <a:r>
              <a:rPr b="1" i="0" lang="en-US" sz="2150" u="none" cap="none" strike="noStrike">
                <a:solidFill>
                  <a:srgbClr val="1B2A55"/>
                </a:solidFill>
                <a:latin typeface="Inter"/>
                <a:ea typeface="Inter"/>
                <a:cs typeface="Inter"/>
                <a:sym typeface="Inter"/>
              </a:rPr>
              <a:t>Six database techniques make the platform work</a:t>
            </a:r>
            <a:endParaRPr b="0" i="0" sz="2150" u="none" cap="none" strike="noStrike">
              <a:solidFill>
                <a:schemeClr val="dk1"/>
              </a:solidFill>
              <a:latin typeface="Calibri"/>
              <a:ea typeface="Calibri"/>
              <a:cs typeface="Calibri"/>
              <a:sym typeface="Calibri"/>
            </a:endParaRPr>
          </a:p>
        </p:txBody>
      </p:sp>
      <p:sp>
        <p:nvSpPr>
          <p:cNvPr id="62" name="Google Shape;62;p7"/>
          <p:cNvSpPr/>
          <p:nvPr/>
        </p:nvSpPr>
        <p:spPr>
          <a:xfrm>
            <a:off x="45720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7"/>
          <p:cNvSpPr/>
          <p:nvPr/>
        </p:nvSpPr>
        <p:spPr>
          <a:xfrm>
            <a:off x="61912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p:nvPr/>
        </p:nvSpPr>
        <p:spPr>
          <a:xfrm>
            <a:off x="704924" y="1248594"/>
            <a:ext cx="554831"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1</a:t>
            </a:r>
            <a:endParaRPr b="0" i="0" sz="1800" u="none" cap="none" strike="noStrike">
              <a:solidFill>
                <a:schemeClr val="dk1"/>
              </a:solidFill>
              <a:latin typeface="Calibri"/>
              <a:ea typeface="Calibri"/>
              <a:cs typeface="Calibri"/>
              <a:sym typeface="Calibri"/>
            </a:endParaRPr>
          </a:p>
        </p:txBody>
      </p:sp>
      <p:sp>
        <p:nvSpPr>
          <p:cNvPr id="65" name="Google Shape;65;p7"/>
          <p:cNvSpPr/>
          <p:nvPr/>
        </p:nvSpPr>
        <p:spPr>
          <a:xfrm>
            <a:off x="964629" y="1272406"/>
            <a:ext cx="201669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Multi-Tenant Schema</a:t>
            </a:r>
            <a:endParaRPr b="0" i="0" sz="1450" u="none" cap="none" strike="noStrike">
              <a:solidFill>
                <a:schemeClr val="dk1"/>
              </a:solidFill>
              <a:latin typeface="Calibri"/>
              <a:ea typeface="Calibri"/>
              <a:cs typeface="Calibri"/>
              <a:sym typeface="Calibri"/>
            </a:endParaRPr>
          </a:p>
        </p:txBody>
      </p:sp>
      <p:sp>
        <p:nvSpPr>
          <p:cNvPr id="66" name="Google Shape;66;p7"/>
          <p:cNvSpPr/>
          <p:nvPr/>
        </p:nvSpPr>
        <p:spPr>
          <a:xfrm>
            <a:off x="964629" y="1594991"/>
            <a:ext cx="201669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One shared relational schema isolates tenant institutions through foreign-key predicates and row-level policies.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3257550" y="1086445"/>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341947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7"/>
          <p:cNvSpPr/>
          <p:nvPr/>
        </p:nvSpPr>
        <p:spPr>
          <a:xfrm>
            <a:off x="3482206" y="1248594"/>
            <a:ext cx="60104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2</a:t>
            </a:r>
            <a:endParaRPr b="0" i="0" sz="1800" u="none" cap="none" strike="noStrike">
              <a:solidFill>
                <a:schemeClr val="dk1"/>
              </a:solidFill>
              <a:latin typeface="Calibri"/>
              <a:ea typeface="Calibri"/>
              <a:cs typeface="Calibri"/>
              <a:sym typeface="Calibri"/>
            </a:endParaRPr>
          </a:p>
        </p:txBody>
      </p:sp>
      <p:sp>
        <p:nvSpPr>
          <p:cNvPr id="70" name="Google Shape;70;p7"/>
          <p:cNvSpPr/>
          <p:nvPr/>
        </p:nvSpPr>
        <p:spPr>
          <a:xfrm>
            <a:off x="3764979" y="1272406"/>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Instant-Runoff Tally</a:t>
            </a:r>
            <a:endParaRPr b="0" i="0" sz="1450" u="none" cap="none" strike="noStrike">
              <a:solidFill>
                <a:schemeClr val="dk1"/>
              </a:solidFill>
              <a:latin typeface="Calibri"/>
              <a:ea typeface="Calibri"/>
              <a:cs typeface="Calibri"/>
              <a:sym typeface="Calibri"/>
            </a:endParaRPr>
          </a:p>
        </p:txBody>
      </p:sp>
      <p:sp>
        <p:nvSpPr>
          <p:cNvPr id="71" name="Google Shape;71;p7"/>
          <p:cNvSpPr/>
          <p:nvPr/>
        </p:nvSpPr>
        <p:spPr>
          <a:xfrm>
            <a:off x="3764979" y="1594991"/>
            <a:ext cx="195954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Tallies first choices, eliminates lowest candidates iteratively, and redistributes votes until reaching a true majority.</a:t>
            </a:r>
            <a:endParaRPr b="0" i="0" sz="1050" u="none" cap="none" strike="noStrike">
              <a:solidFill>
                <a:schemeClr val="dk1"/>
              </a:solidFill>
              <a:latin typeface="Calibri"/>
              <a:ea typeface="Calibri"/>
              <a:cs typeface="Calibri"/>
              <a:sym typeface="Calibri"/>
            </a:endParaRPr>
          </a:p>
        </p:txBody>
      </p:sp>
      <p:sp>
        <p:nvSpPr>
          <p:cNvPr id="72" name="Google Shape;72;p7"/>
          <p:cNvSpPr/>
          <p:nvPr/>
        </p:nvSpPr>
        <p:spPr>
          <a:xfrm>
            <a:off x="600075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6162675" y="1229320"/>
            <a:ext cx="271463" cy="271463"/>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6224960" y="1249635"/>
            <a:ext cx="604093"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3</a:t>
            </a:r>
            <a:endParaRPr b="0" i="0" sz="1800" u="none" cap="none" strike="noStrike">
              <a:solidFill>
                <a:schemeClr val="dk1"/>
              </a:solidFill>
              <a:latin typeface="Calibri"/>
              <a:ea typeface="Calibri"/>
              <a:cs typeface="Calibri"/>
              <a:sym typeface="Calibri"/>
            </a:endParaRPr>
          </a:p>
        </p:txBody>
      </p:sp>
      <p:sp>
        <p:nvSpPr>
          <p:cNvPr id="75" name="Google Shape;75;p7"/>
          <p:cNvSpPr/>
          <p:nvPr/>
        </p:nvSpPr>
        <p:spPr>
          <a:xfrm>
            <a:off x="6510338" y="1273448"/>
            <a:ext cx="2014538" cy="4344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Keyed Hash Chaining</a:t>
            </a:r>
            <a:endParaRPr b="0" i="0" sz="1450" u="none" cap="none" strike="noStrike">
              <a:solidFill>
                <a:schemeClr val="dk1"/>
              </a:solidFill>
              <a:latin typeface="Calibri"/>
              <a:ea typeface="Calibri"/>
              <a:cs typeface="Calibri"/>
              <a:sym typeface="Calibri"/>
            </a:endParaRPr>
          </a:p>
        </p:txBody>
      </p:sp>
      <p:sp>
        <p:nvSpPr>
          <p:cNvPr id="76" name="Google Shape;76;p7"/>
          <p:cNvSpPr/>
          <p:nvPr/>
        </p:nvSpPr>
        <p:spPr>
          <a:xfrm>
            <a:off x="6510338" y="1813247"/>
            <a:ext cx="2014538"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Every vote event references its prior block digest and is sealed with an HMAC key, so retro-edits fail verification.</a:t>
            </a:r>
            <a:endParaRPr b="0" i="0" sz="1050" u="none" cap="none" strike="noStrike">
              <a:solidFill>
                <a:schemeClr val="dk1"/>
              </a:solidFill>
              <a:latin typeface="Calibri"/>
              <a:ea typeface="Calibri"/>
              <a:cs typeface="Calibri"/>
              <a:sym typeface="Calibri"/>
            </a:endParaRPr>
          </a:p>
        </p:txBody>
      </p:sp>
      <p:sp>
        <p:nvSpPr>
          <p:cNvPr id="77" name="Google Shape;77;p7"/>
          <p:cNvSpPr/>
          <p:nvPr/>
        </p:nvSpPr>
        <p:spPr>
          <a:xfrm>
            <a:off x="45720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619125" y="3173239"/>
            <a:ext cx="278309" cy="278309"/>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681410" y="3196977"/>
            <a:ext cx="610939"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4</a:t>
            </a:r>
            <a:endParaRPr b="0" i="0" sz="1800" u="none" cap="none" strike="noStrike">
              <a:solidFill>
                <a:schemeClr val="dk1"/>
              </a:solidFill>
              <a:latin typeface="Calibri"/>
              <a:ea typeface="Calibri"/>
              <a:cs typeface="Calibri"/>
              <a:sym typeface="Calibri"/>
            </a:endParaRPr>
          </a:p>
        </p:txBody>
      </p:sp>
      <p:sp>
        <p:nvSpPr>
          <p:cNvPr id="80" name="Google Shape;80;p7"/>
          <p:cNvSpPr/>
          <p:nvPr/>
        </p:nvSpPr>
        <p:spPr>
          <a:xfrm>
            <a:off x="973634" y="3220789"/>
            <a:ext cx="2007691"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Polyglot Persistence</a:t>
            </a:r>
            <a:endParaRPr b="0" i="0" sz="1450" u="none" cap="none" strike="noStrike">
              <a:solidFill>
                <a:schemeClr val="dk1"/>
              </a:solidFill>
              <a:latin typeface="Calibri"/>
              <a:ea typeface="Calibri"/>
              <a:cs typeface="Calibri"/>
              <a:sym typeface="Calibri"/>
            </a:endParaRPr>
          </a:p>
        </p:txBody>
      </p:sp>
      <p:sp>
        <p:nvSpPr>
          <p:cNvPr id="81" name="Google Shape;81;p7"/>
          <p:cNvSpPr/>
          <p:nvPr/>
        </p:nvSpPr>
        <p:spPr>
          <a:xfrm>
            <a:off x="973634" y="3543374"/>
            <a:ext cx="2007691"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A relational store (SQLite) keeps structured entities; the audit ledger lives in MongoDB Atlas, with a local-file fallback.</a:t>
            </a:r>
            <a:endParaRPr b="0" i="0" sz="1050" u="none" cap="none" strike="noStrike">
              <a:solidFill>
                <a:schemeClr val="dk1"/>
              </a:solidFill>
              <a:latin typeface="Calibri"/>
              <a:ea typeface="Calibri"/>
              <a:cs typeface="Calibri"/>
              <a:sym typeface="Calibri"/>
            </a:endParaRPr>
          </a:p>
        </p:txBody>
      </p:sp>
      <p:sp>
        <p:nvSpPr>
          <p:cNvPr id="82" name="Google Shape;82;p7"/>
          <p:cNvSpPr/>
          <p:nvPr/>
        </p:nvSpPr>
        <p:spPr>
          <a:xfrm>
            <a:off x="3257550" y="3030364"/>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3419475" y="3173239"/>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483397" y="3192512"/>
            <a:ext cx="598587"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5</a:t>
            </a:r>
            <a:endParaRPr b="0" i="0" sz="1800" u="none" cap="none" strike="noStrike">
              <a:solidFill>
                <a:schemeClr val="dk1"/>
              </a:solidFill>
              <a:latin typeface="Calibri"/>
              <a:ea typeface="Calibri"/>
              <a:cs typeface="Calibri"/>
              <a:sym typeface="Calibri"/>
            </a:endParaRPr>
          </a:p>
        </p:txBody>
      </p:sp>
      <p:sp>
        <p:nvSpPr>
          <p:cNvPr id="85" name="Google Shape;85;p7"/>
          <p:cNvSpPr/>
          <p:nvPr/>
        </p:nvSpPr>
        <p:spPr>
          <a:xfrm>
            <a:off x="3764979" y="3216325"/>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Integrity</a:t>
            </a:r>
            <a:endParaRPr b="0" i="0" sz="1450" u="none" cap="none" strike="noStrike">
              <a:solidFill>
                <a:schemeClr val="dk1"/>
              </a:solidFill>
              <a:latin typeface="Calibri"/>
              <a:ea typeface="Calibri"/>
              <a:cs typeface="Calibri"/>
              <a:sym typeface="Calibri"/>
            </a:endParaRPr>
          </a:p>
        </p:txBody>
      </p:sp>
      <p:sp>
        <p:nvSpPr>
          <p:cNvPr id="86" name="Google Shape;86;p7"/>
          <p:cNvSpPr/>
          <p:nvPr/>
        </p:nvSpPr>
        <p:spPr>
          <a:xfrm>
            <a:off x="3764979" y="3538910"/>
            <a:ext cx="1959546"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UNIQUE and CHECK constraints plus a trigger block duplicate participation independently of application logic, backed by a five-rule integrity sweep.</a:t>
            </a:r>
            <a:endParaRPr b="0" i="0" sz="1050" u="none" cap="none" strike="noStrike">
              <a:solidFill>
                <a:schemeClr val="dk1"/>
              </a:solidFill>
              <a:latin typeface="Calibri"/>
              <a:ea typeface="Calibri"/>
              <a:cs typeface="Calibri"/>
              <a:sym typeface="Calibri"/>
            </a:endParaRPr>
          </a:p>
        </p:txBody>
      </p:sp>
      <p:sp>
        <p:nvSpPr>
          <p:cNvPr id="87" name="Google Shape;87;p7"/>
          <p:cNvSpPr/>
          <p:nvPr/>
        </p:nvSpPr>
        <p:spPr>
          <a:xfrm>
            <a:off x="600075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6162675" y="3173239"/>
            <a:ext cx="272281" cy="272281"/>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7"/>
          <p:cNvSpPr/>
          <p:nvPr/>
        </p:nvSpPr>
        <p:spPr>
          <a:xfrm>
            <a:off x="6224960" y="3194000"/>
            <a:ext cx="60491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6</a:t>
            </a:r>
            <a:endParaRPr b="0" i="0" sz="1800" u="none" cap="none" strike="noStrike">
              <a:solidFill>
                <a:schemeClr val="dk1"/>
              </a:solidFill>
              <a:latin typeface="Calibri"/>
              <a:ea typeface="Calibri"/>
              <a:cs typeface="Calibri"/>
              <a:sym typeface="Calibri"/>
            </a:endParaRPr>
          </a:p>
        </p:txBody>
      </p:sp>
      <p:sp>
        <p:nvSpPr>
          <p:cNvPr id="90" name="Google Shape;90;p7"/>
          <p:cNvSpPr/>
          <p:nvPr/>
        </p:nvSpPr>
        <p:spPr>
          <a:xfrm>
            <a:off x="6511156" y="3217813"/>
            <a:ext cx="2013719"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Public Hosting</a:t>
            </a:r>
            <a:endParaRPr b="0" i="0" sz="1450" u="none" cap="none" strike="noStrike">
              <a:solidFill>
                <a:schemeClr val="dk1"/>
              </a:solidFill>
              <a:latin typeface="Calibri"/>
              <a:ea typeface="Calibri"/>
              <a:cs typeface="Calibri"/>
              <a:sym typeface="Calibri"/>
            </a:endParaRPr>
          </a:p>
        </p:txBody>
      </p:sp>
      <p:sp>
        <p:nvSpPr>
          <p:cNvPr id="91" name="Google Shape;91;p7"/>
          <p:cNvSpPr/>
          <p:nvPr/>
        </p:nvSpPr>
        <p:spPr>
          <a:xfrm>
            <a:off x="6511156" y="3540398"/>
            <a:ext cx="2013719"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Runs as one web service (API and UI) behind a public HTTPS link, with QR phone voting and a free-tier hosted demo configured.</a:t>
            </a:r>
            <a:endParaRPr b="0" i="0" sz="1050" u="none" cap="none" strike="noStrike">
              <a:solidFill>
                <a:schemeClr val="dk1"/>
              </a:solidFill>
              <a:latin typeface="Calibri"/>
              <a:ea typeface="Calibri"/>
              <a:cs typeface="Calibri"/>
              <a:sym typeface="Calibri"/>
            </a:endParaRPr>
          </a:p>
        </p:txBody>
      </p:sp>
      <p:sp>
        <p:nvSpPr>
          <p:cNvPr id="92" name="Google Shape;92;p7"/>
          <p:cNvSpPr/>
          <p:nvPr/>
        </p:nvSpPr>
        <p:spPr>
          <a:xfrm>
            <a:off x="457200" y="4991174"/>
            <a:ext cx="8686800" cy="15887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4</a:t>
            </a:r>
            <a:endParaRPr b="0" i="0" sz="950" u="none" cap="none" strike="noStrike">
              <a:solidFill>
                <a:schemeClr val="dk1"/>
              </a:solidFill>
              <a:latin typeface="Calibri"/>
              <a:ea typeface="Calibri"/>
              <a:cs typeface="Calibri"/>
              <a:sym typeface="Calibri"/>
            </a:endParaRPr>
          </a:p>
        </p:txBody>
      </p:sp>
      <p:sp>
        <p:nvSpPr>
          <p:cNvPr id="93" name="Google Shape;93;p7"/>
          <p:cNvSpPr/>
          <p:nvPr/>
        </p:nvSpPr>
        <p:spPr>
          <a:xfrm>
            <a:off x="8061875" y="4860400"/>
            <a:ext cx="1043700" cy="2310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8"/>
          <p:cNvSpPr/>
          <p:nvPr/>
        </p:nvSpPr>
        <p:spPr>
          <a:xfrm>
            <a:off x="457200" y="457200"/>
            <a:ext cx="8686800" cy="10685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700"/>
              <a:buFont typeface="Inter"/>
              <a:buNone/>
            </a:pPr>
            <a:r>
              <a:rPr b="1" i="0" lang="en-US" sz="700" u="none" cap="none" strike="noStrike">
                <a:solidFill>
                  <a:srgbClr val="1B2A55"/>
                </a:solidFill>
                <a:latin typeface="Inter"/>
                <a:ea typeface="Inter"/>
                <a:cs typeface="Inter"/>
                <a:sym typeface="Inter"/>
              </a:rPr>
              <a:t>THEORETICAL FOUNDATION</a:t>
            </a:r>
            <a:endParaRPr b="0" i="0" sz="700" u="none" cap="none" strike="noStrike">
              <a:solidFill>
                <a:schemeClr val="dk1"/>
              </a:solidFill>
              <a:latin typeface="Calibri"/>
              <a:ea typeface="Calibri"/>
              <a:cs typeface="Calibri"/>
              <a:sym typeface="Calibri"/>
            </a:endParaRPr>
          </a:p>
        </p:txBody>
      </p:sp>
      <p:sp>
        <p:nvSpPr>
          <p:cNvPr id="100" name="Google Shape;100;p8"/>
          <p:cNvSpPr/>
          <p:nvPr/>
        </p:nvSpPr>
        <p:spPr>
          <a:xfrm>
            <a:off x="457200" y="602068"/>
            <a:ext cx="8229600" cy="226144"/>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600"/>
              <a:buFont typeface="Inter"/>
              <a:buNone/>
            </a:pPr>
            <a:r>
              <a:rPr b="1" i="0" lang="en-US" sz="1600" u="none" cap="none" strike="noStrike">
                <a:solidFill>
                  <a:srgbClr val="1B2A55"/>
                </a:solidFill>
                <a:latin typeface="Inter"/>
                <a:ea typeface="Inter"/>
                <a:cs typeface="Inter"/>
                <a:sym typeface="Inter"/>
              </a:rPr>
              <a:t>Six studies frame PolyVote’s design choices</a:t>
            </a:r>
            <a:endParaRPr b="0" i="0" sz="1600" u="none" cap="none" strike="noStrike">
              <a:solidFill>
                <a:schemeClr val="dk1"/>
              </a:solidFill>
              <a:latin typeface="Calibri"/>
              <a:ea typeface="Calibri"/>
              <a:cs typeface="Calibri"/>
              <a:sym typeface="Calibri"/>
            </a:endParaRPr>
          </a:p>
        </p:txBody>
      </p:sp>
      <p:graphicFrame>
        <p:nvGraphicFramePr>
          <p:cNvPr id="101" name="Google Shape;101;p8"/>
          <p:cNvGraphicFramePr/>
          <p:nvPr/>
        </p:nvGraphicFramePr>
        <p:xfrm>
          <a:off x="457188" y="866224"/>
          <a:ext cx="3000000" cy="3000000"/>
        </p:xfrm>
        <a:graphic>
          <a:graphicData uri="http://schemas.openxmlformats.org/drawingml/2006/table">
            <a:tbl>
              <a:tblPr>
                <a:noFill/>
                <a:tableStyleId>{CF56F632-080D-41BD-B1F7-19A39A7C3095}</a:tableStyleId>
              </a:tblPr>
              <a:tblGrid>
                <a:gridCol w="493750"/>
                <a:gridCol w="1481300"/>
                <a:gridCol w="1234400"/>
                <a:gridCol w="1399025"/>
                <a:gridCol w="1152125"/>
                <a:gridCol w="1316675"/>
                <a:gridCol w="1152350"/>
              </a:tblGrid>
              <a:tr h="241100">
                <a:tc>
                  <a:txBody>
                    <a:bodyPr/>
                    <a:lstStyle/>
                    <a:p>
                      <a:pPr indent="0" lvl="0" marL="0" marR="0" rtl="0" algn="l">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Ref</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Author / Year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Theme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Technique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Tools /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Key Finding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Limitation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Aulbach et al. (2008)</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Multi-tenant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Schema Mapping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Relational DBs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Shared schema minimizes SaaS operational costs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DB privileges cannot block insider table edits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Haber &amp; Stornetta (1991)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Audit Trails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Hash Chaining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Timestamps, SHA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Chained block digests establish tamper evidence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Requires external verification monitor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[3]</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Sadalage &amp; Fowler (2012)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Polyglot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Hybrid SQL/NoSQL</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Dual DB Engines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Specialized engines optimize discrete access patterns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Cross-database distributed consistency overhead</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Chaum (2004)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Voter Privacy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Pseudonym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Crypto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Decouples eligibility registry from cast ballots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Relies on physical printer hardware verification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[5]</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Crosby &amp; Wallach (2009)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Authenticated Logs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Merkle History Trees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Tree-based Hashes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Enables lightweight, verifiable history membership</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 generation adds computational latency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684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[6]</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Blom et al. (2019)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IRV Auditing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Risk-Limiting Audit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Cast Vote Records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Mathematical audit proofs across elimination rounds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Assumes physical paper ballots for recount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102" name="Google Shape;102;p8"/>
          <p:cNvSpPr/>
          <p:nvPr/>
        </p:nvSpPr>
        <p:spPr>
          <a:xfrm>
            <a:off x="457200" y="5052566"/>
            <a:ext cx="8686800" cy="120179"/>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700"/>
              <a:buFont typeface="Inter Medium"/>
              <a:buNone/>
            </a:pPr>
            <a:r>
              <a:rPr b="0" i="0" lang="en-US" sz="700" u="none" cap="none" strike="noStrike">
                <a:solidFill>
                  <a:srgbClr val="666A78"/>
                </a:solidFill>
                <a:latin typeface="Inter Medium"/>
                <a:ea typeface="Inter Medium"/>
                <a:cs typeface="Inter Medium"/>
                <a:sym typeface="Inter Medium"/>
              </a:rPr>
              <a:t>BACSE202 – Database Systems | Review 3 | Fall Semester 2026 · Slide 5</a:t>
            </a:r>
            <a:endParaRPr b="0" i="0" sz="700" u="none" cap="none" strike="noStrike">
              <a:solidFill>
                <a:schemeClr val="dk1"/>
              </a:solidFill>
              <a:latin typeface="Calibri"/>
              <a:ea typeface="Calibri"/>
              <a:cs typeface="Calibri"/>
              <a:sym typeface="Calibri"/>
            </a:endParaRPr>
          </a:p>
        </p:txBody>
      </p:sp>
      <p:sp>
        <p:nvSpPr>
          <p:cNvPr id="103" name="Google Shape;103;p8"/>
          <p:cNvSpPr/>
          <p:nvPr/>
        </p:nvSpPr>
        <p:spPr>
          <a:xfrm>
            <a:off x="8051300" y="4872600"/>
            <a:ext cx="1037400" cy="226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9"/>
          <p:cNvSpPr/>
          <p:nvPr/>
        </p:nvSpPr>
        <p:spPr>
          <a:xfrm>
            <a:off x="457200" y="457200"/>
            <a:ext cx="8686800" cy="125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800"/>
              <a:buFont typeface="Inter"/>
              <a:buNone/>
            </a:pPr>
            <a:r>
              <a:rPr b="1" i="0" lang="en-US" sz="800" u="none" cap="none" strike="noStrike">
                <a:solidFill>
                  <a:srgbClr val="1B2A55"/>
                </a:solidFill>
                <a:latin typeface="Inter"/>
                <a:ea typeface="Inter"/>
                <a:cs typeface="Inter"/>
                <a:sym typeface="Inter"/>
              </a:rPr>
              <a:t>RESEARCH GAPS &amp; TAMPER MODEL</a:t>
            </a:r>
            <a:endParaRPr b="0" i="0" sz="800" u="none" cap="none" strike="noStrike">
              <a:solidFill>
                <a:schemeClr val="dk1"/>
              </a:solidFill>
              <a:latin typeface="Calibri"/>
              <a:ea typeface="Calibri"/>
              <a:cs typeface="Calibri"/>
              <a:sym typeface="Calibri"/>
            </a:endParaRPr>
          </a:p>
        </p:txBody>
      </p:sp>
      <p:sp>
        <p:nvSpPr>
          <p:cNvPr id="110" name="Google Shape;110;p9"/>
          <p:cNvSpPr/>
          <p:nvPr/>
        </p:nvSpPr>
        <p:spPr>
          <a:xfrm>
            <a:off x="457200" y="633067"/>
            <a:ext cx="8229600" cy="264393"/>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900"/>
              <a:buFont typeface="Inter"/>
              <a:buNone/>
            </a:pPr>
            <a:r>
              <a:rPr b="1" i="0" lang="en-US" sz="1900" u="none" cap="none" strike="noStrike">
                <a:solidFill>
                  <a:srgbClr val="1B2A55"/>
                </a:solidFill>
                <a:latin typeface="Inter"/>
                <a:ea typeface="Inter"/>
                <a:cs typeface="Inter"/>
                <a:sym typeface="Inter"/>
              </a:rPr>
              <a:t>Four gaps remain between auditability and usable digital voting</a:t>
            </a:r>
            <a:endParaRPr b="0" i="0" sz="1900" u="none" cap="none" strike="noStrike">
              <a:solidFill>
                <a:schemeClr val="dk1"/>
              </a:solidFill>
              <a:latin typeface="Calibri"/>
              <a:ea typeface="Calibri"/>
              <a:cs typeface="Calibri"/>
              <a:sym typeface="Calibri"/>
            </a:endParaRPr>
          </a:p>
        </p:txBody>
      </p:sp>
      <p:sp>
        <p:nvSpPr>
          <p:cNvPr id="111" name="Google Shape;111;p9"/>
          <p:cNvSpPr/>
          <p:nvPr/>
        </p:nvSpPr>
        <p:spPr>
          <a:xfrm>
            <a:off x="457200" y="994767"/>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9"/>
          <p:cNvSpPr/>
          <p:nvPr/>
        </p:nvSpPr>
        <p:spPr>
          <a:xfrm>
            <a:off x="600075" y="1099542"/>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G1 · Multi-Tenant Isolation [1]</a:t>
            </a:r>
            <a:endParaRPr b="0" i="0" sz="1250" u="none" cap="none" strike="noStrike">
              <a:solidFill>
                <a:schemeClr val="dk1"/>
              </a:solidFill>
              <a:latin typeface="Calibri"/>
              <a:ea typeface="Calibri"/>
              <a:cs typeface="Calibri"/>
              <a:sym typeface="Calibri"/>
            </a:endParaRPr>
          </a:p>
        </p:txBody>
      </p:sp>
      <p:sp>
        <p:nvSpPr>
          <p:cNvPr id="113" name="Google Shape;113;p9"/>
          <p:cNvSpPr/>
          <p:nvPr/>
        </p:nvSpPr>
        <p:spPr>
          <a:xfrm>
            <a:off x="600075" y="1374279"/>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Shared schemas rely on DBMS privileges; rogue root DBAs can modify election rows undetected without cryptographic ledgers.</a:t>
            </a:r>
            <a:endParaRPr b="0" i="0" sz="950" u="none" cap="none" strike="noStrike">
              <a:solidFill>
                <a:schemeClr val="dk1"/>
              </a:solidFill>
              <a:latin typeface="Calibri"/>
              <a:ea typeface="Calibri"/>
              <a:cs typeface="Calibri"/>
              <a:sym typeface="Calibri"/>
            </a:endParaRPr>
          </a:p>
        </p:txBody>
      </p:sp>
      <p:sp>
        <p:nvSpPr>
          <p:cNvPr id="114" name="Google Shape;114;p9"/>
          <p:cNvSpPr/>
          <p:nvPr/>
        </p:nvSpPr>
        <p:spPr>
          <a:xfrm>
            <a:off x="457200" y="2074441"/>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600075" y="2179216"/>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G2 · Passive Audit Logs [2, 5]</a:t>
            </a:r>
            <a:endParaRPr b="0" i="0" sz="1250" u="none" cap="none" strike="noStrike">
              <a:solidFill>
                <a:schemeClr val="dk1"/>
              </a:solidFill>
              <a:latin typeface="Calibri"/>
              <a:ea typeface="Calibri"/>
              <a:cs typeface="Calibri"/>
              <a:sym typeface="Calibri"/>
            </a:endParaRPr>
          </a:p>
        </p:txBody>
      </p:sp>
      <p:sp>
        <p:nvSpPr>
          <p:cNvPr id="116" name="Google Shape;116;p9"/>
          <p:cNvSpPr/>
          <p:nvPr/>
        </p:nvSpPr>
        <p:spPr>
          <a:xfrm>
            <a:off x="600075" y="2453953"/>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Hash chains record history, but tamper evidence fails unless active automated verification routines routinely validate digests.</a:t>
            </a:r>
            <a:endParaRPr b="0" i="0" sz="950" u="none" cap="none" strike="noStrike">
              <a:solidFill>
                <a:schemeClr val="dk1"/>
              </a:solidFill>
              <a:latin typeface="Calibri"/>
              <a:ea typeface="Calibri"/>
              <a:cs typeface="Calibri"/>
              <a:sym typeface="Calibri"/>
            </a:endParaRPr>
          </a:p>
        </p:txBody>
      </p:sp>
      <p:sp>
        <p:nvSpPr>
          <p:cNvPr id="117" name="Google Shape;117;p9"/>
          <p:cNvSpPr/>
          <p:nvPr/>
        </p:nvSpPr>
        <p:spPr>
          <a:xfrm>
            <a:off x="457200" y="3154114"/>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600075" y="3258889"/>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G3 · Paper-Dependent Privacy [4]</a:t>
            </a:r>
            <a:endParaRPr b="0" i="0" sz="1250" u="none" cap="none" strike="noStrike">
              <a:solidFill>
                <a:schemeClr val="dk1"/>
              </a:solidFill>
              <a:latin typeface="Calibri"/>
              <a:ea typeface="Calibri"/>
              <a:cs typeface="Calibri"/>
              <a:sym typeface="Calibri"/>
            </a:endParaRPr>
          </a:p>
        </p:txBody>
      </p:sp>
      <p:sp>
        <p:nvSpPr>
          <p:cNvPr id="119" name="Google Shape;119;p9"/>
          <p:cNvSpPr/>
          <p:nvPr/>
        </p:nvSpPr>
        <p:spPr>
          <a:xfrm>
            <a:off x="600075" y="3533626"/>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Cryptographic receipts traditionally demand specialized in-person printers, proving unusable for fully digital web voting.</a:t>
            </a:r>
            <a:endParaRPr b="0" i="0" sz="950" u="none" cap="none" strike="noStrike">
              <a:solidFill>
                <a:schemeClr val="dk1"/>
              </a:solidFill>
              <a:latin typeface="Calibri"/>
              <a:ea typeface="Calibri"/>
              <a:cs typeface="Calibri"/>
              <a:sym typeface="Calibri"/>
            </a:endParaRPr>
          </a:p>
        </p:txBody>
      </p:sp>
      <p:sp>
        <p:nvSpPr>
          <p:cNvPr id="120" name="Google Shape;120;p9"/>
          <p:cNvSpPr/>
          <p:nvPr/>
        </p:nvSpPr>
        <p:spPr>
          <a:xfrm>
            <a:off x="457200" y="4073426"/>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00075" y="4178201"/>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G4 · Paper-Reliant IRV Auditing [6]</a:t>
            </a:r>
            <a:endParaRPr b="0" i="0" sz="1250" u="none" cap="none" strike="noStrike">
              <a:solidFill>
                <a:schemeClr val="dk1"/>
              </a:solidFill>
              <a:latin typeface="Calibri"/>
              <a:ea typeface="Calibri"/>
              <a:cs typeface="Calibri"/>
              <a:sym typeface="Calibri"/>
            </a:endParaRPr>
          </a:p>
        </p:txBody>
      </p:sp>
      <p:sp>
        <p:nvSpPr>
          <p:cNvPr id="122" name="Google Shape;122;p9"/>
          <p:cNvSpPr/>
          <p:nvPr/>
        </p:nvSpPr>
        <p:spPr>
          <a:xfrm>
            <a:off x="600075" y="4452938"/>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Risk-limiting audits assume physical ballot boxes for manual recount; purely digital IRV workflows lack native auditability.</a:t>
            </a:r>
            <a:endParaRPr b="0" i="0" sz="950" u="none" cap="none" strike="noStrike">
              <a:solidFill>
                <a:schemeClr val="dk1"/>
              </a:solidFill>
              <a:latin typeface="Calibri"/>
              <a:ea typeface="Calibri"/>
              <a:cs typeface="Calibri"/>
              <a:sym typeface="Calibri"/>
            </a:endParaRPr>
          </a:p>
        </p:txBody>
      </p:sp>
      <p:sp>
        <p:nvSpPr>
          <p:cNvPr id="123" name="Google Shape;123;p9"/>
          <p:cNvSpPr/>
          <p:nvPr/>
        </p:nvSpPr>
        <p:spPr>
          <a:xfrm>
            <a:off x="4419526" y="994767"/>
            <a:ext cx="4267274" cy="3883670"/>
          </a:xfrm>
          <a:prstGeom prst="roundRect">
            <a:avLst>
              <a:gd fmla="val 3532"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4600501" y="1175742"/>
            <a:ext cx="3905324"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250"/>
              <a:buFont typeface="Inter"/>
              <a:buNone/>
            </a:pPr>
            <a:r>
              <a:rPr b="1" i="0" lang="en-US" sz="1250" u="none" cap="none" strike="noStrike">
                <a:solidFill>
                  <a:srgbClr val="1B2A55"/>
                </a:solidFill>
                <a:latin typeface="Inter"/>
                <a:ea typeface="Inter"/>
                <a:cs typeface="Inter"/>
                <a:sym typeface="Inter"/>
              </a:rPr>
              <a:t>PolyVote Hash Chain &amp; Tamper Verification</a:t>
            </a:r>
            <a:endParaRPr b="0" i="0" sz="1250" u="none" cap="none" strike="noStrike">
              <a:solidFill>
                <a:schemeClr val="dk1"/>
              </a:solidFill>
              <a:latin typeface="Calibri"/>
              <a:ea typeface="Calibri"/>
              <a:cs typeface="Calibri"/>
              <a:sym typeface="Calibri"/>
            </a:endParaRPr>
          </a:p>
        </p:txBody>
      </p:sp>
      <p:sp>
        <p:nvSpPr>
          <p:cNvPr id="125" name="Google Shape;125;p9"/>
          <p:cNvSpPr/>
          <p:nvPr/>
        </p:nvSpPr>
        <p:spPr>
          <a:xfrm>
            <a:off x="4600501" y="1450479"/>
            <a:ext cx="3905324"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1B2A55"/>
              </a:buClr>
              <a:buSzPts val="950"/>
              <a:buFont typeface="Inter"/>
              <a:buNone/>
            </a:pPr>
            <a:r>
              <a:rPr b="0" i="0" lang="en-US" sz="950" u="none" cap="none" strike="noStrike">
                <a:solidFill>
                  <a:srgbClr val="1B2A55"/>
                </a:solidFill>
                <a:latin typeface="Inter"/>
                <a:ea typeface="Inter"/>
                <a:cs typeface="Inter"/>
                <a:sym typeface="Inter"/>
              </a:rPr>
              <a:t>Each cast ballot generates an append-only JSON record linking its payload to the prior record hash.</a:t>
            </a:r>
            <a:endParaRPr b="0" i="0" sz="950" u="none" cap="none" strike="noStrike">
              <a:solidFill>
                <a:schemeClr val="dk1"/>
              </a:solidFill>
              <a:latin typeface="Calibri"/>
              <a:ea typeface="Calibri"/>
              <a:cs typeface="Calibri"/>
              <a:sym typeface="Calibri"/>
            </a:endParaRPr>
          </a:p>
        </p:txBody>
      </p:sp>
      <p:pic>
        <p:nvPicPr>
          <p:cNvPr descr="preencoded.png" id="126" name="Google Shape;126;p9"/>
          <p:cNvPicPr preferRelativeResize="0"/>
          <p:nvPr/>
        </p:nvPicPr>
        <p:blipFill rotWithShape="1">
          <a:blip r:embed="rId3">
            <a:alphaModFix/>
          </a:blip>
          <a:srcRect b="0" l="0" r="0" t="0"/>
          <a:stretch/>
        </p:blipFill>
        <p:spPr>
          <a:xfrm>
            <a:off x="4600501" y="1866454"/>
            <a:ext cx="3905324" cy="1638895"/>
          </a:xfrm>
          <a:prstGeom prst="rect">
            <a:avLst/>
          </a:prstGeom>
          <a:noFill/>
          <a:ln>
            <a:noFill/>
          </a:ln>
        </p:spPr>
      </p:pic>
      <p:sp>
        <p:nvSpPr>
          <p:cNvPr id="127" name="Google Shape;127;p9"/>
          <p:cNvSpPr/>
          <p:nvPr/>
        </p:nvSpPr>
        <p:spPr>
          <a:xfrm>
            <a:off x="4600501" y="4416177"/>
            <a:ext cx="3905324" cy="28128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PolyVote Design Challenge: unifies multi-tenant reuse, automated integrity checks, and tokenized voter privacy.</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57200" y="4981129"/>
            <a:ext cx="8686800" cy="140643"/>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BACSE202 – Database Systems | Review 3 | Fall Semester 2026 · Slide 6</a:t>
            </a:r>
            <a:endParaRPr b="0" i="0" sz="800" u="none" cap="none" strike="noStrike">
              <a:solidFill>
                <a:schemeClr val="dk1"/>
              </a:solidFill>
              <a:latin typeface="Calibri"/>
              <a:ea typeface="Calibri"/>
              <a:cs typeface="Calibri"/>
              <a:sym typeface="Calibri"/>
            </a:endParaRPr>
          </a:p>
        </p:txBody>
      </p:sp>
      <p:sp>
        <p:nvSpPr>
          <p:cNvPr id="129" name="Google Shape;129;p9"/>
          <p:cNvSpPr/>
          <p:nvPr/>
        </p:nvSpPr>
        <p:spPr>
          <a:xfrm>
            <a:off x="8052575" y="4878500"/>
            <a:ext cx="1091400" cy="19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0"/>
          <p:cNvSpPr/>
          <p:nvPr/>
        </p:nvSpPr>
        <p:spPr>
          <a:xfrm>
            <a:off x="457200" y="462558"/>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Four modules separate identity, tallying, and audit</a:t>
            </a:r>
            <a:endParaRPr b="0" i="0" sz="225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457200" y="933450"/>
          <a:ext cx="3000000" cy="3000000"/>
        </p:xfrm>
        <a:graphic>
          <a:graphicData uri="http://schemas.openxmlformats.org/drawingml/2006/table">
            <a:tbl>
              <a:tblPr>
                <a:noFill/>
                <a:tableStyleId>{CF56F632-080D-41BD-B1F7-19A39A7C3095}</a:tableStyleId>
              </a:tblPr>
              <a:tblGrid>
                <a:gridCol w="8229600"/>
              </a:tblGrid>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Relational core (SQLite): Stores organizations, elections, candidates, voters and admin accounts; constraints, a trigger and views enforce integrity.</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Python · tally engine: Counts rankings, eliminates the lowest candidate, redistributes ballots, and handles empty elections and exhausted ballots; last-place ties are flagged.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Audit ledger (MongoDB Atlas): Stores one HMAC-sealed receipt per ballot in MongoDB Atlas (local file as fallback), each linked to its predecessor and re-checked by the integrity sweep.</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99025">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React + FastAPI · application: Voter booth, receipt check and admin console over a REST API; coordinates the anonymous dual write. Emailed one-time codes confirm the voter; Streamlit is retained.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sp>
        <p:nvSpPr>
          <p:cNvPr id="137" name="Google Shape;137;p10"/>
          <p:cNvSpPr/>
          <p:nvPr/>
        </p:nvSpPr>
        <p:spPr>
          <a:xfrm>
            <a:off x="457200" y="3503414"/>
            <a:ext cx="8229600" cy="872356"/>
          </a:xfrm>
          <a:prstGeom prst="roundRect">
            <a:avLst>
              <a:gd fmla="val 15723"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638175" y="3608189"/>
            <a:ext cx="7867650" cy="662806"/>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Core entities:</a:t>
            </a:r>
            <a:r>
              <a:rPr b="0" i="0" lang="en-US" sz="1200" u="none" cap="none" strike="noStrike">
                <a:solidFill>
                  <a:srgbClr val="1B2A55"/>
                </a:solidFill>
                <a:latin typeface="Inter"/>
                <a:ea typeface="Inter"/>
                <a:cs typeface="Inter"/>
                <a:sym typeface="Inter"/>
              </a:rPr>
              <a:t> ORGANIZATION · ELECTION · CANDIDATE · VOTER_PARTICIPATION · BALLOT_RANKS · ADMIN_USERS (POSITION not built). </a:t>
            </a:r>
            <a:r>
              <a:rPr b="1" i="0" lang="en-US" sz="1200" u="none" cap="none" strike="noStrike">
                <a:solidFill>
                  <a:srgbClr val="1B2A55"/>
                </a:solidFill>
                <a:latin typeface="Inter"/>
                <a:ea typeface="Inter"/>
                <a:cs typeface="Inter"/>
                <a:sym typeface="Inter"/>
              </a:rPr>
              <a:t>Privacy boundary:</a:t>
            </a:r>
            <a:r>
              <a:rPr b="0" i="0" lang="en-US" sz="1200" u="none" cap="none" strike="noStrike">
                <a:solidFill>
                  <a:srgbClr val="1B2A55"/>
                </a:solidFill>
                <a:latin typeface="Inter"/>
                <a:ea typeface="Inter"/>
                <a:cs typeface="Inter"/>
                <a:sym typeface="Inter"/>
              </a:rPr>
              <a:t> VOTER_PARTICIPATION and BALLOT_RANKS remain separate; only an anonymous token connects voter participation to ballot content.</a:t>
            </a:r>
            <a:endParaRPr b="0" i="0" sz="1200" u="none" cap="none" strike="noStrike">
              <a:solidFill>
                <a:schemeClr val="dk1"/>
              </a:solidFill>
              <a:latin typeface="Calibri"/>
              <a:ea typeface="Calibri"/>
              <a:cs typeface="Calibri"/>
              <a:sym typeface="Calibri"/>
            </a:endParaRPr>
          </a:p>
        </p:txBody>
      </p:sp>
      <p:sp>
        <p:nvSpPr>
          <p:cNvPr id="139" name="Google Shape;139;p10"/>
          <p:cNvSpPr/>
          <p:nvPr/>
        </p:nvSpPr>
        <p:spPr>
          <a:xfrm>
            <a:off x="457200" y="452102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7</a:t>
            </a:r>
            <a:endParaRPr b="0" i="0" sz="950" u="none" cap="none" strike="noStrike">
              <a:solidFill>
                <a:schemeClr val="dk1"/>
              </a:solidFill>
              <a:latin typeface="Calibri"/>
              <a:ea typeface="Calibri"/>
              <a:cs typeface="Calibri"/>
              <a:sym typeface="Calibri"/>
            </a:endParaRPr>
          </a:p>
        </p:txBody>
      </p:sp>
      <p:sp>
        <p:nvSpPr>
          <p:cNvPr id="140" name="Google Shape;140;p10"/>
          <p:cNvSpPr/>
          <p:nvPr/>
        </p:nvSpPr>
        <p:spPr>
          <a:xfrm>
            <a:off x="8034150" y="4864025"/>
            <a:ext cx="1054500" cy="23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SYSTEM ARCHITECTURE</a:t>
            </a:r>
          </a:p>
        </p:txBody>
      </p:sp>
      <p:sp>
        <p:nvSpPr>
          <p:cNvPr id="148"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flows through three layers, with the ledger kept apart</a:t>
            </a:r>
          </a:p>
        </p:txBody>
      </p:sp>
      <p:sp>
        <p:nvSpPr>
          <p:cNvPr id="149"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8</a:t>
            </a:r>
          </a:p>
        </p:txBody>
      </p:sp>
      <p:sp>
        <p:nvSpPr>
          <p:cNvPr id="150" name="Rounded Rectangle 149"/>
          <p:cNvSpPr/>
          <p:nvPr/>
        </p:nvSpPr>
        <p:spPr>
          <a:xfrm>
            <a:off x="457200" y="1097280"/>
            <a:ext cx="8229600" cy="749808"/>
          </a:xfrm>
          <a:prstGeom prst="roundRect">
            <a:avLst>
              <a:gd name="adj" fmla="val 8000"/>
            </a:avLst>
          </a:prstGeom>
          <a:solidFill>
            <a:srgbClr val="F1F0F6"/>
          </a:solidFill>
          <a:ln w="15875">
            <a:solidFill>
              <a:srgbClr val="D9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1152144"/>
            <a:ext cx="502920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Presentation layer · React + TypeScript single-page app</a:t>
            </a:r>
          </a:p>
        </p:txBody>
      </p:sp>
      <p:sp>
        <p:nvSpPr>
          <p:cNvPr id="152" name="Rounded Rectangle 151"/>
          <p:cNvSpPr/>
          <p:nvPr/>
        </p:nvSpPr>
        <p:spPr>
          <a:xfrm>
            <a:off x="59436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Voter booth</a:t>
            </a:r>
          </a:p>
        </p:txBody>
      </p:sp>
      <p:sp>
        <p:nvSpPr>
          <p:cNvPr id="153" name="Rounded Rectangle 152"/>
          <p:cNvSpPr/>
          <p:nvPr/>
        </p:nvSpPr>
        <p:spPr>
          <a:xfrm>
            <a:off x="246888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Receipt check</a:t>
            </a:r>
          </a:p>
        </p:txBody>
      </p:sp>
      <p:sp>
        <p:nvSpPr>
          <p:cNvPr id="154" name="Rounded Rectangle 153"/>
          <p:cNvSpPr/>
          <p:nvPr/>
        </p:nvSpPr>
        <p:spPr>
          <a:xfrm>
            <a:off x="434340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Admin console</a:t>
            </a:r>
          </a:p>
        </p:txBody>
      </p:sp>
      <p:sp>
        <p:nvSpPr>
          <p:cNvPr id="155" name="Rounded Rectangle 154"/>
          <p:cNvSpPr/>
          <p:nvPr/>
        </p:nvSpPr>
        <p:spPr>
          <a:xfrm>
            <a:off x="6720840" y="1371600"/>
            <a:ext cx="1828800" cy="347472"/>
          </a:xfrm>
          <a:prstGeom prst="roundRect">
            <a:avLst>
              <a:gd name="adj" fmla="val 12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DB Studio (simulated DBA)</a:t>
            </a:r>
          </a:p>
        </p:txBody>
      </p:sp>
      <p:sp>
        <p:nvSpPr>
          <p:cNvPr id="156" name="Rounded Rectangle 155"/>
          <p:cNvSpPr/>
          <p:nvPr/>
        </p:nvSpPr>
        <p:spPr>
          <a:xfrm>
            <a:off x="457200" y="2212848"/>
            <a:ext cx="8229600" cy="45720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1B2A55"/>
                </a:solidFill>
                <a:latin typeface="Inter"/>
              </a:rPr>
              <a:t>Application layer · FastAPI REST API</a:t>
            </a:r>
            <a:r>
              <a:rPr sz="900" b="0" i="0">
                <a:solidFill>
                  <a:srgbClr val="1B2A55"/>
                </a:solidFill>
                <a:latin typeface="Inter"/>
              </a:rPr>
              <a:t>   auth &amp; sessions · election lifecycle &amp; roster · ballot cast (dual write under WRITE_LOCK) · sweep, tally, ledger &amp; receipt endpoints</a:t>
            </a:r>
          </a:p>
        </p:txBody>
      </p:sp>
      <p:cxnSp>
        <p:nvCxnSpPr>
          <p:cNvPr id="157" name="Connector 156"/>
          <p:cNvCxnSpPr/>
          <p:nvPr/>
        </p:nvCxnSpPr>
        <p:spPr>
          <a:xfrm>
            <a:off x="14630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33756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21208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76352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594360" y="1920240"/>
            <a:ext cx="9144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JSON / HTTP</a:t>
            </a:r>
          </a:p>
        </p:txBody>
      </p:sp>
      <p:sp>
        <p:nvSpPr>
          <p:cNvPr id="162" name="Rounded Rectangle 161"/>
          <p:cNvSpPr/>
          <p:nvPr/>
        </p:nvSpPr>
        <p:spPr>
          <a:xfrm>
            <a:off x="457200" y="3063240"/>
            <a:ext cx="6172200" cy="914400"/>
          </a:xfrm>
          <a:prstGeom prst="roundRect">
            <a:avLst>
              <a:gd name="adj" fmla="val 6000"/>
            </a:avLst>
          </a:prstGeom>
          <a:solidFill>
            <a:srgbClr val="ECF4FB"/>
          </a:solidFill>
          <a:ln w="15875">
            <a:solidFill>
              <a:srgbClr val="8FB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66928" y="3108960"/>
            <a:ext cx="58521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Relational schema · SQLite · foreign keys ON · trigger · views</a:t>
            </a:r>
          </a:p>
        </p:txBody>
      </p:sp>
      <p:sp>
        <p:nvSpPr>
          <p:cNvPr id="164" name="Rounded Rectangle 163"/>
          <p:cNvSpPr/>
          <p:nvPr/>
        </p:nvSpPr>
        <p:spPr>
          <a:xfrm>
            <a:off x="56692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ORGAN-
IZATION</a:t>
            </a:r>
          </a:p>
        </p:txBody>
      </p:sp>
      <p:sp>
        <p:nvSpPr>
          <p:cNvPr id="165" name="Rounded Rectangle 164"/>
          <p:cNvSpPr/>
          <p:nvPr/>
        </p:nvSpPr>
        <p:spPr>
          <a:xfrm>
            <a:off x="1554480"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ELECTION</a:t>
            </a:r>
          </a:p>
        </p:txBody>
      </p:sp>
      <p:sp>
        <p:nvSpPr>
          <p:cNvPr id="166" name="Rounded Rectangle 165"/>
          <p:cNvSpPr/>
          <p:nvPr/>
        </p:nvSpPr>
        <p:spPr>
          <a:xfrm>
            <a:off x="2542032"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CANDIDATE</a:t>
            </a:r>
          </a:p>
        </p:txBody>
      </p:sp>
      <p:sp>
        <p:nvSpPr>
          <p:cNvPr id="167" name="Rounded Rectangle 166"/>
          <p:cNvSpPr/>
          <p:nvPr/>
        </p:nvSpPr>
        <p:spPr>
          <a:xfrm>
            <a:off x="3529584"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VOTER_
PARTICIPATION</a:t>
            </a:r>
          </a:p>
        </p:txBody>
      </p:sp>
      <p:sp>
        <p:nvSpPr>
          <p:cNvPr id="168" name="Rounded Rectangle 167"/>
          <p:cNvSpPr/>
          <p:nvPr/>
        </p:nvSpPr>
        <p:spPr>
          <a:xfrm>
            <a:off x="4517136"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1" i="0">
                <a:solidFill>
                  <a:srgbClr val="1B2A55"/>
                </a:solidFill>
                <a:latin typeface="Inter"/>
              </a:rPr>
              <a:t>BALLOT_
RANKS</a:t>
            </a:r>
          </a:p>
        </p:txBody>
      </p:sp>
      <p:sp>
        <p:nvSpPr>
          <p:cNvPr id="169" name="Rounded Rectangle 168"/>
          <p:cNvSpPr/>
          <p:nvPr/>
        </p:nvSpPr>
        <p:spPr>
          <a:xfrm>
            <a:off x="550468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ADMIN_
USERS</a:t>
            </a:r>
          </a:p>
        </p:txBody>
      </p:sp>
      <p:sp>
        <p:nvSpPr>
          <p:cNvPr id="170" name="Rounded Rectangle 169"/>
          <p:cNvSpPr/>
          <p:nvPr/>
        </p:nvSpPr>
        <p:spPr>
          <a:xfrm>
            <a:off x="6812280" y="3063240"/>
            <a:ext cx="1874519" cy="914400"/>
          </a:xfrm>
          <a:prstGeom prst="roundRect">
            <a:avLst>
              <a:gd name="adj" fmla="val 6000"/>
            </a:avLst>
          </a:prstGeom>
          <a:solidFill>
            <a:srgbClr val="FFF4E6"/>
          </a:solidFill>
          <a:ln w="15875">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903720" y="3108960"/>
            <a:ext cx="17373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Tamper-evident ledger</a:t>
            </a:r>
          </a:p>
        </p:txBody>
      </p:sp>
      <p:sp>
        <p:nvSpPr>
          <p:cNvPr id="172" name="Rounded Rectangle 171"/>
          <p:cNvSpPr/>
          <p:nvPr/>
        </p:nvSpPr>
        <p:spPr>
          <a:xfrm>
            <a:off x="6922008" y="3346704"/>
            <a:ext cx="1655064"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1B2A55"/>
                </a:solidFill>
                <a:latin typeface="Inter"/>
              </a:rPr>
              <a:t>Keyed receipts · MongoDB Atlas</a:t>
            </a:r>
          </a:p>
        </p:txBody>
      </p:sp>
      <p:cxnSp>
        <p:nvCxnSpPr>
          <p:cNvPr id="173" name="Connector 172"/>
          <p:cNvCxnSpPr/>
          <p:nvPr/>
        </p:nvCxnSpPr>
        <p:spPr>
          <a:xfrm>
            <a:off x="237744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1417320" y="2770632"/>
            <a:ext cx="19202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1–6 · read / write rows</a:t>
            </a:r>
          </a:p>
        </p:txBody>
      </p:sp>
      <p:cxnSp>
        <p:nvCxnSpPr>
          <p:cNvPr id="175" name="Connector 174"/>
          <p:cNvCxnSpPr/>
          <p:nvPr/>
        </p:nvCxnSpPr>
        <p:spPr>
          <a:xfrm>
            <a:off x="4937760" y="2670048"/>
            <a:ext cx="0" cy="393192"/>
          </a:xfrm>
          <a:prstGeom prst="line">
            <a:avLst/>
          </a:prstGeom>
          <a:ln w="19050">
            <a:solidFill>
              <a:srgbClr val="C0392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6" name="Rounded Rectangle 175"/>
          <p:cNvSpPr/>
          <p:nvPr/>
        </p:nvSpPr>
        <p:spPr>
          <a:xfrm>
            <a:off x="3520440" y="2770632"/>
            <a:ext cx="2377440" cy="182880"/>
          </a:xfrm>
          <a:prstGeom prst="roundRect">
            <a:avLst>
              <a:gd name="adj" fmla="val 2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C0392B"/>
                </a:solidFill>
                <a:latin typeface="Inter"/>
              </a:rPr>
              <a:t>12 · direct UPDATE / DELETE</a:t>
            </a:r>
          </a:p>
        </p:txBody>
      </p:sp>
      <p:cxnSp>
        <p:nvCxnSpPr>
          <p:cNvPr id="177" name="Connector 176"/>
          <p:cNvCxnSpPr/>
          <p:nvPr/>
        </p:nvCxnSpPr>
        <p:spPr>
          <a:xfrm>
            <a:off x="777240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8" name="Rounded Rectangle 177"/>
          <p:cNvSpPr/>
          <p:nvPr/>
        </p:nvSpPr>
        <p:spPr>
          <a:xfrm>
            <a:off x="6812280" y="2770632"/>
            <a:ext cx="18288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7 · append SHA-256 receipt</a:t>
            </a:r>
          </a:p>
        </p:txBody>
      </p:sp>
      <p:sp>
        <p:nvSpPr>
          <p:cNvPr id="179" name="Rounded Rectangle 178"/>
          <p:cNvSpPr/>
          <p:nvPr/>
        </p:nvSpPr>
        <p:spPr>
          <a:xfrm>
            <a:off x="457200" y="4343400"/>
            <a:ext cx="8229600" cy="457200"/>
          </a:xfrm>
          <a:prstGeom prst="roundRect">
            <a:avLst>
              <a:gd name="adj" fmla="val 8000"/>
            </a:avLst>
          </a:prstGeom>
          <a:solidFill>
            <a:srgbClr val="EEF8F0"/>
          </a:solidFill>
          <a:ln w="15875">
            <a:solidFill>
              <a:srgbClr val="7CCF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5943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Instant-runoff tally (pandas)</a:t>
            </a:r>
          </a:p>
        </p:txBody>
      </p:sp>
      <p:sp>
        <p:nvSpPr>
          <p:cNvPr id="181" name="Rounded Rectangle 180"/>
          <p:cNvSpPr/>
          <p:nvPr/>
        </p:nvSpPr>
        <p:spPr>
          <a:xfrm>
            <a:off x="33375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Integrity sweep</a:t>
            </a:r>
          </a:p>
        </p:txBody>
      </p:sp>
      <p:sp>
        <p:nvSpPr>
          <p:cNvPr id="182" name="Rounded Rectangle 181"/>
          <p:cNvSpPr/>
          <p:nvPr/>
        </p:nvSpPr>
        <p:spPr>
          <a:xfrm>
            <a:off x="60807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Chain verification</a:t>
            </a:r>
          </a:p>
        </p:txBody>
      </p:sp>
      <p:cxnSp>
        <p:nvCxnSpPr>
          <p:cNvPr id="183" name="Connector 182"/>
          <p:cNvCxnSpPr/>
          <p:nvPr/>
        </p:nvCxnSpPr>
        <p:spPr>
          <a:xfrm>
            <a:off x="182880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566928" y="4069080"/>
            <a:ext cx="128016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8 · ranks</a:t>
            </a:r>
          </a:p>
        </p:txBody>
      </p:sp>
      <p:cxnSp>
        <p:nvCxnSpPr>
          <p:cNvPr id="185" name="Connector 184"/>
          <p:cNvCxnSpPr/>
          <p:nvPr/>
        </p:nvCxnSpPr>
        <p:spPr>
          <a:xfrm>
            <a:off x="420624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292608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9 · recompute hashes</a:t>
            </a:r>
          </a:p>
        </p:txBody>
      </p:sp>
      <p:cxnSp>
        <p:nvCxnSpPr>
          <p:cNvPr id="187" name="Connector 186"/>
          <p:cNvCxnSpPr/>
          <p:nvPr/>
        </p:nvCxnSpPr>
        <p:spPr>
          <a:xfrm flipH="1">
            <a:off x="5394960" y="3977639"/>
            <a:ext cx="182880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585216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10 · cross-check</a:t>
            </a:r>
          </a:p>
        </p:txBody>
      </p:sp>
      <p:cxnSp>
        <p:nvCxnSpPr>
          <p:cNvPr id="189" name="Connector 188"/>
          <p:cNvCxnSpPr/>
          <p:nvPr/>
        </p:nvCxnSpPr>
        <p:spPr>
          <a:xfrm>
            <a:off x="813816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90" name="Rounded Rectangle 189"/>
          <p:cNvSpPr/>
          <p:nvPr/>
        </p:nvSpPr>
        <p:spPr>
          <a:xfrm>
            <a:off x="7406640" y="4114800"/>
            <a:ext cx="10058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verify links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ER DIAGRAM &amp; RELATIONAL SCHEMA</a:t>
            </a:r>
          </a:p>
        </p:txBody>
      </p:sp>
      <p:sp>
        <p:nvSpPr>
          <p:cNvPr id="159"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Tables and ledger are linked by token, not by identity</a:t>
            </a:r>
          </a:p>
        </p:txBody>
      </p:sp>
      <p:sp>
        <p:nvSpPr>
          <p:cNvPr id="160"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9</a:t>
            </a:r>
          </a:p>
        </p:txBody>
      </p:sp>
      <p:pic>
        <p:nvPicPr>
          <p:cNvPr id="161" name="Picture 160" descr="er_slide.png"/>
          <p:cNvPicPr>
            <a:picLocks noChangeAspect="1"/>
          </p:cNvPicPr>
          <p:nvPr/>
        </p:nvPicPr>
        <p:blipFill>
          <a:blip r:embed="rId4"/>
          <a:stretch>
            <a:fillRect/>
          </a:stretch>
        </p:blipFill>
        <p:spPr>
          <a:xfrm>
            <a:off x="777240" y="1051560"/>
            <a:ext cx="7589520"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DATABASE INTEGRITY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database itself refuses invalid votes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10</a:t>
            </a:r>
          </a:p>
        </p:txBody>
      </p:sp>
      <p:graphicFrame>
        <p:nvGraphicFramePr>
          <p:cNvPr id="6" name="Table 5"/>
          <p:cNvGraphicFramePr>
            <a:graphicFrameLocks noGrp="1"/>
          </p:cNvGraphicFramePr>
          <p:nvPr/>
        </p:nvGraphicFramePr>
        <p:xfrm>
          <a:off x="457200" y="1097280"/>
          <a:ext cx="8229599" cy="2560320"/>
        </p:xfrm>
        <a:graphic>
          <a:graphicData uri="http://schemas.openxmlformats.org/drawingml/2006/table">
            <a:tbl>
              <a:tblPr firstRow="1" bandRow="1">
                <a:tableStyleId>{5C22544A-7EE6-4342-B048-85BDC9FD1C3A}</a:tableStyleId>
              </a:tblPr>
              <a:tblGrid>
                <a:gridCol w="2011680"/>
                <a:gridCol w="2743200"/>
                <a:gridCol w="347471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Enforced by</a:t>
                      </a:r>
                    </a:p>
                  </a:txBody>
                  <a:tcPr marL="73152" marR="73152" marT="36576" marB="36576" anchor="ctr">
                    <a:solidFill>
                      <a:srgbClr val="1B2A55"/>
                    </a:solidFill>
                  </a:tcPr>
                </a:tc>
                <a:tc>
                  <a:txBody>
                    <a:bodyPr wrap="square"/>
                    <a:lstStyle/>
                    <a:p>
                      <a:r>
                        <a:rPr sz="1000" b="1" i="0">
                          <a:solidFill>
                            <a:srgbClr val="FFFFFF"/>
                          </a:solidFill>
                          <a:latin typeface="Inter"/>
                        </a:rPr>
                        <a:t>Response when we tried to break it</a:t>
                      </a:r>
                    </a:p>
                  </a:txBody>
                  <a:tcPr marL="73152" marR="73152" marT="36576" marB="36576" anchor="ctr">
                    <a:solidFill>
                      <a:srgbClr val="1B2A55"/>
                    </a:solidFill>
                  </a:tcPr>
                </a:tc>
              </a:tr>
              <a:tr h="548640">
                <a:tc>
                  <a:txBody>
                    <a:bodyPr wrap="square"/>
                    <a:lstStyle/>
                    <a:p>
                      <a:r>
                        <a:rPr sz="1000" b="1" i="0">
                          <a:solidFill>
                            <a:srgbClr val="1B2A55"/>
                          </a:solidFill>
                          <a:latin typeface="Inter"/>
                        </a:rPr>
                        <a:t>One vote per voter</a:t>
                      </a:r>
                    </a:p>
                  </a:txBody>
                  <a:tcPr marL="73152" marR="73152" marT="36576" marB="36576" anchor="ctr">
                    <a:solidFill>
                      <a:srgbClr val="FFFFFF"/>
                    </a:solidFill>
                  </a:tcPr>
                </a:tc>
                <a:tc>
                  <a:txBody>
                    <a:bodyPr wrap="square"/>
                    <a:lstStyle/>
                    <a:p>
                      <a:r>
                        <a:rPr sz="1000" b="0" i="0">
                          <a:solidFill>
                            <a:srgbClr val="353B4A"/>
                          </a:solidFill>
                          <a:latin typeface="Consolas"/>
                        </a:rPr>
                        <a:t>TRIGGER trg_block_duplicate_vote</a:t>
                      </a:r>
                    </a:p>
                  </a:txBody>
                  <a:tcPr marL="73152" marR="73152" marT="36576" marB="36576" anchor="ctr">
                    <a:solidFill>
                      <a:srgbClr val="FFFFFF"/>
                    </a:solidFill>
                  </a:tcPr>
                </a:tc>
                <a:tc>
                  <a:txBody>
                    <a:bodyPr wrap="square"/>
                    <a:lstStyle/>
                    <a:p>
                      <a:r>
                        <a:rPr sz="1000" b="0" i="0">
                          <a:solidFill>
                            <a:srgbClr val="353B4A"/>
                          </a:solidFill>
                          <a:latin typeface="Inter"/>
                        </a:rPr>
                        <a:t>DBMS Trigger Violation: Voter has already submitted a ballot.</a:t>
                      </a:r>
                    </a:p>
                  </a:txBody>
                  <a:tcPr marL="73152" marR="73152" marT="36576" marB="36576" anchor="ctr">
                    <a:solidFill>
                      <a:srgbClr val="FFFFFF"/>
                    </a:solidFill>
                  </a:tcPr>
                </a:tc>
              </a:tr>
              <a:tr h="548640">
                <a:tc>
                  <a:txBody>
                    <a:bodyPr wrap="square"/>
                    <a:lstStyle/>
                    <a:p>
                      <a:r>
                        <a:rPr sz="1000" b="1" i="0">
                          <a:solidFill>
                            <a:srgbClr val="1B2A55"/>
                          </a:solidFill>
                          <a:latin typeface="Inter"/>
                        </a:rPr>
                        <a:t>Top three ranks only</a:t>
                      </a:r>
                    </a:p>
                  </a:txBody>
                  <a:tcPr marL="73152" marR="73152" marT="36576" marB="36576" anchor="ctr">
                    <a:solidFill>
                      <a:srgbClr val="F1F0F6"/>
                    </a:solidFill>
                  </a:tcPr>
                </a:tc>
                <a:tc>
                  <a:txBody>
                    <a:bodyPr wrap="square"/>
                    <a:lstStyle/>
                    <a:p>
                      <a:r>
                        <a:rPr sz="1000" b="0" i="0">
                          <a:solidFill>
                            <a:srgbClr val="353B4A"/>
                          </a:solidFill>
                          <a:latin typeface="Consolas"/>
                        </a:rPr>
                        <a:t>CHECK (preference_rank BETWEEN 1 AND 3)</a:t>
                      </a:r>
                    </a:p>
                  </a:txBody>
                  <a:tcPr marL="73152" marR="73152" marT="36576" marB="36576" anchor="ctr">
                    <a:solidFill>
                      <a:srgbClr val="F1F0F6"/>
                    </a:solidFill>
                  </a:tcPr>
                </a:tc>
                <a:tc>
                  <a:txBody>
                    <a:bodyPr wrap="square"/>
                    <a:lstStyle/>
                    <a:p>
                      <a:r>
                        <a:rPr sz="1000" b="0" i="0">
                          <a:solidFill>
                            <a:srgbClr val="353B4A"/>
                          </a:solidFill>
                          <a:latin typeface="Inter"/>
                        </a:rPr>
                        <a:t>CHECK constraint failed: preference_rank BETWEEN 1 AND 3</a:t>
                      </a:r>
                    </a:p>
                  </a:txBody>
                  <a:tcPr marL="73152" marR="73152" marT="36576" marB="36576" anchor="ctr">
                    <a:solidFill>
                      <a:srgbClr val="F1F0F6"/>
                    </a:solidFill>
                  </a:tcPr>
                </a:tc>
              </a:tr>
              <a:tr h="548640">
                <a:tc>
                  <a:txBody>
                    <a:bodyPr wrap="square"/>
                    <a:lstStyle/>
                    <a:p>
                      <a:r>
                        <a:rPr sz="1000" b="1" i="0">
                          <a:solidFill>
                            <a:srgbClr val="1B2A55"/>
                          </a:solidFill>
                          <a:latin typeface="Inter"/>
                        </a:rPr>
                        <a:t>No candidate twice on one ballot</a:t>
                      </a:r>
                    </a:p>
                  </a:txBody>
                  <a:tcPr marL="73152" marR="73152" marT="36576" marB="36576" anchor="ctr">
                    <a:solidFill>
                      <a:srgbClr val="FFFFFF"/>
                    </a:solidFill>
                  </a:tcPr>
                </a:tc>
                <a:tc>
                  <a:txBody>
                    <a:bodyPr wrap="square"/>
                    <a:lstStyle/>
                    <a:p>
                      <a:r>
                        <a:rPr sz="1000" b="0" i="0">
                          <a:solidFill>
                            <a:srgbClr val="353B4A"/>
                          </a:solidFill>
                          <a:latin typeface="Consolas"/>
                        </a:rPr>
                        <a:t>PRIMARY KEY (ballot_token, candidate_id)</a:t>
                      </a:r>
                    </a:p>
                  </a:txBody>
                  <a:tcPr marL="73152" marR="73152" marT="36576" marB="36576" anchor="ctr">
                    <a:solidFill>
                      <a:srgbClr val="FFFFFF"/>
                    </a:solidFill>
                  </a:tcPr>
                </a:tc>
                <a:tc>
                  <a:txBody>
                    <a:bodyPr wrap="square"/>
                    <a:lstStyle/>
                    <a:p>
                      <a:r>
                        <a:rPr sz="1000" b="0" i="0">
                          <a:solidFill>
                            <a:srgbClr val="353B4A"/>
                          </a:solidFill>
                          <a:latin typeface="Inter"/>
                        </a:rPr>
                        <a:t>UNIQUE constraint failed: BALLOT_RANKS.ballot_token, BALLOT_RANKS.candidate_id</a:t>
                      </a:r>
                    </a:p>
                  </a:txBody>
                  <a:tcPr marL="73152" marR="73152" marT="36576" marB="36576" anchor="ctr">
                    <a:solidFill>
                      <a:srgbClr val="FFFFFF"/>
                    </a:solidFill>
                  </a:tcPr>
                </a:tc>
              </a:tr>
              <a:tr h="548640">
                <a:tc>
                  <a:txBody>
                    <a:bodyPr wrap="square"/>
                    <a:lstStyle/>
                    <a:p>
                      <a:r>
                        <a:rPr sz="1000" b="1" i="0">
                          <a:solidFill>
                            <a:srgbClr val="1B2A55"/>
                          </a:solidFill>
                          <a:latin typeface="Inter"/>
                        </a:rPr>
                        <a:t>Only real candidates</a:t>
                      </a:r>
                    </a:p>
                  </a:txBody>
                  <a:tcPr marL="73152" marR="73152" marT="36576" marB="36576" anchor="ctr">
                    <a:solidFill>
                      <a:srgbClr val="F1F0F6"/>
                    </a:solidFill>
                  </a:tcPr>
                </a:tc>
                <a:tc>
                  <a:txBody>
                    <a:bodyPr wrap="square"/>
                    <a:lstStyle/>
                    <a:p>
                      <a:r>
                        <a:rPr sz="1000" b="0" i="0">
                          <a:solidFill>
                            <a:srgbClr val="353B4A"/>
                          </a:solidFill>
                          <a:latin typeface="Consolas"/>
                        </a:rPr>
                        <a:t>FOREIGN KEY → CANDIDATE</a:t>
                      </a:r>
                    </a:p>
                  </a:txBody>
                  <a:tcPr marL="73152" marR="73152" marT="36576" marB="36576" anchor="ctr">
                    <a:solidFill>
                      <a:srgbClr val="F1F0F6"/>
                    </a:solidFill>
                  </a:tcPr>
                </a:tc>
                <a:tc>
                  <a:txBody>
                    <a:bodyPr wrap="square"/>
                    <a:lstStyle/>
                    <a:p>
                      <a:r>
                        <a:rPr sz="1000" b="0" i="0">
                          <a:solidFill>
                            <a:srgbClr val="353B4A"/>
                          </a:solidFill>
                          <a:latin typeface="Inter"/>
                        </a:rPr>
                        <a:t>FOREIGN KEY constraint failed</a:t>
                      </a:r>
                    </a:p>
                  </a:txBody>
                  <a:tcPr marL="73152" marR="73152" marT="36576" marB="36576" anchor="ctr">
                    <a:solidFill>
                      <a:srgbClr val="F1F0F6"/>
                    </a:solidFill>
                  </a:tcPr>
                </a:tc>
              </a:tr>
            </a:tbl>
          </a:graphicData>
        </a:graphic>
      </p:graphicFrame>
      <p:sp>
        <p:nvSpPr>
          <p:cNvPr id="7" name="Rounded Rectangle 6"/>
          <p:cNvSpPr/>
          <p:nvPr/>
        </p:nvSpPr>
        <p:spPr>
          <a:xfrm>
            <a:off x="45720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Live views</a:t>
            </a:r>
          </a:p>
          <a:p>
            <a:pPr algn="l">
              <a:spcAft>
                <a:spcPts val="300"/>
              </a:spcAft>
            </a:pPr>
            <a:r>
              <a:rPr sz="1100" b="0" i="0">
                <a:solidFill>
                  <a:srgbClr val="353B4A"/>
                </a:solidFill>
                <a:latin typeface="Inter"/>
              </a:rPr>
              <a:t>VIEW_ELECTION_TURNOUT and VIEW_FIRST_PREFERENCES feed the dashboards: 45 of 60 voters, 75% turnout.</a:t>
            </a:r>
          </a:p>
        </p:txBody>
      </p:sp>
      <p:sp>
        <p:nvSpPr>
          <p:cNvPr id="9" name="Rounded Rectangle 8"/>
          <p:cNvSpPr/>
          <p:nvPr/>
        </p:nvSpPr>
        <p:spPr>
          <a:xfrm>
            <a:off x="466344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Each statement ran on the live database</a:t>
            </a:r>
          </a:p>
          <a:p>
            <a:pPr algn="l">
              <a:spcAft>
                <a:spcPts val="300"/>
              </a:spcAft>
            </a:pPr>
            <a:r>
              <a:rPr sz="1100" b="0" i="0">
                <a:solidFill>
                  <a:srgbClr val="353B4A"/>
                </a:solidFill>
                <a:latin typeface="Inter"/>
              </a:rPr>
              <a:t>and was rolled back; the messages shown are the database’s own, not the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VOTER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Voting takes three steps and ends with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11</a:t>
            </a:r>
          </a:p>
        </p:txBody>
      </p:sp>
      <p:pic>
        <p:nvPicPr>
          <p:cNvPr id="6" name="Picture 5" descr="01_voter_home.png"/>
          <p:cNvPicPr>
            <a:picLocks noChangeAspect="1"/>
          </p:cNvPicPr>
          <p:nvPr/>
        </p:nvPicPr>
        <p:blipFill>
          <a:blip r:embed="rId2"/>
          <a:stretch>
            <a:fillRect/>
          </a:stretch>
        </p:blipFill>
        <p:spPr>
          <a:xfrm>
            <a:off x="457200" y="1143000"/>
            <a:ext cx="2103634" cy="2057400"/>
          </a:xfrm>
          <a:prstGeom prst="rect">
            <a:avLst/>
          </a:prstGeom>
          <a:ln w="12700">
            <a:solidFill>
              <a:srgbClr val="D9D9E4"/>
            </a:solidFill>
          </a:ln>
        </p:spPr>
      </p:pic>
      <p:sp>
        <p:nvSpPr>
          <p:cNvPr id="7" name="TextBox 6"/>
          <p:cNvSpPr txBox="1"/>
          <p:nvPr/>
        </p:nvSpPr>
        <p:spPr>
          <a:xfrm>
            <a:off x="457200" y="3310128"/>
            <a:ext cx="2194560"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1 · Choose an open election</a:t>
            </a:r>
          </a:p>
        </p:txBody>
      </p:sp>
      <p:sp>
        <p:nvSpPr>
          <p:cNvPr id="8" name="TextBox 7"/>
          <p:cNvSpPr txBox="1"/>
          <p:nvPr/>
        </p:nvSpPr>
        <p:spPr>
          <a:xfrm>
            <a:off x="457200" y="3584448"/>
            <a:ext cx="2103120"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Only open elections; sign in with a password and an emailed code.</a:t>
            </a:r>
          </a:p>
        </p:txBody>
      </p:sp>
      <p:pic>
        <p:nvPicPr>
          <p:cNvPr id="9" name="Picture 8" descr="03_ballot_partial.png"/>
          <p:cNvPicPr>
            <a:picLocks noChangeAspect="1"/>
          </p:cNvPicPr>
          <p:nvPr/>
        </p:nvPicPr>
        <p:blipFill>
          <a:blip r:embed="rId3"/>
          <a:stretch>
            <a:fillRect/>
          </a:stretch>
        </p:blipFill>
        <p:spPr>
          <a:xfrm>
            <a:off x="2761065" y="1143000"/>
            <a:ext cx="3481067" cy="2057400"/>
          </a:xfrm>
          <a:prstGeom prst="rect">
            <a:avLst/>
          </a:prstGeom>
          <a:ln w="12700">
            <a:solidFill>
              <a:srgbClr val="D9D9E4"/>
            </a:solidFill>
          </a:ln>
        </p:spPr>
      </p:pic>
      <p:sp>
        <p:nvSpPr>
          <p:cNvPr id="10" name="TextBox 9"/>
          <p:cNvSpPr txBox="1"/>
          <p:nvPr/>
        </p:nvSpPr>
        <p:spPr>
          <a:xfrm>
            <a:off x="2761065" y="3310128"/>
            <a:ext cx="3481067"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2 · Rank three candidates</a:t>
            </a:r>
          </a:p>
        </p:txBody>
      </p:sp>
      <p:sp>
        <p:nvSpPr>
          <p:cNvPr id="11" name="TextBox 10"/>
          <p:cNvSpPr txBox="1"/>
          <p:nvPr/>
        </p:nvSpPr>
        <p:spPr>
          <a:xfrm>
            <a:off x="2761065" y="3584448"/>
            <a:ext cx="3389627"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Tap in order of preference; review before casting.</a:t>
            </a:r>
          </a:p>
        </p:txBody>
      </p:sp>
      <p:pic>
        <p:nvPicPr>
          <p:cNvPr id="12" name="Picture 11" descr="05_receipt.png"/>
          <p:cNvPicPr>
            <a:picLocks noChangeAspect="1"/>
          </p:cNvPicPr>
          <p:nvPr/>
        </p:nvPicPr>
        <p:blipFill>
          <a:blip r:embed="rId4"/>
          <a:stretch>
            <a:fillRect/>
          </a:stretch>
        </p:blipFill>
        <p:spPr>
          <a:xfrm>
            <a:off x="6442363" y="1143000"/>
            <a:ext cx="2244436" cy="2057400"/>
          </a:xfrm>
          <a:prstGeom prst="rect">
            <a:avLst/>
          </a:prstGeom>
          <a:ln w="12700">
            <a:solidFill>
              <a:srgbClr val="D9D9E4"/>
            </a:solidFill>
          </a:ln>
        </p:spPr>
      </p:pic>
      <p:sp>
        <p:nvSpPr>
          <p:cNvPr id="13" name="TextBox 12"/>
          <p:cNvSpPr txBox="1"/>
          <p:nvPr/>
        </p:nvSpPr>
        <p:spPr>
          <a:xfrm>
            <a:off x="6442363" y="3310128"/>
            <a:ext cx="2244436"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3 · Keep the receipt token</a:t>
            </a:r>
          </a:p>
        </p:txBody>
      </p:sp>
      <p:sp>
        <p:nvSpPr>
          <p:cNvPr id="14" name="TextBox 13"/>
          <p:cNvSpPr txBox="1"/>
          <p:nvPr/>
        </p:nvSpPr>
        <p:spPr>
          <a:xfrm>
            <a:off x="6442363" y="3584448"/>
            <a:ext cx="2152996"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It proves the ballot is sealed, not how you voted.</a:t>
            </a:r>
          </a:p>
        </p:txBody>
      </p:sp>
      <p:sp>
        <p:nvSpPr>
          <p:cNvPr id="15" name="Rounded Rectangle 14"/>
          <p:cNvSpPr/>
          <p:nvPr/>
        </p:nvSpPr>
        <p:spPr>
          <a:xfrm>
            <a:off x="457200" y="4114800"/>
            <a:ext cx="8229600" cy="6400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7863840" cy="50292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Guards in the flow: </a:t>
            </a:r>
            <a:r>
              <a:rPr sz="1150" b="0" i="0">
                <a:solidFill>
                  <a:srgbClr val="353B4A"/>
                </a:solidFill>
                <a:latin typeface="Inter"/>
              </a:rPr>
              <a:t>a wrong password is rejected, the emailed code is required, a voter who already voted is refused, and a cast ballot cannot be 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BY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vote becomes two records that cannot be joined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12</a:t>
            </a:r>
          </a:p>
        </p:txBody>
      </p:sp>
      <p:sp>
        <p:nvSpPr>
          <p:cNvPr id="6" name="Rounded Rectangle 5"/>
          <p:cNvSpPr/>
          <p:nvPr/>
        </p:nvSpPr>
        <p:spPr>
          <a:xfrm>
            <a:off x="457200" y="1371600"/>
            <a:ext cx="155448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 signs in</a:t>
            </a:r>
          </a:p>
          <a:p>
            <a:pPr algn="ctr">
              <a:spcAft>
                <a:spcPts val="0"/>
              </a:spcAft>
            </a:pPr>
            <a:r>
              <a:rPr sz="900" b="0" i="0">
                <a:solidFill>
                  <a:srgbClr val="1B2A55"/>
                </a:solidFill>
                <a:latin typeface="Inter"/>
              </a:rPr>
              <a:t>registration no. + password</a:t>
            </a:r>
          </a:p>
        </p:txBody>
      </p:sp>
      <p:cxnSp>
        <p:nvCxnSpPr>
          <p:cNvPr id="7" name="Connector 6"/>
          <p:cNvCxnSpPr/>
          <p:nvPr/>
        </p:nvCxnSpPr>
        <p:spPr>
          <a:xfrm>
            <a:off x="2011680" y="178308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14600" y="1097280"/>
            <a:ext cx="3520440" cy="2743200"/>
          </a:xfrm>
          <a:prstGeom prst="roundRect">
            <a:avLst>
              <a:gd name="adj" fmla="val 4000"/>
            </a:avLst>
          </a:prstGeom>
          <a:noFill/>
          <a:ln w="12700">
            <a:solidFill>
              <a:srgbClr val="666A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161288"/>
            <a:ext cx="3200400" cy="182880"/>
          </a:xfrm>
          <a:prstGeom prst="rect">
            <a:avLst/>
          </a:prstGeom>
          <a:noFill/>
        </p:spPr>
        <p:txBody>
          <a:bodyPr wrap="square" anchor="t" lIns="0" rIns="0" tIns="0" bIns="0">
            <a:spAutoFit/>
          </a:bodyPr>
          <a:lstStyle/>
          <a:p>
            <a:pPr algn="l">
              <a:spcAft>
                <a:spcPts val="0"/>
              </a:spcAft>
            </a:pPr>
            <a:r>
              <a:rPr sz="1000" b="1" i="0">
                <a:solidFill>
                  <a:srgbClr val="666A78"/>
                </a:solidFill>
                <a:latin typeface="Inter"/>
              </a:rPr>
              <a:t>One database transaction</a:t>
            </a:r>
          </a:p>
        </p:txBody>
      </p:sp>
      <p:sp>
        <p:nvSpPr>
          <p:cNvPr id="10" name="Rounded Rectangle 9"/>
          <p:cNvSpPr/>
          <p:nvPr/>
        </p:nvSpPr>
        <p:spPr>
          <a:xfrm>
            <a:off x="2697480" y="1463040"/>
            <a:ext cx="3154680" cy="73152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VOTER_PARTICIPATION</a:t>
            </a:r>
          </a:p>
          <a:p>
            <a:pPr algn="ctr">
              <a:spcAft>
                <a:spcPts val="0"/>
              </a:spcAft>
            </a:pPr>
            <a:r>
              <a:rPr sz="950" b="0" i="0">
                <a:solidFill>
                  <a:srgbClr val="1B2A55"/>
                </a:solidFill>
                <a:latin typeface="Inter"/>
              </a:rPr>
              <a:t>has_voted = 1   (identity side)</a:t>
            </a:r>
          </a:p>
        </p:txBody>
      </p:sp>
      <p:sp>
        <p:nvSpPr>
          <p:cNvPr id="11" name="TextBox 10"/>
          <p:cNvSpPr txBox="1"/>
          <p:nvPr/>
        </p:nvSpPr>
        <p:spPr>
          <a:xfrm>
            <a:off x="2697480" y="2286000"/>
            <a:ext cx="3154680" cy="274320"/>
          </a:xfrm>
          <a:prstGeom prst="rect">
            <a:avLst/>
          </a:prstGeom>
          <a:noFill/>
        </p:spPr>
        <p:txBody>
          <a:bodyPr wrap="square" anchor="t" lIns="0" rIns="0" tIns="0" bIns="0">
            <a:spAutoFit/>
          </a:bodyPr>
          <a:lstStyle/>
          <a:p>
            <a:pPr algn="ctr">
              <a:spcAft>
                <a:spcPts val="0"/>
              </a:spcAft>
            </a:pPr>
            <a:r>
              <a:rPr sz="950" b="0" i="1">
                <a:solidFill>
                  <a:srgbClr val="C0392B"/>
                </a:solidFill>
                <a:latin typeface="Inter"/>
              </a:rPr>
              <a:t>privacy boundary: no voter ID is ever stored with a ballot</a:t>
            </a:r>
          </a:p>
        </p:txBody>
      </p:sp>
      <p:sp>
        <p:nvSpPr>
          <p:cNvPr id="12" name="Rounded Rectangle 11"/>
          <p:cNvSpPr/>
          <p:nvPr/>
        </p:nvSpPr>
        <p:spPr>
          <a:xfrm>
            <a:off x="2697480" y="2697480"/>
            <a:ext cx="3154680" cy="86868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BALLOT_RANKS</a:t>
            </a:r>
          </a:p>
          <a:p>
            <a:pPr algn="ctr">
              <a:spcAft>
                <a:spcPts val="0"/>
              </a:spcAft>
            </a:pPr>
            <a:r>
              <a:rPr sz="950" b="0" i="0">
                <a:solidFill>
                  <a:srgbClr val="1B2A55"/>
                </a:solidFill>
                <a:latin typeface="Inter"/>
              </a:rPr>
              <a:t>random ballot_token + 3 ranked candidates</a:t>
            </a:r>
          </a:p>
          <a:p>
            <a:pPr algn="ctr">
              <a:spcAft>
                <a:spcPts val="0"/>
              </a:spcAft>
            </a:pPr>
            <a:r>
              <a:rPr sz="950" b="0" i="0">
                <a:solidFill>
                  <a:srgbClr val="1B2A55"/>
                </a:solidFill>
                <a:latin typeface="Inter"/>
              </a:rPr>
              <a:t>(ballot side)</a:t>
            </a:r>
          </a:p>
        </p:txBody>
      </p:sp>
      <p:cxnSp>
        <p:nvCxnSpPr>
          <p:cNvPr id="13" name="Connector 12"/>
          <p:cNvCxnSpPr/>
          <p:nvPr/>
        </p:nvCxnSpPr>
        <p:spPr>
          <a:xfrm>
            <a:off x="6035040" y="310896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37960" y="2606040"/>
            <a:ext cx="2148840" cy="1005840"/>
          </a:xfrm>
          <a:prstGeom prst="roundRect">
            <a:avLst>
              <a:gd name="adj" fmla="val 10000"/>
            </a:avLst>
          </a:prstGeom>
          <a:solidFill>
            <a:srgbClr val="FFF4E6"/>
          </a:solidFill>
          <a:ln w="19050">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Ledger append</a:t>
            </a:r>
          </a:p>
          <a:p>
            <a:pPr algn="ctr">
              <a:spcAft>
                <a:spcPts val="0"/>
              </a:spcAft>
            </a:pPr>
            <a:r>
              <a:rPr sz="950" b="0" i="0">
                <a:solidFill>
                  <a:srgbClr val="1B2A55"/>
                </a:solidFill>
                <a:latin typeface="Inter"/>
              </a:rPr>
              <a:t>SHA-256 of the ranks + prev_hash, sealed as curr_hash with an HMAC key</a:t>
            </a:r>
          </a:p>
        </p:txBody>
      </p:sp>
      <p:cxnSp>
        <p:nvCxnSpPr>
          <p:cNvPr id="15" name="Connector 14"/>
          <p:cNvCxnSpPr/>
          <p:nvPr/>
        </p:nvCxnSpPr>
        <p:spPr>
          <a:xfrm flipV="1">
            <a:off x="7589520" y="2194560"/>
            <a:ext cx="0" cy="41148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37960" y="1371600"/>
            <a:ext cx="214884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Receipt token</a:t>
            </a:r>
          </a:p>
          <a:p>
            <a:pPr algn="ctr">
              <a:spcAft>
                <a:spcPts val="0"/>
              </a:spcAft>
            </a:pPr>
            <a:r>
              <a:rPr sz="950" b="0" i="0">
                <a:solidFill>
                  <a:srgbClr val="1B2A55"/>
                </a:solidFill>
                <a:latin typeface="Inter"/>
              </a:rPr>
              <a:t>returned to the voter</a:t>
            </a:r>
          </a:p>
        </p:txBody>
      </p:sp>
      <p:sp>
        <p:nvSpPr>
          <p:cNvPr id="17" name="Rounded Rectangle 16"/>
          <p:cNvSpPr/>
          <p:nvPr/>
        </p:nvSpPr>
        <p:spPr>
          <a:xfrm>
            <a:off x="457200"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Atomic</a:t>
            </a:r>
          </a:p>
          <a:p>
            <a:pPr algn="l">
              <a:spcAft>
                <a:spcPts val="100"/>
              </a:spcAft>
            </a:pPr>
            <a:r>
              <a:rPr sz="950" b="0" i="0">
                <a:solidFill>
                  <a:srgbClr val="353B4A"/>
                </a:solidFill>
                <a:latin typeface="Inter"/>
              </a:rPr>
              <a:t>The voter flag and the ballot rows commit together, then the receipt is appended.</a:t>
            </a:r>
          </a:p>
        </p:txBody>
      </p:sp>
      <p:sp>
        <p:nvSpPr>
          <p:cNvPr id="19" name="Rounded Rectangle 18"/>
          <p:cNvSpPr/>
          <p:nvPr/>
        </p:nvSpPr>
        <p:spPr>
          <a:xfrm>
            <a:off x="3282696"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Serialized</a:t>
            </a:r>
          </a:p>
          <a:p>
            <a:pPr algn="l">
              <a:spcAft>
                <a:spcPts val="100"/>
              </a:spcAft>
            </a:pPr>
            <a:r>
              <a:rPr sz="950" b="0" i="0">
                <a:solidFill>
                  <a:srgbClr val="353B4A"/>
                </a:solidFill>
                <a:latin typeface="Inter"/>
              </a:rPr>
              <a:t>A server-side write lock keeps simultaneous ballots from corrupting the ledger.</a:t>
            </a:r>
          </a:p>
        </p:txBody>
      </p:sp>
      <p:sp>
        <p:nvSpPr>
          <p:cNvPr id="21" name="Rounded Rectangle 20"/>
          <p:cNvSpPr/>
          <p:nvPr/>
        </p:nvSpPr>
        <p:spPr>
          <a:xfrm>
            <a:off x="6108192"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Verifiable</a:t>
            </a:r>
          </a:p>
          <a:p>
            <a:pPr algn="l">
              <a:spcAft>
                <a:spcPts val="100"/>
              </a:spcAft>
            </a:pPr>
            <a:r>
              <a:rPr sz="950" b="0" i="0">
                <a:solidFill>
                  <a:srgbClr val="353B4A"/>
                </a:solidFill>
                <a:latin typeface="Inter"/>
              </a:rPr>
              <a:t>Voters can look their token up later without revealing their choices.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TALLYING ENGINE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counts until someone holds a majority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13</a:t>
            </a:r>
          </a:p>
        </p:txBody>
      </p:sp>
      <p:graphicFrame>
        <p:nvGraphicFramePr>
          <p:cNvPr id="6" name="Chart 5"/>
          <p:cNvGraphicFramePr>
            <a:graphicFrameLocks noGrp="1"/>
          </p:cNvGraphicFramePr>
          <p:nvPr/>
        </p:nvGraphicFramePr>
        <p:xfrm>
          <a:off x="365760" y="1051560"/>
          <a:ext cx="5120640" cy="3657600"/>
        </p:xfrm>
        <a:graphic>
          <a:graphicData uri="http://schemas.openxmlformats.org/drawingml/2006/chart">
            <c:chart xmlns:c="http://schemas.openxmlformats.org/drawingml/2006/chart" r:id="rId2"/>
          </a:graphicData>
        </a:graphic>
      </p:graphicFrame>
      <p:sp>
        <p:nvSpPr>
          <p:cNvPr id="7" name="Rounded Rectangle 6"/>
          <p:cNvSpPr/>
          <p:nvPr/>
        </p:nvSpPr>
        <p:spPr>
          <a:xfrm>
            <a:off x="5669280" y="1097280"/>
            <a:ext cx="3017520" cy="1325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33872" y="1188720"/>
            <a:ext cx="2743200" cy="1188720"/>
          </a:xfrm>
          <a:prstGeom prst="rect">
            <a:avLst/>
          </a:prstGeom>
          <a:noFill/>
        </p:spPr>
        <p:txBody>
          <a:bodyPr wrap="square" anchor="t" lIns="0" rIns="0" tIns="0" bIns="0">
            <a:spAutoFit/>
          </a:bodyPr>
          <a:lstStyle/>
          <a:p>
            <a:pPr algn="l">
              <a:spcAft>
                <a:spcPts val="300"/>
              </a:spcAft>
            </a:pPr>
            <a:r>
              <a:rPr sz="1400" b="1" i="0">
                <a:solidFill>
                  <a:srgbClr val="1A7F37"/>
                </a:solidFill>
                <a:latin typeface="Inter"/>
              </a:rPr>
              <a:t>Chaitanya Reddy wins</a:t>
            </a:r>
          </a:p>
          <a:p>
            <a:pPr algn="l">
              <a:spcAft>
                <a:spcPts val="300"/>
              </a:spcAft>
            </a:pPr>
            <a:r>
              <a:rPr sz="1150" b="0" i="0">
                <a:solidFill>
                  <a:srgbClr val="353B4A"/>
                </a:solidFill>
                <a:latin typeface="Inter"/>
              </a:rPr>
              <a:t>23 of 45 continuing ballots (51.1%) in round 4, against 22 for Diya Sharma.</a:t>
            </a:r>
          </a:p>
        </p:txBody>
      </p:sp>
      <p:sp>
        <p:nvSpPr>
          <p:cNvPr id="9" name="TextBox 8"/>
          <p:cNvSpPr txBox="1"/>
          <p:nvPr/>
        </p:nvSpPr>
        <p:spPr>
          <a:xfrm>
            <a:off x="5669280" y="2606040"/>
            <a:ext cx="3017520" cy="21031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How it runs</a:t>
            </a:r>
          </a:p>
          <a:p>
            <a:pPr algn="l">
              <a:spcAft>
                <a:spcPts val="500"/>
              </a:spcAft>
            </a:pPr>
            <a:r>
              <a:rPr sz="1100" b="0" i="0">
                <a:solidFill>
                  <a:srgbClr val="353B4A"/>
                </a:solidFill>
                <a:latin typeface="Inter"/>
              </a:rPr>
              <a:t>Count each ballot’s top continuing choice.</a:t>
            </a:r>
          </a:p>
          <a:p>
            <a:pPr algn="l">
              <a:spcAft>
                <a:spcPts val="500"/>
              </a:spcAft>
            </a:pPr>
            <a:r>
              <a:rPr sz="1100" b="0" i="0">
                <a:solidFill>
                  <a:srgbClr val="353B4A"/>
                </a:solidFill>
                <a:latin typeface="Inter"/>
              </a:rPr>
              <a:t>No majority? Eliminate the last-place candidate and move those ballots to their next choice.</a:t>
            </a:r>
          </a:p>
          <a:p>
            <a:pPr algn="l">
              <a:spcAft>
                <a:spcPts val="500"/>
              </a:spcAft>
            </a:pPr>
            <a:r>
              <a:rPr sz="1100" b="0" i="0">
                <a:solidFill>
                  <a:srgbClr val="353B4A"/>
                </a:solidFill>
                <a:latin typeface="Inter"/>
              </a:rPr>
              <a:t>Edge cases: exhausted ballots, empty elections, and last-place ties are flagged in the interface.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Every ballot is sealed in a hash chain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14</a:t>
            </a:r>
          </a:p>
        </p:txBody>
      </p:sp>
      <p:sp>
        <p:nvSpPr>
          <p:cNvPr id="6" name="Rounded Rectangle 5"/>
          <p:cNvSpPr/>
          <p:nvPr/>
        </p:nvSpPr>
        <p:spPr>
          <a:xfrm>
            <a:off x="457200"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1</a:t>
            </a:r>
          </a:p>
        </p:txBody>
      </p:sp>
      <p:sp>
        <p:nvSpPr>
          <p:cNvPr id="8" name="TextBox 7"/>
          <p:cNvSpPr txBox="1"/>
          <p:nvPr/>
        </p:nvSpPr>
        <p:spPr>
          <a:xfrm>
            <a:off x="621792"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9" name="TextBox 8"/>
          <p:cNvSpPr txBox="1"/>
          <p:nvPr/>
        </p:nvSpPr>
        <p:spPr>
          <a:xfrm>
            <a:off x="1719072"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0f2da608…</a:t>
            </a:r>
          </a:p>
        </p:txBody>
      </p:sp>
      <p:sp>
        <p:nvSpPr>
          <p:cNvPr id="10" name="TextBox 9"/>
          <p:cNvSpPr txBox="1"/>
          <p:nvPr/>
        </p:nvSpPr>
        <p:spPr>
          <a:xfrm>
            <a:off x="621792"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11" name="TextBox 10"/>
          <p:cNvSpPr txBox="1"/>
          <p:nvPr/>
        </p:nvSpPr>
        <p:spPr>
          <a:xfrm>
            <a:off x="1719072"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12" name="TextBox 11"/>
          <p:cNvSpPr txBox="1"/>
          <p:nvPr/>
        </p:nvSpPr>
        <p:spPr>
          <a:xfrm>
            <a:off x="621792"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13" name="TextBox 12"/>
          <p:cNvSpPr txBox="1"/>
          <p:nvPr/>
        </p:nvSpPr>
        <p:spPr>
          <a:xfrm>
            <a:off x="1719072" y="2231136"/>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00000000…</a:t>
            </a:r>
          </a:p>
        </p:txBody>
      </p:sp>
      <p:sp>
        <p:nvSpPr>
          <p:cNvPr id="14" name="TextBox 13"/>
          <p:cNvSpPr txBox="1"/>
          <p:nvPr/>
        </p:nvSpPr>
        <p:spPr>
          <a:xfrm>
            <a:off x="621792"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15" name="TextBox 14"/>
          <p:cNvSpPr txBox="1"/>
          <p:nvPr/>
        </p:nvSpPr>
        <p:spPr>
          <a:xfrm>
            <a:off x="1719072"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5906eaba…</a:t>
            </a:r>
          </a:p>
        </p:txBody>
      </p:sp>
      <p:cxnSp>
        <p:nvCxnSpPr>
          <p:cNvPr id="16" name="Connector 15"/>
          <p:cNvCxnSpPr/>
          <p:nvPr/>
        </p:nvCxnSpPr>
        <p:spPr>
          <a:xfrm>
            <a:off x="3044952"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282696"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19856"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2</a:t>
            </a:r>
          </a:p>
        </p:txBody>
      </p:sp>
      <p:sp>
        <p:nvSpPr>
          <p:cNvPr id="19" name="TextBox 18"/>
          <p:cNvSpPr txBox="1"/>
          <p:nvPr/>
        </p:nvSpPr>
        <p:spPr>
          <a:xfrm>
            <a:off x="3447288"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20" name="TextBox 19"/>
          <p:cNvSpPr txBox="1"/>
          <p:nvPr/>
        </p:nvSpPr>
        <p:spPr>
          <a:xfrm>
            <a:off x="4544568"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050556d2…</a:t>
            </a:r>
          </a:p>
        </p:txBody>
      </p:sp>
      <p:sp>
        <p:nvSpPr>
          <p:cNvPr id="21" name="TextBox 20"/>
          <p:cNvSpPr txBox="1"/>
          <p:nvPr/>
        </p:nvSpPr>
        <p:spPr>
          <a:xfrm>
            <a:off x="3447288"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22" name="TextBox 21"/>
          <p:cNvSpPr txBox="1"/>
          <p:nvPr/>
        </p:nvSpPr>
        <p:spPr>
          <a:xfrm>
            <a:off x="4544568"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470ef925…</a:t>
            </a:r>
          </a:p>
        </p:txBody>
      </p:sp>
      <p:sp>
        <p:nvSpPr>
          <p:cNvPr id="23" name="TextBox 22"/>
          <p:cNvSpPr txBox="1"/>
          <p:nvPr/>
        </p:nvSpPr>
        <p:spPr>
          <a:xfrm>
            <a:off x="3447288"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24" name="TextBox 23"/>
          <p:cNvSpPr txBox="1"/>
          <p:nvPr/>
        </p:nvSpPr>
        <p:spPr>
          <a:xfrm>
            <a:off x="4544568"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5906eaba…</a:t>
            </a:r>
          </a:p>
        </p:txBody>
      </p:sp>
      <p:sp>
        <p:nvSpPr>
          <p:cNvPr id="25" name="TextBox 24"/>
          <p:cNvSpPr txBox="1"/>
          <p:nvPr/>
        </p:nvSpPr>
        <p:spPr>
          <a:xfrm>
            <a:off x="3447288"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26" name="TextBox 25"/>
          <p:cNvSpPr txBox="1"/>
          <p:nvPr/>
        </p:nvSpPr>
        <p:spPr>
          <a:xfrm>
            <a:off x="4544568"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077a697b…</a:t>
            </a:r>
          </a:p>
        </p:txBody>
      </p:sp>
      <p:cxnSp>
        <p:nvCxnSpPr>
          <p:cNvPr id="27" name="Connector 26"/>
          <p:cNvCxnSpPr/>
          <p:nvPr/>
        </p:nvCxnSpPr>
        <p:spPr>
          <a:xfrm>
            <a:off x="5870448"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08192"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3</a:t>
            </a:r>
          </a:p>
        </p:txBody>
      </p:sp>
      <p:sp>
        <p:nvSpPr>
          <p:cNvPr id="30" name="TextBox 29"/>
          <p:cNvSpPr txBox="1"/>
          <p:nvPr/>
        </p:nvSpPr>
        <p:spPr>
          <a:xfrm>
            <a:off x="6272783"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31" name="TextBox 30"/>
          <p:cNvSpPr txBox="1"/>
          <p:nvPr/>
        </p:nvSpPr>
        <p:spPr>
          <a:xfrm>
            <a:off x="7370063"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de410a8a…</a:t>
            </a:r>
          </a:p>
        </p:txBody>
      </p:sp>
      <p:sp>
        <p:nvSpPr>
          <p:cNvPr id="32" name="TextBox 31"/>
          <p:cNvSpPr txBox="1"/>
          <p:nvPr/>
        </p:nvSpPr>
        <p:spPr>
          <a:xfrm>
            <a:off x="6272783"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33" name="TextBox 32"/>
          <p:cNvSpPr txBox="1"/>
          <p:nvPr/>
        </p:nvSpPr>
        <p:spPr>
          <a:xfrm>
            <a:off x="7370063"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34" name="TextBox 33"/>
          <p:cNvSpPr txBox="1"/>
          <p:nvPr/>
        </p:nvSpPr>
        <p:spPr>
          <a:xfrm>
            <a:off x="6272783"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35" name="TextBox 34"/>
          <p:cNvSpPr txBox="1"/>
          <p:nvPr/>
        </p:nvSpPr>
        <p:spPr>
          <a:xfrm>
            <a:off x="7370063"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077a697b…</a:t>
            </a:r>
          </a:p>
        </p:txBody>
      </p:sp>
      <p:sp>
        <p:nvSpPr>
          <p:cNvPr id="36" name="TextBox 35"/>
          <p:cNvSpPr txBox="1"/>
          <p:nvPr/>
        </p:nvSpPr>
        <p:spPr>
          <a:xfrm>
            <a:off x="6272783"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37" name="TextBox 36"/>
          <p:cNvSpPr txBox="1"/>
          <p:nvPr/>
        </p:nvSpPr>
        <p:spPr>
          <a:xfrm>
            <a:off x="7370063"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e50bbfe1…</a:t>
            </a:r>
          </a:p>
        </p:txBody>
      </p:sp>
      <p:sp>
        <p:nvSpPr>
          <p:cNvPr id="38" name="TextBox 37"/>
          <p:cNvSpPr txBox="1"/>
          <p:nvPr/>
        </p:nvSpPr>
        <p:spPr>
          <a:xfrm>
            <a:off x="457200" y="3108960"/>
            <a:ext cx="8229600" cy="201168"/>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Block 2’s prev_hash equals block 1’s curr_hash, and so on: editing any block breaks every link after it.</a:t>
            </a:r>
          </a:p>
        </p:txBody>
      </p:sp>
      <p:sp>
        <p:nvSpPr>
          <p:cNvPr id="39" name="Rounded Rectangle 38"/>
          <p:cNvSpPr/>
          <p:nvPr/>
        </p:nvSpPr>
        <p:spPr>
          <a:xfrm>
            <a:off x="457200"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Seal</a:t>
            </a:r>
          </a:p>
          <a:p>
            <a:pPr algn="l">
              <a:spcAft>
                <a:spcPts val="300"/>
              </a:spcAft>
            </a:pPr>
            <a:r>
              <a:rPr sz="1100" b="0" i="0">
                <a:solidFill>
                  <a:srgbClr val="353B4A"/>
                </a:solidFill>
                <a:latin typeface="Inter"/>
              </a:rPr>
              <a:t>vote_data_hash = SHA-256 of the ballot’s ranks; curr_hash covers the whole block and is sealed with an HMAC key.</a:t>
            </a:r>
          </a:p>
        </p:txBody>
      </p:sp>
      <p:sp>
        <p:nvSpPr>
          <p:cNvPr id="41" name="Rounded Rectangle 40"/>
          <p:cNvSpPr/>
          <p:nvPr/>
        </p:nvSpPr>
        <p:spPr>
          <a:xfrm>
            <a:off x="3282696"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7288"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Chain check</a:t>
            </a:r>
          </a:p>
          <a:p>
            <a:pPr algn="l">
              <a:spcAft>
                <a:spcPts val="300"/>
              </a:spcAft>
            </a:pPr>
            <a:r>
              <a:rPr sz="1100" b="0" i="0">
                <a:solidFill>
                  <a:srgbClr val="353B4A"/>
                </a:solidFill>
                <a:latin typeface="Inter"/>
              </a:rPr>
              <a:t>audit_ledger.py recomputes every hash and link: 45 of 45 blocks intact.</a:t>
            </a:r>
          </a:p>
        </p:txBody>
      </p:sp>
      <p:sp>
        <p:nvSpPr>
          <p:cNvPr id="43" name="Rounded Rectangle 42"/>
          <p:cNvSpPr/>
          <p:nvPr/>
        </p:nvSpPr>
        <p:spPr>
          <a:xfrm>
            <a:off x="6108192"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2783"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Ballot check</a:t>
            </a:r>
          </a:p>
          <a:p>
            <a:pPr algn="l">
              <a:spcAft>
                <a:spcPts val="300"/>
              </a:spcAft>
            </a:pPr>
            <a:r>
              <a:rPr sz="1100" b="0" i="0">
                <a:solidFill>
                  <a:srgbClr val="353B4A"/>
                </a:solidFill>
                <a:latin typeface="Inter"/>
              </a:rPr>
              <a:t>The integrity sweep recomputes each ballot from the database and compares it with its receipt.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ADMINISTRATOR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Officers run each election through a guarded lifecycle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15</a:t>
            </a:r>
          </a:p>
        </p:txBody>
      </p:sp>
      <p:pic>
        <p:nvPicPr>
          <p:cNvPr id="6" name="Picture 5" descr="11_admin_overview.png"/>
          <p:cNvPicPr>
            <a:picLocks noChangeAspect="1"/>
          </p:cNvPicPr>
          <p:nvPr/>
        </p:nvPicPr>
        <p:blipFill>
          <a:blip r:embed="rId2"/>
          <a:stretch>
            <a:fillRect/>
          </a:stretch>
        </p:blipFill>
        <p:spPr>
          <a:xfrm>
            <a:off x="457200" y="1097280"/>
            <a:ext cx="4572000" cy="2350213"/>
          </a:xfrm>
          <a:prstGeom prst="rect">
            <a:avLst/>
          </a:prstGeom>
          <a:ln w="12700">
            <a:solidFill>
              <a:srgbClr val="D9D9E4"/>
            </a:solidFill>
          </a:ln>
        </p:spPr>
      </p:pic>
      <p:pic>
        <p:nvPicPr>
          <p:cNvPr id="7" name="Picture 6" descr="10_admin_elections.png"/>
          <p:cNvPicPr>
            <a:picLocks noChangeAspect="1"/>
          </p:cNvPicPr>
          <p:nvPr/>
        </p:nvPicPr>
        <p:blipFill>
          <a:blip r:embed="rId3"/>
          <a:stretch>
            <a:fillRect/>
          </a:stretch>
        </p:blipFill>
        <p:spPr>
          <a:xfrm>
            <a:off x="457200" y="3584653"/>
            <a:ext cx="4572000" cy="1106612"/>
          </a:xfrm>
          <a:prstGeom prst="rect">
            <a:avLst/>
          </a:prstGeom>
          <a:ln w="12700">
            <a:solidFill>
              <a:srgbClr val="D9D9E4"/>
            </a:solidFill>
          </a:ln>
        </p:spPr>
      </p:pic>
      <p:sp>
        <p:nvSpPr>
          <p:cNvPr id="8" name="Rounded Rectangle 7"/>
          <p:cNvSpPr/>
          <p:nvPr/>
        </p:nvSpPr>
        <p:spPr>
          <a:xfrm>
            <a:off x="5257800" y="1097280"/>
            <a:ext cx="3429000" cy="3611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40680" y="1188720"/>
            <a:ext cx="3108960" cy="228600"/>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Election lifecycle</a:t>
            </a:r>
          </a:p>
        </p:txBody>
      </p:sp>
      <p:sp>
        <p:nvSpPr>
          <p:cNvPr id="10" name="Rounded Rectangle 9"/>
          <p:cNvSpPr/>
          <p:nvPr/>
        </p:nvSpPr>
        <p:spPr>
          <a:xfrm>
            <a:off x="5440680" y="160020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1</a:t>
            </a:r>
          </a:p>
        </p:txBody>
      </p:sp>
      <p:sp>
        <p:nvSpPr>
          <p:cNvPr id="11" name="TextBox 10"/>
          <p:cNvSpPr txBox="1"/>
          <p:nvPr/>
        </p:nvSpPr>
        <p:spPr>
          <a:xfrm>
            <a:off x="5852160" y="158191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Nominations</a:t>
            </a:r>
          </a:p>
          <a:p>
            <a:pPr algn="l">
              <a:spcAft>
                <a:spcPts val="100"/>
              </a:spcAft>
            </a:pPr>
            <a:r>
              <a:rPr sz="1050" b="0" i="0">
                <a:solidFill>
                  <a:srgbClr val="353B4A"/>
                </a:solidFill>
                <a:latin typeface="Inter"/>
              </a:rPr>
              <a:t>Add candidates; build the roster by hand or in bulk.</a:t>
            </a:r>
          </a:p>
        </p:txBody>
      </p:sp>
      <p:sp>
        <p:nvSpPr>
          <p:cNvPr id="12" name="Rounded Rectangle 11"/>
          <p:cNvSpPr/>
          <p:nvPr/>
        </p:nvSpPr>
        <p:spPr>
          <a:xfrm>
            <a:off x="5440680" y="246888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2</a:t>
            </a:r>
          </a:p>
        </p:txBody>
      </p:sp>
      <p:sp>
        <p:nvSpPr>
          <p:cNvPr id="13" name="TextBox 12"/>
          <p:cNvSpPr txBox="1"/>
          <p:nvPr/>
        </p:nvSpPr>
        <p:spPr>
          <a:xfrm>
            <a:off x="5852160" y="245059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Voting</a:t>
            </a:r>
          </a:p>
          <a:p>
            <a:pPr algn="l">
              <a:spcAft>
                <a:spcPts val="100"/>
              </a:spcAft>
            </a:pPr>
            <a:r>
              <a:rPr sz="1050" b="0" i="0">
                <a:solidFill>
                  <a:srgbClr val="353B4A"/>
                </a:solidFill>
                <a:latin typeface="Inter"/>
              </a:rPr>
              <a:t>Candidates are locked; voters cast ballots; simulation tools for testing.</a:t>
            </a:r>
          </a:p>
        </p:txBody>
      </p:sp>
      <p:sp>
        <p:nvSpPr>
          <p:cNvPr id="14" name="Rounded Rectangle 13"/>
          <p:cNvSpPr/>
          <p:nvPr/>
        </p:nvSpPr>
        <p:spPr>
          <a:xfrm>
            <a:off x="5440680" y="333756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3</a:t>
            </a:r>
          </a:p>
        </p:txBody>
      </p:sp>
      <p:sp>
        <p:nvSpPr>
          <p:cNvPr id="15" name="TextBox 14"/>
          <p:cNvSpPr txBox="1"/>
          <p:nvPr/>
        </p:nvSpPr>
        <p:spPr>
          <a:xfrm>
            <a:off x="5852160" y="331927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Closed</a:t>
            </a:r>
          </a:p>
          <a:p>
            <a:pPr algn="l">
              <a:spcAft>
                <a:spcPts val="100"/>
              </a:spcAft>
            </a:pPr>
            <a:r>
              <a:rPr sz="1050" b="0" i="0">
                <a:solidFill>
                  <a:srgbClr val="353B4A"/>
                </a:solidFill>
                <a:latin typeface="Inter"/>
              </a:rPr>
              <a:t>No more votes; run the integrity sweep, then count.</a:t>
            </a:r>
          </a:p>
        </p:txBody>
      </p:sp>
      <p:sp>
        <p:nvSpPr>
          <p:cNvPr id="16" name="TextBox 15"/>
          <p:cNvSpPr txBox="1"/>
          <p:nvPr/>
        </p:nvSpPr>
        <p:spPr>
          <a:xfrm>
            <a:off x="5440680" y="4206240"/>
            <a:ext cx="3108960" cy="45720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Each change asks for confirmation, and a closed election cannot be reopened.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TAMPER TEST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rogue DBA edits the database and the sweep catches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16</a:t>
            </a:r>
          </a:p>
        </p:txBody>
      </p:sp>
      <p:sp>
        <p:nvSpPr>
          <p:cNvPr id="6" name="Rounded Rectangle 5"/>
          <p:cNvSpPr/>
          <p:nvPr/>
        </p:nvSpPr>
        <p:spPr>
          <a:xfrm>
            <a:off x="457200" y="1143000"/>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1</a:t>
            </a:r>
          </a:p>
        </p:txBody>
      </p:sp>
      <p:sp>
        <p:nvSpPr>
          <p:cNvPr id="7" name="TextBox 6"/>
          <p:cNvSpPr txBox="1"/>
          <p:nvPr/>
        </p:nvSpPr>
        <p:spPr>
          <a:xfrm>
            <a:off x="960120" y="1124712"/>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Edit</a:t>
            </a:r>
          </a:p>
          <a:p>
            <a:pPr algn="l">
              <a:spcAft>
                <a:spcPts val="200"/>
              </a:spcAft>
            </a:pPr>
            <a:r>
              <a:rPr sz="1050" b="0" i="0">
                <a:solidFill>
                  <a:srgbClr val="353B4A"/>
                </a:solidFill>
                <a:latin typeface="Inter"/>
              </a:rPr>
              <a:t>In DB Studio we re-assigned one ballot’s first choice.</a:t>
            </a:r>
          </a:p>
        </p:txBody>
      </p:sp>
      <p:sp>
        <p:nvSpPr>
          <p:cNvPr id="8" name="Rounded Rectangle 7"/>
          <p:cNvSpPr/>
          <p:nvPr/>
        </p:nvSpPr>
        <p:spPr>
          <a:xfrm>
            <a:off x="457200" y="2167128"/>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2</a:t>
            </a:r>
          </a:p>
        </p:txBody>
      </p:sp>
      <p:sp>
        <p:nvSpPr>
          <p:cNvPr id="9" name="TextBox 8"/>
          <p:cNvSpPr txBox="1"/>
          <p:nvPr/>
        </p:nvSpPr>
        <p:spPr>
          <a:xfrm>
            <a:off x="960120" y="2148840"/>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Delete</a:t>
            </a:r>
          </a:p>
          <a:p>
            <a:pPr algn="l">
              <a:spcAft>
                <a:spcPts val="200"/>
              </a:spcAft>
            </a:pPr>
            <a:r>
              <a:rPr sz="1050" b="0" i="0">
                <a:solidFill>
                  <a:srgbClr val="353B4A"/>
                </a:solidFill>
                <a:latin typeface="Inter"/>
              </a:rPr>
              <a:t>We deleted two ballot rows, including a voter’s own.</a:t>
            </a:r>
          </a:p>
        </p:txBody>
      </p:sp>
      <p:sp>
        <p:nvSpPr>
          <p:cNvPr id="10" name="Rounded Rectangle 9"/>
          <p:cNvSpPr/>
          <p:nvPr/>
        </p:nvSpPr>
        <p:spPr>
          <a:xfrm>
            <a:off x="457200" y="3191256"/>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3</a:t>
            </a:r>
          </a:p>
        </p:txBody>
      </p:sp>
      <p:sp>
        <p:nvSpPr>
          <p:cNvPr id="11" name="TextBox 10"/>
          <p:cNvSpPr txBox="1"/>
          <p:nvPr/>
        </p:nvSpPr>
        <p:spPr>
          <a:xfrm>
            <a:off x="960120" y="3172968"/>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Sweep</a:t>
            </a:r>
          </a:p>
          <a:p>
            <a:pPr algn="l">
              <a:spcAft>
                <a:spcPts val="200"/>
              </a:spcAft>
            </a:pPr>
            <a:r>
              <a:rPr sz="1050" b="0" i="0">
                <a:solidFill>
                  <a:srgbClr val="353B4A"/>
                </a:solidFill>
                <a:latin typeface="Inter"/>
              </a:rPr>
              <a:t>Run integrity sweep: every sealed ballot is recomputed and compared.</a:t>
            </a:r>
          </a:p>
        </p:txBody>
      </p:sp>
      <p:sp>
        <p:nvSpPr>
          <p:cNvPr id="12" name="Rounded Rectangle 11"/>
          <p:cNvSpPr/>
          <p:nvPr/>
        </p:nvSpPr>
        <p:spPr>
          <a:xfrm>
            <a:off x="457200" y="4251960"/>
            <a:ext cx="2834640" cy="548640"/>
          </a:xfrm>
          <a:prstGeom prst="roundRect">
            <a:avLst>
              <a:gd name="adj" fmla="val 6000"/>
            </a:avLst>
          </a:prstGeom>
          <a:solidFill>
            <a:srgbClr val="FDECEA"/>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606040" cy="457200"/>
          </a:xfrm>
          <a:prstGeom prst="rect">
            <a:avLst/>
          </a:prstGeom>
          <a:noFill/>
        </p:spPr>
        <p:txBody>
          <a:bodyPr wrap="square" anchor="ctr" lIns="0" rIns="0" tIns="0" bIns="0">
            <a:spAutoFit/>
          </a:bodyPr>
          <a:lstStyle/>
          <a:p>
            <a:pPr algn="l">
              <a:spcAft>
                <a:spcPts val="0"/>
              </a:spcAft>
            </a:pPr>
            <a:r>
              <a:rPr sz="1100" b="1" i="0">
                <a:solidFill>
                  <a:srgbClr val="C0392B"/>
                </a:solidFill>
                <a:latin typeface="Inter"/>
              </a:rPr>
              <a:t>Result: 3 of 3 flagged</a:t>
            </a:r>
            <a:r>
              <a:rPr sz="1100" b="0" i="0">
                <a:solidFill>
                  <a:srgbClr val="353B4A"/>
                </a:solidFill>
                <a:latin typeface="Inter"/>
              </a:rPr>
              <a:t> (1 modified, 2 deleted)</a:t>
            </a:r>
          </a:p>
        </p:txBody>
      </p:sp>
      <p:pic>
        <p:nvPicPr>
          <p:cNvPr id="14" name="Picture 13" descr="17_sweep_tampered.png"/>
          <p:cNvPicPr>
            <a:picLocks noChangeAspect="1"/>
          </p:cNvPicPr>
          <p:nvPr/>
        </p:nvPicPr>
        <p:blipFill>
          <a:blip r:embed="rId2"/>
          <a:stretch>
            <a:fillRect/>
          </a:stretch>
        </p:blipFill>
        <p:spPr>
          <a:xfrm>
            <a:off x="3520440" y="1143000"/>
            <a:ext cx="5166360" cy="3127389"/>
          </a:xfrm>
          <a:prstGeom prst="rect">
            <a:avLst/>
          </a:prstGeom>
          <a:ln w="12700">
            <a:solidFill>
              <a:srgbClr val="D9D9E4"/>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VERIFICATION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Seven checks, seven expected outcomes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17</a:t>
            </a:r>
          </a:p>
        </p:txBody>
      </p:sp>
      <p:graphicFrame>
        <p:nvGraphicFramePr>
          <p:cNvPr id="6" name="Table 5"/>
          <p:cNvGraphicFramePr>
            <a:graphicFrameLocks noGrp="1"/>
          </p:cNvGraphicFramePr>
          <p:nvPr/>
        </p:nvGraphicFramePr>
        <p:xfrm>
          <a:off x="457200" y="1097280"/>
          <a:ext cx="8229599" cy="3310128"/>
        </p:xfrm>
        <a:graphic>
          <a:graphicData uri="http://schemas.openxmlformats.org/drawingml/2006/table">
            <a:tbl>
              <a:tblPr firstRow="1" bandRow="1">
                <a:tableStyleId>{5C22544A-7EE6-4342-B048-85BDC9FD1C3A}</a:tableStyleId>
              </a:tblPr>
              <a:tblGrid>
                <a:gridCol w="3108960"/>
                <a:gridCol w="1828800"/>
                <a:gridCol w="3291839"/>
              </a:tblGrid>
              <a:tr h="365760">
                <a:tc>
                  <a:txBody>
                    <a:bodyPr wrap="square"/>
                    <a:lstStyle/>
                    <a:p>
                      <a:r>
                        <a:rPr sz="1000" b="1" i="0">
                          <a:solidFill>
                            <a:srgbClr val="FFFFFF"/>
                          </a:solidFill>
                          <a:latin typeface="Inter"/>
                        </a:rPr>
                        <a:t>Check</a:t>
                      </a:r>
                    </a:p>
                  </a:txBody>
                  <a:tcPr marL="73152" marR="73152" marT="36576" marB="36576" anchor="ctr">
                    <a:solidFill>
                      <a:srgbClr val="1B2A55"/>
                    </a:solidFill>
                  </a:tcPr>
                </a:tc>
                <a:tc>
                  <a:txBody>
                    <a:bodyPr wrap="square"/>
                    <a:lstStyle/>
                    <a:p>
                      <a:r>
                        <a:rPr sz="1000" b="1" i="0">
                          <a:solidFill>
                            <a:srgbClr val="FFFFFF"/>
                          </a:solidFill>
                          <a:latin typeface="Inter"/>
                        </a:rPr>
                        <a:t>Expected</a:t>
                      </a:r>
                    </a:p>
                  </a:txBody>
                  <a:tcPr marL="73152" marR="73152" marT="36576" marB="36576" anchor="ctr">
                    <a:solidFill>
                      <a:srgbClr val="1B2A55"/>
                    </a:solidFill>
                  </a:tcPr>
                </a:tc>
                <a:tc>
                  <a:txBody>
                    <a:bodyPr wrap="square"/>
                    <a:lstStyle/>
                    <a:p>
                      <a:r>
                        <a:rPr sz="1000" b="1" i="0">
                          <a:solidFill>
                            <a:srgbClr val="FFFFFF"/>
                          </a:solidFill>
                          <a:latin typeface="Inter"/>
                        </a:rPr>
                        <a:t>Observed</a:t>
                      </a:r>
                    </a:p>
                  </a:txBody>
                  <a:tcPr marL="73152" marR="73152" marT="36576" marB="36576" anchor="ctr">
                    <a:solidFill>
                      <a:srgbClr val="1B2A55"/>
                    </a:solidFill>
                  </a:tcPr>
                </a:tc>
              </a:tr>
              <a:tr h="420624">
                <a:tc>
                  <a:txBody>
                    <a:bodyPr wrap="square"/>
                    <a:lstStyle/>
                    <a:p>
                      <a:r>
                        <a:rPr sz="1050" b="1" i="0">
                          <a:solidFill>
                            <a:srgbClr val="1B2A55"/>
                          </a:solidFill>
                          <a:latin typeface="Inter"/>
                        </a:rPr>
                        <a:t>Same voter votes twice</a:t>
                      </a:r>
                    </a:p>
                  </a:txBody>
                  <a:tcPr marL="73152" marR="73152" marT="36576" marB="36576" anchor="ctr">
                    <a:solidFill>
                      <a:srgbClr val="FFFFFF"/>
                    </a:solidFill>
                  </a:tcPr>
                </a:tc>
                <a:tc>
                  <a:txBody>
                    <a:bodyPr wrap="square"/>
                    <a:lstStyle/>
                    <a:p>
                      <a:r>
                        <a:rPr sz="1050" b="0" i="0">
                          <a:solidFill>
                            <a:srgbClr val="353B4A"/>
                          </a:solidFill>
                          <a:latin typeface="Inter"/>
                        </a:rPr>
                        <a:t>Refused</a:t>
                      </a:r>
                    </a:p>
                  </a:txBody>
                  <a:tcPr marL="73152" marR="73152" marT="36576" marB="36576" anchor="ctr">
                    <a:solidFill>
                      <a:srgbClr val="FFFFFF"/>
                    </a:solidFill>
                  </a:tcPr>
                </a:tc>
                <a:tc>
                  <a:txBody>
                    <a:bodyPr wrap="square"/>
                    <a:lstStyle/>
                    <a:p>
                      <a:r>
                        <a:rPr sz="1050" b="0" i="0">
                          <a:solidFill>
                            <a:srgbClr val="353B4A"/>
                          </a:solidFill>
                          <a:latin typeface="Inter"/>
                        </a:rPr>
                        <a:t>You have already voted in this election.</a:t>
                      </a:r>
                    </a:p>
                  </a:txBody>
                  <a:tcPr marL="73152" marR="73152" marT="36576" marB="36576" anchor="ctr">
                    <a:solidFill>
                      <a:srgbClr val="FFFFFF"/>
                    </a:solidFill>
                  </a:tcPr>
                </a:tc>
              </a:tr>
              <a:tr h="420624">
                <a:tc>
                  <a:txBody>
                    <a:bodyPr wrap="square"/>
                    <a:lstStyle/>
                    <a:p>
                      <a:r>
                        <a:rPr sz="1050" b="1" i="0">
                          <a:solidFill>
                            <a:srgbClr val="1B2A55"/>
                          </a:solidFill>
                          <a:latin typeface="Inter"/>
                        </a:rPr>
                        <a:t>Wrong password at sign-in</a:t>
                      </a:r>
                    </a:p>
                  </a:txBody>
                  <a:tcPr marL="73152" marR="73152" marT="36576" marB="36576" anchor="ctr">
                    <a:solidFill>
                      <a:srgbClr val="F1F0F6"/>
                    </a:solidFill>
                  </a:tcPr>
                </a:tc>
                <a:tc>
                  <a:txBody>
                    <a:bodyPr wrap="square"/>
                    <a:lstStyle/>
                    <a:p>
                      <a:r>
                        <a:rPr sz="1050" b="0" i="0">
                          <a:solidFill>
                            <a:srgbClr val="353B4A"/>
                          </a:solidFill>
                          <a:latin typeface="Inter"/>
                        </a:rPr>
                        <a:t>Rejected</a:t>
                      </a:r>
                    </a:p>
                  </a:txBody>
                  <a:tcPr marL="73152" marR="73152" marT="36576" marB="36576" anchor="ctr">
                    <a:solidFill>
                      <a:srgbClr val="F1F0F6"/>
                    </a:solidFill>
                  </a:tcPr>
                </a:tc>
                <a:tc>
                  <a:txBody>
                    <a:bodyPr wrap="square"/>
                    <a:lstStyle/>
                    <a:p>
                      <a:r>
                        <a:rPr sz="1050" b="0" i="0">
                          <a:solidFill>
                            <a:srgbClr val="353B4A"/>
                          </a:solidFill>
                          <a:latin typeface="Inter"/>
                        </a:rPr>
                        <a:t>Incorrect password.</a:t>
                      </a:r>
                    </a:p>
                  </a:txBody>
                  <a:tcPr marL="73152" marR="73152" marT="36576" marB="36576" anchor="ctr">
                    <a:solidFill>
                      <a:srgbClr val="F1F0F6"/>
                    </a:solidFill>
                  </a:tcPr>
                </a:tc>
              </a:tr>
              <a:tr h="420624">
                <a:tc>
                  <a:txBody>
                    <a:bodyPr wrap="square"/>
                    <a:lstStyle/>
                    <a:p>
                      <a:r>
                        <a:rPr sz="1050" b="1" i="0">
                          <a:solidFill>
                            <a:srgbClr val="1B2A55"/>
                          </a:solidFill>
                          <a:latin typeface="Inter"/>
                        </a:rPr>
                        <a:t>Ledger hash chain</a:t>
                      </a:r>
                    </a:p>
                  </a:txBody>
                  <a:tcPr marL="73152" marR="73152" marT="36576" marB="36576" anchor="ctr">
                    <a:solidFill>
                      <a:srgbClr val="FFFFFF"/>
                    </a:solidFill>
                  </a:tcPr>
                </a:tc>
                <a:tc>
                  <a:txBody>
                    <a:bodyPr wrap="square"/>
                    <a:lstStyle/>
                    <a:p>
                      <a:r>
                        <a:rPr sz="1050" b="0" i="0">
                          <a:solidFill>
                            <a:srgbClr val="353B4A"/>
                          </a:solidFill>
                          <a:latin typeface="Inter"/>
                        </a:rPr>
                        <a:t>Intact</a:t>
                      </a:r>
                    </a:p>
                  </a:txBody>
                  <a:tcPr marL="73152" marR="73152" marT="36576" marB="36576" anchor="ctr">
                    <a:solidFill>
                      <a:srgbClr val="FFFFFF"/>
                    </a:solidFill>
                  </a:tcPr>
                </a:tc>
                <a:tc>
                  <a:txBody>
                    <a:bodyPr wrap="square"/>
                    <a:lstStyle/>
                    <a:p>
                      <a:r>
                        <a:rPr sz="1050" b="0" i="0">
                          <a:solidFill>
                            <a:srgbClr val="353B4A"/>
                          </a:solidFill>
                          <a:latin typeface="Inter"/>
                        </a:rPr>
                        <a:t>Chain intact across all 45 receipts</a:t>
                      </a:r>
                    </a:p>
                  </a:txBody>
                  <a:tcPr marL="73152" marR="73152" marT="36576" marB="36576" anchor="ctr">
                    <a:solidFill>
                      <a:srgbClr val="FFFFFF"/>
                    </a:solidFill>
                  </a:tcPr>
                </a:tc>
              </a:tr>
              <a:tr h="420624">
                <a:tc>
                  <a:txBody>
                    <a:bodyPr wrap="square"/>
                    <a:lstStyle/>
                    <a:p>
                      <a:r>
                        <a:rPr sz="1050" b="1" i="0">
                          <a:solidFill>
                            <a:srgbClr val="1B2A55"/>
                          </a:solidFill>
                          <a:latin typeface="Inter"/>
                        </a:rPr>
                        <a:t>1 ballot re-ranked, 2 deleted in the database</a:t>
                      </a:r>
                    </a:p>
                  </a:txBody>
                  <a:tcPr marL="73152" marR="73152" marT="36576" marB="36576" anchor="ctr">
                    <a:solidFill>
                      <a:srgbClr val="F1F0F6"/>
                    </a:solidFill>
                  </a:tcPr>
                </a:tc>
                <a:tc>
                  <a:txBody>
                    <a:bodyPr wrap="square"/>
                    <a:lstStyle/>
                    <a:p>
                      <a:r>
                        <a:rPr sz="1050" b="0" i="0">
                          <a:solidFill>
                            <a:srgbClr val="353B4A"/>
                          </a:solidFill>
                          <a:latin typeface="Inter"/>
                        </a:rPr>
                        <a:t>All three flagged</a:t>
                      </a:r>
                    </a:p>
                  </a:txBody>
                  <a:tcPr marL="73152" marR="73152" marT="36576" marB="36576" anchor="ctr">
                    <a:solidFill>
                      <a:srgbClr val="F1F0F6"/>
                    </a:solidFill>
                  </a:tcPr>
                </a:tc>
                <a:tc>
                  <a:txBody>
                    <a:bodyPr wrap="square"/>
                    <a:lstStyle/>
                    <a:p>
                      <a:r>
                        <a:rPr sz="1050" b="0" i="0">
                          <a:solidFill>
                            <a:srgbClr val="353B4A"/>
                          </a:solidFill>
                          <a:latin typeface="Inter"/>
                        </a:rPr>
                        <a:t>1 modified and 2 deleted detected</a:t>
                      </a:r>
                    </a:p>
                  </a:txBody>
                  <a:tcPr marL="73152" marR="73152" marT="36576" marB="36576" anchor="ctr">
                    <a:solidFill>
                      <a:srgbClr val="F1F0F6"/>
                    </a:solidFill>
                  </a:tcPr>
                </a:tc>
              </a:tr>
              <a:tr h="420624">
                <a:tc>
                  <a:txBody>
                    <a:bodyPr wrap="square"/>
                    <a:lstStyle/>
                    <a:p>
                      <a:r>
                        <a:rPr sz="1050" b="1" i="0">
                          <a:solidFill>
                            <a:srgbClr val="1B2A55"/>
                          </a:solidFill>
                          <a:latin typeface="Inter"/>
                        </a:rPr>
                        <a:t>Voter checks a deleted ballot’s receipt</a:t>
                      </a:r>
                    </a:p>
                  </a:txBody>
                  <a:tcPr marL="73152" marR="73152" marT="36576" marB="36576" anchor="ctr">
                    <a:solidFill>
                      <a:srgbClr val="FFFFFF"/>
                    </a:solidFill>
                  </a:tcPr>
                </a:tc>
                <a:tc>
                  <a:txBody>
                    <a:bodyPr wrap="square"/>
                    <a:lstStyle/>
                    <a:p>
                      <a:r>
                        <a:rPr sz="1050" b="0" i="0">
                          <a:solidFill>
                            <a:srgbClr val="353B4A"/>
                          </a:solidFill>
                          <a:latin typeface="Inter"/>
                        </a:rPr>
                        <a:t>Warned</a:t>
                      </a:r>
                    </a:p>
                  </a:txBody>
                  <a:tcPr marL="73152" marR="73152" marT="36576" marB="36576" anchor="ctr">
                    <a:solidFill>
                      <a:srgbClr val="FFFFFF"/>
                    </a:solidFill>
                  </a:tcPr>
                </a:tc>
                <a:tc>
                  <a:txBody>
                    <a:bodyPr wrap="square"/>
                    <a:lstStyle/>
                    <a:p>
                      <a:r>
                        <a:rPr sz="1050" b="0" i="0">
                          <a:solidFill>
                            <a:srgbClr val="353B4A"/>
                          </a:solidFill>
                          <a:latin typeface="Inter"/>
                        </a:rPr>
                        <a:t>Recorded, but missing from the count</a:t>
                      </a:r>
                    </a:p>
                  </a:txBody>
                  <a:tcPr marL="73152" marR="73152" marT="36576" marB="36576" anchor="ctr">
                    <a:solidFill>
                      <a:srgbClr val="FFFFFF"/>
                    </a:solidFill>
                  </a:tcPr>
                </a:tc>
              </a:tr>
              <a:tr h="420624">
                <a:tc>
                  <a:txBody>
                    <a:bodyPr wrap="square"/>
                    <a:lstStyle/>
                    <a:p>
                      <a:r>
                        <a:rPr sz="1050" b="1" i="0">
                          <a:solidFill>
                            <a:srgbClr val="1B2A55"/>
                          </a:solidFill>
                          <a:latin typeface="Inter"/>
                        </a:rPr>
                        <a:t>Counts after tampering</a:t>
                      </a:r>
                    </a:p>
                  </a:txBody>
                  <a:tcPr marL="73152" marR="73152" marT="36576" marB="36576" anchor="ctr">
                    <a:solidFill>
                      <a:srgbClr val="F1F0F6"/>
                    </a:solidFill>
                  </a:tcPr>
                </a:tc>
                <a:tc>
                  <a:txBody>
                    <a:bodyPr wrap="square"/>
                    <a:lstStyle/>
                    <a:p>
                      <a:r>
                        <a:rPr sz="1050" b="0" i="0">
                          <a:solidFill>
                            <a:srgbClr val="353B4A"/>
                          </a:solidFill>
                          <a:latin typeface="Inter"/>
                        </a:rPr>
                        <a:t>Mismatch visible</a:t>
                      </a:r>
                    </a:p>
                  </a:txBody>
                  <a:tcPr marL="73152" marR="73152" marT="36576" marB="36576" anchor="ctr">
                    <a:solidFill>
                      <a:srgbClr val="F1F0F6"/>
                    </a:solidFill>
                  </a:tcPr>
                </a:tc>
                <a:tc>
                  <a:txBody>
                    <a:bodyPr wrap="square"/>
                    <a:lstStyle/>
                    <a:p>
                      <a:r>
                        <a:rPr sz="1050" b="0" i="0">
                          <a:solidFill>
                            <a:srgbClr val="353B4A"/>
                          </a:solidFill>
                          <a:latin typeface="Inter"/>
                        </a:rPr>
                        <a:t>43 ballots vs 45 receipts vs 45 voted</a:t>
                      </a:r>
                    </a:p>
                  </a:txBody>
                  <a:tcPr marL="73152" marR="73152" marT="36576" marB="36576" anchor="ctr">
                    <a:solidFill>
                      <a:srgbClr val="F1F0F6"/>
                    </a:solidFill>
                  </a:tcPr>
                </a:tc>
              </a:tr>
              <a:tr h="420624">
                <a:tc>
                  <a:txBody>
                    <a:bodyPr wrap="square"/>
                    <a:lstStyle/>
                    <a:p>
                      <a:r>
                        <a:rPr sz="1050" b="1" i="0">
                          <a:solidFill>
                            <a:srgbClr val="1B2A55"/>
                          </a:solidFill>
                          <a:latin typeface="Inter"/>
                        </a:rPr>
                        <a:t>Ranked-choice majority</a:t>
                      </a:r>
                    </a:p>
                  </a:txBody>
                  <a:tcPr marL="73152" marR="73152" marT="36576" marB="36576" anchor="ctr">
                    <a:solidFill>
                      <a:srgbClr val="FFFFFF"/>
                    </a:solidFill>
                  </a:tcPr>
                </a:tc>
                <a:tc>
                  <a:txBody>
                    <a:bodyPr wrap="square"/>
                    <a:lstStyle/>
                    <a:p>
                      <a:r>
                        <a:rPr sz="1050" b="0" i="0">
                          <a:solidFill>
                            <a:srgbClr val="353B4A"/>
                          </a:solidFill>
                          <a:latin typeface="Inter"/>
                        </a:rPr>
                        <a:t>Winner holds a majority</a:t>
                      </a:r>
                    </a:p>
                  </a:txBody>
                  <a:tcPr marL="73152" marR="73152" marT="36576" marB="36576" anchor="ctr">
                    <a:solidFill>
                      <a:srgbClr val="FFFFFF"/>
                    </a:solidFill>
                  </a:tcPr>
                </a:tc>
                <a:tc>
                  <a:txBody>
                    <a:bodyPr wrap="square"/>
                    <a:lstStyle/>
                    <a:p>
                      <a:r>
                        <a:rPr sz="1050" b="0" i="0">
                          <a:solidFill>
                            <a:srgbClr val="353B4A"/>
                          </a:solidFill>
                          <a:latin typeface="Inter"/>
                        </a:rPr>
                        <a:t>Chaitanya Reddy: 23 of 45 (51.1%)</a:t>
                      </a:r>
                    </a:p>
                  </a:txBody>
                  <a:tcPr marL="73152" marR="73152" marT="36576" marB="36576" anchor="ctr">
                    <a:solidFill>
                      <a:srgbClr val="FFFFFF"/>
                    </a:solidFill>
                  </a:tcPr>
                </a:tc>
              </a:tr>
            </a:tbl>
          </a:graphicData>
        </a:graphic>
      </p:graphicFrame>
      <p:sp>
        <p:nvSpPr>
          <p:cNvPr id="7" name="TextBox 6"/>
          <p:cNvSpPr txBox="1"/>
          <p:nvPr/>
        </p:nvSpPr>
        <p:spPr>
          <a:xfrm>
            <a:off x="457200" y="4526280"/>
            <a:ext cx="8229600" cy="27432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Outputs captured on a demo election: 60 registered voters, 45 ballots cast, five candidates.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IMPLEMENTATION STATUS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Implementation status: all but Oracle and POSITION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18</a:t>
            </a:r>
          </a:p>
        </p:txBody>
      </p:sp>
      <p:sp>
        <p:nvSpPr>
          <p:cNvPr id="7" name="Rounded Rectangle 6"/>
          <p:cNvSpPr/>
          <p:nvPr/>
        </p:nvSpPr>
        <p:spPr>
          <a:xfrm>
            <a:off x="457200" y="1097280"/>
            <a:ext cx="4023360"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3657600" cy="2103120"/>
          </a:xfrm>
          <a:prstGeom prst="rect">
            <a:avLst/>
          </a:prstGeom>
          <a:noFill/>
        </p:spPr>
        <p:txBody>
          <a:bodyPr wrap="square" anchor="t" lIns="0" rIns="0" tIns="0" bIns="0">
            <a:spAutoFit/>
          </a:bodyPr>
          <a:lstStyle/>
          <a:p>
            <a:pPr algn="l">
              <a:spcAft>
                <a:spcPts val="600"/>
              </a:spcAft>
            </a:pPr>
            <a:r>
              <a:rPr sz="1400" b="1" i="0">
                <a:solidFill>
                  <a:srgbClr val="1A7F37"/>
                </a:solidFill>
                <a:latin typeface="Inter"/>
              </a:rPr>
              <a:t>Done</a:t>
            </a:r>
          </a:p>
          <a:p>
            <a:pPr algn="l">
              <a:spcAft>
                <a:spcPts val="600"/>
              </a:spcAft>
            </a:pPr>
            <a:r>
              <a:rPr sz="1400" b="0" i="0">
                <a:solidFill>
                  <a:srgbClr val="353B4A"/>
                </a:solidFill>
                <a:latin typeface="Inter"/>
              </a:rPr>
              <a:t>Multi-tenant schema, trigger and views, instant-runoff tally, keyed hash-chained ledger on MongoDB Atlas, tamper detection, emailed one-time code, voter and admin applications, public hosting.</a:t>
            </a:r>
          </a:p>
        </p:txBody>
      </p:sp>
      <p:sp>
        <p:nvSpPr>
          <p:cNvPr id="9" name="Rounded Rectangle 8"/>
          <p:cNvSpPr/>
          <p:nvPr/>
        </p:nvSpPr>
        <p:spPr>
          <a:xfrm>
            <a:off x="4663440" y="1097280"/>
            <a:ext cx="4023360"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1234440"/>
            <a:ext cx="3657600" cy="2103120"/>
          </a:xfrm>
          <a:prstGeom prst="rect">
            <a:avLst/>
          </a:prstGeom>
          <a:noFill/>
        </p:spPr>
        <p:txBody>
          <a:bodyPr wrap="square" anchor="t" lIns="0" rIns="0" tIns="0" bIns="0">
            <a:spAutoFit/>
          </a:bodyPr>
          <a:lstStyle/>
          <a:p>
            <a:pPr algn="l">
              <a:spcAft>
                <a:spcPts val="600"/>
              </a:spcAft>
            </a:pPr>
            <a:r>
              <a:rPr sz="1400" b="1" i="0">
                <a:solidFill>
                  <a:srgbClr val="9A6700"/>
                </a:solidFill>
                <a:latin typeface="Inter"/>
              </a:rPr>
              <a:t>Not implemented</a:t>
            </a:r>
          </a:p>
          <a:p>
            <a:pPr algn="l">
              <a:spcAft>
                <a:spcPts val="600"/>
              </a:spcAft>
            </a:pPr>
            <a:r>
              <a:rPr sz="1400" b="0" i="0">
                <a:solidFill>
                  <a:srgbClr val="353B4A"/>
                </a:solidFill>
                <a:latin typeface="Inter"/>
              </a:rPr>
              <a:t>Oracle with PL/SQL procedures and DCL</a:t>
            </a:r>
          </a:p>
          <a:p>
            <a:pPr algn="l">
              <a:spcAft>
                <a:spcPts val="600"/>
              </a:spcAft>
            </a:pPr>
            <a:r>
              <a:rPr sz="1400" b="0" i="0">
                <a:solidFill>
                  <a:srgbClr val="353B4A"/>
                </a:solidFill>
                <a:latin typeface="Inter"/>
              </a:rPr>
              <a:t>POSITION entity</a:t>
            </a:r>
          </a:p>
          <a:p>
            <a:pPr algn="l">
              <a:spcAft>
                <a:spcPts val="600"/>
              </a:spcAft>
            </a:pPr>
            <a:r>
              <a:rPr sz="1400" b="0" i="0">
                <a:solidFill>
                  <a:srgbClr val="353B4A"/>
                </a:solidFill>
                <a:latin typeface="Inter"/>
              </a:rPr>
              <a:t>A managed cloud database platform</a:t>
            </a:r>
          </a:p>
        </p:txBody>
      </p:sp>
      <p:sp>
        <p:nvSpPr>
          <p:cNvPr id="11" name="Rounded Rectangle 10"/>
          <p:cNvSpPr/>
          <p:nvPr/>
        </p:nvSpPr>
        <p:spPr>
          <a:xfrm>
            <a:off x="457200" y="3611880"/>
            <a:ext cx="8229600" cy="7315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57600"/>
            <a:ext cx="7863840" cy="64008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Why Oracle was not used: SQLite needs no set-up and keeps the tests repeatable; the schema is portable, so Oracle would be a migration (see the conclusion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PLAN VS BUILD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Where the build differs from the Review 1 plan, and why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19</a:t>
            </a:r>
          </a:p>
        </p:txBody>
      </p:sp>
      <p:graphicFrame>
        <p:nvGraphicFramePr>
          <p:cNvPr id="6" name="Table 5"/>
          <p:cNvGraphicFramePr>
            <a:graphicFrameLocks noGrp="1"/>
          </p:cNvGraphicFramePr>
          <p:nvPr/>
        </p:nvGraphicFramePr>
        <p:xfrm>
          <a:off x="457200" y="1097280"/>
          <a:ext cx="8229597" cy="2926080"/>
        </p:xfrm>
        <a:graphic>
          <a:graphicData uri="http://schemas.openxmlformats.org/drawingml/2006/table">
            <a:tbl>
              <a:tblPr firstRow="1" bandRow="1">
                <a:tableStyleId>{5C22544A-7EE6-4342-B048-85BDC9FD1C3A}</a:tableStyleId>
              </a:tblPr>
              <a:tblGrid>
                <a:gridCol w="1341782"/>
                <a:gridCol w="1967947"/>
                <a:gridCol w="2504660"/>
                <a:gridCol w="2415208"/>
              </a:tblGrid>
              <a:tr h="365760">
                <a:tc>
                  <a:txBody>
                    <a:bodyPr wrap="square"/>
                    <a:lstStyle/>
                    <a:p>
                      <a:r>
                        <a:rPr sz="1000" b="1" i="0">
                          <a:solidFill>
                            <a:srgbClr val="FFFFFF"/>
                          </a:solidFill>
                          <a:latin typeface="Inter"/>
                        </a:rPr>
                        <a:t>Area</a:t>
                      </a:r>
                    </a:p>
                  </a:txBody>
                  <a:tcPr marL="73152" marR="73152" marT="36576" marB="36576" anchor="ctr">
                    <a:solidFill>
                      <a:srgbClr val="1B2A55"/>
                    </a:solidFill>
                  </a:tcPr>
                </a:tc>
                <a:tc>
                  <a:txBody>
                    <a:bodyPr wrap="square"/>
                    <a:lstStyle/>
                    <a:p>
                      <a:r>
                        <a:rPr sz="1000" b="1" i="0">
                          <a:solidFill>
                            <a:srgbClr val="FFFFFF"/>
                          </a:solidFill>
                          <a:latin typeface="Inter"/>
                        </a:rPr>
                        <a:t>Review 1 plan</a:t>
                      </a:r>
                    </a:p>
                  </a:txBody>
                  <a:tcPr marL="73152" marR="73152" marT="36576" marB="36576" anchor="ctr">
                    <a:solidFill>
                      <a:srgbClr val="1B2A55"/>
                    </a:solidFill>
                  </a:tcPr>
                </a:tc>
                <a:tc>
                  <a:txBody>
                    <a:bodyPr wrap="square"/>
                    <a:lstStyle/>
                    <a:p>
                      <a:r>
                        <a:rPr sz="1000" b="1" i="0">
                          <a:solidFill>
                            <a:srgbClr val="FFFFFF"/>
                          </a:solidFill>
                          <a:latin typeface="Inter"/>
                        </a:rPr>
                        <a:t>Built</a:t>
                      </a:r>
                    </a:p>
                  </a:txBody>
                  <a:tcPr marL="73152" marR="73152" marT="36576" marB="36576" anchor="ctr">
                    <a:solidFill>
                      <a:srgbClr val="1B2A55"/>
                    </a:solidFill>
                  </a:tcPr>
                </a:tc>
                <a:tc>
                  <a:txBody>
                    <a:bodyPr wrap="square"/>
                    <a:lstStyle/>
                    <a:p>
                      <a:r>
                        <a:rPr sz="1000" b="1" i="0">
                          <a:solidFill>
                            <a:srgbClr val="FFFFFF"/>
                          </a:solidFill>
                          <a:latin typeface="Inter"/>
                        </a:rPr>
                        <a:t>Why</a:t>
                      </a:r>
                    </a:p>
                  </a:txBody>
                  <a:tcPr marL="73152" marR="73152" marT="36576" marB="36576" anchor="ctr">
                    <a:solidFill>
                      <a:srgbClr val="1B2A55"/>
                    </a:solidFill>
                  </a:tcPr>
                </a:tc>
              </a:tr>
              <a:tr h="512064">
                <a:tc>
                  <a:txBody>
                    <a:bodyPr wrap="square"/>
                    <a:lstStyle/>
                    <a:p>
                      <a:r>
                        <a:rPr sz="1000" b="1" i="0">
                          <a:solidFill>
                            <a:srgbClr val="1B2A55"/>
                          </a:solidFill>
                          <a:latin typeface="Inter"/>
                        </a:rPr>
                        <a:t>Relational DBMS</a:t>
                      </a:r>
                    </a:p>
                  </a:txBody>
                  <a:tcPr marL="73152" marR="73152" marT="36576" marB="36576" anchor="ctr">
                    <a:solidFill>
                      <a:srgbClr val="FFFFFF"/>
                    </a:solidFill>
                  </a:tcPr>
                </a:tc>
                <a:tc>
                  <a:txBody>
                    <a:bodyPr wrap="square"/>
                    <a:lstStyle/>
                    <a:p>
                      <a:r>
                        <a:rPr sz="1000" b="0" i="0">
                          <a:solidFill>
                            <a:srgbClr val="353B4A"/>
                          </a:solidFill>
                          <a:latin typeface="Inter"/>
                        </a:rPr>
                        <a:t>Oracle Autonomous DB with PL/SQL</a:t>
                      </a:r>
                    </a:p>
                  </a:txBody>
                  <a:tcPr marL="73152" marR="73152" marT="36576" marB="36576" anchor="ctr">
                    <a:solidFill>
                      <a:srgbClr val="FFFFFF"/>
                    </a:solidFill>
                  </a:tcPr>
                </a:tc>
                <a:tc>
                  <a:txBody>
                    <a:bodyPr wrap="square"/>
                    <a:lstStyle/>
                    <a:p>
                      <a:r>
                        <a:rPr sz="1000" b="0" i="0">
                          <a:solidFill>
                            <a:srgbClr val="353B4A"/>
                          </a:solidFill>
                          <a:latin typeface="Inter"/>
                        </a:rPr>
                        <a:t>SQLite with trigger, views, constraints</a:t>
                      </a:r>
                    </a:p>
                  </a:txBody>
                  <a:tcPr marL="73152" marR="73152" marT="36576" marB="36576" anchor="ctr">
                    <a:solidFill>
                      <a:srgbClr val="FFFFFF"/>
                    </a:solidFill>
                  </a:tcPr>
                </a:tc>
                <a:tc>
                  <a:txBody>
                    <a:bodyPr wrap="square"/>
                    <a:lstStyle/>
                    <a:p>
                      <a:r>
                        <a:rPr sz="1000" b="0" i="0">
                          <a:solidFill>
                            <a:srgbClr val="353B4A"/>
                          </a:solidFill>
                          <a:latin typeface="Inter"/>
                        </a:rPr>
                        <a:t>Zero-setup development; schema kept portable</a:t>
                      </a:r>
                    </a:p>
                  </a:txBody>
                  <a:tcPr marL="73152" marR="73152" marT="36576" marB="36576" anchor="ctr">
                    <a:solidFill>
                      <a:srgbClr val="FFFFFF"/>
                    </a:solidFill>
                  </a:tcPr>
                </a:tc>
              </a:tr>
              <a:tr h="512064">
                <a:tc>
                  <a:txBody>
                    <a:bodyPr wrap="square"/>
                    <a:lstStyle/>
                    <a:p>
                      <a:r>
                        <a:rPr sz="1000" b="1" i="0">
                          <a:solidFill>
                            <a:srgbClr val="1B2A55"/>
                          </a:solidFill>
                          <a:latin typeface="Inter"/>
                        </a:rPr>
                        <a:t>NoSQL ledger</a:t>
                      </a:r>
                    </a:p>
                  </a:txBody>
                  <a:tcPr marL="73152" marR="73152" marT="36576" marB="36576" anchor="ctr">
                    <a:solidFill>
                      <a:srgbClr val="F1F0F6"/>
                    </a:solidFill>
                  </a:tcPr>
                </a:tc>
                <a:tc>
                  <a:txBody>
                    <a:bodyPr wrap="square"/>
                    <a:lstStyle/>
                    <a:p>
                      <a:r>
                        <a:rPr sz="1000" b="0" i="0">
                          <a:solidFill>
                            <a:srgbClr val="353B4A"/>
                          </a:solidFill>
                          <a:latin typeface="Inter"/>
                        </a:rPr>
                        <a:t>MongoDB Atlas</a:t>
                      </a:r>
                    </a:p>
                  </a:txBody>
                  <a:tcPr marL="73152" marR="73152" marT="36576" marB="36576" anchor="ctr">
                    <a:solidFill>
                      <a:srgbClr val="F1F0F6"/>
                    </a:solidFill>
                  </a:tcPr>
                </a:tc>
                <a:tc>
                  <a:txBody>
                    <a:bodyPr wrap="square"/>
                    <a:lstStyle/>
                    <a:p>
                      <a:r>
                        <a:rPr sz="1000" b="0" i="0">
                          <a:solidFill>
                            <a:srgbClr val="353B4A"/>
                          </a:solidFill>
                          <a:latin typeface="Inter"/>
                        </a:rPr>
                        <a:t>MongoDB Atlas, HMAC-keyed chain; file fallback</a:t>
                      </a:r>
                    </a:p>
                  </a:txBody>
                  <a:tcPr marL="73152" marR="73152" marT="36576" marB="36576" anchor="ctr">
                    <a:solidFill>
                      <a:srgbClr val="F1F0F6"/>
                    </a:solidFill>
                  </a:tcPr>
                </a:tc>
                <a:tc>
                  <a:txBody>
                    <a:bodyPr wrap="square"/>
                    <a:lstStyle/>
                    <a:p>
                      <a:r>
                        <a:rPr sz="1000" b="0" i="0">
                          <a:solidFill>
                            <a:srgbClr val="353B4A"/>
                          </a:solidFill>
                          <a:latin typeface="Inter"/>
                        </a:rPr>
                        <a:t>Document store; a unique index gives concurrency control</a:t>
                      </a:r>
                    </a:p>
                  </a:txBody>
                  <a:tcPr marL="73152" marR="73152" marT="36576" marB="36576" anchor="ctr">
                    <a:solidFill>
                      <a:srgbClr val="F1F0F6"/>
                    </a:solidFill>
                  </a:tcPr>
                </a:tc>
              </a:tr>
              <a:tr h="512064">
                <a:tc>
                  <a:txBody>
                    <a:bodyPr wrap="square"/>
                    <a:lstStyle/>
                    <a:p>
                      <a:r>
                        <a:rPr sz="1000" b="1" i="0">
                          <a:solidFill>
                            <a:srgbClr val="1B2A55"/>
                          </a:solidFill>
                          <a:latin typeface="Inter"/>
                        </a:rPr>
                        <a:t>Frontend</a:t>
                      </a:r>
                    </a:p>
                  </a:txBody>
                  <a:tcPr marL="73152" marR="73152" marT="36576" marB="36576" anchor="ctr">
                    <a:solidFill>
                      <a:srgbClr val="FFFFFF"/>
                    </a:solidFill>
                  </a:tcPr>
                </a:tc>
                <a:tc>
                  <a:txBody>
                    <a:bodyPr wrap="square"/>
                    <a:lstStyle/>
                    <a:p>
                      <a:r>
                        <a:rPr sz="1000" b="0" i="0">
                          <a:solidFill>
                            <a:srgbClr val="353B4A"/>
                          </a:solidFill>
                          <a:latin typeface="Inter"/>
                        </a:rPr>
                        <a:t>Streamlit</a:t>
                      </a:r>
                    </a:p>
                  </a:txBody>
                  <a:tcPr marL="73152" marR="73152" marT="36576" marB="36576" anchor="ctr">
                    <a:solidFill>
                      <a:srgbClr val="FFFFFF"/>
                    </a:solidFill>
                  </a:tcPr>
                </a:tc>
                <a:tc>
                  <a:txBody>
                    <a:bodyPr wrap="square"/>
                    <a:lstStyle/>
                    <a:p>
                      <a:r>
                        <a:rPr sz="1000" b="0" i="0">
                          <a:solidFill>
                            <a:srgbClr val="353B4A"/>
                          </a:solidFill>
                          <a:latin typeface="Inter"/>
                        </a:rPr>
                        <a:t>React + FastAPI; Streamlit kept</a:t>
                      </a:r>
                    </a:p>
                  </a:txBody>
                  <a:tcPr marL="73152" marR="73152" marT="36576" marB="36576" anchor="ctr">
                    <a:solidFill>
                      <a:srgbClr val="FFFFFF"/>
                    </a:solidFill>
                  </a:tcPr>
                </a:tc>
                <a:tc>
                  <a:txBody>
                    <a:bodyPr wrap="square"/>
                    <a:lstStyle/>
                    <a:p>
                      <a:r>
                        <a:rPr sz="1000" b="0" i="0">
                          <a:solidFill>
                            <a:srgbClr val="353B4A"/>
                          </a:solidFill>
                          <a:latin typeface="Inter"/>
                        </a:rPr>
                        <a:t>Separate voter and admin experiences, mobile support</a:t>
                      </a:r>
                    </a:p>
                  </a:txBody>
                  <a:tcPr marL="73152" marR="73152" marT="36576" marB="36576" anchor="ctr">
                    <a:solidFill>
                      <a:srgbClr val="FFFFFF"/>
                    </a:solidFill>
                  </a:tcPr>
                </a:tc>
              </a:tr>
              <a:tr h="512064">
                <a:tc>
                  <a:txBody>
                    <a:bodyPr wrap="square"/>
                    <a:lstStyle/>
                    <a:p>
                      <a:r>
                        <a:rPr sz="1000" b="1" i="0">
                          <a:solidFill>
                            <a:srgbClr val="1B2A55"/>
                          </a:solidFill>
                          <a:latin typeface="Inter"/>
                        </a:rPr>
                        <a:t>Schema</a:t>
                      </a:r>
                    </a:p>
                  </a:txBody>
                  <a:tcPr marL="73152" marR="73152" marT="36576" marB="36576" anchor="ctr">
                    <a:solidFill>
                      <a:srgbClr val="F1F0F6"/>
                    </a:solidFill>
                  </a:tcPr>
                </a:tc>
                <a:tc>
                  <a:txBody>
                    <a:bodyPr wrap="square"/>
                    <a:lstStyle/>
                    <a:p>
                      <a:r>
                        <a:rPr sz="1000" b="0" i="0">
                          <a:solidFill>
                            <a:srgbClr val="353B4A"/>
                          </a:solidFill>
                          <a:latin typeface="Inter"/>
                        </a:rPr>
                        <a:t>Five core tables</a:t>
                      </a:r>
                    </a:p>
                  </a:txBody>
                  <a:tcPr marL="73152" marR="73152" marT="36576" marB="36576" anchor="ctr">
                    <a:solidFill>
                      <a:srgbClr val="F1F0F6"/>
                    </a:solidFill>
                  </a:tcPr>
                </a:tc>
                <a:tc>
                  <a:txBody>
                    <a:bodyPr wrap="square"/>
                    <a:lstStyle/>
                    <a:p>
                      <a:r>
                        <a:rPr sz="1000" b="0" i="0">
                          <a:solidFill>
                            <a:srgbClr val="353B4A"/>
                          </a:solidFill>
                          <a:latin typeface="Inter"/>
                        </a:rPr>
                        <a:t>+ ADMIN_USERS; POSITION not implemented</a:t>
                      </a:r>
                    </a:p>
                  </a:txBody>
                  <a:tcPr marL="73152" marR="73152" marT="36576" marB="36576" anchor="ctr">
                    <a:solidFill>
                      <a:srgbClr val="F1F0F6"/>
                    </a:solidFill>
                  </a:tcPr>
                </a:tc>
                <a:tc>
                  <a:txBody>
                    <a:bodyPr wrap="square"/>
                    <a:lstStyle/>
                    <a:p>
                      <a:r>
                        <a:rPr sz="1000" b="0" i="0">
                          <a:solidFill>
                            <a:srgbClr val="353B4A"/>
                          </a:solidFill>
                          <a:latin typeface="Inter"/>
                        </a:rPr>
                        <a:t>Officer logins needed a table</a:t>
                      </a:r>
                    </a:p>
                  </a:txBody>
                  <a:tcPr marL="73152" marR="73152" marT="36576" marB="36576" anchor="ctr">
                    <a:solidFill>
                      <a:srgbClr val="F1F0F6"/>
                    </a:solidFill>
                  </a:tcPr>
                </a:tc>
              </a:tr>
              <a:tr h="512064">
                <a:tc>
                  <a:txBody>
                    <a:bodyPr wrap="square"/>
                    <a:lstStyle/>
                    <a:p>
                      <a:r>
                        <a:rPr sz="1000" b="1" i="0">
                          <a:solidFill>
                            <a:srgbClr val="1B2A55"/>
                          </a:solidFill>
                          <a:latin typeface="Inter"/>
                        </a:rPr>
                        <a:t>Lifecycle</a:t>
                      </a:r>
                    </a:p>
                  </a:txBody>
                  <a:tcPr marL="73152" marR="73152" marT="36576" marB="36576" anchor="ctr">
                    <a:solidFill>
                      <a:srgbClr val="FFFFFF"/>
                    </a:solidFill>
                  </a:tcPr>
                </a:tc>
                <a:tc>
                  <a:txBody>
                    <a:bodyPr wrap="square"/>
                    <a:lstStyle/>
                    <a:p>
                      <a:r>
                        <a:rPr sz="1000" b="0" i="0">
                          <a:solidFill>
                            <a:srgbClr val="353B4A"/>
                          </a:solidFill>
                          <a:latin typeface="Inter"/>
                        </a:rPr>
                        <a:t>Timestamp-driven procedures</a:t>
                      </a:r>
                    </a:p>
                  </a:txBody>
                  <a:tcPr marL="73152" marR="73152" marT="36576" marB="36576" anchor="ctr">
                    <a:solidFill>
                      <a:srgbClr val="FFFFFF"/>
                    </a:solidFill>
                  </a:tcPr>
                </a:tc>
                <a:tc>
                  <a:txBody>
                    <a:bodyPr wrap="square"/>
                    <a:lstStyle/>
                    <a:p>
                      <a:r>
                        <a:rPr sz="1000" b="0" i="0">
                          <a:solidFill>
                            <a:srgbClr val="353B4A"/>
                          </a:solidFill>
                          <a:latin typeface="Inter"/>
                        </a:rPr>
                        <a:t>Guarded Nominations → Voting → Closed</a:t>
                      </a:r>
                    </a:p>
                  </a:txBody>
                  <a:tcPr marL="73152" marR="73152" marT="36576" marB="36576" anchor="ctr">
                    <a:solidFill>
                      <a:srgbClr val="FFFFFF"/>
                    </a:solidFill>
                  </a:tcPr>
                </a:tc>
                <a:tc>
                  <a:txBody>
                    <a:bodyPr wrap="square"/>
                    <a:lstStyle/>
                    <a:p>
                      <a:r>
                        <a:rPr sz="1000" b="0" i="0">
                          <a:solidFill>
                            <a:srgbClr val="353B4A"/>
                          </a:solidFill>
                          <a:latin typeface="Inter"/>
                        </a:rPr>
                        <a:t>SQLite has no stored procedures</a:t>
                      </a:r>
                    </a:p>
                  </a:txBody>
                  <a:tcPr marL="73152" marR="73152" marT="36576" marB="36576" anchor="ctr">
                    <a:solidFill>
                      <a:srgbClr val="FFFFFF"/>
                    </a:solidFill>
                  </a:tcPr>
                </a:tc>
              </a:tr>
            </a:tbl>
          </a:graphicData>
        </a:graphic>
      </p:graphicFrame>
      <p:sp>
        <p:nvSpPr>
          <p:cNvPr id="7" name="Rounded Rectangle 6"/>
          <p:cNvSpPr/>
          <p:nvPr/>
        </p:nvSpPr>
        <p:spPr>
          <a:xfrm>
            <a:off x="457200" y="4114800"/>
            <a:ext cx="8229600" cy="59436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7863840" cy="50292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Result: MongoDB Atlas is in use. Oracle with PL/SQL was not used; the code is structured so it would be a migration, not a rewrite (see the conclusion slides).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ROADMAP &amp; DELIVERABLES</a:t>
            </a:r>
            <a:endParaRPr b="0" i="0" sz="950" u="none" cap="none" strike="noStrike">
              <a:solidFill>
                <a:schemeClr val="dk1"/>
              </a:solidFill>
              <a:latin typeface="Calibri"/>
              <a:ea typeface="Calibri"/>
              <a:cs typeface="Calibri"/>
              <a:sym typeface="Calibri"/>
            </a:endParaRPr>
          </a:p>
        </p:txBody>
      </p:sp>
      <p:sp>
        <p:nvSpPr>
          <p:cNvPr id="166" name="Google Shape;166;p13"/>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Three reviews move from design to a finished system</a:t>
            </a:r>
            <a:endParaRPr b="0" i="0" sz="2250" u="none" cap="none" strike="noStrike">
              <a:solidFill>
                <a:schemeClr val="dk1"/>
              </a:solidFill>
              <a:latin typeface="Calibri"/>
              <a:ea typeface="Calibri"/>
              <a:cs typeface="Calibri"/>
              <a:sym typeface="Calibri"/>
            </a:endParaRPr>
          </a:p>
        </p:txBody>
      </p:sp>
      <p:sp>
        <p:nvSpPr>
          <p:cNvPr id="167" name="Google Shape;167;p13"/>
          <p:cNvSpPr/>
          <p:nvPr/>
        </p:nvSpPr>
        <p:spPr>
          <a:xfrm>
            <a:off x="4572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
          <p:cNvSpPr/>
          <p:nvPr/>
        </p:nvSpPr>
        <p:spPr>
          <a:xfrm>
            <a:off x="638175" y="1222474"/>
            <a:ext cx="1260946"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3"/>
          <p:cNvSpPr/>
          <p:nvPr/>
        </p:nvSpPr>
        <p:spPr>
          <a:xfrm>
            <a:off x="735285" y="1270992"/>
            <a:ext cx="152392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1 · DONE</a:t>
            </a:r>
            <a:endParaRPr b="0" i="0" sz="1000" u="none" cap="none" strike="noStrike">
              <a:solidFill>
                <a:schemeClr val="dk1"/>
              </a:solidFill>
              <a:latin typeface="Calibri"/>
              <a:ea typeface="Calibri"/>
              <a:cs typeface="Calibri"/>
              <a:sym typeface="Calibri"/>
            </a:endParaRPr>
          </a:p>
        </p:txBody>
      </p:sp>
      <p:sp>
        <p:nvSpPr>
          <p:cNvPr id="170" name="Google Shape;170;p13"/>
          <p:cNvSpPr/>
          <p:nvPr/>
        </p:nvSpPr>
        <p:spPr>
          <a:xfrm>
            <a:off x="6381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Presented the design, schema, security approach, and planned system architecture.</a:t>
            </a:r>
            <a:endParaRPr b="0" i="0" sz="1300" u="none" cap="none" strike="noStrike">
              <a:solidFill>
                <a:schemeClr val="dk1"/>
              </a:solidFill>
              <a:latin typeface="Calibri"/>
              <a:ea typeface="Calibri"/>
              <a:cs typeface="Calibri"/>
              <a:sym typeface="Calibri"/>
            </a:endParaRPr>
          </a:p>
        </p:txBody>
      </p:sp>
      <p:sp>
        <p:nvSpPr>
          <p:cNvPr id="171" name="Google Shape;171;p13"/>
          <p:cNvSpPr/>
          <p:nvPr/>
        </p:nvSpPr>
        <p:spPr>
          <a:xfrm>
            <a:off x="32766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3"/>
          <p:cNvSpPr/>
          <p:nvPr/>
        </p:nvSpPr>
        <p:spPr>
          <a:xfrm>
            <a:off x="34575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3554685" y="1270992"/>
            <a:ext cx="1099914"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2 · DONE</a:t>
            </a:r>
            <a:endParaRPr b="0" i="0" sz="1000" u="none" cap="none" strike="noStrike">
              <a:solidFill>
                <a:schemeClr val="dk1"/>
              </a:solidFill>
              <a:latin typeface="Calibri"/>
              <a:ea typeface="Calibri"/>
              <a:cs typeface="Calibri"/>
              <a:sym typeface="Calibri"/>
            </a:endParaRPr>
          </a:p>
        </p:txBody>
      </p:sp>
      <p:sp>
        <p:nvSpPr>
          <p:cNvPr id="174" name="Google Shape;174;p13"/>
          <p:cNvSpPr/>
          <p:nvPr/>
        </p:nvSpPr>
        <p:spPr>
          <a:xfrm>
            <a:off x="3457575" y="1570211"/>
            <a:ext cx="2228850" cy="939105"/>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Working implementation with live outputs and a tamper demonstration.</a:t>
            </a:r>
            <a:endParaRPr b="0" i="0" sz="1300" u="none" cap="none" strike="noStrike">
              <a:solidFill>
                <a:schemeClr val="dk1"/>
              </a:solidFill>
              <a:latin typeface="Calibri"/>
              <a:ea typeface="Calibri"/>
              <a:cs typeface="Calibri"/>
              <a:sym typeface="Calibri"/>
            </a:endParaRPr>
          </a:p>
        </p:txBody>
      </p:sp>
      <p:sp>
        <p:nvSpPr>
          <p:cNvPr id="175" name="Google Shape;175;p13"/>
          <p:cNvSpPr/>
          <p:nvPr/>
        </p:nvSpPr>
        <p:spPr>
          <a:xfrm>
            <a:off x="60960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a:off x="62769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3"/>
          <p:cNvSpPr/>
          <p:nvPr/>
        </p:nvSpPr>
        <p:spPr>
          <a:xfrm>
            <a:off x="6374085" y="1270992"/>
            <a:ext cx="11019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3 · NOW</a:t>
            </a:r>
            <a:endParaRPr b="0" i="0" sz="1000" u="none" cap="none" strike="noStrike">
              <a:solidFill>
                <a:schemeClr val="dk1"/>
              </a:solidFill>
              <a:latin typeface="Calibri"/>
              <a:ea typeface="Calibri"/>
              <a:cs typeface="Calibri"/>
              <a:sym typeface="Calibri"/>
            </a:endParaRPr>
          </a:p>
        </p:txBody>
      </p:sp>
      <p:sp>
        <p:nvSpPr>
          <p:cNvPr id="178" name="Google Shape;178;p13"/>
          <p:cNvSpPr/>
          <p:nvPr/>
        </p:nvSpPr>
        <p:spPr>
          <a:xfrm>
            <a:off x="62769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This is the final review: MongoDB Atlas, emailed code, public hosting, evaluation and comparison with existing systems.</a:t>
            </a:r>
            <a:endParaRPr b="0" i="0" sz="13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421931"/>
            <a:ext cx="8229600" cy="951979"/>
          </a:xfrm>
          <a:prstGeom prst="roundRect">
            <a:avLst>
              <a:gd fmla="val 144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638175" y="3545756"/>
            <a:ext cx="78676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300"/>
              <a:buFont typeface="Inter"/>
              <a:buNone/>
            </a:pPr>
            <a:r>
              <a:rPr b="1" i="0" lang="en-US" sz="1300" u="none" cap="none" strike="noStrike">
                <a:solidFill>
                  <a:srgbClr val="000000"/>
                </a:solidFill>
                <a:latin typeface="Inter"/>
                <a:ea typeface="Inter"/>
                <a:cs typeface="Inter"/>
                <a:sym typeface="Inter"/>
              </a:rPr>
              <a:t>Delivered · </a:t>
            </a:r>
            <a:r>
              <a:rPr b="0" i="0" lang="en-US" sz="1300" u="none" cap="none" strike="noStrike">
                <a:solidFill>
                  <a:srgbClr val="000000"/>
                </a:solidFill>
                <a:latin typeface="Inter"/>
                <a:ea typeface="Inter"/>
                <a:cs typeface="Inter"/>
                <a:sym typeface="Inter"/>
              </a:rPr>
              <a:t>MongoDB Atlas ledger, emailed one-time code, public link and QR voting</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Evidence · </a:t>
            </a:r>
            <a:r>
              <a:rPr b="0" i="0" lang="en-US" sz="1300" u="none" cap="none" strike="noStrike">
                <a:solidFill>
                  <a:srgbClr val="000000"/>
                </a:solidFill>
                <a:latin typeface="Inter"/>
                <a:ea typeface="Inter"/>
                <a:cs typeface="Inter"/>
                <a:sym typeface="Inter"/>
              </a:rPr>
              <a:t>47 test scenarios and a comparison with 33 systems</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Left out · </a:t>
            </a:r>
            <a:r>
              <a:rPr b="0" i="0" lang="en-US" sz="1300" u="none" cap="none" strike="noStrike">
                <a:solidFill>
                  <a:srgbClr val="000000"/>
                </a:solidFill>
                <a:latin typeface="Inter"/>
                <a:ea typeface="Inter"/>
                <a:cs typeface="Inter"/>
                <a:sym typeface="Inter"/>
              </a:rPr>
              <a:t>Oracle with PL/SQL and DCL roles, and the POSITION entity (SQLite kept)</a:t>
            </a:r>
            <a:endParaRPr b="0" i="0" sz="1300" u="none" cap="none" strike="noStrike">
              <a:solidFill>
                <a:schemeClr val="dk1"/>
              </a:solidFill>
              <a:latin typeface="Calibri"/>
              <a:ea typeface="Calibri"/>
              <a:cs typeface="Calibri"/>
              <a:sym typeface="Calibri"/>
            </a:endParaRPr>
          </a:p>
        </p:txBody>
      </p:sp>
      <p:sp>
        <p:nvSpPr>
          <p:cNvPr id="181" name="Google Shape;181;p13"/>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20</a:t>
            </a:r>
            <a:endParaRPr b="0" i="0" sz="950" u="none" cap="none" strike="noStrike">
              <a:solidFill>
                <a:schemeClr val="dk1"/>
              </a:solidFill>
              <a:latin typeface="Calibri"/>
              <a:ea typeface="Calibri"/>
              <a:cs typeface="Calibri"/>
              <a:sym typeface="Calibri"/>
            </a:endParaRPr>
          </a:p>
        </p:txBody>
      </p:sp>
      <p:sp>
        <p:nvSpPr>
          <p:cNvPr id="182" name="Google Shape;182;p13"/>
          <p:cNvSpPr/>
          <p:nvPr/>
        </p:nvSpPr>
        <p:spPr>
          <a:xfrm>
            <a:off x="8052550" y="4783825"/>
            <a:ext cx="1025100" cy="298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working system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model: election, ledger and verification stores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pic>
        <p:nvPicPr>
          <p:cNvPr id="6" name="Picture 5" descr="er.png"/>
          <p:cNvPicPr>
            <a:picLocks noChangeAspect="1"/>
          </p:cNvPicPr>
          <p:nvPr/>
        </p:nvPicPr>
        <p:blipFill>
          <a:blip r:embed="rId2"/>
          <a:stretch>
            <a:fillRect/>
          </a:stretch>
        </p:blipFill>
        <p:spPr>
          <a:xfrm>
            <a:off x="814493" y="1051560"/>
            <a:ext cx="5137573" cy="3749039"/>
          </a:xfrm>
          <a:prstGeom prst="rect">
            <a:avLst/>
          </a:prstGeom>
        </p:spPr>
      </p:pic>
      <p:sp>
        <p:nvSpPr>
          <p:cNvPr id="7" name="TextBox 6"/>
          <p:cNvSpPr txBox="1"/>
          <p:nvPr/>
        </p:nvSpPr>
        <p:spPr>
          <a:xfrm>
            <a:off x="6492240" y="1188720"/>
            <a:ext cx="2286000" cy="34747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Shared multi-tenant schema, scoped by election.</a:t>
            </a:r>
          </a:p>
          <a:p>
            <a:pPr algn="l">
              <a:spcAft>
                <a:spcPts val="500"/>
              </a:spcAft>
            </a:pPr>
            <a:r>
              <a:rPr sz="1100" b="1" i="0">
                <a:solidFill>
                  <a:srgbClr val="1B2A55"/>
                </a:solidFill>
                <a:latin typeface="Inter"/>
              </a:rPr>
              <a:t>•  </a:t>
            </a:r>
            <a:r>
              <a:rPr sz="1100" b="0" i="0">
                <a:solidFill>
                  <a:srgbClr val="353B4A"/>
                </a:solidFill>
                <a:latin typeface="Inter"/>
              </a:rPr>
              <a:t>No column links a ballot to a voter.</a:t>
            </a:r>
          </a:p>
          <a:p>
            <a:pPr algn="l">
              <a:spcAft>
                <a:spcPts val="500"/>
              </a:spcAft>
            </a:pPr>
            <a:r>
              <a:rPr sz="1100" b="1" i="0">
                <a:solidFill>
                  <a:srgbClr val="1B2A55"/>
                </a:solidFill>
                <a:latin typeface="Inter"/>
              </a:rPr>
              <a:t>•  </a:t>
            </a:r>
            <a:r>
              <a:rPr sz="1100" b="0" i="0">
                <a:solidFill>
                  <a:srgbClr val="353B4A"/>
                </a:solidFill>
                <a:latin typeface="Inter"/>
              </a:rPr>
              <a:t>Candidate roster hash sealed in the ledger.</a:t>
            </a:r>
          </a:p>
          <a:p>
            <a:pPr algn="l">
              <a:spcAft>
                <a:spcPts val="500"/>
              </a:spcAft>
            </a:pPr>
            <a:r>
              <a:rPr sz="1100" b="1" i="0">
                <a:solidFill>
                  <a:srgbClr val="1B2A55"/>
                </a:solidFill>
                <a:latin typeface="Inter"/>
              </a:rPr>
              <a:t>•  </a:t>
            </a:r>
            <a:r>
              <a:rPr sz="1100" b="0" i="0">
                <a:solidFill>
                  <a:srgbClr val="353B4A"/>
                </a:solidFill>
                <a:latin typeface="Inter"/>
              </a:rPr>
              <a:t>Emails live in a different file; no key reaches ballots.</a:t>
            </a:r>
          </a:p>
          <a:p>
            <a:pPr algn="l">
              <a:spcAft>
                <a:spcPts val="500"/>
              </a:spcAft>
            </a:pPr>
            <a:r>
              <a:rPr sz="1100" b="1" i="0">
                <a:solidFill>
                  <a:srgbClr val="1B2A55"/>
                </a:solidFill>
                <a:latin typeface="Inter"/>
              </a:rPr>
              <a:t>•  </a:t>
            </a:r>
            <a:r>
              <a:rPr sz="1100" b="0" i="0">
                <a:solidFill>
                  <a:srgbClr val="353B4A"/>
                </a:solidFill>
                <a:latin typeface="Inter"/>
              </a:rPr>
              <a:t>Trigger, CHECK, UNIQUE, FK enforce the rules.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33 systems read, 11 shown. 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DESIGN VERSUS FINAL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improved, measured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46</a:t>
            </a:r>
          </a:p>
        </p:txBody>
      </p:sp>
      <p:graphicFrame>
        <p:nvGraphicFramePr>
          <p:cNvPr id="6" name="Table 5"/>
          <p:cNvGraphicFramePr>
            <a:graphicFrameLocks noGrp="1"/>
          </p:cNvGraphicFramePr>
          <p:nvPr/>
        </p:nvGraphicFramePr>
        <p:xfrm>
          <a:off x="457200" y="1097280"/>
          <a:ext cx="8229600" cy="3438144"/>
        </p:xfrm>
        <a:graphic>
          <a:graphicData uri="http://schemas.openxmlformats.org/drawingml/2006/table">
            <a:tbl>
              <a:tblPr firstRow="1" bandRow="1">
                <a:tableStyleId>{5C22544A-7EE6-4342-B048-85BDC9FD1C3A}</a:tableStyleId>
              </a:tblPr>
              <a:tblGrid>
                <a:gridCol w="3657600"/>
                <a:gridCol w="2468880"/>
                <a:gridCol w="2103120"/>
              </a:tblGrid>
              <a:tr h="365760">
                <a:tc>
                  <a:txBody>
                    <a:bodyPr wrap="square"/>
                    <a:lstStyle/>
                    <a:p>
                      <a:r>
                        <a:rPr sz="1000" b="1" i="0">
                          <a:solidFill>
                            <a:srgbClr val="FFFFFF"/>
                          </a:solidFill>
                          <a:latin typeface="Inter"/>
                        </a:rPr>
                        <a:t>Measure</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r>
              <a:tr h="384048">
                <a:tc>
                  <a:txBody>
                    <a:bodyPr wrap="square"/>
                    <a:lstStyle/>
                    <a:p>
                      <a:r>
                        <a:rPr sz="1050" b="1" i="0">
                          <a:solidFill>
                            <a:srgbClr val="1B2A55"/>
                          </a:solidFill>
                          <a:latin typeface="Inter"/>
                        </a:rPr>
                        <a:t>Tampering detected automatically</a:t>
                      </a:r>
                    </a:p>
                  </a:txBody>
                  <a:tcPr marL="73152" marR="73152" marT="36576" marB="36576" anchor="ctr">
                    <a:solidFill>
                      <a:srgbClr val="FFFFFF"/>
                    </a:solidFill>
                  </a:tcPr>
                </a:tc>
                <a:tc>
                  <a:txBody>
                    <a:bodyPr wrap="square"/>
                    <a:lstStyle/>
                    <a:p>
                      <a:r>
                        <a:rPr sz="1050" b="0" i="0">
                          <a:solidFill>
                            <a:srgbClr val="353B4A"/>
                          </a:solidFill>
                          <a:latin typeface="Inter"/>
                        </a:rPr>
                        <a:t>6 of 13</a:t>
                      </a:r>
                    </a:p>
                  </a:txBody>
                  <a:tcPr marL="73152" marR="73152" marT="36576" marB="36576" anchor="ctr">
                    <a:solidFill>
                      <a:srgbClr val="FFFFFF"/>
                    </a:solidFill>
                  </a:tcPr>
                </a:tc>
                <a:tc>
                  <a:txBody>
                    <a:bodyPr wrap="square"/>
                    <a:lstStyle/>
                    <a:p>
                      <a:r>
                        <a:rPr sz="1050" b="0" i="0">
                          <a:solidFill>
                            <a:srgbClr val="353B4A"/>
                          </a:solidFill>
                          <a:latin typeface="Inter"/>
                        </a:rPr>
                        <a:t>12 of 13</a:t>
                      </a:r>
                    </a:p>
                  </a:txBody>
                  <a:tcPr marL="73152" marR="73152" marT="36576" marB="36576" anchor="ctr">
                    <a:solidFill>
                      <a:srgbClr val="FFFFFF"/>
                    </a:solidFill>
                  </a:tcPr>
                </a:tc>
              </a:tr>
              <a:tr h="384048">
                <a:tc>
                  <a:txBody>
                    <a:bodyPr wrap="square"/>
                    <a:lstStyle/>
                    <a:p>
                      <a:r>
                        <a:rPr sz="1050" b="1" i="0">
                          <a:solidFill>
                            <a:srgbClr val="1B2A55"/>
                          </a:solidFill>
                          <a:latin typeface="Inter"/>
                        </a:rPr>
                        <a:t>Forged receipt or chain rewrite</a:t>
                      </a:r>
                    </a:p>
                  </a:txBody>
                  <a:tcPr marL="73152" marR="73152" marT="36576" marB="36576" anchor="ctr">
                    <a:solidFill>
                      <a:srgbClr val="F1F0F6"/>
                    </a:solidFill>
                  </a:tcPr>
                </a:tc>
                <a:tc>
                  <a:txBody>
                    <a:bodyPr wrap="square"/>
                    <a:lstStyle/>
                    <a:p>
                      <a:r>
                        <a:rPr sz="1050" b="0" i="0">
                          <a:solidFill>
                            <a:srgbClr val="353B4A"/>
                          </a:solidFill>
                          <a:latin typeface="Inter"/>
                        </a:rPr>
                        <a:t>Undetected</a:t>
                      </a:r>
                    </a:p>
                  </a:txBody>
                  <a:tcPr marL="73152" marR="73152" marT="36576" marB="36576" anchor="ctr">
                    <a:solidFill>
                      <a:srgbClr val="F1F0F6"/>
                    </a:solidFill>
                  </a:tcPr>
                </a:tc>
                <a:tc>
                  <a:txBody>
                    <a:bodyPr wrap="square"/>
                    <a:lstStyle/>
                    <a:p>
                      <a:r>
                        <a:rPr sz="1050" b="0" i="0">
                          <a:solidFill>
                            <a:srgbClr val="353B4A"/>
                          </a:solidFill>
                          <a:latin typeface="Inter"/>
                        </a:rPr>
                        <a:t>Detected (key)</a:t>
                      </a:r>
                    </a:p>
                  </a:txBody>
                  <a:tcPr marL="73152" marR="73152" marT="36576" marB="36576" anchor="ctr">
                    <a:solidFill>
                      <a:srgbClr val="F1F0F6"/>
                    </a:solidFill>
                  </a:tcPr>
                </a:tc>
              </a:tr>
              <a:tr h="384048">
                <a:tc>
                  <a:txBody>
                    <a:bodyPr wrap="square"/>
                    <a:lstStyle/>
                    <a:p>
                      <a:r>
                        <a:rPr sz="1050" b="1" i="0">
                          <a:solidFill>
                            <a:srgbClr val="1B2A55"/>
                          </a:solidFill>
                          <a:latin typeface="Inter"/>
                        </a:rPr>
                        <a:t>Candidate renaming</a:t>
                      </a:r>
                    </a:p>
                  </a:txBody>
                  <a:tcPr marL="73152" marR="73152" marT="36576" marB="36576" anchor="ctr">
                    <a:solidFill>
                      <a:srgbClr val="FFFFFF"/>
                    </a:solidFill>
                  </a:tcPr>
                </a:tc>
                <a:tc>
                  <a:txBody>
                    <a:bodyPr wrap="square"/>
                    <a:lstStyle/>
                    <a:p>
                      <a:r>
                        <a:rPr sz="1050" b="0" i="0">
                          <a:solidFill>
                            <a:srgbClr val="353B4A"/>
                          </a:solidFill>
                          <a:latin typeface="Inter"/>
                        </a:rPr>
                        <a:t>Undetected</a:t>
                      </a:r>
                    </a:p>
                  </a:txBody>
                  <a:tcPr marL="73152" marR="73152" marT="36576" marB="36576" anchor="ctr">
                    <a:solidFill>
                      <a:srgbClr val="FFFFFF"/>
                    </a:solidFill>
                  </a:tcPr>
                </a:tc>
                <a:tc>
                  <a:txBody>
                    <a:bodyPr wrap="square"/>
                    <a:lstStyle/>
                    <a:p>
                      <a:r>
                        <a:rPr sz="1050" b="0" i="0">
                          <a:solidFill>
                            <a:srgbClr val="353B4A"/>
                          </a:solidFill>
                          <a:latin typeface="Inter"/>
                        </a:rPr>
                        <a:t>Detected (sealed roster)</a:t>
                      </a:r>
                    </a:p>
                  </a:txBody>
                  <a:tcPr marL="73152" marR="73152" marT="36576" marB="36576" anchor="ctr">
                    <a:solidFill>
                      <a:srgbClr val="FFFFFF"/>
                    </a:solidFill>
                  </a:tcPr>
                </a:tc>
              </a:tr>
              <a:tr h="384048">
                <a:tc>
                  <a:txBody>
                    <a:bodyPr wrap="square"/>
                    <a:lstStyle/>
                    <a:p>
                      <a:r>
                        <a:rPr sz="1050" b="1" i="0">
                          <a:solidFill>
                            <a:srgbClr val="1B2A55"/>
                          </a:solidFill>
                          <a:latin typeface="Inter"/>
                        </a:rPr>
                        <a:t>Voter authentication</a:t>
                      </a:r>
                    </a:p>
                  </a:txBody>
                  <a:tcPr marL="73152" marR="73152" marT="36576" marB="36576" anchor="ctr">
                    <a:solidFill>
                      <a:srgbClr val="F1F0F6"/>
                    </a:solidFill>
                  </a:tcPr>
                </a:tc>
                <a:tc>
                  <a:txBody>
                    <a:bodyPr wrap="square"/>
                    <a:lstStyle/>
                    <a:p>
                      <a:r>
                        <a:rPr sz="1050" b="0" i="0">
                          <a:solidFill>
                            <a:srgbClr val="353B4A"/>
                          </a:solidFill>
                          <a:latin typeface="Inter"/>
                        </a:rPr>
                        <a:t>Password</a:t>
                      </a:r>
                    </a:p>
                  </a:txBody>
                  <a:tcPr marL="73152" marR="73152" marT="36576" marB="36576" anchor="ctr">
                    <a:solidFill>
                      <a:srgbClr val="F1F0F6"/>
                    </a:solidFill>
                  </a:tcPr>
                </a:tc>
                <a:tc>
                  <a:txBody>
                    <a:bodyPr wrap="square"/>
                    <a:lstStyle/>
                    <a:p>
                      <a:r>
                        <a:rPr sz="1050" b="0" i="0">
                          <a:solidFill>
                            <a:srgbClr val="353B4A"/>
                          </a:solidFill>
                          <a:latin typeface="Inter"/>
                        </a:rPr>
                        <a:t>Password + emailed code</a:t>
                      </a:r>
                    </a:p>
                  </a:txBody>
                  <a:tcPr marL="73152" marR="73152" marT="36576" marB="36576" anchor="ctr">
                    <a:solidFill>
                      <a:srgbClr val="F1F0F6"/>
                    </a:solidFill>
                  </a:tcPr>
                </a:tc>
              </a:tr>
              <a:tr h="384048">
                <a:tc>
                  <a:txBody>
                    <a:bodyPr wrap="square"/>
                    <a:lstStyle/>
                    <a:p>
                      <a:r>
                        <a:rPr sz="1050" b="1" i="0">
                          <a:solidFill>
                            <a:srgbClr val="1B2A55"/>
                          </a:solidFill>
                          <a:latin typeface="Inter"/>
                        </a:rPr>
                        <a:t>Ledger storage</a:t>
                      </a:r>
                    </a:p>
                  </a:txBody>
                  <a:tcPr marL="73152" marR="73152" marT="36576" marB="36576" anchor="ctr">
                    <a:solidFill>
                      <a:srgbClr val="FFFFFF"/>
                    </a:solidFill>
                  </a:tcPr>
                </a:tc>
                <a:tc>
                  <a:txBody>
                    <a:bodyPr wrap="square"/>
                    <a:lstStyle/>
                    <a:p>
                      <a:r>
                        <a:rPr sz="1050" b="0" i="0">
                          <a:solidFill>
                            <a:srgbClr val="353B4A"/>
                          </a:solidFill>
                          <a:latin typeface="Inter"/>
                        </a:rPr>
                        <a:t>Local file</a:t>
                      </a:r>
                    </a:p>
                  </a:txBody>
                  <a:tcPr marL="73152" marR="73152" marT="36576" marB="36576" anchor="ctr">
                    <a:solidFill>
                      <a:srgbClr val="FFFFFF"/>
                    </a:solidFill>
                  </a:tcPr>
                </a:tc>
                <a:tc>
                  <a:txBody>
                    <a:bodyPr wrap="square"/>
                    <a:lstStyle/>
                    <a:p>
                      <a:r>
                        <a:rPr sz="1050" b="0" i="0">
                          <a:solidFill>
                            <a:srgbClr val="353B4A"/>
                          </a:solidFill>
                          <a:latin typeface="Inter"/>
                        </a:rPr>
                        <a:t>MongoDB Atlas</a:t>
                      </a:r>
                    </a:p>
                  </a:txBody>
                  <a:tcPr marL="73152" marR="73152" marT="36576" marB="36576" anchor="ctr">
                    <a:solidFill>
                      <a:srgbClr val="FFFFFF"/>
                    </a:solidFill>
                  </a:tcPr>
                </a:tc>
              </a:tr>
              <a:tr h="384048">
                <a:tc>
                  <a:txBody>
                    <a:bodyPr wrap="square"/>
                    <a:lstStyle/>
                    <a:p>
                      <a:r>
                        <a:rPr sz="1050" b="1" i="0">
                          <a:solidFill>
                            <a:srgbClr val="1B2A55"/>
                          </a:solidFill>
                          <a:latin typeface="Inter"/>
                        </a:rPr>
                        <a:t>Ledger append at 10,000 ballots</a:t>
                      </a:r>
                    </a:p>
                  </a:txBody>
                  <a:tcPr marL="73152" marR="73152" marT="36576" marB="36576" anchor="ctr">
                    <a:solidFill>
                      <a:srgbClr val="F1F0F6"/>
                    </a:solidFill>
                  </a:tcPr>
                </a:tc>
                <a:tc>
                  <a:txBody>
                    <a:bodyPr wrap="square"/>
                    <a:lstStyle/>
                    <a:p>
                      <a:r>
                        <a:rPr sz="1050" b="0" i="0">
                          <a:solidFill>
                            <a:srgbClr val="353B4A"/>
                          </a:solidFill>
                          <a:latin typeface="Inter"/>
                        </a:rPr>
                        <a:t>205 ms (file, whole cast)</a:t>
                      </a:r>
                    </a:p>
                  </a:txBody>
                  <a:tcPr marL="73152" marR="73152" marT="36576" marB="36576" anchor="ctr">
                    <a:solidFill>
                      <a:srgbClr val="F1F0F6"/>
                    </a:solidFill>
                  </a:tcPr>
                </a:tc>
                <a:tc>
                  <a:txBody>
                    <a:bodyPr wrap="square"/>
                    <a:lstStyle/>
                    <a:p>
                      <a:r>
                        <a:rPr sz="1050" b="0" i="0">
                          <a:solidFill>
                            <a:srgbClr val="353B4A"/>
                          </a:solidFill>
                          <a:latin typeface="Inter"/>
                        </a:rPr>
                        <a:t>~147 ms (Atlas, flat)</a:t>
                      </a:r>
                    </a:p>
                  </a:txBody>
                  <a:tcPr marL="73152" marR="73152" marT="36576" marB="36576" anchor="ctr">
                    <a:solidFill>
                      <a:srgbClr val="F1F0F6"/>
                    </a:solidFill>
                  </a:tcPr>
                </a:tc>
              </a:tr>
              <a:tr h="384048">
                <a:tc>
                  <a:txBody>
                    <a:bodyPr wrap="square"/>
                    <a:lstStyle/>
                    <a:p>
                      <a:r>
                        <a:rPr sz="1050" b="1" i="0">
                          <a:solidFill>
                            <a:srgbClr val="1B2A55"/>
                          </a:solidFill>
                          <a:latin typeface="Inter"/>
                        </a:rPr>
                        <a:t>Sweep at 10,000 ballots</a:t>
                      </a:r>
                    </a:p>
                  </a:txBody>
                  <a:tcPr marL="73152" marR="73152" marT="36576" marB="36576" anchor="ctr">
                    <a:solidFill>
                      <a:srgbClr val="FFFFFF"/>
                    </a:solidFill>
                  </a:tcPr>
                </a:tc>
                <a:tc>
                  <a:txBody>
                    <a:bodyPr wrap="square"/>
                    <a:lstStyle/>
                    <a:p>
                      <a:r>
                        <a:rPr sz="1050" b="0" i="0">
                          <a:solidFill>
                            <a:srgbClr val="353B4A"/>
                          </a:solidFill>
                          <a:latin typeface="Inter"/>
                        </a:rPr>
                        <a:t>129 ms</a:t>
                      </a:r>
                    </a:p>
                  </a:txBody>
                  <a:tcPr marL="73152" marR="73152" marT="36576" marB="36576" anchor="ctr">
                    <a:solidFill>
                      <a:srgbClr val="FFFFFF"/>
                    </a:solidFill>
                  </a:tcPr>
                </a:tc>
                <a:tc>
                  <a:txBody>
                    <a:bodyPr wrap="square"/>
                    <a:lstStyle/>
                    <a:p>
                      <a:r>
                        <a:rPr sz="1050" b="0" i="0">
                          <a:solidFill>
                            <a:srgbClr val="353B4A"/>
                          </a:solidFill>
                          <a:latin typeface="Inter"/>
                        </a:rPr>
                        <a:t>147 ms</a:t>
                      </a:r>
                    </a:p>
                  </a:txBody>
                  <a:tcPr marL="73152" marR="73152" marT="36576" marB="36576" anchor="ctr">
                    <a:solidFill>
                      <a:srgbClr val="FFFFFF"/>
                    </a:solidFill>
                  </a:tcPr>
                </a:tc>
              </a:tr>
              <a:tr h="384048">
                <a:tc>
                  <a:txBody>
                    <a:bodyPr wrap="square"/>
                    <a:lstStyle/>
                    <a:p>
                      <a:r>
                        <a:rPr sz="1050" b="1" i="0">
                          <a:solidFill>
                            <a:srgbClr val="1B2A55"/>
                          </a:solidFill>
                          <a:latin typeface="Inter"/>
                        </a:rPr>
                        <a:t>Access</a:t>
                      </a:r>
                    </a:p>
                  </a:txBody>
                  <a:tcPr marL="73152" marR="73152" marT="36576" marB="36576" anchor="ctr">
                    <a:solidFill>
                      <a:srgbClr val="F1F0F6"/>
                    </a:solidFill>
                  </a:tcPr>
                </a:tc>
                <a:tc>
                  <a:txBody>
                    <a:bodyPr wrap="square"/>
                    <a:lstStyle/>
                    <a:p>
                      <a:r>
                        <a:rPr sz="1050" b="0" i="0">
                          <a:solidFill>
                            <a:srgbClr val="353B4A"/>
                          </a:solidFill>
                          <a:latin typeface="Inter"/>
                        </a:rPr>
                        <a:t>Local only</a:t>
                      </a:r>
                    </a:p>
                  </a:txBody>
                  <a:tcPr marL="73152" marR="73152" marT="36576" marB="36576" anchor="ctr">
                    <a:solidFill>
                      <a:srgbClr val="F1F0F6"/>
                    </a:solidFill>
                  </a:tcPr>
                </a:tc>
                <a:tc>
                  <a:txBody>
                    <a:bodyPr wrap="square"/>
                    <a:lstStyle/>
                    <a:p>
                      <a:r>
                        <a:rPr sz="1050" b="0" i="0">
                          <a:solidFill>
                            <a:srgbClr val="353B4A"/>
                          </a:solidFill>
                          <a:latin typeface="Inter"/>
                        </a:rPr>
                        <a:t>Public link + QR</a:t>
                      </a:r>
                    </a:p>
                  </a:txBody>
                  <a:tcPr marL="73152" marR="73152" marT="36576" marB="36576" anchor="ctr">
                    <a:solidFill>
                      <a:srgbClr val="F1F0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47</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48</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49</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50</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51</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OPEN TODAY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India only,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52</a:t>
            </a:r>
          </a:p>
        </p:txBody>
      </p:sp>
      <p:graphicFrame>
        <p:nvGraphicFramePr>
          <p:cNvPr id="6" name="Table 5"/>
          <p:cNvGraphicFramePr>
            <a:graphicFrameLocks noGrp="1"/>
          </p:cNvGraphicFramePr>
          <p:nvPr/>
        </p:nvGraphicFramePr>
        <p:xfrm>
          <a:off x="365760" y="987552"/>
          <a:ext cx="8412477" cy="3200400"/>
        </p:xfrm>
        <a:graphic>
          <a:graphicData uri="http://schemas.openxmlformats.org/drawingml/2006/table">
            <a:tbl>
              <a:tblPr firstRow="1" bandRow="1">
                <a:tableStyleId>{5C22544A-7EE6-4342-B048-85BDC9FD1C3A}</a:tableStyleId>
              </a:tblPr>
              <a:tblGrid>
                <a:gridCol w="268483"/>
                <a:gridCol w="1297669"/>
                <a:gridCol w="2550592"/>
                <a:gridCol w="894944"/>
                <a:gridCol w="1029186"/>
                <a:gridCol w="1029186"/>
                <a:gridCol w="1342417"/>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IEEE record #73342 shown</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ICESICSC-2027</a:t>
                      </a:r>
                    </a:p>
                  </a:txBody>
                  <a:tcPr marL="73152" marR="73152" marT="36576" marB="36576" anchor="ctr">
                    <a:solidFill>
                      <a:srgbClr val="F1F0F6"/>
                    </a:solidFill>
                  </a:tcPr>
                </a:tc>
                <a:tc>
                  <a:txBody>
                    <a:bodyPr wrap="square"/>
                    <a:lstStyle/>
                    <a:p>
                      <a:r>
                        <a:rPr sz="800" b="0" i="0">
                          <a:solidFill>
                            <a:srgbClr val="353B4A"/>
                          </a:solidFill>
                          <a:latin typeface="Inter"/>
                        </a:rPr>
                        <a:t>KIIT, Bhubaneswar (Overall 27)</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20-21 Feb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Confluence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4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21-22 Jan 2027</a:t>
                      </a:r>
                    </a:p>
                  </a:txBody>
                  <a:tcPr marL="73152" marR="73152" marT="36576" marB="36576" anchor="ctr">
                    <a:solidFill>
                      <a:srgbClr val="FFFFFF"/>
                    </a:solidFill>
                  </a:tcPr>
                </a:tc>
                <a:tc>
                  <a:txBody>
                    <a:bodyPr wrap="square"/>
                    <a:lstStyle/>
                    <a:p>
                      <a:r>
                        <a:rPr sz="800" b="0" i="0">
                          <a:solidFill>
                            <a:srgbClr val="353B4A"/>
                          </a:solidFill>
                          <a:latin typeface="Inter"/>
                        </a:rPr>
                        <a:t>IEEE record #71526 shown</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INDIACom-2027</a:t>
                      </a:r>
                    </a:p>
                  </a:txBody>
                  <a:tcPr marL="73152" marR="73152" marT="36576" marB="36576" anchor="ctr">
                    <a:solidFill>
                      <a:srgbClr val="F1F0F6"/>
                    </a:solidFill>
                  </a:tcPr>
                </a:tc>
                <a:tc>
                  <a:txBody>
                    <a:bodyPr wrap="square"/>
                    <a:lstStyle/>
                    <a:p>
                      <a:r>
                        <a:rPr sz="800" b="0" i="0">
                          <a:solidFill>
                            <a:srgbClr val="353B4A"/>
                          </a:solidFill>
                          <a:latin typeface="Inter"/>
                        </a:rPr>
                        <a:t>BVICAM, Bharati Vidyapeeth, New Delhi (parent only, University 59)</a:t>
                      </a:r>
                    </a:p>
                  </a:txBody>
                  <a:tcPr marL="73152" marR="73152" marT="36576" marB="36576" anchor="ctr">
                    <a:solidFill>
                      <a:srgbClr val="F1F0F6"/>
                    </a:solidFill>
                  </a:tcPr>
                </a:tc>
                <a:tc>
                  <a:txBody>
                    <a:bodyPr wrap="square"/>
                    <a:lstStyle/>
                    <a:p>
                      <a:r>
                        <a:rPr sz="800" b="0" i="0">
                          <a:solidFill>
                            <a:srgbClr val="353B4A"/>
                          </a:solidFill>
                          <a:latin typeface="Inter"/>
                        </a:rPr>
                        <a:t>7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7-9 Apr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i-PACT 2027</a:t>
                      </a:r>
                    </a:p>
                  </a:txBody>
                  <a:tcPr marL="73152" marR="73152" marT="36576" marB="36576" anchor="ctr">
                    <a:solidFill>
                      <a:srgbClr val="FFFFFF"/>
                    </a:solidFill>
                  </a:tcPr>
                </a:tc>
                <a:tc>
                  <a:txBody>
                    <a:bodyPr wrap="square"/>
                    <a:lstStyle/>
                    <a:p>
                      <a:r>
                        <a:rPr sz="800" b="0" i="0">
                          <a:solidFill>
                            <a:srgbClr val="353B4A"/>
                          </a:solidFill>
                          <a:latin typeface="Inter"/>
                        </a:rPr>
                        <a:t>VIT, Vellore (Overall 21)</a:t>
                      </a:r>
                    </a:p>
                  </a:txBody>
                  <a:tcPr marL="73152" marR="73152" marT="36576" marB="36576" anchor="ctr">
                    <a:solidFill>
                      <a:srgbClr val="FFFFFF"/>
                    </a:solidFill>
                  </a:tcPr>
                </a:tc>
                <a:tc>
                  <a:txBody>
                    <a:bodyPr wrap="square"/>
                    <a:lstStyle/>
                    <a:p>
                      <a:r>
                        <a:rPr sz="800" b="0" i="0">
                          <a:solidFill>
                            <a:srgbClr val="353B4A"/>
                          </a:solidFill>
                          <a:latin typeface="Inter"/>
                        </a:rPr>
                        <a:t>31 May 2027</a:t>
                      </a:r>
                    </a:p>
                  </a:txBody>
                  <a:tcPr marL="73152" marR="73152" marT="36576" marB="36576" anchor="ctr">
                    <a:solidFill>
                      <a:srgbClr val="FFFFFF"/>
                    </a:solidFill>
                  </a:tcPr>
                </a:tc>
                <a:tc>
                  <a:txBody>
                    <a:bodyPr wrap="square"/>
                    <a:lstStyle/>
                    <a:p>
                      <a:r>
                        <a:rPr sz="800" b="0" i="0">
                          <a:solidFill>
                            <a:srgbClr val="353B4A"/>
                          </a:solidFill>
                          <a:latin typeface="Inter"/>
                        </a:rPr>
                        <a:t>12,000</a:t>
                      </a:r>
                    </a:p>
                  </a:txBody>
                  <a:tcPr marL="73152" marR="73152" marT="36576" marB="36576" anchor="ctr">
                    <a:solidFill>
                      <a:srgbClr val="FFFFFF"/>
                    </a:solidFill>
                  </a:tcPr>
                </a:tc>
                <a:tc>
                  <a:txBody>
                    <a:bodyPr wrap="square"/>
                    <a:lstStyle/>
                    <a:p>
                      <a:r>
                        <a:rPr sz="800" b="0" i="0">
                          <a:solidFill>
                            <a:srgbClr val="353B4A"/>
                          </a:solidFill>
                          <a:latin typeface="Inter"/>
                        </a:rPr>
                        <a:t>2-3 Sep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ICICC-2027</a:t>
                      </a:r>
                    </a:p>
                  </a:txBody>
                  <a:tcPr marL="73152" marR="73152" marT="36576" marB="36576" anchor="ctr">
                    <a:solidFill>
                      <a:srgbClr val="F1F0F6"/>
                    </a:solidFill>
                  </a:tcPr>
                </a:tc>
                <a:tc>
                  <a:txBody>
                    <a:bodyPr wrap="square"/>
                    <a:lstStyle/>
                    <a:p>
                      <a:r>
                        <a:rPr sz="800" b="0" i="0">
                          <a:solidFill>
                            <a:srgbClr val="353B4A"/>
                          </a:solidFill>
                          <a:latin typeface="Inter"/>
                        </a:rPr>
                        <a:t>Shaheed Sukhdev College, Univ. of Delhi (parent only, Overall 15)</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13,000</a:t>
                      </a:r>
                    </a:p>
                  </a:txBody>
                  <a:tcPr marL="73152" marR="73152" marT="36576" marB="36576" anchor="ctr">
                    <a:solidFill>
                      <a:srgbClr val="F1F0F6"/>
                    </a:solidFill>
                  </a:tcPr>
                </a:tc>
                <a:tc>
                  <a:txBody>
                    <a:bodyPr wrap="square"/>
                    <a:lstStyle/>
                    <a:p>
                      <a:r>
                        <a:rPr sz="800" b="0" i="0">
                          <a:solidFill>
                            <a:srgbClr val="353B4A"/>
                          </a:solidFill>
                          <a:latin typeface="Inter"/>
                        </a:rPr>
                        <a:t>5-6 Feb 2027</a:t>
                      </a:r>
                    </a:p>
                  </a:txBody>
                  <a:tcPr marL="73152" marR="73152" marT="36576" marB="36576" anchor="ctr">
                    <a:solidFill>
                      <a:srgbClr val="F1F0F6"/>
                    </a:solidFill>
                  </a:tcPr>
                </a:tc>
                <a:tc>
                  <a:txBody>
                    <a:bodyPr wrap="square"/>
                    <a:lstStyle/>
                    <a:p>
                      <a:r>
                        <a:rPr sz="800" b="0" i="0">
                          <a:solidFill>
                            <a:srgbClr val="353B4A"/>
                          </a:solidFill>
                          <a:latin typeface="Inter"/>
                        </a:rPr>
                        <a:t>Claimed (LNNS "approved")</a:t>
                      </a:r>
                    </a:p>
                  </a:txBody>
                  <a:tcPr marL="73152" marR="73152" marT="36576" marB="36576" anchor="ctr">
                    <a:solidFill>
                      <a:srgbClr val="F1F0F6"/>
                    </a:solidFill>
                  </a:tcPr>
                </a:tc>
              </a:tr>
            </a:tbl>
          </a:graphicData>
        </a:graphic>
      </p:graphicFrame>
      <p:sp>
        <p:nvSpPr>
          <p:cNvPr id="7" name="TextBox 6"/>
          <p:cNvSpPr txBox="1"/>
          <p:nvPr/>
        </p:nvSpPr>
        <p:spPr>
          <a:xfrm>
            <a:off x="365760" y="4297680"/>
            <a:ext cx="8412480" cy="54864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"IEEE record shown" means a record number is on the official page, not checked on the IEEE site; nothing here is confirmed for IEEE Xplore. Also qualify, but off-topic or no published fee: ICSEAMS (Amrita), ICCIDS (SSN), PerCom work-in-progress (BITS Pilani Goa), NCC (IISc). Dropped, host not in the top 100: ICRCICN, IEM-ICDC, iConCISE, ICPCSN.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53</a:t>
            </a:r>
          </a:p>
        </p:txBody>
      </p:sp>
      <p:graphicFrame>
        <p:nvGraphicFramePr>
          <p:cNvPr id="6" name="Table 5"/>
          <p:cNvGraphicFramePr>
            <a:graphicFrameLocks noGrp="1"/>
          </p:cNvGraphicFramePr>
          <p:nvPr/>
        </p:nvGraphicFramePr>
        <p:xfrm>
          <a:off x="457200" y="1097280"/>
          <a:ext cx="8229599" cy="2651760"/>
        </p:xfrm>
        <a:graphic>
          <a:graphicData uri="http://schemas.openxmlformats.org/drawingml/2006/table">
            <a:tbl>
              <a:tblPr firstRow="1" bandRow="1">
                <a:tableStyleId>{5C22544A-7EE6-4342-B048-85BDC9FD1C3A}</a:tableStyleId>
              </a:tblPr>
              <a:tblGrid>
                <a:gridCol w="548640"/>
                <a:gridCol w="1737359"/>
                <a:gridCol w="1920240"/>
                <a:gridCol w="1097280"/>
                <a:gridCol w="292608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57200">
                <a:tc>
                  <a:txBody>
                    <a:bodyPr wrap="square"/>
                    <a:lstStyle/>
                    <a:p>
                      <a:r>
                        <a:rPr sz="950" b="1" i="0">
                          <a:solidFill>
                            <a:srgbClr val="1B2A55"/>
                          </a:solidFill>
                          <a:latin typeface="Inter"/>
                        </a:rPr>
                        <a:t>1</a:t>
                      </a:r>
                    </a:p>
                  </a:txBody>
                  <a:tcPr marL="73152" marR="73152" marT="36576" marB="36576" anchor="ctr">
                    <a:solidFill>
                      <a:srgbClr val="FFFFFF"/>
                    </a:solidFill>
                  </a:tcPr>
                </a:tc>
                <a:tc>
                  <a:txBody>
                    <a:bodyPr wrap="square"/>
                    <a:lstStyle/>
                    <a:p>
                      <a:r>
                        <a:rPr sz="950" b="0" i="0">
                          <a:solidFill>
                            <a:srgbClr val="353B4A"/>
                          </a:solidFill>
                          <a:latin typeface="Inter"/>
                        </a:rPr>
                        <a:t>IEEE SANKALP 2027</a:t>
                      </a:r>
                    </a:p>
                  </a:txBody>
                  <a:tcPr marL="73152" marR="73152" marT="36576" marB="36576" anchor="ctr">
                    <a:solidFill>
                      <a:srgbClr val="FFFFFF"/>
                    </a:solidFill>
                  </a:tcPr>
                </a:tc>
                <a:tc>
                  <a:txBody>
                    <a:bodyPr wrap="square"/>
                    <a:lstStyle/>
                    <a:p>
                      <a:r>
                        <a:rPr sz="950" b="0" i="0">
                          <a:solidFill>
                            <a:srgbClr val="353B4A"/>
                          </a:solidFill>
                          <a:latin typeface="Inter"/>
                        </a:rPr>
                        <a:t>ABV-IIITM Gwalior</a:t>
                      </a:r>
                    </a:p>
                  </a:txBody>
                  <a:tcPr marL="73152" marR="73152" marT="36576" marB="36576" anchor="ctr">
                    <a:solidFill>
                      <a:srgbClr val="FFFFFF"/>
                    </a:solidFill>
                  </a:tcPr>
                </a:tc>
                <a:tc>
                  <a:txBody>
                    <a:bodyPr wrap="square"/>
                    <a:lstStyle/>
                    <a:p>
                      <a:r>
                        <a:rPr sz="950" b="0" i="0">
                          <a:solidFill>
                            <a:srgbClr val="353B4A"/>
                          </a:solidFill>
                          <a:latin typeface="Inter"/>
                        </a:rPr>
                        <a:t>30 Nov 2026</a:t>
                      </a:r>
                    </a:p>
                  </a:txBody>
                  <a:tcPr marL="73152" marR="73152" marT="36576" marB="36576" anchor="ctr">
                    <a:solidFill>
                      <a:srgbClr val="FFFFFF"/>
                    </a:solidFill>
                  </a:tcPr>
                </a:tc>
                <a:tc>
                  <a:txBody>
                    <a:bodyPr wrap="square"/>
                    <a:lstStyle/>
                    <a:p>
                      <a:r>
                        <a:rPr sz="950" b="0" i="0">
                          <a:solidFill>
                            <a:srgbClr val="353B4A"/>
                          </a:solidFill>
                          <a:latin typeface="Inter"/>
                        </a:rPr>
                        <a:t>IEEE record number shown; security and distributed-database tracks; INR 7,000</a:t>
                      </a:r>
                    </a:p>
                  </a:txBody>
                  <a:tcPr marL="73152" marR="73152" marT="36576" marB="36576" anchor="ctr">
                    <a:solidFill>
                      <a:srgbClr val="FFFFFF"/>
                    </a:solidFill>
                  </a:tcPr>
                </a:tc>
              </a:tr>
              <a:tr h="457200">
                <a:tc>
                  <a:txBody>
                    <a:bodyPr wrap="square"/>
                    <a:lstStyle/>
                    <a:p>
                      <a:r>
                        <a:rPr sz="950" b="1" i="0">
                          <a:solidFill>
                            <a:srgbClr val="1B2A55"/>
                          </a:solidFill>
                          <a:latin typeface="Inter"/>
                        </a:rPr>
                        <a:t>2</a:t>
                      </a:r>
                    </a:p>
                  </a:txBody>
                  <a:tcPr marL="73152" marR="73152" marT="36576" marB="36576" anchor="ctr">
                    <a:solidFill>
                      <a:srgbClr val="F1F0F6"/>
                    </a:solidFill>
                  </a:tcPr>
                </a:tc>
                <a:tc>
                  <a:txBody>
                    <a:bodyPr wrap="square"/>
                    <a:lstStyle/>
                    <a:p>
                      <a:r>
                        <a:rPr sz="950" b="0" i="0">
                          <a:solidFill>
                            <a:srgbClr val="353B4A"/>
                          </a:solidFill>
                          <a:latin typeface="Inter"/>
                        </a:rPr>
                        <a:t>Confluence 2027</a:t>
                      </a:r>
                    </a:p>
                  </a:txBody>
                  <a:tcPr marL="73152" marR="73152" marT="36576" marB="36576" anchor="ctr">
                    <a:solidFill>
                      <a:srgbClr val="F1F0F6"/>
                    </a:solidFill>
                  </a:tcPr>
                </a:tc>
                <a:tc>
                  <a:txBody>
                    <a:bodyPr wrap="square"/>
                    <a:lstStyle/>
                    <a:p>
                      <a:r>
                        <a:rPr sz="950" b="0" i="0">
                          <a:solidFill>
                            <a:srgbClr val="353B4A"/>
                          </a:solidFill>
                          <a:latin typeface="Inter"/>
                        </a:rPr>
                        <a:t>Amity University, Noida</a:t>
                      </a:r>
                    </a:p>
                  </a:txBody>
                  <a:tcPr marL="73152" marR="73152" marT="36576" marB="36576" anchor="ctr">
                    <a:solidFill>
                      <a:srgbClr val="F1F0F6"/>
                    </a:solidFill>
                  </a:tcPr>
                </a:tc>
                <a:tc>
                  <a:txBody>
                    <a:bodyPr wrap="square"/>
                    <a:lstStyle/>
                    <a:p>
                      <a:r>
                        <a:rPr sz="950" b="0" i="0">
                          <a:solidFill>
                            <a:srgbClr val="353B4A"/>
                          </a:solidFill>
                          <a:latin typeface="Inter"/>
                        </a:rPr>
                        <a:t>4 Dec 2026</a:t>
                      </a:r>
                    </a:p>
                  </a:txBody>
                  <a:tcPr marL="73152" marR="73152" marT="36576" marB="36576" anchor="ctr">
                    <a:solidFill>
                      <a:srgbClr val="F1F0F6"/>
                    </a:solidFill>
                  </a:tcPr>
                </a:tc>
                <a:tc>
                  <a:txBody>
                    <a:bodyPr wrap="square"/>
                    <a:lstStyle/>
                    <a:p>
                      <a:r>
                        <a:rPr sz="950" b="0" i="0">
                          <a:solidFill>
                            <a:srgbClr val="353B4A"/>
                          </a:solidFill>
                          <a:latin typeface="Inter"/>
                        </a:rPr>
                        <a:t>IEEE record number shown; INR 9,440; fast decision</a:t>
                      </a:r>
                    </a:p>
                  </a:txBody>
                  <a:tcPr marL="73152" marR="73152" marT="36576" marB="36576" anchor="ctr">
                    <a:solidFill>
                      <a:srgbClr val="F1F0F6"/>
                    </a:solidFill>
                  </a:tcPr>
                </a:tc>
              </a:tr>
              <a:tr h="457200">
                <a:tc>
                  <a:txBody>
                    <a:bodyPr wrap="square"/>
                    <a:lstStyle/>
                    <a:p>
                      <a:r>
                        <a:rPr sz="950" b="1" i="0">
                          <a:solidFill>
                            <a:srgbClr val="1B2A55"/>
                          </a:solidFill>
                          <a:latin typeface="Inter"/>
                        </a:rPr>
                        <a:t>3</a:t>
                      </a:r>
                    </a:p>
                  </a:txBody>
                  <a:tcPr marL="73152" marR="73152" marT="36576" marB="36576" anchor="ctr">
                    <a:solidFill>
                      <a:srgbClr val="FFFFFF"/>
                    </a:solidFill>
                  </a:tcPr>
                </a:tc>
                <a:tc>
                  <a:txBody>
                    <a:bodyPr wrap="square"/>
                    <a:lstStyle/>
                    <a:p>
                      <a:r>
                        <a:rPr sz="950" b="0" i="0">
                          <a:solidFill>
                            <a:srgbClr val="353B4A"/>
                          </a:solidFill>
                          <a:latin typeface="Inter"/>
                        </a:rPr>
                        <a:t>ICESICSC-2027</a:t>
                      </a:r>
                    </a:p>
                  </a:txBody>
                  <a:tcPr marL="73152" marR="73152" marT="36576" marB="36576" anchor="ctr">
                    <a:solidFill>
                      <a:srgbClr val="FFFFFF"/>
                    </a:solidFill>
                  </a:tcPr>
                </a:tc>
                <a:tc>
                  <a:txBody>
                    <a:bodyPr wrap="square"/>
                    <a:lstStyle/>
                    <a:p>
                      <a:r>
                        <a:rPr sz="950" b="0" i="0">
                          <a:solidFill>
                            <a:srgbClr val="353B4A"/>
                          </a:solidFill>
                          <a:latin typeface="Inter"/>
                        </a:rPr>
                        <a:t>KIIT, Bhubaneswar</a:t>
                      </a:r>
                    </a:p>
                  </a:txBody>
                  <a:tcPr marL="73152" marR="73152" marT="36576" marB="36576" anchor="ctr">
                    <a:solidFill>
                      <a:srgbClr val="FFFFFF"/>
                    </a:solidFill>
                  </a:tcPr>
                </a:tc>
                <a:tc>
                  <a:txBody>
                    <a:bodyPr wrap="square"/>
                    <a:lstStyle/>
                    <a:p>
                      <a:r>
                        <a:rPr sz="950" b="0" i="0">
                          <a:solidFill>
                            <a:srgbClr val="353B4A"/>
                          </a:solidFill>
                          <a:latin typeface="Inter"/>
                        </a:rPr>
                        <a:t>30 Oct 2026</a:t>
                      </a:r>
                    </a:p>
                  </a:txBody>
                  <a:tcPr marL="73152" marR="73152" marT="36576" marB="36576" anchor="ctr">
                    <a:solidFill>
                      <a:srgbClr val="FFFFFF"/>
                    </a:solidFill>
                  </a:tcPr>
                </a:tc>
                <a:tc>
                  <a:txBody>
                    <a:bodyPr wrap="square"/>
                    <a:lstStyle/>
                    <a:p>
                      <a:r>
                        <a:rPr sz="950" b="0" i="0">
                          <a:solidFill>
                            <a:srgbClr val="353B4A"/>
                          </a:solidFill>
                          <a:latin typeface="Inter"/>
                        </a:rPr>
                        <a:t>Closes in 7 days; only if the paper already fits their template</a:t>
                      </a:r>
                    </a:p>
                  </a:txBody>
                  <a:tcPr marL="73152" marR="73152" marT="36576" marB="36576" anchor="ctr">
                    <a:solidFill>
                      <a:srgbClr val="FFFFFF"/>
                    </a:solidFill>
                  </a:tcPr>
                </a:tc>
              </a:tr>
              <a:tr h="457200">
                <a:tc>
                  <a:txBody>
                    <a:bodyPr wrap="square"/>
                    <a:lstStyle/>
                    <a:p>
                      <a:r>
                        <a:rPr sz="950" b="1" i="0">
                          <a:solidFill>
                            <a:srgbClr val="1B2A55"/>
                          </a:solidFill>
                          <a:latin typeface="Inter"/>
                        </a:rPr>
                        <a:t>4</a:t>
                      </a:r>
                    </a:p>
                  </a:txBody>
                  <a:tcPr marL="73152" marR="73152" marT="36576" marB="36576" anchor="ctr">
                    <a:solidFill>
                      <a:srgbClr val="F1F0F6"/>
                    </a:solidFill>
                  </a:tcPr>
                </a:tc>
                <a:tc>
                  <a:txBody>
                    <a:bodyPr wrap="square"/>
                    <a:lstStyle/>
                    <a:p>
                      <a:r>
                        <a:rPr sz="950" b="0" i="0">
                          <a:solidFill>
                            <a:srgbClr val="353B4A"/>
                          </a:solidFill>
                          <a:latin typeface="Inter"/>
                        </a:rPr>
                        <a:t>INDIACom-2027</a:t>
                      </a:r>
                    </a:p>
                  </a:txBody>
                  <a:tcPr marL="73152" marR="73152" marT="36576" marB="36576" anchor="ctr">
                    <a:solidFill>
                      <a:srgbClr val="F1F0F6"/>
                    </a:solidFill>
                  </a:tcPr>
                </a:tc>
                <a:tc>
                  <a:txBody>
                    <a:bodyPr wrap="square"/>
                    <a:lstStyle/>
                    <a:p>
                      <a:r>
                        <a:rPr sz="950" b="0" i="0">
                          <a:solidFill>
                            <a:srgbClr val="353B4A"/>
                          </a:solidFill>
                          <a:latin typeface="Inter"/>
                        </a:rPr>
                        <a:t>BVICAM, Bharati Vidyapeeth</a:t>
                      </a:r>
                    </a:p>
                  </a:txBody>
                  <a:tcPr marL="73152" marR="73152" marT="36576" marB="36576" anchor="ctr">
                    <a:solidFill>
                      <a:srgbClr val="F1F0F6"/>
                    </a:solidFill>
                  </a:tcPr>
                </a:tc>
                <a:tc>
                  <a:txBody>
                    <a:bodyPr wrap="square"/>
                    <a:lstStyle/>
                    <a:p>
                      <a:r>
                        <a:rPr sz="950" b="0" i="0">
                          <a:solidFill>
                            <a:srgbClr val="353B4A"/>
                          </a:solidFill>
                          <a:latin typeface="Inter"/>
                        </a:rPr>
                        <a:t>7 Dec 2026</a:t>
                      </a:r>
                    </a:p>
                  </a:txBody>
                  <a:tcPr marL="73152" marR="73152" marT="36576" marB="36576" anchor="ctr">
                    <a:solidFill>
                      <a:srgbClr val="F1F0F6"/>
                    </a:solidFill>
                  </a:tcPr>
                </a:tc>
                <a:tc>
                  <a:txBody>
                    <a:bodyPr wrap="square"/>
                    <a:lstStyle/>
                    <a:p>
                      <a:r>
                        <a:rPr sz="950" b="0" i="0">
                          <a:solidFill>
                            <a:srgbClr val="353B4A"/>
                          </a:solidFill>
                          <a:latin typeface="Inter"/>
                        </a:rPr>
                        <a:t>Borderline host: only the parent university is ranked</a:t>
                      </a:r>
                    </a:p>
                  </a:txBody>
                  <a:tcPr marL="73152" marR="73152" marT="36576" marB="36576" anchor="ctr">
                    <a:solidFill>
                      <a:srgbClr val="F1F0F6"/>
                    </a:solidFill>
                  </a:tcPr>
                </a:tc>
              </a:tr>
              <a:tr h="457200">
                <a:tc>
                  <a:txBody>
                    <a:bodyPr wrap="square"/>
                    <a:lstStyle/>
                    <a:p>
                      <a:r>
                        <a:rPr sz="950" b="1" i="0">
                          <a:solidFill>
                            <a:srgbClr val="1B2A55"/>
                          </a:solidFill>
                          <a:latin typeface="Inter"/>
                        </a:rPr>
                        <a:t>5</a:t>
                      </a:r>
                    </a:p>
                  </a:txBody>
                  <a:tcPr marL="73152" marR="73152" marT="36576" marB="36576" anchor="ctr">
                    <a:solidFill>
                      <a:srgbClr val="FFFFFF"/>
                    </a:solidFill>
                  </a:tcPr>
                </a:tc>
                <a:tc>
                  <a:txBody>
                    <a:bodyPr wrap="square"/>
                    <a:lstStyle/>
                    <a:p>
                      <a:r>
                        <a:rPr sz="950" b="0" i="0">
                          <a:solidFill>
                            <a:srgbClr val="353B4A"/>
                          </a:solidFill>
                          <a:latin typeface="Inter"/>
                        </a:rPr>
                        <a:t>i-PACT 2027</a:t>
                      </a:r>
                    </a:p>
                  </a:txBody>
                  <a:tcPr marL="73152" marR="73152" marT="36576" marB="36576" anchor="ctr">
                    <a:solidFill>
                      <a:srgbClr val="FFFFFF"/>
                    </a:solidFill>
                  </a:tcPr>
                </a:tc>
                <a:tc>
                  <a:txBody>
                    <a:bodyPr wrap="square"/>
                    <a:lstStyle/>
                    <a:p>
                      <a:r>
                        <a:rPr sz="950" b="0" i="0">
                          <a:solidFill>
                            <a:srgbClr val="353B4A"/>
                          </a:solidFill>
                          <a:latin typeface="Inter"/>
                        </a:rPr>
                        <a:t>VIT, Vellore</a:t>
                      </a:r>
                    </a:p>
                  </a:txBody>
                  <a:tcPr marL="73152" marR="73152" marT="36576" marB="36576" anchor="ctr">
                    <a:solidFill>
                      <a:srgbClr val="FFFFFF"/>
                    </a:solidFill>
                  </a:tcPr>
                </a:tc>
                <a:tc>
                  <a:txBody>
                    <a:bodyPr wrap="square"/>
                    <a:lstStyle/>
                    <a:p>
                      <a:r>
                        <a:rPr sz="950" b="0" i="0">
                          <a:solidFill>
                            <a:srgbClr val="353B4A"/>
                          </a:solidFill>
                          <a:latin typeface="Inter"/>
                        </a:rPr>
                        <a:t>31 May 2027</a:t>
                      </a:r>
                    </a:p>
                  </a:txBody>
                  <a:tcPr marL="73152" marR="73152" marT="36576" marB="36576" anchor="ctr">
                    <a:solidFill>
                      <a:srgbClr val="FFFFFF"/>
                    </a:solidFill>
                  </a:tcPr>
                </a:tc>
                <a:tc>
                  <a:txBody>
                    <a:bodyPr wrap="square"/>
                    <a:lstStyle/>
                    <a:p>
                      <a:r>
                        <a:rPr sz="950" b="0" i="0">
                          <a:solidFill>
                            <a:srgbClr val="353B4A"/>
                          </a:solidFill>
                          <a:latin typeface="Inter"/>
                        </a:rPr>
                        <a:t>Our own campus, but a power-engineering conference</a:t>
                      </a:r>
                    </a:p>
                  </a:txBody>
                  <a:tcPr marL="73152" marR="73152" marT="36576" marB="36576" anchor="ctr">
                    <a:solidFill>
                      <a:srgbClr val="FFFFFF"/>
                    </a:solidFill>
                  </a:tcPr>
                </a:tc>
              </a:tr>
            </a:tbl>
          </a:graphicData>
        </a:graphic>
      </p:graphicFrame>
      <p:sp>
        <p:nvSpPr>
          <p:cNvPr id="7" name="TextBox 6"/>
          <p:cNvSpPr txBox="1"/>
          <p:nvPr/>
        </p:nvSpPr>
        <p:spPr>
          <a:xfrm>
            <a:off x="457200" y="3840480"/>
            <a:ext cx="8229600" cy="9144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Before submitting: </a:t>
            </a:r>
            <a:r>
              <a:rPr sz="1050" b="0" i="0">
                <a:solidFill>
                  <a:srgbClr val="353B4A"/>
                </a:solidFill>
                <a:latin typeface="Inter"/>
              </a:rPr>
              <a:t>check the IEEE site for each record number, recheck the deadline and the NIRF edition (a 2026 list may be published), remove author names where double-blind, and follow each venue's AI-disclosure rule. Journals cost USD 2,000 to 3,000 in fees: only as a later extended version.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PROJECT CONCLUSION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Planned versus delivered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54</a:t>
            </a:r>
          </a:p>
        </p:txBody>
      </p:sp>
      <p:graphicFrame>
        <p:nvGraphicFramePr>
          <p:cNvPr id="6" name="Table 5"/>
          <p:cNvGraphicFramePr>
            <a:graphicFrameLocks noGrp="1"/>
          </p:cNvGraphicFramePr>
          <p:nvPr/>
        </p:nvGraphicFramePr>
        <p:xfrm>
          <a:off x="457200" y="1005840"/>
          <a:ext cx="8229599" cy="3675888"/>
        </p:xfrm>
        <a:graphic>
          <a:graphicData uri="http://schemas.openxmlformats.org/drawingml/2006/table">
            <a:tbl>
              <a:tblPr firstRow="1" bandRow="1">
                <a:tableStyleId>{5C22544A-7EE6-4342-B048-85BDC9FD1C3A}</a:tableStyleId>
              </a:tblPr>
              <a:tblGrid>
                <a:gridCol w="3749039"/>
                <a:gridCol w="1554480"/>
                <a:gridCol w="2926080"/>
              </a:tblGrid>
              <a:tr h="292608">
                <a:tc>
                  <a:txBody>
                    <a:bodyPr wrap="square"/>
                    <a:lstStyle/>
                    <a:p>
                      <a:r>
                        <a:rPr sz="950" b="1" i="0">
                          <a:solidFill>
                            <a:srgbClr val="FFFFFF"/>
                          </a:solidFill>
                          <a:latin typeface="Inter"/>
                        </a:rPr>
                        <a:t>Item planned at Reviews 1 and 2</a:t>
                      </a:r>
                    </a:p>
                  </a:txBody>
                  <a:tcPr marL="73152" marR="73152" marT="36576" marB="36576" anchor="ctr">
                    <a:solidFill>
                      <a:srgbClr val="1B2A55"/>
                    </a:solidFill>
                  </a:tcPr>
                </a:tc>
                <a:tc>
                  <a:txBody>
                    <a:bodyPr wrap="square"/>
                    <a:lstStyle/>
                    <a:p>
                      <a:r>
                        <a:rPr sz="950" b="1" i="0">
                          <a:solidFill>
                            <a:srgbClr val="FFFFFF"/>
                          </a:solidFill>
                          <a:latin typeface="Inter"/>
                        </a:rPr>
                        <a:t>Status</a:t>
                      </a:r>
                    </a:p>
                  </a:txBody>
                  <a:tcPr marL="73152" marR="73152" marT="36576" marB="36576" anchor="ctr">
                    <a:solidFill>
                      <a:srgbClr val="1B2A55"/>
                    </a:solidFill>
                  </a:tcPr>
                </a:tc>
                <a:tc>
                  <a:txBody>
                    <a:bodyPr wrap="square"/>
                    <a:lstStyle/>
                    <a:p>
                      <a:r>
                        <a:rPr sz="950" b="1" i="0">
                          <a:solidFill>
                            <a:srgbClr val="FFFFFF"/>
                          </a:solidFill>
                          <a:latin typeface="Inter"/>
                        </a:rPr>
                        <a:t>Note</a:t>
                      </a:r>
                    </a:p>
                  </a:txBody>
                  <a:tcPr marL="73152" marR="73152" marT="36576" marB="36576" anchor="ctr">
                    <a:solidFill>
                      <a:srgbClr val="1B2A55"/>
                    </a:solidFill>
                  </a:tcPr>
                </a:tc>
              </a:tr>
              <a:tr h="338328">
                <a:tc>
                  <a:txBody>
                    <a:bodyPr wrap="square"/>
                    <a:lstStyle/>
                    <a:p>
                      <a:r>
                        <a:rPr sz="950" b="1" i="0">
                          <a:solidFill>
                            <a:srgbClr val="1B2A55"/>
                          </a:solidFill>
                          <a:latin typeface="Inter"/>
                        </a:rPr>
                        <a:t>Multi-tenant normalised schema, views, trigger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On SQLite</a:t>
                      </a:r>
                    </a:p>
                  </a:txBody>
                  <a:tcPr marL="73152" marR="73152" marT="36576" marB="36576" anchor="ctr">
                    <a:solidFill>
                      <a:srgbClr val="FFFFFF"/>
                    </a:solidFill>
                  </a:tcPr>
                </a:tc>
              </a:tr>
              <a:tr h="338328">
                <a:tc>
                  <a:txBody>
                    <a:bodyPr wrap="square"/>
                    <a:lstStyle/>
                    <a:p>
                      <a:r>
                        <a:rPr sz="950" b="1" i="0">
                          <a:solidFill>
                            <a:srgbClr val="1B2A55"/>
                          </a:solidFill>
                          <a:latin typeface="Inter"/>
                        </a:rPr>
                        <a:t>Instant-runoff tally and admin console</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Round-by-round results</a:t>
                      </a:r>
                    </a:p>
                  </a:txBody>
                  <a:tcPr marL="73152" marR="73152" marT="36576" marB="36576" anchor="ctr">
                    <a:solidFill>
                      <a:srgbClr val="F1F0F6"/>
                    </a:solidFill>
                  </a:tcPr>
                </a:tc>
              </a:tr>
              <a:tr h="338328">
                <a:tc>
                  <a:txBody>
                    <a:bodyPr wrap="square"/>
                    <a:lstStyle/>
                    <a:p>
                      <a:r>
                        <a:rPr sz="950" b="1" i="0">
                          <a:solidFill>
                            <a:srgbClr val="1B2A55"/>
                          </a:solidFill>
                          <a:latin typeface="Inter"/>
                        </a:rPr>
                        <a:t>Hash-chained receipts and integrity sweep</a:t>
                      </a:r>
                    </a:p>
                  </a:txBody>
                  <a:tcPr marL="73152" marR="73152" marT="36576" marB="36576" anchor="ctr">
                    <a:solidFill>
                      <a:srgbClr val="FFFFFF"/>
                    </a:solidFill>
                  </a:tcPr>
                </a:tc>
                <a:tc>
                  <a:txBody>
                    <a:bodyPr wrap="square"/>
                    <a:lstStyle/>
                    <a:p>
                      <a:r>
                        <a:rPr sz="950" b="0" i="0">
                          <a:solidFill>
                            <a:srgbClr val="353B4A"/>
                          </a:solidFill>
                          <a:latin typeface="Inter"/>
                        </a:rPr>
                        <a:t>Delivered, extended</a:t>
                      </a:r>
                    </a:p>
                  </a:txBody>
                  <a:tcPr marL="73152" marR="73152" marT="36576" marB="36576" anchor="ctr">
                    <a:solidFill>
                      <a:srgbClr val="FFFFFF"/>
                    </a:solidFill>
                  </a:tcPr>
                </a:tc>
                <a:tc>
                  <a:txBody>
                    <a:bodyPr wrap="square"/>
                    <a:lstStyle/>
                    <a:p>
                      <a:r>
                        <a:rPr sz="950" b="0" i="0">
                          <a:solidFill>
                            <a:srgbClr val="353B4A"/>
                          </a:solidFill>
                          <a:latin typeface="Inter"/>
                        </a:rPr>
                        <a:t>Keyed chain, five sweep rules</a:t>
                      </a:r>
                    </a:p>
                  </a:txBody>
                  <a:tcPr marL="73152" marR="73152" marT="36576" marB="36576" anchor="ctr">
                    <a:solidFill>
                      <a:srgbClr val="FFFFFF"/>
                    </a:solidFill>
                  </a:tcPr>
                </a:tc>
              </a:tr>
              <a:tr h="338328">
                <a:tc>
                  <a:txBody>
                    <a:bodyPr wrap="square"/>
                    <a:lstStyle/>
                    <a:p>
                      <a:r>
                        <a:rPr sz="950" b="1" i="0">
                          <a:solidFill>
                            <a:srgbClr val="1B2A55"/>
                          </a:solidFill>
                          <a:latin typeface="Inter"/>
                        </a:rPr>
                        <a:t>MongoDB ledger</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Atlas, with a file fallback</a:t>
                      </a:r>
                    </a:p>
                  </a:txBody>
                  <a:tcPr marL="73152" marR="73152" marT="36576" marB="36576" anchor="ctr">
                    <a:solidFill>
                      <a:srgbClr val="F1F0F6"/>
                    </a:solidFill>
                  </a:tcPr>
                </a:tc>
              </a:tr>
              <a:tr h="338328">
                <a:tc>
                  <a:txBody>
                    <a:bodyPr wrap="square"/>
                    <a:lstStyle/>
                    <a:p>
                      <a:r>
                        <a:rPr sz="950" b="1" i="0">
                          <a:solidFill>
                            <a:srgbClr val="1B2A55"/>
                          </a:solidFill>
                          <a:latin typeface="Inter"/>
                        </a:rPr>
                        <a:t>Second factor for the voter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Emailed one-time code</a:t>
                      </a:r>
                    </a:p>
                  </a:txBody>
                  <a:tcPr marL="73152" marR="73152" marT="36576" marB="36576" anchor="ctr">
                    <a:solidFill>
                      <a:srgbClr val="FFFFFF"/>
                    </a:solidFill>
                  </a:tcPr>
                </a:tc>
              </a:tr>
              <a:tr h="338328">
                <a:tc>
                  <a:txBody>
                    <a:bodyPr wrap="square"/>
                    <a:lstStyle/>
                    <a:p>
                      <a:r>
                        <a:rPr sz="950" b="1" i="0">
                          <a:solidFill>
                            <a:srgbClr val="1B2A55"/>
                          </a:solidFill>
                          <a:latin typeface="Inter"/>
                        </a:rPr>
                        <a:t>Public hosting and phone voting</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Public link, QR code, free hosted demo configured</a:t>
                      </a:r>
                    </a:p>
                  </a:txBody>
                  <a:tcPr marL="73152" marR="73152" marT="36576" marB="36576" anchor="ctr">
                    <a:solidFill>
                      <a:srgbClr val="F1F0F6"/>
                    </a:solidFill>
                  </a:tcPr>
                </a:tc>
              </a:tr>
              <a:tr h="338328">
                <a:tc>
                  <a:txBody>
                    <a:bodyPr wrap="square"/>
                    <a:lstStyle/>
                    <a:p>
                      <a:r>
                        <a:rPr sz="950" b="1" i="0">
                          <a:solidFill>
                            <a:srgbClr val="1B2A55"/>
                          </a:solidFill>
                          <a:latin typeface="Inter"/>
                        </a:rPr>
                        <a:t>Comparative study and evaluation</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47 test scenarios; 33 systems read</a:t>
                      </a:r>
                    </a:p>
                  </a:txBody>
                  <a:tcPr marL="73152" marR="73152" marT="36576" marB="36576" anchor="ctr">
                    <a:solidFill>
                      <a:srgbClr val="FFFFFF"/>
                    </a:solidFill>
                  </a:tcPr>
                </a:tc>
              </a:tr>
              <a:tr h="338328">
                <a:tc>
                  <a:txBody>
                    <a:bodyPr wrap="square"/>
                    <a:lstStyle/>
                    <a:p>
                      <a:r>
                        <a:rPr sz="950" b="1" i="0">
                          <a:solidFill>
                            <a:srgbClr val="1B2A55"/>
                          </a:solidFill>
                          <a:latin typeface="Inter"/>
                        </a:rPr>
                        <a:t>True cloud platform</a:t>
                      </a:r>
                    </a:p>
                  </a:txBody>
                  <a:tcPr marL="73152" marR="73152" marT="36576" marB="36576" anchor="ctr">
                    <a:solidFill>
                      <a:srgbClr val="F1F0F6"/>
                    </a:solidFill>
                  </a:tcPr>
                </a:tc>
                <a:tc>
                  <a:txBody>
                    <a:bodyPr wrap="square"/>
                    <a:lstStyle/>
                    <a:p>
                      <a:r>
                        <a:rPr sz="950" b="0" i="0">
                          <a:solidFill>
                            <a:srgbClr val="353B4A"/>
                          </a:solidFill>
                          <a:latin typeface="Inter"/>
                        </a:rPr>
                        <a:t>Partly</a:t>
                      </a:r>
                    </a:p>
                  </a:txBody>
                  <a:tcPr marL="73152" marR="73152" marT="36576" marB="36576" anchor="ctr">
                    <a:solidFill>
                      <a:srgbClr val="F1F0F6"/>
                    </a:solidFill>
                  </a:tcPr>
                </a:tc>
                <a:tc>
                  <a:txBody>
                    <a:bodyPr wrap="square"/>
                    <a:lstStyle/>
                    <a:p>
                      <a:r>
                        <a:rPr sz="950" b="0" i="0">
                          <a:solidFill>
                            <a:srgbClr val="353B4A"/>
                          </a:solidFill>
                          <a:latin typeface="Inter"/>
                        </a:rPr>
                        <a:t>Free-tier hosting only; no managed cloud database</a:t>
                      </a:r>
                    </a:p>
                  </a:txBody>
                  <a:tcPr marL="73152" marR="73152" marT="36576" marB="36576" anchor="ctr">
                    <a:solidFill>
                      <a:srgbClr val="F1F0F6"/>
                    </a:solidFill>
                  </a:tcPr>
                </a:tc>
              </a:tr>
              <a:tr h="338328">
                <a:tc>
                  <a:txBody>
                    <a:bodyPr wrap="square"/>
                    <a:lstStyle/>
                    <a:p>
                      <a:r>
                        <a:rPr sz="950" b="1" i="0">
                          <a:solidFill>
                            <a:srgbClr val="1B2A55"/>
                          </a:solidFill>
                          <a:latin typeface="Inter"/>
                        </a:rPr>
                        <a:t>Oracle with PL/SQL procedures and DCL roles</a:t>
                      </a:r>
                    </a:p>
                  </a:txBody>
                  <a:tcPr marL="73152" marR="73152" marT="36576" marB="36576" anchor="ctr">
                    <a:solidFill>
                      <a:srgbClr val="FFFFFF"/>
                    </a:solidFill>
                  </a:tcPr>
                </a:tc>
                <a:tc>
                  <a:txBody>
                    <a:bodyPr wrap="square"/>
                    <a:lstStyle/>
                    <a:p>
                      <a:r>
                        <a:rPr sz="950" b="0" i="0">
                          <a:solidFill>
                            <a:srgbClr val="353B4A"/>
                          </a:solidFill>
                          <a:latin typeface="Inter"/>
                        </a:rPr>
                        <a:t>Left out</a:t>
                      </a:r>
                    </a:p>
                  </a:txBody>
                  <a:tcPr marL="73152" marR="73152" marT="36576" marB="36576" anchor="ctr">
                    <a:solidFill>
                      <a:srgbClr val="FFFFFF"/>
                    </a:solidFill>
                  </a:tcPr>
                </a:tc>
                <a:tc>
                  <a:txBody>
                    <a:bodyPr wrap="square"/>
                    <a:lstStyle/>
                    <a:p>
                      <a:r>
                        <a:rPr sz="950" b="0" i="0">
                          <a:solidFill>
                            <a:srgbClr val="353B4A"/>
                          </a:solidFill>
                          <a:latin typeface="Inter"/>
                        </a:rPr>
                        <a:t>SQLite kept; the path is on the next slide</a:t>
                      </a:r>
                    </a:p>
                  </a:txBody>
                  <a:tcPr marL="73152" marR="73152" marT="36576" marB="36576" anchor="ctr">
                    <a:solidFill>
                      <a:srgbClr val="FFFFFF"/>
                    </a:solidFill>
                  </a:tcPr>
                </a:tc>
              </a:tr>
              <a:tr h="338328">
                <a:tc>
                  <a:txBody>
                    <a:bodyPr wrap="square"/>
                    <a:lstStyle/>
                    <a:p>
                      <a:r>
                        <a:rPr sz="950" b="1" i="0">
                          <a:solidFill>
                            <a:srgbClr val="1B2A55"/>
                          </a:solidFill>
                          <a:latin typeface="Inter"/>
                        </a:rPr>
                        <a:t>POSITION entity</a:t>
                      </a:r>
                    </a:p>
                  </a:txBody>
                  <a:tcPr marL="73152" marR="73152" marT="36576" marB="36576" anchor="ctr">
                    <a:solidFill>
                      <a:srgbClr val="F1F0F6"/>
                    </a:solidFill>
                  </a:tcPr>
                </a:tc>
                <a:tc>
                  <a:txBody>
                    <a:bodyPr wrap="square"/>
                    <a:lstStyle/>
                    <a:p>
                      <a:r>
                        <a:rPr sz="950" b="0" i="0">
                          <a:solidFill>
                            <a:srgbClr val="353B4A"/>
                          </a:solidFill>
                          <a:latin typeface="Inter"/>
                        </a:rPr>
                        <a:t>Left out</a:t>
                      </a:r>
                    </a:p>
                  </a:txBody>
                  <a:tcPr marL="73152" marR="73152" marT="36576" marB="36576" anchor="ctr">
                    <a:solidFill>
                      <a:srgbClr val="F1F0F6"/>
                    </a:solidFill>
                  </a:tcPr>
                </a:tc>
                <a:tc>
                  <a:txBody>
                    <a:bodyPr wrap="square"/>
                    <a:lstStyle/>
                    <a:p>
                      <a:r>
                        <a:rPr sz="950" b="0" i="0">
                          <a:solidFill>
                            <a:srgbClr val="353B4A"/>
                          </a:solidFill>
                          <a:latin typeface="Inter"/>
                        </a:rPr>
                        <a:t>Deferred</a:t>
                      </a:r>
                    </a:p>
                  </a:txBody>
                  <a:tcPr marL="73152" marR="73152" marT="36576" marB="36576" anchor="ctr">
                    <a:solidFill>
                      <a:srgbClr val="F1F0F6"/>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SQLITE · AND THE PATH TO ORACLE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Why SQLite, and how Oracle is possible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55</a:t>
            </a:r>
          </a:p>
        </p:txBody>
      </p:sp>
      <p:sp>
        <p:nvSpPr>
          <p:cNvPr id="6" name="Rounded Rectangle 5"/>
          <p:cNvSpPr/>
          <p:nvPr/>
        </p:nvSpPr>
        <p:spPr>
          <a:xfrm>
            <a:off x="457200" y="1097280"/>
            <a:ext cx="4023360" cy="3063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WHY WE CHOSE SQLITE</a:t>
            </a:r>
          </a:p>
        </p:txBody>
      </p:sp>
      <p:sp>
        <p:nvSpPr>
          <p:cNvPr id="8" name="TextBox 7"/>
          <p:cNvSpPr txBox="1"/>
          <p:nvPr/>
        </p:nvSpPr>
        <p:spPr>
          <a:xfrm>
            <a:off x="64008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Nothing to install:</a:t>
            </a:r>
            <a:r>
              <a:rPr sz="1050" b="0" i="0">
                <a:solidFill>
                  <a:srgbClr val="353B4A"/>
                </a:solidFill>
                <a:latin typeface="Inter"/>
              </a:rPr>
              <a:t> one file, no server; anyone runs it on a laptop or free hosting with one command.</a:t>
            </a:r>
          </a:p>
          <a:p>
            <a:pPr algn="l">
              <a:spcAft>
                <a:spcPts val="400"/>
              </a:spcAft>
            </a:pPr>
            <a:r>
              <a:rPr sz="1050" b="1" i="0">
                <a:solidFill>
                  <a:srgbClr val="1B2A55"/>
                </a:solidFill>
                <a:latin typeface="Inter"/>
              </a:rPr>
              <a:t>•  </a:t>
            </a:r>
            <a:r>
              <a:rPr sz="1050" b="1" i="0">
                <a:solidFill>
                  <a:srgbClr val="1B2A55"/>
                </a:solidFill>
                <a:latin typeface="Inter"/>
              </a:rPr>
              <a:t>Repeatable tests:</a:t>
            </a:r>
            <a:r>
              <a:rPr sz="1050" b="0" i="0">
                <a:solidFill>
                  <a:srgbClr val="353B4A"/>
                </a:solidFill>
                <a:latin typeface="Inter"/>
              </a:rPr>
              <a:t> the evaluation copies the database file into a throwaway sandbox, so all 47 scenarios rerun the same way.</a:t>
            </a:r>
          </a:p>
          <a:p>
            <a:pPr algn="l">
              <a:spcAft>
                <a:spcPts val="400"/>
              </a:spcAft>
            </a:pPr>
            <a:r>
              <a:rPr sz="1050" b="1" i="0">
                <a:solidFill>
                  <a:srgbClr val="1B2A55"/>
                </a:solidFill>
                <a:latin typeface="Inter"/>
              </a:rPr>
              <a:t>•  </a:t>
            </a:r>
            <a:r>
              <a:rPr sz="1050" b="1" i="0">
                <a:solidFill>
                  <a:srgbClr val="1B2A55"/>
                </a:solidFill>
                <a:latin typeface="Inter"/>
              </a:rPr>
              <a:t>Cost and time:</a:t>
            </a:r>
            <a:r>
              <a:rPr sz="1050" b="0" i="0">
                <a:solidFill>
                  <a:srgbClr val="353B4A"/>
                </a:solidFill>
                <a:latin typeface="Inter"/>
              </a:rPr>
              <a:t> Oracle needs a licence or cloud account and set-up that a semester project and a hotspot demo cannot rely on.</a:t>
            </a:r>
          </a:p>
          <a:p>
            <a:pPr algn="l">
              <a:spcAft>
                <a:spcPts val="400"/>
              </a:spcAft>
            </a:pPr>
            <a:r>
              <a:rPr sz="1050" b="1" i="0">
                <a:solidFill>
                  <a:srgbClr val="1B2A55"/>
                </a:solidFill>
                <a:latin typeface="Inter"/>
              </a:rPr>
              <a:t>•  </a:t>
            </a:r>
            <a:r>
              <a:rPr sz="1050" b="1" i="0">
                <a:solidFill>
                  <a:srgbClr val="1B2A55"/>
                </a:solidFill>
                <a:latin typeface="Inter"/>
              </a:rPr>
              <a:t>Trade-off we accept:</a:t>
            </a:r>
            <a:r>
              <a:rPr sz="1050" b="0" i="0">
                <a:solidFill>
                  <a:srgbClr val="353B4A"/>
                </a:solidFill>
                <a:latin typeface="Inter"/>
              </a:rPr>
              <a:t> foreign keys only where switched on, one node, no roles.</a:t>
            </a:r>
          </a:p>
        </p:txBody>
      </p:sp>
      <p:sp>
        <p:nvSpPr>
          <p:cNvPr id="9" name="Rounded Rectangle 8"/>
          <p:cNvSpPr/>
          <p:nvPr/>
        </p:nvSpPr>
        <p:spPr>
          <a:xfrm>
            <a:off x="4663440" y="1097280"/>
            <a:ext cx="4023360" cy="30632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223113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HOW ORACLE WOULD FIT</a:t>
            </a:r>
          </a:p>
        </p:txBody>
      </p:sp>
      <p:sp>
        <p:nvSpPr>
          <p:cNvPr id="11" name="TextBox 10"/>
          <p:cNvSpPr txBox="1"/>
          <p:nvPr/>
        </p:nvSpPr>
        <p:spPr>
          <a:xfrm>
            <a:off x="484632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Schema:</a:t>
            </a:r>
            <a:r>
              <a:rPr sz="1050" b="0" i="0">
                <a:solidFill>
                  <a:srgbClr val="353B4A"/>
                </a:solidFill>
                <a:latin typeface="Inter"/>
              </a:rPr>
              <a:t> the 5 tables, 1 trigger and 2 views sit in one file; turn AUTOINCREMENT into identity columns and the trigger into PL/SQL.</a:t>
            </a:r>
          </a:p>
          <a:p>
            <a:pPr algn="l">
              <a:spcAft>
                <a:spcPts val="400"/>
              </a:spcAft>
            </a:pPr>
            <a:r>
              <a:rPr sz="1050" b="1" i="0">
                <a:solidFill>
                  <a:srgbClr val="1B2A55"/>
                </a:solidFill>
                <a:latin typeface="Inter"/>
              </a:rPr>
              <a:t>•  </a:t>
            </a:r>
            <a:r>
              <a:rPr sz="1050" b="1" i="0">
                <a:solidFill>
                  <a:srgbClr val="1B2A55"/>
                </a:solidFill>
                <a:latin typeface="Inter"/>
              </a:rPr>
              <a:t>Driver:</a:t>
            </a:r>
            <a:r>
              <a:rPr sz="1050" b="0" i="0">
                <a:solidFill>
                  <a:srgbClr val="353B4A"/>
                </a:solidFill>
                <a:latin typeface="Inter"/>
              </a:rPr>
              <a:t> database calls are in a handful of modules; swap sqlite3 for python-oracledb and change the placeholders.</a:t>
            </a:r>
          </a:p>
          <a:p>
            <a:pPr algn="l">
              <a:spcAft>
                <a:spcPts val="400"/>
              </a:spcAft>
            </a:pPr>
            <a:r>
              <a:rPr sz="1050" b="1" i="0">
                <a:solidFill>
                  <a:srgbClr val="1B2A55"/>
                </a:solidFill>
                <a:latin typeface="Inter"/>
              </a:rPr>
              <a:t>•  </a:t>
            </a:r>
            <a:r>
              <a:rPr sz="1050" b="1" i="0">
                <a:solidFill>
                  <a:srgbClr val="1B2A55"/>
                </a:solidFill>
                <a:latin typeface="Inter"/>
              </a:rPr>
              <a:t>Add what SQLite lacks:</a:t>
            </a:r>
            <a:r>
              <a:rPr sz="1050" b="0" i="0">
                <a:solidFill>
                  <a:srgbClr val="353B4A"/>
                </a:solidFill>
                <a:latin typeface="Inter"/>
              </a:rPr>
              <a:t> GRANT-based roles and PL/SQL procedures; foreign keys always on, which closes the one gap our tests found.</a:t>
            </a:r>
          </a:p>
          <a:p>
            <a:pPr algn="l">
              <a:spcAft>
                <a:spcPts val="400"/>
              </a:spcAft>
            </a:pPr>
            <a:r>
              <a:rPr sz="1050" b="1" i="0">
                <a:solidFill>
                  <a:srgbClr val="1B2A55"/>
                </a:solidFill>
                <a:latin typeface="Inter"/>
              </a:rPr>
              <a:t>•  </a:t>
            </a:r>
            <a:r>
              <a:rPr sz="1050" b="1" i="0">
                <a:solidFill>
                  <a:srgbClr val="1B2A55"/>
                </a:solidFill>
                <a:latin typeface="Inter"/>
              </a:rPr>
              <a:t>Unchanged:</a:t>
            </a:r>
            <a:r>
              <a:rPr sz="1050" b="0" i="0">
                <a:solidFill>
                  <a:srgbClr val="353B4A"/>
                </a:solidFill>
                <a:latin typeface="Inter"/>
              </a:rPr>
              <a:t> the MongoDB ledger, the one-time-code module and the React app.</a:t>
            </a:r>
          </a:p>
        </p:txBody>
      </p:sp>
      <p:sp>
        <p:nvSpPr>
          <p:cNvPr id="12" name="Rounded Rectangle 11"/>
          <p:cNvSpPr/>
          <p:nvPr/>
        </p:nvSpPr>
        <p:spPr>
          <a:xfrm>
            <a:off x="457200" y="4297680"/>
            <a:ext cx="8229600" cy="4114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25112"/>
            <a:ext cx="7863840" cy="36576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This is the planned path, not a result: we have not run it on Oracle.</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56</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100" b="0" i="0">
                <a:solidFill>
                  <a:srgbClr val="353B4A"/>
                </a:solidFill>
                <a:latin typeface="Inter"/>
              </a:rPr>
              <a:t>github.com/Tharakeshtj/polyvote-election-platform</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