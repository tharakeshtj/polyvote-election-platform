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66" r:id="rId14"/>
    <p:sldId id="267" r:id="rId13"/>
    <p:sldId id="268" r:id="rId12"/>
    <p:sldId id="269" r:id="rId11"/>
    <p:sldId id="270" r:id="rId10"/>
    <p:sldId id="271" r:id="rId9"/>
    <p:sldId id="272" r:id="rId8"/>
    <p:sldId id="273" r:id="rId7"/>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265" r:id="rId15"/>
  </p:sldIdLst>
  <p:sldSz cy="5143500" cx="9144000"/>
  <p:notesSz cx="5143500" cy="9144000"/>
  <p:embeddedFontLst>
    <p:embeddedFont>
      <p:font typeface="Inter SemiBold"/>
      <p:regular r:id="rId16"/>
      <p:bold r:id="rId17"/>
      <p:italic r:id="rId18"/>
      <p:boldItalic r:id="rId19"/>
    </p:embeddedFont>
    <p:embeddedFont>
      <p:font typeface="Inter"/>
      <p:bold r:id="rId20"/>
      <p:boldItalic r:id="rId21"/>
    </p:embeddedFont>
    <p:embeddedFont>
      <p:font typeface="Inter Medium"/>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56F632-080D-41BD-B1F7-19A39A7C3095}">
  <a:tblStyle styleId="{CF56F632-080D-41BD-B1F7-19A39A7C309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6.xml"/><Relationship Id="rId12" Type="http://schemas.openxmlformats.org/officeDocument/2006/relationships/slide" Target="slides/slide5.xml"/><Relationship Id="rId13" Type="http://schemas.openxmlformats.org/officeDocument/2006/relationships/slide" Target="slides/slide4.xml"/><Relationship Id="rId14" Type="http://schemas.openxmlformats.org/officeDocument/2006/relationships/slide" Target="slides/slide3.xml"/><Relationship Id="rId15" Type="http://schemas.openxmlformats.org/officeDocument/2006/relationships/slide" Target="slides/slide90.xml"/><Relationship Id="rId16" Type="http://schemas.openxmlformats.org/officeDocument/2006/relationships/font" Target="fonts/InterSemiBold-regular.fntdata"/><Relationship Id="rId17" Type="http://schemas.openxmlformats.org/officeDocument/2006/relationships/font" Target="fonts/InterSemiBold-bold.fntdata"/><Relationship Id="rId18" Type="http://schemas.openxmlformats.org/officeDocument/2006/relationships/font" Target="fonts/InterSemiBold-italic.fntdata"/><Relationship Id="rId19" Type="http://schemas.openxmlformats.org/officeDocument/2006/relationships/font" Target="fonts/InterSemiBold-boldItalic.fntdata"/><Relationship Id="rId20" Type="http://schemas.openxmlformats.org/officeDocument/2006/relationships/font" Target="fonts/Inter-bold.fntdata"/><Relationship Id="rId21" Type="http://schemas.openxmlformats.org/officeDocument/2006/relationships/font" Target="fonts/Inter-boldItalic.fntdata"/><Relationship Id="rId22" Type="http://schemas.openxmlformats.org/officeDocument/2006/relationships/font" Target="fonts/InterMedium-regular.fntdata"/><Relationship Id="rId23" Type="http://schemas.openxmlformats.org/officeDocument/2006/relationships/font" Target="fonts/InterMedium-bold.fntdata"/><Relationship Id="rId24" Type="http://schemas.openxmlformats.org/officeDocument/2006/relationships/font" Target="fonts/InterMedium-italic.fntdata"/><Relationship Id="rId25" Type="http://schemas.openxmlformats.org/officeDocument/2006/relationships/font" Target="fonts/InterMedium-boldItalic.fntdata"/><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slide" Target="slides/slide37.xml"/><Relationship Id="rId53" Type="http://schemas.openxmlformats.org/officeDocument/2006/relationships/slide" Target="slides/slide38.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Good morning, sir, and everyone. This is Review 3, the final review of PolyVote, our ranked-choice election platform with a tamper-evident audit trail. Review 1 presented the design and Review 2 showed the working system. Today we show the completed system: a MongoDB Atlas ledger, a keyed hash chain, a second authentication factor using emailed one-time codes, public hosting, and an evaluation that tests our claims instead of asserting them. We will also show a short live demonstration of the version with email verification switched on.</a:t>
            </a:r>
          </a:p>
        </p:txBody>
      </p:sp>
      <p:sp>
        <p:nvSpPr>
          <p:cNvPr id="20" name="Google Shape;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architecture. One FastAPI service that also serves the React app, exposed through a tunnel. Behind it three stores. The election database holds the roster, candidates and anonymous ballots. The verification database is a separate file that holds voter emails and one-time-code challenges, and it is never joined to ballots. The ledger is a MongoDB Atlas collection. Secrets live in an environment file outside all three. The point of the separation is that an administrator of one store cannot touch the others; only the application host sees all three, which is why host compromise is outside our model.</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quick map of where we are. Review 1 was the design; Review 2 was the working system. At the end of Review 2 we received three pieces of feedback: add a second factor to confirm that the person voting is the person whose credentials are used, finish the MongoDB and hosting items, and show that the design is genuinely better rather than just built. Today answers all three, backed by forty-seven executable test scenarios. What remains open is deliberate: Oracle with PL/SQL and roles, the POSITION entity and a true cloud platform; we have kept SQLite for this project.</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pick up exactly where Review 2 ended. At Review 2 we were at about seventy-five percent, with MongoDB Atlas, hosting and injected-ballot detection still open, and the faculty comment that we should confirm the person voting is the person whose credentials are used. Two new features lead this review. First, the emailed one-time code: a correct password is no longer enough, because a six-digit code goes to the voter's email, valid for five minutes, usable once, with three guesses. Second, QR voting: the vote page shows a QR code for the public link, so any phone can open the ballot in seconds, and the same phone can receive the emailed code. The rest of the deck shows how they work, the evidence, and how this compares with similar systems.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slide is the direct response to the Review 2 comments. The second factor became an emailed one-time code with its own database and fourteen passing tests. MongoDB is done and live on Atlas. Hosting is a public HTTPS link with a QR code, so a phone can vote. And to prove the design is better, we built a forty-seven scenario suite and ran it against both the Review 2 design and the final one. The weaknesses we knew about, such as injected ballots, forged receipts and renamed candidates, each have a test and a fix. Where we still say future work, we explain why.</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Before the new material, the whole project in one slide. The problem: small elections at clubs, councils and classes usually run on form tools or one-table apps, with one password per voter and no way to show afterwards that a vote was not edited. The goal: ranked-choice, instant-runoff elections for many organisations, with ballots kept anonymous in storage and tampering made detectable by checks anyone can rerun. The method: a database project first. The rules live in the database itself; a second store holds a keyed hash-chain ledger; and an executable suite attacks the design and reports what it catches. The three numbers at the bottom come from the evaluation later in this deck: forty-seven test scenarios, 12 of thirteen tampering attacks caught automatically, and three separate stores.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whole system in four screens, all from the real running application. Top left, the voter site: open elections, the receipt check and a plain-language summary of what the system does. Top right, the administrator roster: each voter has a registration number and an email address, which is only used to send the one-time code. Bottom left, the results page: the integrity sweep, with ballots, receipts and voted flags all at forty-six, and below it the instant-runoff tally. Bottom right, the audit ledger: one receipt per ballot, each linked to the one before, with a green banner when the whole chain verifies.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How counting works, using the demo election: forty-six ballots, five candidates. Each voter ranks up to three. The engine counts first choices; if nobody holds a majority of the continuing ballots, the last-place candidate is eliminated and those ballots move to their next choice, and so on. The screenshot shows every round with counts and percentages. In round four there was a twenty-two to twenty-two tie for last place; the engine broke it by internal order and the page says so in a warning line. We do not hide this: a published tie rule, and a statistical audit, are listed as future work. The winner, Chaitanya Reddy, reaches a majority in round five.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security claim means nothing without a threat model, so we start there. Seven adversaries, ordered by capability. A voter with a leaked password is stopped by the emailed code. A rogue database administrator and a ledger-store administrator are detected by the sweep and the keyed chain. An insider with both stores but no secrets is detected, because they cannot recompute the keyed chain. Three are not covered: a network observer, beyond the tunnel's encryption; an insider who also holds the key; and roster injection through the admin path. We say so now rather than have it found later.</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Thank you. To summarise: PolyVote now enforces election rules in the database, seals every ballot in a keyed ledger on MongoDB Atlas, confirms voters with an emailed one-time code, runs publicly, and is evaluated by an executable suite that shows automatic detection of tampering rising from six to twelve of thirteen scenarios, with the remaining gaps stated openly. The code, the long report and the short paper are available, and we are happy to take questions or run any part of the demonstration again.</a:t>
            </a:r>
          </a:p>
        </p:txBody>
      </p:sp>
      <p:sp>
        <p:nvSpPr>
          <p:cNvPr id="186" name="Google Shape;18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updated ER diagram. The left frame is the election database, unchanged in structure from Review 2 apart from what it protects. The dashed box is a ledger block, a JSON document linked to a ballot by its token, not by a foreign key. The right frame is new: the verification database with voter contacts, challenges and a mail log. Notice there is deliberately no line from it to the ballot table. A voter's email can never be joined to a ballot.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Casting a ballot is the one path that touches everything, so it is serialised. After authentication the server takes a write lock, checks the election is open, validates the ranking and confirms the voter has not voted. In one transaction it sets the voted flag and inserts the ranked rows under a random token. Then it appends a sealed block to the ledger and invalidates the session. The ledger append happens after the commit; if the ledger were unreachable at that instant, the ballot would exist without a receipt, and the sweep reports exactly that. We chose the variant that fails visibly.</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key idea of the integrity story. Each block holds the ranks hash, the roster hash, the previous block's hash and its own hash. In Review 2 the block hash was plain SHA-256, so someone who could write the store could change a ballot and recompute every later hash. The chain was consistent but not authenticated. Now the block hash is an HMAC under a secret key held outside both stores. An attacker without the key can rebuild a chain, but it fails verification at the first block. Older blocks still verify. The limit is stated on the slide: whoever holds the key can still forge, which needs an external witness.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sweep recomputes the state of an election from the database and compares it with the ledger. Rules one and two were in Review 2. Rule three finds a ballot in the database that has no receipt. Rule four compares the current candidate names with the sealed hash. Rule five compares voter flags, ballots and receipts. The chain check, which verifies every block, is separate and complementary: it finds edits inside the ledger, while the sweep finds edits to the database.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MongoDB. Each block is a document in a collection with a unique index on the block position. That index is our compare-and-swap: two simultaneous writers cannot both take the same slot, so the chain cannot fork. Appending reads only the last block and inserts one document, so the cost does not grow with the chain. If no connection string is set, or Atlas is unreachable, the system falls back to the local file, and the health endpoint says which backend is active. A migration script moved our existing blocks and verified the chain. The connection string lives only in the environment file.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second factor. The voter enters the registration number and password. If they are right, the server does not issue a session; it issues a challenge, generates a six-digit code, stores only a keyed hash of it, and emails the code from a background thread so the page never waits on the mail server. The voter types the code, the server compares it in constant time, checks the attempt count and the single-use flag, and only then issues the voting session. A failed email never blocks sign-in because the code is also visible in the administrator outbox.</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choices that make it hold up. Codes come from a cryptographically secure generator, so they are unpredictable. Only an HMAC of the code is stored, so the database never holds a usable code. A code lasts five minutes, works once, and allows three guesses. Resends are limited, and so are new challenges per voter, so a resend cannot be used to keep guessing. Emails live in their own database. A test found a real bug here, which we will show in the evaluation.</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what a voter sees. One: sign in with registration number and password; the QR code lets a phone open the same ballot. Two: the new step, the code sent to the address on file. Three: rank three candidates in order; there is a review step before the irreversible cast. Four: the receipt token and the ledger block number. The token shows that a ballot is recorded and counted; it does not reveal how anyone voted.</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Hosting. We expose the service through a Cloudflare quick tunnel, which gives a temporary public HTTPS address without opening ports. The voter page shows a QR code for it, so a phone scans and votes; we cast a real ballot from a phone this way. To be precise, this is public hosting from a laptop, not cloud deployment: the laptop has to stay on and the address changes when the tunnel restarts. A real cloud platform is part of the Oracle migration planned next. The repository contains only a template for the environment file, never the secrets.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a short live demonstration, on a separate copy of the project we call Sample PolyVote. It is identical except that email verification is switched on, and it has its own database and its own Atlas collection so it cannot disturb the main system. The flow: show the admin view with voter emails and the outbox; sign in as a voter, and note that the right password is not enough; take the code from the outbox, or from the inbox if mail is configured; rank and cast; check the receipt and show the new block in Atlas. Then the tamper test: edit a ballot in DB Studio and run the sweep, and edit a block in Atlas to show the chain breaking. If email is slow, the code is always in the outbox.</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prove the design is better we built a suite instead of arguing. Forty-seven scenarios: seven database-level prevention tests, thirteen API abuse tests, thirteen tampering scenarios, and fourteen one-time-code tests, plus benchmarks at one hundred, one thousand and ten thousand ballots. The suite runs on a throwaway copy, drives the real API, and plays the rogue administrator by editing the database and ledger files directly. The baseline is the Review 2 design, run unchanged, and the attacker scripts never see the ledger key. We repeat each run three times; the outcomes were identical every time.</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prevention results. Six of seven database statements are rejected by the engine with its own error message, and all thirteen API abuse tests are refused, including twenty simultaneous casts by one voter of which exactly one is stored. The one gap is instructive: SQLite enforces foreign keys only on connections that turn the setting on. Our application does; a console opened with default settings does not. So a rogue administrator can insert a ballot for a candidate that does not exist. The sweep reports it as injected, but the lesson is that a constraint is only as strong as the engine's enforcement, which is one reason for the move to a server database.</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central result. Thirteen scenarios of tampering by someone with direct storage access. Under the Review 2 design, 6 are detected automatically, three are visible only if an officer compares the counters by eye, and four are not detected at all. Under the final design, 12 are detected automatically, none depend on the counters, and one is not detected: adding a ghost voter to the roster and voting as them. We report that one openly. The detection bar shows each scenario, colour-coded.</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why counters alone are not enough. On the left, one ballot was deleted and another injected, so the counters still read forty-six, forty-six, forty-six and look perfectly healthy. The sweep nevertheless names both ballots, one deleted and one without a receipt. On the right, a single edited block makes the audit ledger page show a red banner: data tampered at block twenty.</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Six scenarios the old design missed or only half caught. A ballot injected without a receipt, and a truncated ledger, were visible only in the counters; the new injected-ballot and reconciliation rules catch them. Renaming candidates after voting was invisible; the sealed roster hash catches it. The two serious ones are ballot stuffing with a forged receipt and a consistent rewrite of the whole chain. Both were completely undetected, because a plain hash chain lets an attacker recompute every hash. With the key, the forged or rebuilt blocks fail verification.</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All fourteen one-time-code tests pass: no session from a password alone, replay refused, three wrong guesses lock the challenge, expiry, resend limits, privacy of stored codes, and resilience to a failed mail server. But it did not start that way. Test F4 failed. The attempt counter was updated inside a database context manager and the handler then raised an HTTP error; SQLite rolls back when an exception leaves the context, so every failed guess was recorded and then undone, which meant unlimited guessing. We fixed it by committing before the error propagates. It is a good argument for executable tests over review for security logic.</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Performance. The keyed chain and the three extra rules cost little: the sweep at ten thousand ballots takes about 147 milliseconds, roughly 15 percent slower than before. The file ledger is the one that grows: a cast goes from about 9 milliseconds at a hundred ballots to 205 at ten thousand, because every append rewrites the whole file. Against Atlas an append costs about 147 milliseconds at any size, which is mostly network time on a mobile hotspot. So Atlas is not about raw speed at small sizes; it is about flat growth, concurrency control, and holding the ledger off the application machine.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comparative study. A tool like this has no single obvious competitor, so we broke it into nine features and compared each against the kinds of systems people actually use. We read thirty-three systems in five groups: eight verifiable or research systems such as Helios and Belenios; ten web services and form tools; two independent security analyses of commercial voting products; two civic platforms; and eleven open-source student or hobby projects from GitHub. We ran twenty-three web searches and twenty repository searches on the twenty-third of October. For each system we read its own page, README or paper, and a feature counts only if it is documented. Not documented is not proof of absence. We did not run these systems ourselves, and every cell has a source URL in our evidence file.</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are the nine features we compare, and next to each the evidence that PolyVote itself has it. F1 ranked counting, shown in the results screen. F2 many organisations, tests B8 and B13. F3 rules inside the database: six of seven direct SQL attempts refused, all thirteen API abuse tests refused, and exactly one of twenty simultaneous casts accepted. F4 no link between ballot and voter, with emails in a separate database, checked by an automated column test. F5 the keyed ledger and sweep: 12 of thirteen attacks caught against 6 for a plain chain. F6 the emailed code: fourteen of fourteen tests. F7 QR voting: a real ballot cast from a phone. F8 the receipt, F9 easy to run. The next slide shows which other systems document which feature, and the five slides after it go feature by feature with sources.</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matrix shows eleven of the thirty-three systems against the nine features. Green means documented, amber partly, red documented as absent, and a dash means we found nothing on the pages we read, which is not the same as absent. The bottom row is PolyVote, and it is all green only because those are the cells our own tests back. Read the other rows for what they show: FlexyVotes is nearly as complete and is the closest project we found; it is missing QR voting and has a weaker form of the ledger. BetterVoting covers many features but not database rules or a ledger of ballots. The cryptographic systems, Helios and Belenios, score amber on most of these because they solve the problem differently, with encryption. Feature five is judged strictly, which is why most rows are amber there. Nothing in the matrix says PolyVote is better overall; it says that one free small-election tool documenting every column is not something we found.</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Features one and two. Ranked-choice counting is common: OpaVote offers instant-runoff, STV and Condorcet with an explanation of each count, and FlexyVotes stores per-round data. BetterVoting lists ranked-choice and has organisations and teams, though we could not verify its round output. Belenios documents Condorcet and STV but not instant-runoff, and Microsoft Forms has a ranking question but no ranked tally. PolyVote counts instant-runoff and shows every round, and several organisations ran in one install in our tests. The honest verdict is that this is a baseline feature. We list it because a voting tool without it would not be usable, not because it sets us apart.</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Features three and four. FlexyVotes is the strongest comparison here: its unique indexes and append-only triggers refuse changes even from a raw SQL session, and its ballot rows have no voter key, although voters and encrypted emails live in the same PostgreSQL database. VeriVote stores ballots without identity but documents no database rules. CIVS erases voter emails once the election begins. Helios and Belenios get secrecy from encryption rather than from the schema. And the independent analysis of Democracy Live reported voter identity being sent to the vendor. For PolyVote, six of seven direct SQL attempts are refused, all thirteen API abuses are refused, and one of twenty simultaneous casts is accepted. An automated check finds no column shared by ballots and voters, and emails live in a separate file. We say plainly that FlexyVotes is stronger on database rules, and that our one miss is SQLite foreign keys, which apply per connection.</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Feature five, the audit ledger. Hash-chained logs are common: FlexyVotes keeps one per organisation in PostgreSQL and verifies it every six hours, VeriVote keeps one in MongoDB, SecureVote has a hash-linked ledger, and BetterVoting has an audit log of administrator actions. Helios and Belenios use a public verifiable ballot box, which is a stronger guarantee by a different mechanism, and Voatz claimed a blockchain that analysts could not verify. What we did not find documented elsewhere is the combination of a keyed chain, a separate store, a sweep that reconciles ballots, receipts, flags and candidates, and published attack results. In our suite that combination catches 12 of thirteen attacks against 6 for a plain chain, identical across three runs. The limit: whoever holds the key can still forge, and cryptographic systems remain stronger on verification.</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Features six and seven. Emailed one-time codes are not new: FlexyVotes and SecureVote hash the code and limit attempts, VeriVote rate-limits it, and Belenios sends a short code by default. BetterVoting and TapVoter use single-use links or keys, and both share them by QR. PolyVote adds a six-digit code, hashed, valid five minutes, single use, three guesses, with resend limits, and fourteen of fourteen tests pass, including the one that found a real defect. A QR code on the vote page opens the ballot on any phone, and we cast a real ballot from one. So feature six alone is not unique. The combination of scan-to-vote with an emailed code is what we did not find documented elsewhere, and we say so in those words.</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Features eight and nine. Most systems have some kind of receipt. Helios and Belenios go further, letting a voter verify the ballot cryptographically; our receipt only proves that a ballot is recorded and counted, not what it says, so we are weaker on this one property. On running it, CIVS and BetterVoting are also free and open, and TapVoter has a generous free tier. PolyVote starts with one command, has a free hosted demo configured for Render, and the source is public on GitHub, though we have not yet added a licence file. We do not claim an advantage on these two features.</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three closest projects. FlexyVotes, a Django and PostgreSQL project created in August, is the nearest: it has many organisations, instant-runoff and STV, triggers that block raw SQL, ballots with no voter key, a hash-chained audit log and hashed email codes. We did not find in it QR scan-to-vote, an HMAC-keyed chain, a separate document store or email database, a sweep that reconciles ballots, receipts, flags and candidates, or published attack results. VeriVote has a SHA-256 chain in MongoDB with an audit endpoint and email codes, but no ranked counting, organisations or database rules. BetterVoting has ranked-choice, teams, QR sharing and receipts, but no database rules, ballot ledger or one-time code. So our claim is narrow and checkable: every feature exists somewhere, and we found no free small-election tool documenting all of them together. We do not claim to be more secure than the cryptographic systems. The search had limits, which we state.</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verdict. For the problem we target, small and medium elections such as clubs, councils and classes, PolyVote is a good fit: ranked-choice results, an afternoon to set up, free to run, proof that edits and deletions are caught, and voters who confirm by email and can vote from a phone. The cryptographic systems are the better choice when the administrator cannot be trusted, when voters must verify their own ballot content, when coercion is a threat, or when a public cryptographic audit is required. We say this openly because it makes the claim credible. Our claim is modest: for small elections PolyVote adds database-level rules and tested tamper detection to an easy setup, and it is not the strongest on verifiability.</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summary of improvements over our own Review 2 design. Automatic detection of tampering rises from six to twelve of thirteen. Forged receipts, rebuilt chains and renamed candidates move from undetected to detected. Authentication goes from password only to password plus an emailed code. The ledger moves to Atlas, and the system becomes publicly reachable. The cost is small: the sweep at ten thousand ballots goes from about one hundred and twenty-nine to about one hundred and forty-seven milliseconds.</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friend shared a launch checklist for websites, and we turned it into an automated check. The script experiments/web_checklist.py tests a running copy of the site against twenty-one items and prints pass, fail or not applicable with the evidence. Result on a local run of the current code: 17 pass, 4 not applicable, 0 fail. The pass items include a pre-rendered page shell with one heading and unique title and description for each page, robots.txt and a sitemap, canonical tags, a link-preview image, a custom 404 page, 301 redirects, lazy-loaded routes, structured data for the organisation and breadcrumbs, a privacy policy, and a contact form that stores messages and ignores bots. The four not-applicable items are HTTPS, because a local run is plain http and the hosting provider supplies it; WebP, because the pages have no raster images; and Google Analytics and Search Console, which need the owner's own identifiers and are built in but switched off. To be exact, the page shell is pre-rendered HTML that the React app then replaces; it is not full server-side rendering. We will rerun the same script against the public link after the next deploy.</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Privacy and ethics, taken from our own privacy page. The table shows where each piece of data lives. The registration number and a password hash are in the election database. The voter's email address is in a separate verification database and is never stored with ballots. The one-time code is stored only as a keyed hash and lasts five minutes. The ballot is stored under a random token with no voter column, and the receipt block holds the token and a hash of the ranks. Contact messages are readable by administrators only. The ethical points we want to be upfront about. The demo uses sample data and resets when the server restarts. Election officers can see the roster, the emails and an outbox that lists codes for ten minutes; we kept the outbox so a live demo never stalls on a slow email, and a real election should switch it off. A receipt shows a ballot is counted but not what it says, though anyone holding both the token and database access could see that one ballot. There are no tracking cookies. And this is a course project with no independent security review and plain SHA-256 password hashing, so it is not for binding elections yet.</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we do not claim. An insider holding the key and both stores can still forge a chain; the remedy is an external witness for the chain head. Roster injection is not detected; we need a committed roster. We are not end-to-end verifiable. Passwords are stored with plain SHA-256, which we know should be a salted slow hash. Email is a weak factor compared with an authenticator app. Ties in instant-runoff are broken arbitrarily. And SQLite is a single-node engine with per-connection foreign keys, so the planned move to Oracle with PL/SQL and roles also fixes that.</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glossary for anyone new to these words. A hash is a fingerprint of data. An HMAC is a hash made with a secret key, so only the key holder can produce a valid one. A hash chain links records so that editing one breaks all later links. The ledger is the append-only list of receipts, one block per ballot. Instant-runoff is the counting method: rank candidates, and each round the last-place candidate drops out and their ballots move to their next choice until someone has a majority. An OTP is a one-time password, a short code that works once and expires. The roster hash is a fingerprint of the candidate list sealed into every block. The receipt token shows a ballot is recorded but not how it voted. Triggers, CHECK and UNIQUE constraints are rules the database enforces itself. The integrity sweep recomputes the election from the database and compares it with the ledger. Polyglot persistence means using different databases for different jobs, and multi-tenant means many organisations share one install.</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back-up slide for any question that starts with how do you know. Each claim in the deck maps to something that can be rerun or opened. The tampering numbers come from the executable suite, run three times with identical outcomes. The prevention and one-time-code results come from the same experiments script. The benchmark numbers are medians of three runs, with the Atlas figures from a separate script. The website checklist is an automated script with its output saved. And everything we say about other systems comes from their own pages, READMEs and papers, with a URL for every cell in the evidence file. The search method and its limits are at the bottom: twenty-three web queries, twenty GitHub repository searches, thirty-three systems, on the twenty-third of October, without GitHub code search or non-English and private repositories.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are the venues we found that are still accepting papers today, sorted by the student author fee. The cheapest are Indian conferences at about eight to nine thousand rupees: Confluence at Amity Noida, closing the fourth of December; INDIACom in New Delhi, closing the seventh of December, with a six page limit; IEM-ICDC in Kolkata; ICRCICN at Kalyani; and ICESICSC at KIIT Bhubaneswar, which closes on the thirtieth of October. i-PACT is at VIT Vellore in September 2027 for twelve thousand rupees. The international ones cost fifty to seventy-five thousand rupees before travel. The important caveat is the last column: none of these venues has confirmed indexing yet. Every one says submitted for, proposed, or approval awaited, so they are plans, not results, and indexing should be checked on the publisher's site before paying. Fees are normally paid after acceptance, and are approximate in rupees.</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recommended order, remembering that we cannot submit to two venues at the same time. ICISSP closes on the twenty-ninth of October, so it is first if we can adapt the paper to their template in time; the decision arrives on the fourth of December. If that fails, INDIACom or Confluence are the cheap Indian options; pick one, not both. Confluence gives the fastest answer, by the twenty-fifth of December, but the deadline is the same day as the ICISSP decision. Then ICEIS, IFIP SEC or ICDF2C as better-quality fallbacks, ISDFS in January with online presentation, and ICEDEG or DATA in the spring. Before submitting: verify the publisher on its own page, remove author names for double-blind venues, follow each venue's AI-disclosure policy, and recheck the deadline, because dates move.</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also checked the list your roommates found. The venues are real. ICRTAC is run by VIT Chennai SCOPE and its ninth edition is on the tenth and eleventh of December, but its paper deadline passed in August. ICSCAN held its seventh edition in June. i-PACT is real but is a power-engineering conference. E-Vote-ID is real and the best topical match. What we could not support is the claim that these are easy or have seventy-five percent acceptance: no venue publishes such a figure, and the numbers we found point the other way, for example ICRTAC 2024 accepted thirty-six of three hundred and fifteen papers, about eleven percent. Also, ICRTAC 2026 says IEEE Xplore, not Springer, and IEEE sponsorship for ICSCAN and ICCCNT is not confirmed on their official sites. A very fast acceptance is a warning sign, so we recommend choosing on fit and verified indexing.</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FFFFFF"/>
        </a:solidFill>
      </p:bgPr>
    </p:bg>
    <p:spTree>
      <p:nvGrpSpPr>
        <p:cNvPr id="10" name="Shape 10"/>
        <p:cNvGrpSpPr/>
        <p:nvPr/>
      </p:nvGrpSpPr>
      <p:grpSpPr>
        <a:xfrm>
          <a:off x="0" y="0"/>
          <a:ext cx="0" cy="0"/>
          <a:chOff x="0" y="0"/>
          <a:chExt cx="0" cy="0"/>
        </a:xfrm>
      </p:grpSpPr>
      <p:pic>
        <p:nvPicPr>
          <p:cNvPr descr="preencoded.png" id="11" name="Google Shape;11;p2">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3" name="Shape 13"/>
        <p:cNvGrpSpPr/>
        <p:nvPr/>
      </p:nvGrpSpPr>
      <p:grpSpPr>
        <a:xfrm>
          <a:off x="0" y="0"/>
          <a:ext cx="0" cy="0"/>
          <a:chOff x="0" y="0"/>
          <a:chExt cx="0" cy="0"/>
        </a:xfrm>
      </p:grpSpPr>
      <p:sp>
        <p:nvSpPr>
          <p:cNvPr id="14" name="Google Shape;14;p4"/>
          <p:cNvSpPr txBox="1"/>
          <p:nvPr>
            <p:ph type="title"/>
          </p:nvPr>
        </p:nvSpPr>
        <p:spPr>
          <a:xfrm>
            <a:off x="411480" y="240030"/>
            <a:ext cx="8318700" cy="6171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Clr>
                <a:schemeClr val="dk2"/>
              </a:buClr>
              <a:buSzPts val="2400"/>
              <a:buFont typeface="Cambria"/>
              <a:buNone/>
              <a:defRPr b="1" i="0" sz="2400" u="none" cap="none" strike="noStrike">
                <a:solidFill>
                  <a:schemeClr val="dk2"/>
                </a:solidFill>
                <a:latin typeface="Cambria"/>
                <a:ea typeface="Cambria"/>
                <a:cs typeface="Cambria"/>
                <a:sym typeface="Cambr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5" name="Google Shape;15;p4"/>
          <p:cNvSpPr/>
          <p:nvPr/>
        </p:nvSpPr>
        <p:spPr>
          <a:xfrm>
            <a:off x="411480" y="480060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800"/>
              <a:buFont typeface="Calibri"/>
              <a:buNone/>
            </a:pPr>
            <a:r>
              <a:rPr b="0" i="0" lang="en-US" sz="800" u="none" cap="none" strike="noStrike">
                <a:solidFill>
                  <a:schemeClr val="accent5"/>
                </a:solidFill>
                <a:latin typeface="Calibri"/>
                <a:ea typeface="Calibri"/>
                <a:cs typeface="Calibri"/>
                <a:sym typeface="Calibri"/>
              </a:rPr>
              <a:t>BACSE291 – Innovative Design Project  |  First Review  |  Fall Semester 2026</a:t>
            </a:r>
            <a:endParaRPr b="0" i="0" sz="800" u="none" cap="none" strike="noStrike">
              <a:solidFill>
                <a:schemeClr val="dk1"/>
              </a:solidFill>
              <a:latin typeface="Calibri"/>
              <a:ea typeface="Calibri"/>
              <a:cs typeface="Calibri"/>
              <a:sym typeface="Calibri"/>
            </a:endParaRPr>
          </a:p>
        </p:txBody>
      </p:sp>
      <p:sp>
        <p:nvSpPr>
          <p:cNvPr id="16" name="Google Shape;16;p4"/>
          <p:cNvSpPr txBox="1"/>
          <p:nvPr>
            <p:ph idx="12" type="sldNum"/>
          </p:nvPr>
        </p:nvSpPr>
        <p:spPr>
          <a:xfrm>
            <a:off x="8181594" y="4800600"/>
            <a:ext cx="548400" cy="20580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800" u="none" cap="none" strike="noStrike">
                <a:solidFill>
                  <a:schemeClr val="accent5"/>
                </a:solidFill>
                <a:latin typeface="Calibri"/>
                <a:ea typeface="Calibri"/>
                <a:cs typeface="Calibri"/>
                <a:sym typeface="Calibri"/>
              </a:defRPr>
            </a:lvl1pPr>
            <a:lvl2pPr indent="0" lvl="1" marL="0" marR="0" algn="r">
              <a:spcBef>
                <a:spcPts val="0"/>
              </a:spcBef>
              <a:buNone/>
              <a:defRPr b="0" i="0" sz="800" u="none" cap="none" strike="noStrike">
                <a:solidFill>
                  <a:schemeClr val="accent5"/>
                </a:solidFill>
                <a:latin typeface="Calibri"/>
                <a:ea typeface="Calibri"/>
                <a:cs typeface="Calibri"/>
                <a:sym typeface="Calibri"/>
              </a:defRPr>
            </a:lvl2pPr>
            <a:lvl3pPr indent="0" lvl="2" marL="0" marR="0" algn="r">
              <a:spcBef>
                <a:spcPts val="0"/>
              </a:spcBef>
              <a:buNone/>
              <a:defRPr b="0" i="0" sz="800" u="none" cap="none" strike="noStrike">
                <a:solidFill>
                  <a:schemeClr val="accent5"/>
                </a:solidFill>
                <a:latin typeface="Calibri"/>
                <a:ea typeface="Calibri"/>
                <a:cs typeface="Calibri"/>
                <a:sym typeface="Calibri"/>
              </a:defRPr>
            </a:lvl3pPr>
            <a:lvl4pPr indent="0" lvl="3" marL="0" marR="0" algn="r">
              <a:spcBef>
                <a:spcPts val="0"/>
              </a:spcBef>
              <a:buNone/>
              <a:defRPr b="0" i="0" sz="800" u="none" cap="none" strike="noStrike">
                <a:solidFill>
                  <a:schemeClr val="accent5"/>
                </a:solidFill>
                <a:latin typeface="Calibri"/>
                <a:ea typeface="Calibri"/>
                <a:cs typeface="Calibri"/>
                <a:sym typeface="Calibri"/>
              </a:defRPr>
            </a:lvl4pPr>
            <a:lvl5pPr indent="0" lvl="4" marL="0" marR="0" algn="r">
              <a:spcBef>
                <a:spcPts val="0"/>
              </a:spcBef>
              <a:buNone/>
              <a:defRPr b="0" i="0" sz="800" u="none" cap="none" strike="noStrike">
                <a:solidFill>
                  <a:schemeClr val="accent5"/>
                </a:solidFill>
                <a:latin typeface="Calibri"/>
                <a:ea typeface="Calibri"/>
                <a:cs typeface="Calibri"/>
                <a:sym typeface="Calibri"/>
              </a:defRPr>
            </a:lvl5pPr>
            <a:lvl6pPr indent="0" lvl="5" marL="0" marR="0" algn="r">
              <a:spcBef>
                <a:spcPts val="0"/>
              </a:spcBef>
              <a:buNone/>
              <a:defRPr b="0" i="0" sz="800" u="none" cap="none" strike="noStrike">
                <a:solidFill>
                  <a:schemeClr val="accent5"/>
                </a:solidFill>
                <a:latin typeface="Calibri"/>
                <a:ea typeface="Calibri"/>
                <a:cs typeface="Calibri"/>
                <a:sym typeface="Calibri"/>
              </a:defRPr>
            </a:lvl6pPr>
            <a:lvl7pPr indent="0" lvl="6" marL="0" marR="0" algn="r">
              <a:spcBef>
                <a:spcPts val="0"/>
              </a:spcBef>
              <a:buNone/>
              <a:defRPr b="0" i="0" sz="800" u="none" cap="none" strike="noStrike">
                <a:solidFill>
                  <a:schemeClr val="accent5"/>
                </a:solidFill>
                <a:latin typeface="Calibri"/>
                <a:ea typeface="Calibri"/>
                <a:cs typeface="Calibri"/>
                <a:sym typeface="Calibri"/>
              </a:defRPr>
            </a:lvl7pPr>
            <a:lvl8pPr indent="0" lvl="7" marL="0" marR="0" algn="r">
              <a:spcBef>
                <a:spcPts val="0"/>
              </a:spcBef>
              <a:buNone/>
              <a:defRPr b="0" i="0" sz="800" u="none" cap="none" strike="noStrike">
                <a:solidFill>
                  <a:schemeClr val="accent5"/>
                </a:solidFill>
                <a:latin typeface="Calibri"/>
                <a:ea typeface="Calibri"/>
                <a:cs typeface="Calibri"/>
                <a:sym typeface="Calibri"/>
              </a:defRPr>
            </a:lvl8pPr>
            <a:lvl9pPr indent="0" lvl="8" marL="0" marR="0" algn="r">
              <a:spcBef>
                <a:spcPts val="0"/>
              </a:spcBef>
              <a:buNone/>
              <a:defRPr b="0" i="0" sz="8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5"/>
          <p:cNvSpPr/>
          <p:nvPr/>
        </p:nvSpPr>
        <p:spPr>
          <a:xfrm>
            <a:off x="342900" y="304800"/>
            <a:ext cx="2281238" cy="252487"/>
          </a:xfrm>
          <a:prstGeom prst="roundRect">
            <a:avLst>
              <a:gd fmla="val 3395" name="adj"/>
            </a:avLst>
          </a:prstGeom>
          <a:solidFill>
            <a:srgbClr val="D8DF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5"/>
          <p:cNvSpPr/>
          <p:nvPr/>
        </p:nvSpPr>
        <p:spPr>
          <a:xfrm>
            <a:off x="440010" y="353318"/>
            <a:ext cx="2544217"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BACSE202 · Fall Semester 2026</a:t>
            </a:r>
            <a:endParaRPr b="0" i="0" sz="1000" u="none" cap="none" strike="noStrike">
              <a:solidFill>
                <a:schemeClr val="dk1"/>
              </a:solidFill>
              <a:latin typeface="Calibri"/>
              <a:ea typeface="Calibri"/>
              <a:cs typeface="Calibri"/>
              <a:sym typeface="Calibri"/>
            </a:endParaRPr>
          </a:p>
        </p:txBody>
      </p:sp>
      <p:sp>
        <p:nvSpPr>
          <p:cNvPr id="24" name="Google Shape;24;p5"/>
          <p:cNvSpPr/>
          <p:nvPr/>
        </p:nvSpPr>
        <p:spPr>
          <a:xfrm>
            <a:off x="342900" y="700996"/>
            <a:ext cx="5181600" cy="398115"/>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2850"/>
              <a:buFont typeface="Inter"/>
              <a:buNone/>
            </a:pPr>
            <a:r>
              <a:rPr b="1" i="0" lang="en-US" sz="2850" u="none" cap="none" strike="noStrike">
                <a:solidFill>
                  <a:srgbClr val="1B2A55"/>
                </a:solidFill>
                <a:latin typeface="Inter"/>
                <a:ea typeface="Inter"/>
                <a:cs typeface="Inter"/>
                <a:sym typeface="Inter"/>
              </a:rPr>
              <a:t>PolyVote</a:t>
            </a:r>
            <a:endParaRPr b="0" i="0" sz="2850" u="none" cap="none" strike="noStrike">
              <a:solidFill>
                <a:schemeClr val="dk1"/>
              </a:solidFill>
              <a:latin typeface="Calibri"/>
              <a:ea typeface="Calibri"/>
              <a:cs typeface="Calibri"/>
              <a:sym typeface="Calibri"/>
            </a:endParaRPr>
          </a:p>
        </p:txBody>
      </p:sp>
      <p:sp>
        <p:nvSpPr>
          <p:cNvPr id="25" name="Google Shape;25;p5"/>
          <p:cNvSpPr/>
          <p:nvPr/>
        </p:nvSpPr>
        <p:spPr>
          <a:xfrm>
            <a:off x="342900" y="1250677"/>
            <a:ext cx="5181600" cy="441871"/>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B2A55"/>
              </a:buClr>
              <a:buSzPts val="1200"/>
              <a:buFont typeface="Inter"/>
              <a:buNone/>
            </a:pPr>
            <a:r>
              <a:rPr b="1" i="0" lang="en-US" sz="1200" u="none" cap="none" strike="noStrike">
                <a:solidFill>
                  <a:srgbClr val="1B2A55"/>
                </a:solidFill>
                <a:latin typeface="Inter"/>
                <a:ea typeface="Inter"/>
                <a:cs typeface="Inter"/>
                <a:sym typeface="Inter"/>
              </a:rPr>
              <a:t>A Multi-Tenant, Ranked-Choice Election Platform with a Tamper-Evident Audit Trail</a:t>
            </a:r>
            <a:endParaRPr b="0" i="0" sz="1200" u="none" cap="none" strike="noStrike">
              <a:solidFill>
                <a:schemeClr val="dk1"/>
              </a:solidFill>
              <a:latin typeface="Calibri"/>
              <a:ea typeface="Calibri"/>
              <a:cs typeface="Calibri"/>
              <a:sym typeface="Calibri"/>
            </a:endParaRPr>
          </a:p>
        </p:txBody>
      </p:sp>
      <p:sp>
        <p:nvSpPr>
          <p:cNvPr id="26" name="Google Shape;26;p5"/>
          <p:cNvSpPr/>
          <p:nvPr/>
        </p:nvSpPr>
        <p:spPr>
          <a:xfrm>
            <a:off x="342900" y="1837804"/>
            <a:ext cx="54483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Review 3 · Final Project Review · Guide: Dr. Katari Balakrishna</a:t>
            </a:r>
            <a:endParaRPr b="0" i="0" sz="950" u="none" cap="none" strike="noStrike">
              <a:solidFill>
                <a:schemeClr val="dk1"/>
              </a:solidFill>
              <a:latin typeface="Calibri"/>
              <a:ea typeface="Calibri"/>
              <a:cs typeface="Calibri"/>
              <a:sym typeface="Calibri"/>
            </a:endParaRPr>
          </a:p>
        </p:txBody>
      </p:sp>
      <p:graphicFrame>
        <p:nvGraphicFramePr>
          <p:cNvPr id="27" name="Google Shape;27;p5"/>
          <p:cNvGraphicFramePr/>
          <p:nvPr/>
        </p:nvGraphicFramePr>
        <p:xfrm>
          <a:off x="342900" y="3147864"/>
          <a:ext cx="3000000" cy="3000000"/>
        </p:xfrm>
        <a:graphic>
          <a:graphicData uri="http://schemas.openxmlformats.org/drawingml/2006/table">
            <a:tbl>
              <a:tblPr>
                <a:noFill/>
                <a:tableStyleId>{CF56F632-080D-41BD-B1F7-19A39A7C3095}</a:tableStyleId>
              </a:tblPr>
              <a:tblGrid>
                <a:gridCol w="628350"/>
                <a:gridCol w="2586875"/>
                <a:gridCol w="1966350"/>
              </a:tblGrid>
              <a:tr h="373775">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S.No</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Name</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Register No</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373775">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1</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Tharakesharasu Thennarasu</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25BCE2699</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373775">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Pawan Durga Karthik</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25BCE27</a:t>
                      </a:r>
                      <a:r>
                        <a:rPr lang="en-US" sz="1300">
                          <a:solidFill>
                            <a:srgbClr val="1B2A55"/>
                          </a:solidFill>
                          <a:latin typeface="Inter"/>
                          <a:ea typeface="Inter"/>
                          <a:cs typeface="Inter"/>
                          <a:sym typeface="Inter"/>
                        </a:rPr>
                        <a:t>12</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364250">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3</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Shivam Malge</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25BCE0386</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bl>
          </a:graphicData>
        </a:graphic>
      </p:graphicFrame>
      <p:sp>
        <p:nvSpPr>
          <p:cNvPr id="28" name="Google Shape;28;p5"/>
          <p:cNvSpPr/>
          <p:nvPr/>
        </p:nvSpPr>
        <p:spPr>
          <a:xfrm>
            <a:off x="342900" y="4785866"/>
            <a:ext cx="54483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BACSE202 – Database Systems | Review 3 | Fall Semester 2026 · Slide 1</a:t>
            </a:r>
            <a:endParaRPr b="0" i="0" sz="950" u="none" cap="none" strike="noStrike">
              <a:solidFill>
                <a:schemeClr val="dk1"/>
              </a:solidFill>
              <a:latin typeface="Calibri"/>
              <a:ea typeface="Calibri"/>
              <a:cs typeface="Calibri"/>
              <a:sym typeface="Calibri"/>
            </a:endParaRPr>
          </a:p>
        </p:txBody>
      </p:sp>
      <p:sp>
        <p:nvSpPr>
          <p:cNvPr id="29" name="Google Shape;29;p5"/>
          <p:cNvSpPr/>
          <p:nvPr/>
        </p:nvSpPr>
        <p:spPr>
          <a:xfrm>
            <a:off x="5791200" y="0"/>
            <a:ext cx="3352800" cy="5143500"/>
          </a:xfrm>
          <a:prstGeom prst="rect">
            <a:avLst/>
          </a:prstGeom>
          <a:solidFill>
            <a:srgbClr val="F1F0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 name="Google Shape;30;p5"/>
          <p:cNvPicPr preferRelativeResize="0"/>
          <p:nvPr/>
        </p:nvPicPr>
        <p:blipFill rotWithShape="1">
          <a:blip r:embed="rId3">
            <a:alphaModFix/>
          </a:blip>
          <a:srcRect b="0" l="0" r="0" t="0"/>
          <a:stretch/>
        </p:blipFill>
        <p:spPr>
          <a:xfrm>
            <a:off x="6019800" y="828526"/>
            <a:ext cx="2895600" cy="3505498"/>
          </a:xfrm>
          <a:prstGeom prst="rect">
            <a:avLst/>
          </a:prstGeom>
          <a:noFill/>
          <a:ln>
            <a:no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REVIEW 3 · WHERE WE STAND</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What we submitted, what we built, what is new today</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a:t>
            </a:r>
          </a:p>
        </p:txBody>
      </p:sp>
      <p:sp>
        <p:nvSpPr>
          <p:cNvPr id="6" name="Rounded Rectangle 5"/>
          <p:cNvSpPr/>
          <p:nvPr/>
        </p:nvSpPr>
        <p:spPr>
          <a:xfrm>
            <a:off x="457200" y="1097280"/>
            <a:ext cx="2587752" cy="22860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117500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SUBMITTED</a:t>
            </a:r>
          </a:p>
        </p:txBody>
      </p:sp>
      <p:sp>
        <p:nvSpPr>
          <p:cNvPr id="8" name="TextBox 7"/>
          <p:cNvSpPr txBox="1"/>
          <p:nvPr/>
        </p:nvSpPr>
        <p:spPr>
          <a:xfrm>
            <a:off x="640080" y="1572768"/>
            <a:ext cx="2240280" cy="256032"/>
          </a:xfrm>
          <a:prstGeom prst="rect">
            <a:avLst/>
          </a:prstGeom>
          <a:noFill/>
        </p:spPr>
        <p:txBody>
          <a:bodyPr wrap="square" anchor="t" lIns="0" rIns="0" tIns="0" bIns="0">
            <a:spAutoFit/>
          </a:bodyPr>
          <a:lstStyle/>
          <a:p>
            <a:pPr algn="l">
              <a:spcAft>
                <a:spcPts val="0"/>
              </a:spcAft>
            </a:pPr>
            <a:r>
              <a:rPr sz="1500" b="1" i="0">
                <a:solidFill>
                  <a:srgbClr val="1B2A55"/>
                </a:solidFill>
                <a:latin typeface="Inter"/>
              </a:rPr>
              <a:t>Reviews 1 and 2</a:t>
            </a:r>
          </a:p>
        </p:txBody>
      </p:sp>
      <p:sp>
        <p:nvSpPr>
          <p:cNvPr id="9" name="TextBox 8"/>
          <p:cNvSpPr txBox="1"/>
          <p:nvPr/>
        </p:nvSpPr>
        <p:spPr>
          <a:xfrm>
            <a:off x="640080" y="1901952"/>
            <a:ext cx="2240280" cy="1371600"/>
          </a:xfrm>
          <a:prstGeom prst="rect">
            <a:avLst/>
          </a:prstGeom>
          <a:noFill/>
        </p:spPr>
        <p:txBody>
          <a:bodyPr wrap="square" anchor="t" lIns="0" rIns="0" tIns="0" bIns="0">
            <a:spAutoFit/>
          </a:bodyPr>
          <a:lstStyle/>
          <a:p>
            <a:pPr algn="l">
              <a:spcAft>
                <a:spcPts val="0"/>
              </a:spcAft>
            </a:pPr>
            <a:r>
              <a:rPr sz="1200" b="0" i="0">
                <a:solidFill>
                  <a:srgbClr val="353B4A"/>
                </a:solidFill>
                <a:latin typeface="Inter"/>
              </a:rPr>
              <a:t>Design, schema, ER and data-flow diagrams, literature; then a working React + FastAPI system, instant-runoff tally, hash-chained receipts and a live tamper test.</a:t>
            </a:r>
          </a:p>
        </p:txBody>
      </p:sp>
      <p:sp>
        <p:nvSpPr>
          <p:cNvPr id="10" name="Rounded Rectangle 9"/>
          <p:cNvSpPr/>
          <p:nvPr/>
        </p:nvSpPr>
        <p:spPr>
          <a:xfrm>
            <a:off x="3282696" y="1097280"/>
            <a:ext cx="2587752" cy="22860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65576" y="1225296"/>
            <a:ext cx="1078992"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FEEDBACK</a:t>
            </a:r>
          </a:p>
        </p:txBody>
      </p:sp>
      <p:sp>
        <p:nvSpPr>
          <p:cNvPr id="12" name="TextBox 11"/>
          <p:cNvSpPr txBox="1"/>
          <p:nvPr/>
        </p:nvSpPr>
        <p:spPr>
          <a:xfrm>
            <a:off x="3465576" y="1572768"/>
            <a:ext cx="2240280" cy="256032"/>
          </a:xfrm>
          <a:prstGeom prst="rect">
            <a:avLst/>
          </a:prstGeom>
          <a:noFill/>
        </p:spPr>
        <p:txBody>
          <a:bodyPr wrap="square" anchor="t" lIns="0" rIns="0" tIns="0" bIns="0">
            <a:spAutoFit/>
          </a:bodyPr>
          <a:lstStyle/>
          <a:p>
            <a:pPr algn="l">
              <a:spcAft>
                <a:spcPts val="0"/>
              </a:spcAft>
            </a:pPr>
            <a:r>
              <a:rPr sz="1500" b="1" i="0">
                <a:solidFill>
                  <a:srgbClr val="1B2A55"/>
                </a:solidFill>
                <a:latin typeface="Inter"/>
              </a:rPr>
              <a:t>At Review 2</a:t>
            </a:r>
          </a:p>
        </p:txBody>
      </p:sp>
      <p:sp>
        <p:nvSpPr>
          <p:cNvPr id="13" name="TextBox 12"/>
          <p:cNvSpPr txBox="1"/>
          <p:nvPr/>
        </p:nvSpPr>
        <p:spPr>
          <a:xfrm>
            <a:off x="3465576" y="1901952"/>
            <a:ext cx="2240280" cy="1371600"/>
          </a:xfrm>
          <a:prstGeom prst="rect">
            <a:avLst/>
          </a:prstGeom>
          <a:noFill/>
        </p:spPr>
        <p:txBody>
          <a:bodyPr wrap="square" anchor="t" lIns="0" rIns="0" tIns="0" bIns="0">
            <a:spAutoFit/>
          </a:bodyPr>
          <a:lstStyle/>
          <a:p>
            <a:pPr algn="l">
              <a:spcAft>
                <a:spcPts val="0"/>
              </a:spcAft>
            </a:pPr>
            <a:r>
              <a:rPr sz="1200" b="0" i="0">
                <a:solidFill>
                  <a:srgbClr val="353B4A"/>
                </a:solidFill>
                <a:latin typeface="Inter"/>
              </a:rPr>
              <a:t>Confirm the voter with a second factor (OTP or face ID); finish MongoDB and hosting; show that the design is an improvement, not just a build.</a:t>
            </a:r>
          </a:p>
        </p:txBody>
      </p:sp>
      <p:sp>
        <p:nvSpPr>
          <p:cNvPr id="14" name="Rounded Rectangle 13"/>
          <p:cNvSpPr/>
          <p:nvPr/>
        </p:nvSpPr>
        <p:spPr>
          <a:xfrm>
            <a:off x="6108192" y="1097280"/>
            <a:ext cx="2587752" cy="22860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225296"/>
            <a:ext cx="117500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NEW TODAY</a:t>
            </a:r>
          </a:p>
        </p:txBody>
      </p:sp>
      <p:sp>
        <p:nvSpPr>
          <p:cNvPr id="16" name="TextBox 15"/>
          <p:cNvSpPr txBox="1"/>
          <p:nvPr/>
        </p:nvSpPr>
        <p:spPr>
          <a:xfrm>
            <a:off x="6291072" y="1572768"/>
            <a:ext cx="2240280" cy="256032"/>
          </a:xfrm>
          <a:prstGeom prst="rect">
            <a:avLst/>
          </a:prstGeom>
          <a:noFill/>
        </p:spPr>
        <p:txBody>
          <a:bodyPr wrap="square" anchor="t" lIns="0" rIns="0" tIns="0" bIns="0">
            <a:spAutoFit/>
          </a:bodyPr>
          <a:lstStyle/>
          <a:p>
            <a:pPr algn="l">
              <a:spcAft>
                <a:spcPts val="0"/>
              </a:spcAft>
            </a:pPr>
            <a:r>
              <a:rPr sz="1500" b="1" i="0">
                <a:solidFill>
                  <a:srgbClr val="1B2A55"/>
                </a:solidFill>
                <a:latin typeface="Inter"/>
              </a:rPr>
              <a:t>This review</a:t>
            </a:r>
          </a:p>
        </p:txBody>
      </p:sp>
      <p:sp>
        <p:nvSpPr>
          <p:cNvPr id="17" name="TextBox 16"/>
          <p:cNvSpPr txBox="1"/>
          <p:nvPr/>
        </p:nvSpPr>
        <p:spPr>
          <a:xfrm>
            <a:off x="6291072" y="1901952"/>
            <a:ext cx="2240280" cy="1371600"/>
          </a:xfrm>
          <a:prstGeom prst="rect">
            <a:avLst/>
          </a:prstGeom>
          <a:noFill/>
        </p:spPr>
        <p:txBody>
          <a:bodyPr wrap="square" anchor="t" lIns="0" rIns="0" tIns="0" bIns="0">
            <a:spAutoFit/>
          </a:bodyPr>
          <a:lstStyle/>
          <a:p>
            <a:pPr algn="l">
              <a:spcAft>
                <a:spcPts val="0"/>
              </a:spcAft>
            </a:pPr>
            <a:r>
              <a:rPr sz="1200" b="0" i="0">
                <a:solidFill>
                  <a:srgbClr val="353B4A"/>
                </a:solidFill>
                <a:latin typeface="Inter"/>
              </a:rPr>
              <a:t>Atlas ledger, keyed chain, extended sweep, emailed one-time code, public link and QR, and 47 executable test scenarios with benchmarks.</a:t>
            </a:r>
          </a:p>
        </p:txBody>
      </p:sp>
      <p:sp>
        <p:nvSpPr>
          <p:cNvPr id="18" name="Rounded Rectangle 17"/>
          <p:cNvSpPr/>
          <p:nvPr/>
        </p:nvSpPr>
        <p:spPr>
          <a:xfrm>
            <a:off x="457200" y="3547872"/>
            <a:ext cx="8229600"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621024"/>
            <a:ext cx="1554480" cy="640080"/>
          </a:xfrm>
          <a:prstGeom prst="rect">
            <a:avLst/>
          </a:prstGeom>
          <a:noFill/>
        </p:spPr>
        <p:txBody>
          <a:bodyPr wrap="square" anchor="ctr" lIns="0" rIns="0" tIns="0" bIns="0">
            <a:spAutoFit/>
          </a:bodyPr>
          <a:lstStyle/>
          <a:p>
            <a:pPr algn="l">
              <a:spcAft>
                <a:spcPts val="0"/>
              </a:spcAft>
            </a:pPr>
            <a:r>
              <a:rPr sz="4000" b="1" i="0">
                <a:solidFill>
                  <a:srgbClr val="1B2A55"/>
                </a:solidFill>
                <a:latin typeface="Inter"/>
              </a:rPr>
              <a:t>47</a:t>
            </a:r>
          </a:p>
        </p:txBody>
      </p:sp>
      <p:sp>
        <p:nvSpPr>
          <p:cNvPr id="20" name="TextBox 19"/>
          <p:cNvSpPr txBox="1"/>
          <p:nvPr/>
        </p:nvSpPr>
        <p:spPr>
          <a:xfrm>
            <a:off x="685800" y="4242816"/>
            <a:ext cx="1737360" cy="274320"/>
          </a:xfrm>
          <a:prstGeom prst="rect">
            <a:avLst/>
          </a:prstGeom>
          <a:noFill/>
        </p:spPr>
        <p:txBody>
          <a:bodyPr wrap="square" anchor="t" lIns="0" rIns="0" tIns="0" bIns="0">
            <a:spAutoFit/>
          </a:bodyPr>
          <a:lstStyle/>
          <a:p>
            <a:pPr algn="l">
              <a:spcAft>
                <a:spcPts val="0"/>
              </a:spcAft>
            </a:pPr>
            <a:r>
              <a:rPr sz="1100" b="0" i="0">
                <a:solidFill>
                  <a:srgbClr val="666A78"/>
                </a:solidFill>
                <a:latin typeface="Inter"/>
              </a:rPr>
              <a:t>test scenarios</a:t>
            </a:r>
          </a:p>
        </p:txBody>
      </p:sp>
      <p:sp>
        <p:nvSpPr>
          <p:cNvPr id="21" name="TextBox 20"/>
          <p:cNvSpPr txBox="1"/>
          <p:nvPr/>
        </p:nvSpPr>
        <p:spPr>
          <a:xfrm>
            <a:off x="2560320" y="3675887"/>
            <a:ext cx="5943600" cy="914400"/>
          </a:xfrm>
          <a:prstGeom prst="rect">
            <a:avLst/>
          </a:prstGeom>
          <a:noFill/>
        </p:spPr>
        <p:txBody>
          <a:bodyPr wrap="square" anchor="t" lIns="0" rIns="0" tIns="0" bIns="0">
            <a:spAutoFit/>
          </a:bodyPr>
          <a:lstStyle/>
          <a:p>
            <a:pPr algn="l">
              <a:spcAft>
                <a:spcPts val="200"/>
              </a:spcAft>
            </a:pPr>
            <a:r>
              <a:rPr sz="1100" b="1" i="0">
                <a:solidFill>
                  <a:srgbClr val="1B2A55"/>
                </a:solidFill>
                <a:latin typeface="Inter"/>
              </a:rPr>
              <a:t>Left open by choice: </a:t>
            </a:r>
            <a:r>
              <a:rPr sz="1100" b="0" i="0">
                <a:solidFill>
                  <a:srgbClr val="353B4A"/>
                </a:solidFill>
                <a:latin typeface="Inter"/>
              </a:rPr>
              <a:t>Oracle with PL/SQL and roles, the POSITION entity, and a true cloud platform. SQLite stays for this project.</a:t>
            </a:r>
          </a:p>
          <a:p>
            <a:pPr algn="l">
              <a:spcAft>
                <a:spcPts val="200"/>
              </a:spcAft>
            </a:pPr>
            <a:r>
              <a:rPr sz="1100" b="0" i="0">
                <a:solidFill>
                  <a:srgbClr val="353B4A"/>
                </a:solidFill>
                <a:latin typeface="Inter"/>
              </a:rPr>
              <a:t/>
            </a:r>
          </a:p>
          <a:p>
            <a:pPr algn="l">
              <a:spcAft>
                <a:spcPts val="200"/>
              </a:spcAft>
            </a:pPr>
            <a:r>
              <a:rPr sz="1100" b="1" i="0">
                <a:solidFill>
                  <a:srgbClr val="1B2A55"/>
                </a:solidFill>
                <a:latin typeface="Inter"/>
              </a:rPr>
              <a:t>Today: </a:t>
            </a:r>
            <a:r>
              <a:rPr sz="1100" b="0" i="0">
                <a:solidFill>
                  <a:srgbClr val="353B4A"/>
                </a:solidFill>
                <a:latin typeface="Inter"/>
              </a:rPr>
              <a:t>recap, new features, evidence, feature-by-feature comparison, privacy, limits, publication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PICKING UP FROM REVIEW 2</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Review 2 left a short list; two new features lead it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a:t>
            </a:r>
          </a:p>
        </p:txBody>
      </p:sp>
      <p:sp>
        <p:nvSpPr>
          <p:cNvPr id="6" name="Rounded Rectangle 5"/>
          <p:cNvSpPr/>
          <p:nvPr/>
        </p:nvSpPr>
        <p:spPr>
          <a:xfrm>
            <a:off x="457200" y="1097280"/>
            <a:ext cx="3108960" cy="34747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213512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REVIEW 2 ENDED WITH</a:t>
            </a:r>
          </a:p>
        </p:txBody>
      </p:sp>
      <p:sp>
        <p:nvSpPr>
          <p:cNvPr id="8" name="TextBox 7"/>
          <p:cNvSpPr txBox="1"/>
          <p:nvPr/>
        </p:nvSpPr>
        <p:spPr>
          <a:xfrm>
            <a:off x="640080" y="1600200"/>
            <a:ext cx="2743200" cy="292608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0" i="0">
                <a:solidFill>
                  <a:srgbClr val="353B4A"/>
                </a:solidFill>
                <a:latin typeface="Inter"/>
              </a:rPr>
              <a:t>About 75% of the scope built and demonstrated.</a:t>
            </a:r>
          </a:p>
          <a:p>
            <a:pPr algn="l">
              <a:spcAft>
                <a:spcPts val="500"/>
              </a:spcAft>
            </a:pPr>
            <a:r>
              <a:rPr sz="1100" b="1" i="0">
                <a:solidFill>
                  <a:srgbClr val="1B2A55"/>
                </a:solidFill>
                <a:latin typeface="Inter"/>
              </a:rPr>
              <a:t>•  </a:t>
            </a:r>
            <a:r>
              <a:rPr sz="1100" b="0" i="0">
                <a:solidFill>
                  <a:srgbClr val="353B4A"/>
                </a:solidFill>
                <a:latin typeface="Inter"/>
              </a:rPr>
              <a:t>Open: MongoDB Atlas, hosting, injected-ballot detection.</a:t>
            </a:r>
          </a:p>
          <a:p>
            <a:pPr algn="l">
              <a:spcAft>
                <a:spcPts val="500"/>
              </a:spcAft>
            </a:pPr>
            <a:r>
              <a:rPr sz="1100" b="1" i="0">
                <a:solidFill>
                  <a:srgbClr val="1B2A55"/>
                </a:solidFill>
                <a:latin typeface="Inter"/>
              </a:rPr>
              <a:t>•  </a:t>
            </a:r>
            <a:r>
              <a:rPr sz="1100" b="0" i="0">
                <a:solidFill>
                  <a:srgbClr val="353B4A"/>
                </a:solidFill>
                <a:latin typeface="Inter"/>
              </a:rPr>
              <a:t>Faculty feedback: confirm the voter with a second factor.</a:t>
            </a:r>
          </a:p>
          <a:p>
            <a:pPr algn="l">
              <a:spcAft>
                <a:spcPts val="500"/>
              </a:spcAft>
            </a:pPr>
            <a:r>
              <a:rPr sz="1100" b="1" i="0">
                <a:solidFill>
                  <a:srgbClr val="1B2A55"/>
                </a:solidFill>
                <a:latin typeface="Inter"/>
              </a:rPr>
              <a:t>•  </a:t>
            </a:r>
            <a:r>
              <a:rPr sz="1100" b="0" i="0">
                <a:solidFill>
                  <a:srgbClr val="353B4A"/>
                </a:solidFill>
                <a:latin typeface="Inter"/>
              </a:rPr>
              <a:t>Deferred on purpose: Oracle with PL/SQL, POSITION entity.</a:t>
            </a:r>
          </a:p>
        </p:txBody>
      </p:sp>
      <p:sp>
        <p:nvSpPr>
          <p:cNvPr id="9" name="Rounded Rectangle 8"/>
          <p:cNvSpPr/>
          <p:nvPr/>
        </p:nvSpPr>
        <p:spPr>
          <a:xfrm>
            <a:off x="3749039" y="1097280"/>
            <a:ext cx="2377440" cy="347472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931920" y="1225296"/>
            <a:ext cx="165506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NEW: EMAIL OTP</a:t>
            </a:r>
          </a:p>
        </p:txBody>
      </p:sp>
      <p:sp>
        <p:nvSpPr>
          <p:cNvPr id="11" name="TextBox 10"/>
          <p:cNvSpPr txBox="1"/>
          <p:nvPr/>
        </p:nvSpPr>
        <p:spPr>
          <a:xfrm>
            <a:off x="3931920" y="1600200"/>
            <a:ext cx="2011680" cy="2926080"/>
          </a:xfrm>
          <a:prstGeom prst="rect">
            <a:avLst/>
          </a:prstGeom>
          <a:noFill/>
        </p:spPr>
        <p:txBody>
          <a:bodyPr wrap="square" anchor="t" lIns="0" rIns="0" tIns="0" bIns="0">
            <a:spAutoFit/>
          </a:bodyPr>
          <a:lstStyle/>
          <a:p>
            <a:pPr algn="l">
              <a:spcAft>
                <a:spcPts val="400"/>
              </a:spcAft>
            </a:pPr>
            <a:r>
              <a:rPr sz="1100" b="1" i="0">
                <a:solidFill>
                  <a:srgbClr val="1B2A55"/>
                </a:solidFill>
                <a:latin typeface="Inter"/>
              </a:rPr>
              <a:t>A correct password is no longer enough.</a:t>
            </a:r>
          </a:p>
          <a:p>
            <a:pPr algn="l">
              <a:spcAft>
                <a:spcPts val="400"/>
              </a:spcAft>
            </a:pPr>
            <a:r>
              <a:rPr sz="1100" b="0" i="0">
                <a:solidFill>
                  <a:srgbClr val="353B4A"/>
                </a:solidFill>
                <a:latin typeface="Inter"/>
              </a:rPr>
              <a:t>A 6-digit code is emailed to the voter, valid 5 minutes, one use, 3 guesses.</a:t>
            </a:r>
          </a:p>
          <a:p>
            <a:pPr algn="l">
              <a:spcAft>
                <a:spcPts val="400"/>
              </a:spcAft>
            </a:pPr>
            <a:r>
              <a:rPr sz="1100" b="0" i="0">
                <a:solidFill>
                  <a:srgbClr val="353B4A"/>
                </a:solidFill>
                <a:latin typeface="Inter"/>
              </a:rPr>
              <a:t/>
            </a:r>
          </a:p>
          <a:p>
            <a:pPr algn="l">
              <a:spcAft>
                <a:spcPts val="400"/>
              </a:spcAft>
            </a:pPr>
            <a:r>
              <a:rPr sz="1100" b="0" i="1">
                <a:solidFill>
                  <a:srgbClr val="666A78"/>
                </a:solidFill>
                <a:latin typeface="Inter"/>
              </a:rPr>
              <a:t>Answers the Review 2 comment.</a:t>
            </a:r>
          </a:p>
        </p:txBody>
      </p:sp>
      <p:sp>
        <p:nvSpPr>
          <p:cNvPr id="12" name="Rounded Rectangle 11"/>
          <p:cNvSpPr/>
          <p:nvPr/>
        </p:nvSpPr>
        <p:spPr>
          <a:xfrm>
            <a:off x="6309360" y="1097280"/>
            <a:ext cx="2377440" cy="347472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92240" y="1225296"/>
            <a:ext cx="165506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NEW: QR VOTING</a:t>
            </a:r>
          </a:p>
        </p:txBody>
      </p:sp>
      <p:sp>
        <p:nvSpPr>
          <p:cNvPr id="14" name="TextBox 13"/>
          <p:cNvSpPr txBox="1"/>
          <p:nvPr/>
        </p:nvSpPr>
        <p:spPr>
          <a:xfrm>
            <a:off x="6492240" y="1600200"/>
            <a:ext cx="2011680" cy="2926080"/>
          </a:xfrm>
          <a:prstGeom prst="rect">
            <a:avLst/>
          </a:prstGeom>
          <a:noFill/>
        </p:spPr>
        <p:txBody>
          <a:bodyPr wrap="square" anchor="t" lIns="0" rIns="0" tIns="0" bIns="0">
            <a:spAutoFit/>
          </a:bodyPr>
          <a:lstStyle/>
          <a:p>
            <a:pPr algn="l">
              <a:spcAft>
                <a:spcPts val="400"/>
              </a:spcAft>
            </a:pPr>
            <a:r>
              <a:rPr sz="1100" b="1" i="0">
                <a:solidFill>
                  <a:srgbClr val="1B2A55"/>
                </a:solidFill>
                <a:latin typeface="Inter"/>
              </a:rPr>
              <a:t>Scan, sign in, vote.</a:t>
            </a:r>
          </a:p>
          <a:p>
            <a:pPr algn="l">
              <a:spcAft>
                <a:spcPts val="400"/>
              </a:spcAft>
            </a:pPr>
            <a:r>
              <a:rPr sz="1100" b="0" i="0">
                <a:solidFill>
                  <a:srgbClr val="353B4A"/>
                </a:solidFill>
                <a:latin typeface="Inter"/>
              </a:rPr>
              <a:t>The vote page shows a QR code for the public link, so any phone opens the ballot in seconds.</a:t>
            </a:r>
          </a:p>
          <a:p>
            <a:pPr algn="l">
              <a:spcAft>
                <a:spcPts val="400"/>
              </a:spcAft>
            </a:pPr>
            <a:r>
              <a:rPr sz="1100" b="0" i="0">
                <a:solidFill>
                  <a:srgbClr val="353B4A"/>
                </a:solidFill>
                <a:latin typeface="Inter"/>
              </a:rPr>
              <a:t/>
            </a:r>
          </a:p>
          <a:p>
            <a:pPr algn="l">
              <a:spcAft>
                <a:spcPts val="400"/>
              </a:spcAft>
            </a:pPr>
            <a:r>
              <a:rPr sz="1100" b="0" i="1">
                <a:solidFill>
                  <a:srgbClr val="666A78"/>
                </a:solidFill>
                <a:latin typeface="Inter"/>
              </a:rPr>
              <a:t>Works with the emailed code on the same phone.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RESPONSE TO FEEDBACK</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Each Review 2 comment has a concrete answer</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4</a:t>
            </a:r>
          </a:p>
        </p:txBody>
      </p:sp>
      <p:graphicFrame>
        <p:nvGraphicFramePr>
          <p:cNvPr id="6" name="Table 5"/>
          <p:cNvGraphicFramePr>
            <a:graphicFrameLocks noGrp="1"/>
          </p:cNvGraphicFramePr>
          <p:nvPr/>
        </p:nvGraphicFramePr>
        <p:xfrm>
          <a:off x="457200" y="1097280"/>
          <a:ext cx="8229600" cy="3200400"/>
        </p:xfrm>
        <a:graphic>
          <a:graphicData uri="http://schemas.openxmlformats.org/drawingml/2006/table">
            <a:tbl>
              <a:tblPr firstRow="1" bandRow="1">
                <a:tableStyleId>{5C22544A-7EE6-4342-B048-85BDC9FD1C3A}</a:tableStyleId>
              </a:tblPr>
              <a:tblGrid>
                <a:gridCol w="2468880"/>
                <a:gridCol w="3703320"/>
                <a:gridCol w="2057400"/>
              </a:tblGrid>
              <a:tr h="365760">
                <a:tc>
                  <a:txBody>
                    <a:bodyPr wrap="square"/>
                    <a:lstStyle/>
                    <a:p>
                      <a:r>
                        <a:rPr sz="1000" b="1" i="0">
                          <a:solidFill>
                            <a:srgbClr val="FFFFFF"/>
                          </a:solidFill>
                          <a:latin typeface="Inter"/>
                        </a:rPr>
                        <a:t>Comment at Review 2</a:t>
                      </a:r>
                    </a:p>
                  </a:txBody>
                  <a:tcPr marL="73152" marR="73152" marT="36576" marB="36576" anchor="ctr">
                    <a:solidFill>
                      <a:srgbClr val="1B2A55"/>
                    </a:solidFill>
                  </a:tcPr>
                </a:tc>
                <a:tc>
                  <a:txBody>
                    <a:bodyPr wrap="square"/>
                    <a:lstStyle/>
                    <a:p>
                      <a:r>
                        <a:rPr sz="1000" b="1" i="0">
                          <a:solidFill>
                            <a:srgbClr val="FFFFFF"/>
                          </a:solidFill>
                          <a:latin typeface="Inter"/>
                        </a:rPr>
                        <a:t>What we did</a:t>
                      </a:r>
                    </a:p>
                  </a:txBody>
                  <a:tcPr marL="73152" marR="73152" marT="36576" marB="36576" anchor="ctr">
                    <a:solidFill>
                      <a:srgbClr val="1B2A55"/>
                    </a:solidFill>
                  </a:tcPr>
                </a:tc>
                <a:tc>
                  <a:txBody>
                    <a:bodyPr wrap="square"/>
                    <a:lstStyle/>
                    <a:p>
                      <a:r>
                        <a:rPr sz="1000" b="1" i="0">
                          <a:solidFill>
                            <a:srgbClr val="FFFFFF"/>
                          </a:solidFill>
                          <a:latin typeface="Inter"/>
                        </a:rPr>
                        <a:t>Evidence</a:t>
                      </a:r>
                    </a:p>
                  </a:txBody>
                  <a:tcPr marL="73152" marR="73152" marT="36576" marB="36576" anchor="ctr">
                    <a:solidFill>
                      <a:srgbClr val="1B2A55"/>
                    </a:solidFill>
                  </a:tcPr>
                </a:tc>
              </a:tr>
              <a:tr h="566928">
                <a:tc>
                  <a:txBody>
                    <a:bodyPr wrap="square"/>
                    <a:lstStyle/>
                    <a:p>
                      <a:r>
                        <a:rPr sz="1050" b="1" i="0">
                          <a:solidFill>
                            <a:srgbClr val="1B2A55"/>
                          </a:solidFill>
                          <a:latin typeface="Inter"/>
                        </a:rPr>
                        <a:t>Confirm the voter: OTP or face ID</a:t>
                      </a:r>
                    </a:p>
                  </a:txBody>
                  <a:tcPr marL="73152" marR="73152" marT="36576" marB="36576" anchor="ctr">
                    <a:solidFill>
                      <a:srgbClr val="FFFFFF"/>
                    </a:solidFill>
                  </a:tcPr>
                </a:tc>
                <a:tc>
                  <a:txBody>
                    <a:bodyPr wrap="square"/>
                    <a:lstStyle/>
                    <a:p>
                      <a:r>
                        <a:rPr sz="1050" b="0" i="0">
                          <a:solidFill>
                            <a:srgbClr val="353B4A"/>
                          </a:solidFill>
                          <a:latin typeface="Inter"/>
                        </a:rPr>
                        <a:t>Emailed one-time code after the password; separate verification database; admin outbox</a:t>
                      </a:r>
                    </a:p>
                  </a:txBody>
                  <a:tcPr marL="73152" marR="73152" marT="36576" marB="36576" anchor="ctr">
                    <a:solidFill>
                      <a:srgbClr val="FFFFFF"/>
                    </a:solidFill>
                  </a:tcPr>
                </a:tc>
                <a:tc>
                  <a:txBody>
                    <a:bodyPr wrap="square"/>
                    <a:lstStyle/>
                    <a:p>
                      <a:r>
                        <a:rPr sz="1050" b="0" i="0">
                          <a:solidFill>
                            <a:srgbClr val="353B4A"/>
                          </a:solidFill>
                          <a:latin typeface="Inter"/>
                        </a:rPr>
                        <a:t>14 of 14 OTP tests pass</a:t>
                      </a:r>
                    </a:p>
                  </a:txBody>
                  <a:tcPr marL="73152" marR="73152" marT="36576" marB="36576" anchor="ctr">
                    <a:solidFill>
                      <a:srgbClr val="FFFFFF"/>
                    </a:solidFill>
                  </a:tcPr>
                </a:tc>
              </a:tr>
              <a:tr h="566928">
                <a:tc>
                  <a:txBody>
                    <a:bodyPr wrap="square"/>
                    <a:lstStyle/>
                    <a:p>
                      <a:r>
                        <a:rPr sz="1050" b="1" i="0">
                          <a:solidFill>
                            <a:srgbClr val="1B2A55"/>
                          </a:solidFill>
                          <a:latin typeface="Inter"/>
                        </a:rPr>
                        <a:t>Finish MongoDB</a:t>
                      </a:r>
                    </a:p>
                  </a:txBody>
                  <a:tcPr marL="73152" marR="73152" marT="36576" marB="36576" anchor="ctr">
                    <a:solidFill>
                      <a:srgbClr val="F1F0F6"/>
                    </a:solidFill>
                  </a:tcPr>
                </a:tc>
                <a:tc>
                  <a:txBody>
                    <a:bodyPr wrap="square"/>
                    <a:lstStyle/>
                    <a:p>
                      <a:r>
                        <a:rPr sz="1050" b="0" i="0">
                          <a:solidFill>
                            <a:srgbClr val="353B4A"/>
                          </a:solidFill>
                          <a:latin typeface="Inter"/>
                        </a:rPr>
                        <a:t>Ledger now in MongoDB Atlas, unique-index concurrency control, file fallback, migration script</a:t>
                      </a:r>
                    </a:p>
                  </a:txBody>
                  <a:tcPr marL="73152" marR="73152" marT="36576" marB="36576" anchor="ctr">
                    <a:solidFill>
                      <a:srgbClr val="F1F0F6"/>
                    </a:solidFill>
                  </a:tcPr>
                </a:tc>
                <a:tc>
                  <a:txBody>
                    <a:bodyPr wrap="square"/>
                    <a:lstStyle/>
                    <a:p>
                      <a:r>
                        <a:rPr sz="1050" b="0" i="0">
                          <a:solidFill>
                            <a:srgbClr val="353B4A"/>
                          </a:solidFill>
                          <a:latin typeface="Inter"/>
                        </a:rPr>
                        <a:t>25 blocks migrated; live health endpoint</a:t>
                      </a:r>
                    </a:p>
                  </a:txBody>
                  <a:tcPr marL="73152" marR="73152" marT="36576" marB="36576" anchor="ctr">
                    <a:solidFill>
                      <a:srgbClr val="F1F0F6"/>
                    </a:solidFill>
                  </a:tcPr>
                </a:tc>
              </a:tr>
              <a:tr h="566928">
                <a:tc>
                  <a:txBody>
                    <a:bodyPr wrap="square"/>
                    <a:lstStyle/>
                    <a:p>
                      <a:r>
                        <a:rPr sz="1050" b="1" i="0">
                          <a:solidFill>
                            <a:srgbClr val="1B2A55"/>
                          </a:solidFill>
                          <a:latin typeface="Inter"/>
                        </a:rPr>
                        <a:t>Host it online</a:t>
                      </a:r>
                    </a:p>
                  </a:txBody>
                  <a:tcPr marL="73152" marR="73152" marT="36576" marB="36576" anchor="ctr">
                    <a:solidFill>
                      <a:srgbClr val="FFFFFF"/>
                    </a:solidFill>
                  </a:tcPr>
                </a:tc>
                <a:tc>
                  <a:txBody>
                    <a:bodyPr wrap="square"/>
                    <a:lstStyle/>
                    <a:p>
                      <a:r>
                        <a:rPr sz="1050" b="0" i="0">
                          <a:solidFill>
                            <a:srgbClr val="353B4A"/>
                          </a:solidFill>
                          <a:latin typeface="Inter"/>
                        </a:rPr>
                        <a:t>Public HTTPS link through a tunnel; QR code on the voter page for phones</a:t>
                      </a:r>
                    </a:p>
                  </a:txBody>
                  <a:tcPr marL="73152" marR="73152" marT="36576" marB="36576" anchor="ctr">
                    <a:solidFill>
                      <a:srgbClr val="FFFFFF"/>
                    </a:solidFill>
                  </a:tcPr>
                </a:tc>
                <a:tc>
                  <a:txBody>
                    <a:bodyPr wrap="square"/>
                    <a:lstStyle/>
                    <a:p>
                      <a:r>
                        <a:rPr sz="1050" b="0" i="0">
                          <a:solidFill>
                            <a:srgbClr val="353B4A"/>
                          </a:solidFill>
                          <a:latin typeface="Inter"/>
                        </a:rPr>
                        <a:t>Cast a ballot from a phone</a:t>
                      </a:r>
                    </a:p>
                  </a:txBody>
                  <a:tcPr marL="73152" marR="73152" marT="36576" marB="36576" anchor="ctr">
                    <a:solidFill>
                      <a:srgbClr val="FFFFFF"/>
                    </a:solidFill>
                  </a:tcPr>
                </a:tc>
              </a:tr>
              <a:tr h="566928">
                <a:tc>
                  <a:txBody>
                    <a:bodyPr wrap="square"/>
                    <a:lstStyle/>
                    <a:p>
                      <a:r>
                        <a:rPr sz="1050" b="1" i="0">
                          <a:solidFill>
                            <a:srgbClr val="1B2A55"/>
                          </a:solidFill>
                          <a:latin typeface="Inter"/>
                        </a:rPr>
                        <a:t>Prove it is better</a:t>
                      </a:r>
                    </a:p>
                  </a:txBody>
                  <a:tcPr marL="73152" marR="73152" marT="36576" marB="36576" anchor="ctr">
                    <a:solidFill>
                      <a:srgbClr val="F1F0F6"/>
                    </a:solidFill>
                  </a:tcPr>
                </a:tc>
                <a:tc>
                  <a:txBody>
                    <a:bodyPr wrap="square"/>
                    <a:lstStyle/>
                    <a:p>
                      <a:r>
                        <a:rPr sz="1050" b="0" i="0">
                          <a:solidFill>
                            <a:srgbClr val="353B4A"/>
                          </a:solidFill>
                          <a:latin typeface="Inter"/>
                        </a:rPr>
                        <a:t>47-scenario executable suite run on the Review 2 design and the final design</a:t>
                      </a:r>
                    </a:p>
                  </a:txBody>
                  <a:tcPr marL="73152" marR="73152" marT="36576" marB="36576" anchor="ctr">
                    <a:solidFill>
                      <a:srgbClr val="F1F0F6"/>
                    </a:solidFill>
                  </a:tcPr>
                </a:tc>
                <a:tc>
                  <a:txBody>
                    <a:bodyPr wrap="square"/>
                    <a:lstStyle/>
                    <a:p>
                      <a:r>
                        <a:rPr sz="1050" b="0" i="0">
                          <a:solidFill>
                            <a:srgbClr val="353B4A"/>
                          </a:solidFill>
                          <a:latin typeface="Inter"/>
                        </a:rPr>
                        <a:t>6 of 13 to 12 of 13 attacks caught</a:t>
                      </a:r>
                    </a:p>
                  </a:txBody>
                  <a:tcPr marL="73152" marR="73152" marT="36576" marB="36576" anchor="ctr">
                    <a:solidFill>
                      <a:srgbClr val="F1F0F6"/>
                    </a:solidFill>
                  </a:tcPr>
                </a:tc>
              </a:tr>
              <a:tr h="566928">
                <a:tc>
                  <a:txBody>
                    <a:bodyPr wrap="square"/>
                    <a:lstStyle/>
                    <a:p>
                      <a:r>
                        <a:rPr sz="1050" b="1" i="0">
                          <a:solidFill>
                            <a:srgbClr val="1B2A55"/>
                          </a:solidFill>
                          <a:latin typeface="Inter"/>
                        </a:rPr>
                        <a:t>Weak spots we knew about</a:t>
                      </a:r>
                    </a:p>
                  </a:txBody>
                  <a:tcPr marL="73152" marR="73152" marT="36576" marB="36576" anchor="ctr">
                    <a:solidFill>
                      <a:srgbClr val="FFFFFF"/>
                    </a:solidFill>
                  </a:tcPr>
                </a:tc>
                <a:tc>
                  <a:txBody>
                    <a:bodyPr wrap="square"/>
                    <a:lstStyle/>
                    <a:p>
                      <a:r>
                        <a:rPr sz="1050" b="0" i="0">
                          <a:solidFill>
                            <a:srgbClr val="353B4A"/>
                          </a:solidFill>
                          <a:latin typeface="Inter"/>
                        </a:rPr>
                        <a:t>Injected ballots, forged receipts, rewritten chains, renamed candidates</a:t>
                      </a:r>
                    </a:p>
                  </a:txBody>
                  <a:tcPr marL="73152" marR="73152" marT="36576" marB="36576" anchor="ctr">
                    <a:solidFill>
                      <a:srgbClr val="FFFFFF"/>
                    </a:solidFill>
                  </a:tcPr>
                </a:tc>
                <a:tc>
                  <a:txBody>
                    <a:bodyPr wrap="square"/>
                    <a:lstStyle/>
                    <a:p>
                      <a:r>
                        <a:rPr sz="1050" b="0" i="0">
                          <a:solidFill>
                            <a:srgbClr val="353B4A"/>
                          </a:solidFill>
                          <a:latin typeface="Inter"/>
                        </a:rPr>
                        <a:t>Each has a test and a fix</a:t>
                      </a:r>
                    </a:p>
                  </a:txBody>
                  <a:tcPr marL="73152" marR="73152" marT="36576" marB="36576" anchor="ctr">
                    <a:solidFill>
                      <a:srgbClr val="FFFFFF"/>
                    </a:solidFill>
                  </a:tcPr>
                </a:tc>
              </a:tr>
            </a:tbl>
          </a:graphicData>
        </a:graphic>
      </p:graphicFrame>
      <p:sp>
        <p:nvSpPr>
          <p:cNvPr id="7" name="TextBox 6"/>
          <p:cNvSpPr txBox="1"/>
          <p:nvPr/>
        </p:nvSpPr>
        <p:spPr>
          <a:xfrm>
            <a:off x="457200" y="4343400"/>
            <a:ext cx="8229600" cy="457200"/>
          </a:xfrm>
          <a:prstGeom prst="rect">
            <a:avLst/>
          </a:prstGeom>
          <a:noFill/>
        </p:spPr>
        <p:txBody>
          <a:bodyPr wrap="square" anchor="t" lIns="0" rIns="0" tIns="0" bIns="0">
            <a:spAutoFit/>
          </a:bodyPr>
          <a:lstStyle/>
          <a:p>
            <a:pPr algn="l">
              <a:spcAft>
                <a:spcPts val="0"/>
              </a:spcAft>
            </a:pPr>
            <a:r>
              <a:rPr sz="1100" b="0" i="1">
                <a:solidFill>
                  <a:srgbClr val="666A78"/>
                </a:solidFill>
                <a:latin typeface="Inter"/>
              </a:rPr>
              <a:t>Where we say "future work", it is because the design needs something we cannot add honestly in one semester, and we say what.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THE WHOLE PROJECT · WHY IT EXISTS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Small elections need ranked results and proof</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5</a:t>
            </a:r>
          </a:p>
        </p:txBody>
      </p:sp>
      <p:sp>
        <p:nvSpPr>
          <p:cNvPr id="6" name="Rounded Rectangle 5"/>
          <p:cNvSpPr/>
          <p:nvPr/>
        </p:nvSpPr>
        <p:spPr>
          <a:xfrm>
            <a:off x="457200" y="1097280"/>
            <a:ext cx="2587752" cy="224028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1367028"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THE PROBLEM</a:t>
            </a:r>
          </a:p>
        </p:txBody>
      </p:sp>
      <p:sp>
        <p:nvSpPr>
          <p:cNvPr id="8" name="TextBox 7"/>
          <p:cNvSpPr txBox="1"/>
          <p:nvPr/>
        </p:nvSpPr>
        <p:spPr>
          <a:xfrm>
            <a:off x="640080" y="1572768"/>
            <a:ext cx="2240280" cy="256032"/>
          </a:xfrm>
          <a:prstGeom prst="rect">
            <a:avLst/>
          </a:prstGeom>
          <a:noFill/>
        </p:spPr>
        <p:txBody>
          <a:bodyPr wrap="square" anchor="t" lIns="0" rIns="0" tIns="0" bIns="0">
            <a:spAutoFit/>
          </a:bodyPr>
          <a:lstStyle/>
          <a:p>
            <a:pPr algn="l">
              <a:spcAft>
                <a:spcPts val="0"/>
              </a:spcAft>
            </a:pPr>
            <a:r>
              <a:rPr sz="1400" b="1" i="0">
                <a:solidFill>
                  <a:srgbClr val="1B2A55"/>
                </a:solidFill>
                <a:latin typeface="Inter"/>
              </a:rPr>
              <a:t>Small elections today</a:t>
            </a:r>
          </a:p>
        </p:txBody>
      </p:sp>
      <p:sp>
        <p:nvSpPr>
          <p:cNvPr id="9" name="TextBox 8"/>
          <p:cNvSpPr txBox="1"/>
          <p:nvPr/>
        </p:nvSpPr>
        <p:spPr>
          <a:xfrm>
            <a:off x="640080" y="1901952"/>
            <a:ext cx="2240280" cy="1371600"/>
          </a:xfrm>
          <a:prstGeom prst="rect">
            <a:avLst/>
          </a:prstGeom>
          <a:noFill/>
        </p:spPr>
        <p:txBody>
          <a:bodyPr wrap="square" anchor="t" lIns="0" rIns="0" tIns="0" bIns="0">
            <a:spAutoFit/>
          </a:bodyPr>
          <a:lstStyle/>
          <a:p>
            <a:pPr algn="l">
              <a:spcAft>
                <a:spcPts val="0"/>
              </a:spcAft>
            </a:pPr>
            <a:r>
              <a:rPr sz="1150" b="0" i="0">
                <a:solidFill>
                  <a:srgbClr val="353B4A"/>
                </a:solidFill>
                <a:latin typeface="Inter"/>
              </a:rPr>
              <a:t>Clubs, councils and classes use form tools or one-table apps: one password per voter, results held by whoever has access, and no way to show that a vote was not edited afterwards.</a:t>
            </a:r>
          </a:p>
        </p:txBody>
      </p:sp>
      <p:sp>
        <p:nvSpPr>
          <p:cNvPr id="10" name="Rounded Rectangle 9"/>
          <p:cNvSpPr/>
          <p:nvPr/>
        </p:nvSpPr>
        <p:spPr>
          <a:xfrm>
            <a:off x="3282696" y="1097280"/>
            <a:ext cx="2587752" cy="224028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65576" y="1225296"/>
            <a:ext cx="1078992"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THE GOAL</a:t>
            </a:r>
          </a:p>
        </p:txBody>
      </p:sp>
      <p:sp>
        <p:nvSpPr>
          <p:cNvPr id="12" name="TextBox 11"/>
          <p:cNvSpPr txBox="1"/>
          <p:nvPr/>
        </p:nvSpPr>
        <p:spPr>
          <a:xfrm>
            <a:off x="3465576" y="1572768"/>
            <a:ext cx="2240280" cy="256032"/>
          </a:xfrm>
          <a:prstGeom prst="rect">
            <a:avLst/>
          </a:prstGeom>
          <a:noFill/>
        </p:spPr>
        <p:txBody>
          <a:bodyPr wrap="square" anchor="t" lIns="0" rIns="0" tIns="0" bIns="0">
            <a:spAutoFit/>
          </a:bodyPr>
          <a:lstStyle/>
          <a:p>
            <a:pPr algn="l">
              <a:spcAft>
                <a:spcPts val="0"/>
              </a:spcAft>
            </a:pPr>
            <a:r>
              <a:rPr sz="1400" b="1" i="0">
                <a:solidFill>
                  <a:srgbClr val="1B2A55"/>
                </a:solidFill>
                <a:latin typeface="Inter"/>
              </a:rPr>
              <a:t>What PolyVote does</a:t>
            </a:r>
          </a:p>
        </p:txBody>
      </p:sp>
      <p:sp>
        <p:nvSpPr>
          <p:cNvPr id="13" name="TextBox 12"/>
          <p:cNvSpPr txBox="1"/>
          <p:nvPr/>
        </p:nvSpPr>
        <p:spPr>
          <a:xfrm>
            <a:off x="3465576" y="1901952"/>
            <a:ext cx="2240280" cy="1371600"/>
          </a:xfrm>
          <a:prstGeom prst="rect">
            <a:avLst/>
          </a:prstGeom>
          <a:noFill/>
        </p:spPr>
        <p:txBody>
          <a:bodyPr wrap="square" anchor="t" lIns="0" rIns="0" tIns="0" bIns="0">
            <a:spAutoFit/>
          </a:bodyPr>
          <a:lstStyle/>
          <a:p>
            <a:pPr algn="l">
              <a:spcAft>
                <a:spcPts val="0"/>
              </a:spcAft>
            </a:pPr>
            <a:r>
              <a:rPr sz="1150" b="0" i="0">
                <a:solidFill>
                  <a:srgbClr val="353B4A"/>
                </a:solidFill>
                <a:latin typeface="Inter"/>
              </a:rPr>
              <a:t>Run ranked-choice (instant-runoff) elections for many organisations, keep ballots anonymous in storage, and make later tampering detectable with checks anyone can rerun.</a:t>
            </a:r>
          </a:p>
        </p:txBody>
      </p:sp>
      <p:sp>
        <p:nvSpPr>
          <p:cNvPr id="14" name="Rounded Rectangle 13"/>
          <p:cNvSpPr/>
          <p:nvPr/>
        </p:nvSpPr>
        <p:spPr>
          <a:xfrm>
            <a:off x="6108192" y="1097280"/>
            <a:ext cx="2587752" cy="224028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225296"/>
            <a:ext cx="127101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THE METHOD</a:t>
            </a:r>
          </a:p>
        </p:txBody>
      </p:sp>
      <p:sp>
        <p:nvSpPr>
          <p:cNvPr id="16" name="TextBox 15"/>
          <p:cNvSpPr txBox="1"/>
          <p:nvPr/>
        </p:nvSpPr>
        <p:spPr>
          <a:xfrm>
            <a:off x="6291072" y="1572768"/>
            <a:ext cx="2240280" cy="256032"/>
          </a:xfrm>
          <a:prstGeom prst="rect">
            <a:avLst/>
          </a:prstGeom>
          <a:noFill/>
        </p:spPr>
        <p:txBody>
          <a:bodyPr wrap="square" anchor="t" lIns="0" rIns="0" tIns="0" bIns="0">
            <a:spAutoFit/>
          </a:bodyPr>
          <a:lstStyle/>
          <a:p>
            <a:pPr algn="l">
              <a:spcAft>
                <a:spcPts val="0"/>
              </a:spcAft>
            </a:pPr>
            <a:r>
              <a:rPr sz="1400" b="1" i="0">
                <a:solidFill>
                  <a:srgbClr val="1B2A55"/>
                </a:solidFill>
                <a:latin typeface="Inter"/>
              </a:rPr>
              <a:t>Database first</a:t>
            </a:r>
          </a:p>
        </p:txBody>
      </p:sp>
      <p:sp>
        <p:nvSpPr>
          <p:cNvPr id="17" name="TextBox 16"/>
          <p:cNvSpPr txBox="1"/>
          <p:nvPr/>
        </p:nvSpPr>
        <p:spPr>
          <a:xfrm>
            <a:off x="6291072" y="1901952"/>
            <a:ext cx="2240280" cy="1371600"/>
          </a:xfrm>
          <a:prstGeom prst="rect">
            <a:avLst/>
          </a:prstGeom>
          <a:noFill/>
        </p:spPr>
        <p:txBody>
          <a:bodyPr wrap="square" anchor="t" lIns="0" rIns="0" tIns="0" bIns="0">
            <a:spAutoFit/>
          </a:bodyPr>
          <a:lstStyle/>
          <a:p>
            <a:pPr algn="l">
              <a:spcAft>
                <a:spcPts val="0"/>
              </a:spcAft>
            </a:pPr>
            <a:r>
              <a:rPr sz="1150" b="0" i="0">
                <a:solidFill>
                  <a:srgbClr val="353B4A"/>
                </a:solidFill>
                <a:latin typeface="Inter"/>
              </a:rPr>
              <a:t>Rules live in the database (trigger, CHECK, UNIQUE, foreign keys); a second store holds a keyed hash-chain ledger; an executable suite attacks the design and reports what it catches.</a:t>
            </a:r>
          </a:p>
        </p:txBody>
      </p:sp>
      <p:sp>
        <p:nvSpPr>
          <p:cNvPr id="18" name="Rounded Rectangle 17"/>
          <p:cNvSpPr/>
          <p:nvPr/>
        </p:nvSpPr>
        <p:spPr>
          <a:xfrm>
            <a:off x="457200" y="3520440"/>
            <a:ext cx="2587752"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566160"/>
            <a:ext cx="1325880" cy="1005840"/>
          </a:xfrm>
          <a:prstGeom prst="rect">
            <a:avLst/>
          </a:prstGeom>
          <a:noFill/>
        </p:spPr>
        <p:txBody>
          <a:bodyPr wrap="square" anchor="ctr" lIns="0" rIns="0" tIns="0" bIns="0">
            <a:spAutoFit/>
          </a:bodyPr>
          <a:lstStyle/>
          <a:p>
            <a:pPr algn="l">
              <a:spcAft>
                <a:spcPts val="0"/>
              </a:spcAft>
            </a:pPr>
            <a:r>
              <a:rPr sz="2600" b="1" i="0">
                <a:solidFill>
                  <a:srgbClr val="1B2A55"/>
                </a:solidFill>
                <a:latin typeface="Inter"/>
              </a:rPr>
              <a:t>47</a:t>
            </a:r>
          </a:p>
        </p:txBody>
      </p:sp>
      <p:sp>
        <p:nvSpPr>
          <p:cNvPr id="20" name="TextBox 19"/>
          <p:cNvSpPr txBox="1"/>
          <p:nvPr/>
        </p:nvSpPr>
        <p:spPr>
          <a:xfrm>
            <a:off x="1920240" y="3611880"/>
            <a:ext cx="1051560" cy="914400"/>
          </a:xfrm>
          <a:prstGeom prst="rect">
            <a:avLst/>
          </a:prstGeom>
          <a:noFill/>
        </p:spPr>
        <p:txBody>
          <a:bodyPr wrap="square" anchor="ctr" lIns="0" rIns="0" tIns="0" bIns="0">
            <a:spAutoFit/>
          </a:bodyPr>
          <a:lstStyle/>
          <a:p>
            <a:pPr algn="l">
              <a:spcAft>
                <a:spcPts val="0"/>
              </a:spcAft>
            </a:pPr>
            <a:r>
              <a:rPr sz="1000" b="0" i="0">
                <a:solidFill>
                  <a:srgbClr val="353B4A"/>
                </a:solidFill>
                <a:latin typeface="Inter"/>
              </a:rPr>
              <a:t>executable test scenarios</a:t>
            </a:r>
          </a:p>
        </p:txBody>
      </p:sp>
      <p:sp>
        <p:nvSpPr>
          <p:cNvPr id="21" name="Rounded Rectangle 20"/>
          <p:cNvSpPr/>
          <p:nvPr/>
        </p:nvSpPr>
        <p:spPr>
          <a:xfrm>
            <a:off x="3282696" y="3520440"/>
            <a:ext cx="2587752"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19856" y="3566160"/>
            <a:ext cx="1325880" cy="1005840"/>
          </a:xfrm>
          <a:prstGeom prst="rect">
            <a:avLst/>
          </a:prstGeom>
          <a:noFill/>
        </p:spPr>
        <p:txBody>
          <a:bodyPr wrap="square" anchor="ctr" lIns="0" rIns="0" tIns="0" bIns="0">
            <a:spAutoFit/>
          </a:bodyPr>
          <a:lstStyle/>
          <a:p>
            <a:pPr algn="l">
              <a:spcAft>
                <a:spcPts val="0"/>
              </a:spcAft>
            </a:pPr>
            <a:r>
              <a:rPr sz="2600" b="1" i="0">
                <a:solidFill>
                  <a:srgbClr val="1B2A55"/>
                </a:solidFill>
                <a:latin typeface="Inter"/>
              </a:rPr>
              <a:t>12 of 13</a:t>
            </a:r>
          </a:p>
        </p:txBody>
      </p:sp>
      <p:sp>
        <p:nvSpPr>
          <p:cNvPr id="23" name="TextBox 22"/>
          <p:cNvSpPr txBox="1"/>
          <p:nvPr/>
        </p:nvSpPr>
        <p:spPr>
          <a:xfrm>
            <a:off x="4745736" y="3611880"/>
            <a:ext cx="1051560" cy="914400"/>
          </a:xfrm>
          <a:prstGeom prst="rect">
            <a:avLst/>
          </a:prstGeom>
          <a:noFill/>
        </p:spPr>
        <p:txBody>
          <a:bodyPr wrap="square" anchor="ctr" lIns="0" rIns="0" tIns="0" bIns="0">
            <a:spAutoFit/>
          </a:bodyPr>
          <a:lstStyle/>
          <a:p>
            <a:pPr algn="l">
              <a:spcAft>
                <a:spcPts val="0"/>
              </a:spcAft>
            </a:pPr>
            <a:r>
              <a:rPr sz="1000" b="0" i="0">
                <a:solidFill>
                  <a:srgbClr val="353B4A"/>
                </a:solidFill>
                <a:latin typeface="Inter"/>
              </a:rPr>
              <a:t>tampering attacks caught automatically</a:t>
            </a:r>
          </a:p>
        </p:txBody>
      </p:sp>
      <p:sp>
        <p:nvSpPr>
          <p:cNvPr id="24" name="Rounded Rectangle 23"/>
          <p:cNvSpPr/>
          <p:nvPr/>
        </p:nvSpPr>
        <p:spPr>
          <a:xfrm>
            <a:off x="6108192" y="3520440"/>
            <a:ext cx="2587752"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5352" y="3566160"/>
            <a:ext cx="1325880" cy="1005840"/>
          </a:xfrm>
          <a:prstGeom prst="rect">
            <a:avLst/>
          </a:prstGeom>
          <a:noFill/>
        </p:spPr>
        <p:txBody>
          <a:bodyPr wrap="square" anchor="ctr" lIns="0" rIns="0" tIns="0" bIns="0">
            <a:spAutoFit/>
          </a:bodyPr>
          <a:lstStyle/>
          <a:p>
            <a:pPr algn="l">
              <a:spcAft>
                <a:spcPts val="0"/>
              </a:spcAft>
            </a:pPr>
            <a:r>
              <a:rPr sz="2600" b="1" i="0">
                <a:solidFill>
                  <a:srgbClr val="1B2A55"/>
                </a:solidFill>
                <a:latin typeface="Inter"/>
              </a:rPr>
              <a:t>3</a:t>
            </a:r>
          </a:p>
        </p:txBody>
      </p:sp>
      <p:sp>
        <p:nvSpPr>
          <p:cNvPr id="26" name="TextBox 25"/>
          <p:cNvSpPr txBox="1"/>
          <p:nvPr/>
        </p:nvSpPr>
        <p:spPr>
          <a:xfrm>
            <a:off x="7571231" y="3611880"/>
            <a:ext cx="1051560" cy="914400"/>
          </a:xfrm>
          <a:prstGeom prst="rect">
            <a:avLst/>
          </a:prstGeom>
          <a:noFill/>
        </p:spPr>
        <p:txBody>
          <a:bodyPr wrap="square" anchor="ctr" lIns="0" rIns="0" tIns="0" bIns="0">
            <a:spAutoFit/>
          </a:bodyPr>
          <a:lstStyle/>
          <a:p>
            <a:pPr algn="l">
              <a:spcAft>
                <a:spcPts val="0"/>
              </a:spcAft>
            </a:pPr>
            <a:r>
              <a:rPr sz="1000" b="0" i="0">
                <a:solidFill>
                  <a:srgbClr val="353B4A"/>
                </a:solidFill>
                <a:latin typeface="Inter"/>
              </a:rPr>
              <a:t>separate stores: election, verification, ledger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THE WHOLE PROJECT · WHAT IT DOES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The whole system in four screens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6</a:t>
            </a:r>
          </a:p>
        </p:txBody>
      </p:sp>
      <p:pic>
        <p:nvPicPr>
          <p:cNvPr id="6" name="Picture 5" descr="tour_web_home.png"/>
          <p:cNvPicPr>
            <a:picLocks noChangeAspect="1"/>
          </p:cNvPicPr>
          <p:nvPr/>
        </p:nvPicPr>
        <p:blipFill>
          <a:blip r:embed="rId2"/>
          <a:stretch>
            <a:fillRect/>
          </a:stretch>
        </p:blipFill>
        <p:spPr>
          <a:xfrm>
            <a:off x="754061" y="1051560"/>
            <a:ext cx="3429637" cy="1536192"/>
          </a:xfrm>
          <a:prstGeom prst="rect">
            <a:avLst/>
          </a:prstGeom>
          <a:ln w="12700">
            <a:solidFill>
              <a:srgbClr val="D9D9E4"/>
            </a:solidFill>
          </a:ln>
        </p:spPr>
      </p:pic>
      <p:sp>
        <p:nvSpPr>
          <p:cNvPr id="7" name="TextBox 6"/>
          <p:cNvSpPr txBox="1"/>
          <p:nvPr/>
        </p:nvSpPr>
        <p:spPr>
          <a:xfrm>
            <a:off x="457200" y="2624328"/>
            <a:ext cx="4023360" cy="274320"/>
          </a:xfrm>
          <a:prstGeom prst="rect">
            <a:avLst/>
          </a:prstGeom>
          <a:noFill/>
        </p:spPr>
        <p:txBody>
          <a:bodyPr wrap="square" anchor="t" lIns="0" rIns="0" tIns="0" bIns="0">
            <a:spAutoFit/>
          </a:bodyPr>
          <a:lstStyle/>
          <a:p>
            <a:pPr algn="ctr">
              <a:spcAft>
                <a:spcPts val="0"/>
              </a:spcAft>
            </a:pPr>
            <a:r>
              <a:rPr sz="950" b="1" i="0">
                <a:solidFill>
                  <a:srgbClr val="1B2A55"/>
                </a:solidFill>
                <a:latin typeface="Inter"/>
              </a:rPr>
              <a:t>Voter site: open elections, receipt check, plain-language features</a:t>
            </a:r>
          </a:p>
        </p:txBody>
      </p:sp>
      <p:pic>
        <p:nvPicPr>
          <p:cNvPr id="8" name="Picture 7" descr="tour_admin_voters_email.png"/>
          <p:cNvPicPr>
            <a:picLocks noChangeAspect="1"/>
          </p:cNvPicPr>
          <p:nvPr/>
        </p:nvPicPr>
        <p:blipFill>
          <a:blip r:embed="rId3"/>
          <a:stretch>
            <a:fillRect/>
          </a:stretch>
        </p:blipFill>
        <p:spPr>
          <a:xfrm>
            <a:off x="4663440" y="1053488"/>
            <a:ext cx="4023360" cy="1532334"/>
          </a:xfrm>
          <a:prstGeom prst="rect">
            <a:avLst/>
          </a:prstGeom>
          <a:ln w="12700">
            <a:solidFill>
              <a:srgbClr val="D9D9E4"/>
            </a:solidFill>
          </a:ln>
        </p:spPr>
      </p:pic>
      <p:sp>
        <p:nvSpPr>
          <p:cNvPr id="9" name="TextBox 8"/>
          <p:cNvSpPr txBox="1"/>
          <p:nvPr/>
        </p:nvSpPr>
        <p:spPr>
          <a:xfrm>
            <a:off x="4663440" y="2624328"/>
            <a:ext cx="4023360" cy="274320"/>
          </a:xfrm>
          <a:prstGeom prst="rect">
            <a:avLst/>
          </a:prstGeom>
          <a:noFill/>
        </p:spPr>
        <p:txBody>
          <a:bodyPr wrap="square" anchor="t" lIns="0" rIns="0" tIns="0" bIns="0">
            <a:spAutoFit/>
          </a:bodyPr>
          <a:lstStyle/>
          <a:p>
            <a:pPr algn="ctr">
              <a:spcAft>
                <a:spcPts val="0"/>
              </a:spcAft>
            </a:pPr>
            <a:r>
              <a:rPr sz="950" b="1" i="0">
                <a:solidFill>
                  <a:srgbClr val="1B2A55"/>
                </a:solidFill>
                <a:latin typeface="Inter"/>
              </a:rPr>
              <a:t>Admin: voter roster with the email used for the one-time code</a:t>
            </a:r>
          </a:p>
        </p:txBody>
      </p:sp>
      <p:pic>
        <p:nvPicPr>
          <p:cNvPr id="10" name="Picture 9" descr="tour_admin_results_clean.png"/>
          <p:cNvPicPr>
            <a:picLocks noChangeAspect="1"/>
          </p:cNvPicPr>
          <p:nvPr/>
        </p:nvPicPr>
        <p:blipFill>
          <a:blip r:embed="rId4"/>
          <a:stretch>
            <a:fillRect/>
          </a:stretch>
        </p:blipFill>
        <p:spPr>
          <a:xfrm>
            <a:off x="631192" y="2971800"/>
            <a:ext cx="3675375" cy="1536192"/>
          </a:xfrm>
          <a:prstGeom prst="rect">
            <a:avLst/>
          </a:prstGeom>
          <a:ln w="12700">
            <a:solidFill>
              <a:srgbClr val="D9D9E4"/>
            </a:solidFill>
          </a:ln>
        </p:spPr>
      </p:pic>
      <p:sp>
        <p:nvSpPr>
          <p:cNvPr id="11" name="TextBox 10"/>
          <p:cNvSpPr txBox="1"/>
          <p:nvPr/>
        </p:nvSpPr>
        <p:spPr>
          <a:xfrm>
            <a:off x="457200" y="4544568"/>
            <a:ext cx="4023360" cy="274320"/>
          </a:xfrm>
          <a:prstGeom prst="rect">
            <a:avLst/>
          </a:prstGeom>
          <a:noFill/>
        </p:spPr>
        <p:txBody>
          <a:bodyPr wrap="square" anchor="t" lIns="0" rIns="0" tIns="0" bIns="0">
            <a:spAutoFit/>
          </a:bodyPr>
          <a:lstStyle/>
          <a:p>
            <a:pPr algn="ctr">
              <a:spcAft>
                <a:spcPts val="0"/>
              </a:spcAft>
            </a:pPr>
            <a:r>
              <a:rPr sz="950" b="1" i="0">
                <a:solidFill>
                  <a:srgbClr val="1B2A55"/>
                </a:solidFill>
                <a:latin typeface="Inter"/>
              </a:rPr>
              <a:t>Admin: integrity sweep (46 / 46 / 46) and the instant-runoff tally</a:t>
            </a:r>
          </a:p>
        </p:txBody>
      </p:sp>
      <p:pic>
        <p:nvPicPr>
          <p:cNvPr id="12" name="Picture 11" descr="tour_admin_ledger.png"/>
          <p:cNvPicPr>
            <a:picLocks noChangeAspect="1"/>
          </p:cNvPicPr>
          <p:nvPr/>
        </p:nvPicPr>
        <p:blipFill>
          <a:blip r:embed="rId5"/>
          <a:stretch>
            <a:fillRect/>
          </a:stretch>
        </p:blipFill>
        <p:spPr>
          <a:xfrm>
            <a:off x="4673877" y="2971800"/>
            <a:ext cx="4002485" cy="1536192"/>
          </a:xfrm>
          <a:prstGeom prst="rect">
            <a:avLst/>
          </a:prstGeom>
          <a:ln w="12700">
            <a:solidFill>
              <a:srgbClr val="D9D9E4"/>
            </a:solidFill>
          </a:ln>
        </p:spPr>
      </p:pic>
      <p:sp>
        <p:nvSpPr>
          <p:cNvPr id="13" name="TextBox 12"/>
          <p:cNvSpPr txBox="1"/>
          <p:nvPr/>
        </p:nvSpPr>
        <p:spPr>
          <a:xfrm>
            <a:off x="4663440" y="4544568"/>
            <a:ext cx="4023360" cy="274320"/>
          </a:xfrm>
          <a:prstGeom prst="rect">
            <a:avLst/>
          </a:prstGeom>
          <a:noFill/>
        </p:spPr>
        <p:txBody>
          <a:bodyPr wrap="square" anchor="t" lIns="0" rIns="0" tIns="0" bIns="0">
            <a:spAutoFit/>
          </a:bodyPr>
          <a:lstStyle/>
          <a:p>
            <a:pPr algn="ctr">
              <a:spcAft>
                <a:spcPts val="0"/>
              </a:spcAft>
            </a:pPr>
            <a:r>
              <a:rPr sz="950" b="1" i="0">
                <a:solidFill>
                  <a:srgbClr val="1B2A55"/>
                </a:solidFill>
                <a:latin typeface="Inter"/>
              </a:rPr>
              <a:t>Admin: audit ledger, chain intact, 46 receipts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THE WHOLE PROJECT · COUNTING</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Instant-runoff counting, round by round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7</a:t>
            </a:r>
          </a:p>
        </p:txBody>
      </p:sp>
      <p:sp>
        <p:nvSpPr>
          <p:cNvPr id="6" name="TextBox 5"/>
          <p:cNvSpPr txBox="1"/>
          <p:nvPr/>
        </p:nvSpPr>
        <p:spPr>
          <a:xfrm>
            <a:off x="457200" y="1143000"/>
            <a:ext cx="3931920" cy="3566160"/>
          </a:xfrm>
          <a:prstGeom prst="rect">
            <a:avLst/>
          </a:prstGeom>
          <a:noFill/>
        </p:spPr>
        <p:txBody>
          <a:bodyPr wrap="square" anchor="t" lIns="0" rIns="0" tIns="0" bIns="0">
            <a:spAutoFit/>
          </a:bodyPr>
          <a:lstStyle/>
          <a:p>
            <a:pPr algn="l">
              <a:spcAft>
                <a:spcPts val="500"/>
              </a:spcAft>
            </a:pPr>
            <a:r>
              <a:rPr sz="1050" b="1" i="0">
                <a:solidFill>
                  <a:srgbClr val="1B2A55"/>
                </a:solidFill>
                <a:latin typeface="Inter"/>
              </a:rPr>
              <a:t>•  </a:t>
            </a:r>
            <a:r>
              <a:rPr sz="1050" b="1" i="0">
                <a:solidFill>
                  <a:srgbClr val="1B2A55"/>
                </a:solidFill>
                <a:latin typeface="Inter"/>
              </a:rPr>
              <a:t>Rank:</a:t>
            </a:r>
            <a:r>
              <a:rPr sz="1050" b="0" i="0">
                <a:solidFill>
                  <a:srgbClr val="353B4A"/>
                </a:solidFill>
                <a:latin typeface="Inter"/>
              </a:rPr>
              <a:t> each voter ranks up to three candidates.</a:t>
            </a:r>
          </a:p>
          <a:p>
            <a:pPr algn="l">
              <a:spcAft>
                <a:spcPts val="500"/>
              </a:spcAft>
            </a:pPr>
            <a:r>
              <a:rPr sz="1050" b="1" i="0">
                <a:solidFill>
                  <a:srgbClr val="1B2A55"/>
                </a:solidFill>
                <a:latin typeface="Inter"/>
              </a:rPr>
              <a:t>•  </a:t>
            </a:r>
            <a:r>
              <a:rPr sz="1050" b="1" i="0">
                <a:solidFill>
                  <a:srgbClr val="1B2A55"/>
                </a:solidFill>
                <a:latin typeface="Inter"/>
              </a:rPr>
              <a:t>Count:</a:t>
            </a:r>
            <a:r>
              <a:rPr sz="1050" b="0" i="0">
                <a:solidFill>
                  <a:srgbClr val="353B4A"/>
                </a:solidFill>
                <a:latin typeface="Inter"/>
              </a:rPr>
              <a:t> first choices are counted; a majority of continuing ballots wins.</a:t>
            </a:r>
          </a:p>
          <a:p>
            <a:pPr algn="l">
              <a:spcAft>
                <a:spcPts val="500"/>
              </a:spcAft>
            </a:pPr>
            <a:r>
              <a:rPr sz="1050" b="1" i="0">
                <a:solidFill>
                  <a:srgbClr val="1B2A55"/>
                </a:solidFill>
                <a:latin typeface="Inter"/>
              </a:rPr>
              <a:t>•  </a:t>
            </a:r>
            <a:r>
              <a:rPr sz="1050" b="1" i="0">
                <a:solidFill>
                  <a:srgbClr val="1B2A55"/>
                </a:solidFill>
                <a:latin typeface="Inter"/>
              </a:rPr>
              <a:t>Eliminate:</a:t>
            </a:r>
            <a:r>
              <a:rPr sz="1050" b="0" i="0">
                <a:solidFill>
                  <a:srgbClr val="353B4A"/>
                </a:solidFill>
                <a:latin typeface="Inter"/>
              </a:rPr>
              <a:t> otherwise the last-place candidate drops out and those ballots move to their next choice.</a:t>
            </a:r>
          </a:p>
          <a:p>
            <a:pPr algn="l">
              <a:spcAft>
                <a:spcPts val="500"/>
              </a:spcAft>
            </a:pPr>
            <a:r>
              <a:rPr sz="1050" b="1" i="0">
                <a:solidFill>
                  <a:srgbClr val="1B2A55"/>
                </a:solidFill>
                <a:latin typeface="Inter"/>
              </a:rPr>
              <a:t>•  </a:t>
            </a:r>
            <a:r>
              <a:rPr sz="1050" b="1" i="0">
                <a:solidFill>
                  <a:srgbClr val="1B2A55"/>
                </a:solidFill>
                <a:latin typeface="Inter"/>
              </a:rPr>
              <a:t>Repeat:</a:t>
            </a:r>
            <a:r>
              <a:rPr sz="1050" b="0" i="0">
                <a:solidFill>
                  <a:srgbClr val="353B4A"/>
                </a:solidFill>
                <a:latin typeface="Inter"/>
              </a:rPr>
              <a:t> until someone holds a majority.</a:t>
            </a:r>
          </a:p>
          <a:p>
            <a:pPr algn="l">
              <a:spcAft>
                <a:spcPts val="500"/>
              </a:spcAft>
            </a:pPr>
            <a:r>
              <a:rPr sz="1050" b="1" i="0">
                <a:solidFill>
                  <a:srgbClr val="1B2A55"/>
                </a:solidFill>
                <a:latin typeface="Inter"/>
              </a:rPr>
              <a:t>•  </a:t>
            </a:r>
            <a:r>
              <a:rPr sz="1050" b="1" i="0">
                <a:solidFill>
                  <a:srgbClr val="1B2A55"/>
                </a:solidFill>
                <a:latin typeface="Inter"/>
              </a:rPr>
              <a:t>Shown in full:</a:t>
            </a:r>
            <a:r>
              <a:rPr sz="1050" b="0" i="0">
                <a:solidFill>
                  <a:srgbClr val="353B4A"/>
                </a:solidFill>
                <a:latin typeface="Inter"/>
              </a:rPr>
              <a:t> every round, with counts and percentages, so anyone can follow the result.</a:t>
            </a:r>
          </a:p>
          <a:p>
            <a:pPr algn="l">
              <a:spcAft>
                <a:spcPts val="500"/>
              </a:spcAft>
            </a:pPr>
            <a:r>
              <a:rPr sz="1050" b="1" i="0">
                <a:solidFill>
                  <a:srgbClr val="1B2A55"/>
                </a:solidFill>
                <a:latin typeface="Inter"/>
              </a:rPr>
              <a:t>•  </a:t>
            </a:r>
            <a:r>
              <a:rPr sz="1050" b="1" i="0">
                <a:solidFill>
                  <a:srgbClr val="1B2A55"/>
                </a:solidFill>
                <a:latin typeface="Inter"/>
              </a:rPr>
              <a:t>Edge case, flagged:</a:t>
            </a:r>
            <a:r>
              <a:rPr sz="1050" b="0" i="0">
                <a:solidFill>
                  <a:srgbClr val="353B4A"/>
                </a:solidFill>
                <a:latin typeface="Inter"/>
              </a:rPr>
              <a:t> round 4 here is a 22 to 22 tie; the engine eliminated one candidate by internal order and says so on screen. A published tie rule is future work.</a:t>
            </a:r>
          </a:p>
        </p:txBody>
      </p:sp>
      <p:pic>
        <p:nvPicPr>
          <p:cNvPr id="7" name="Picture 6" descr="irv_admin_results_clean.png"/>
          <p:cNvPicPr>
            <a:picLocks noChangeAspect="1"/>
          </p:cNvPicPr>
          <p:nvPr/>
        </p:nvPicPr>
        <p:blipFill>
          <a:blip r:embed="rId2"/>
          <a:stretch>
            <a:fillRect/>
          </a:stretch>
        </p:blipFill>
        <p:spPr>
          <a:xfrm>
            <a:off x="4572000" y="1124018"/>
            <a:ext cx="4114800" cy="3558402"/>
          </a:xfrm>
          <a:prstGeom prst="rect">
            <a:avLst/>
          </a:prstGeom>
          <a:ln w="12700">
            <a:solidFill>
              <a:srgbClr val="D9D9E4"/>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THREAT MODEL</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Who the attacker is, and who we do not stop</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8</a:t>
            </a:r>
          </a:p>
        </p:txBody>
      </p:sp>
      <p:pic>
        <p:nvPicPr>
          <p:cNvPr id="6" name="Picture 5" descr="threat_model.png"/>
          <p:cNvPicPr>
            <a:picLocks noChangeAspect="1"/>
          </p:cNvPicPr>
          <p:nvPr/>
        </p:nvPicPr>
        <p:blipFill>
          <a:blip r:embed="rId2"/>
          <a:stretch>
            <a:fillRect/>
          </a:stretch>
        </p:blipFill>
        <p:spPr>
          <a:xfrm>
            <a:off x="1739486" y="1051560"/>
            <a:ext cx="5665026" cy="3383280"/>
          </a:xfrm>
          <a:prstGeom prst="rect">
            <a:avLst/>
          </a:prstGeom>
        </p:spPr>
      </p:pic>
      <p:sp>
        <p:nvSpPr>
          <p:cNvPr id="7" name="TextBox 6"/>
          <p:cNvSpPr txBox="1"/>
          <p:nvPr/>
        </p:nvSpPr>
        <p:spPr>
          <a:xfrm>
            <a:off x="457200" y="4462272"/>
            <a:ext cx="8229600" cy="274320"/>
          </a:xfrm>
          <a:prstGeom prst="rect">
            <a:avLst/>
          </a:prstGeom>
          <a:noFill/>
        </p:spPr>
        <p:txBody>
          <a:bodyPr wrap="square" anchor="t" lIns="0" rIns="0" tIns="0" bIns="0">
            <a:spAutoFit/>
          </a:bodyPr>
          <a:lstStyle/>
          <a:p>
            <a:pPr algn="ctr">
              <a:spcAft>
                <a:spcPts val="0"/>
              </a:spcAft>
            </a:pPr>
            <a:r>
              <a:rPr sz="950" b="0" i="1">
                <a:solidFill>
                  <a:srgbClr val="666A78"/>
                </a:solidFill>
                <a:latin typeface="Inter"/>
              </a:rPr>
              <a:t>Detected means found by an auditor running the checks, not blocked in real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FINAL ARCHITECTURE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Three stores, separated by what each is trusted with</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9</a:t>
            </a:r>
          </a:p>
        </p:txBody>
      </p:sp>
      <p:pic>
        <p:nvPicPr>
          <p:cNvPr id="6" name="Picture 5" descr="architecture.png"/>
          <p:cNvPicPr>
            <a:picLocks noChangeAspect="1"/>
          </p:cNvPicPr>
          <p:nvPr/>
        </p:nvPicPr>
        <p:blipFill>
          <a:blip r:embed="rId2"/>
          <a:stretch>
            <a:fillRect/>
          </a:stretch>
        </p:blipFill>
        <p:spPr>
          <a:xfrm>
            <a:off x="701040" y="1051560"/>
            <a:ext cx="4998719" cy="3749039"/>
          </a:xfrm>
          <a:prstGeom prst="rect">
            <a:avLst/>
          </a:prstGeom>
        </p:spPr>
      </p:pic>
      <p:sp>
        <p:nvSpPr>
          <p:cNvPr id="7" name="TextBox 6"/>
          <p:cNvSpPr txBox="1"/>
          <p:nvPr/>
        </p:nvSpPr>
        <p:spPr>
          <a:xfrm>
            <a:off x="6126480" y="1188720"/>
            <a:ext cx="2651760" cy="3474720"/>
          </a:xfrm>
          <a:prstGeom prst="rect">
            <a:avLst/>
          </a:prstGeom>
          <a:noFill/>
        </p:spPr>
        <p:txBody>
          <a:bodyPr wrap="square" anchor="t" lIns="0" rIns="0" tIns="0" bIns="0">
            <a:spAutoFit/>
          </a:bodyPr>
          <a:lstStyle/>
          <a:p>
            <a:pPr algn="l">
              <a:spcAft>
                <a:spcPts val="500"/>
              </a:spcAft>
            </a:pPr>
            <a:r>
              <a:rPr sz="1150" b="1" i="0">
                <a:solidFill>
                  <a:srgbClr val="1B2A55"/>
                </a:solidFill>
                <a:latin typeface="Inter"/>
              </a:rPr>
              <a:t>•  </a:t>
            </a:r>
            <a:r>
              <a:rPr sz="1150" b="1" i="0">
                <a:solidFill>
                  <a:srgbClr val="1B2A55"/>
                </a:solidFill>
                <a:latin typeface="Inter"/>
              </a:rPr>
              <a:t>Election DB:</a:t>
            </a:r>
            <a:r>
              <a:rPr sz="1150" b="0" i="0">
                <a:solidFill>
                  <a:srgbClr val="353B4A"/>
                </a:solidFill>
                <a:latin typeface="Inter"/>
              </a:rPr>
              <a:t> roster, candidates, anonymous ballots.</a:t>
            </a:r>
          </a:p>
          <a:p>
            <a:pPr algn="l">
              <a:spcAft>
                <a:spcPts val="500"/>
              </a:spcAft>
            </a:pPr>
            <a:r>
              <a:rPr sz="1150" b="1" i="0">
                <a:solidFill>
                  <a:srgbClr val="1B2A55"/>
                </a:solidFill>
                <a:latin typeface="Inter"/>
              </a:rPr>
              <a:t>•  </a:t>
            </a:r>
            <a:r>
              <a:rPr sz="1150" b="1" i="0">
                <a:solidFill>
                  <a:srgbClr val="1B2A55"/>
                </a:solidFill>
                <a:latin typeface="Inter"/>
              </a:rPr>
              <a:t>Verification DB:</a:t>
            </a:r>
            <a:r>
              <a:rPr sz="1150" b="0" i="0">
                <a:solidFill>
                  <a:srgbClr val="353B4A"/>
                </a:solidFill>
                <a:latin typeface="Inter"/>
              </a:rPr>
              <a:t> emails and one-time codes, a separate file, never joined to ballots.</a:t>
            </a:r>
          </a:p>
          <a:p>
            <a:pPr algn="l">
              <a:spcAft>
                <a:spcPts val="500"/>
              </a:spcAft>
            </a:pPr>
            <a:r>
              <a:rPr sz="1150" b="1" i="0">
                <a:solidFill>
                  <a:srgbClr val="1B2A55"/>
                </a:solidFill>
                <a:latin typeface="Inter"/>
              </a:rPr>
              <a:t>•  </a:t>
            </a:r>
            <a:r>
              <a:rPr sz="1150" b="1" i="0">
                <a:solidFill>
                  <a:srgbClr val="1B2A55"/>
                </a:solidFill>
                <a:latin typeface="Inter"/>
              </a:rPr>
              <a:t>Ledger:</a:t>
            </a:r>
            <a:r>
              <a:rPr sz="1150" b="0" i="0">
                <a:solidFill>
                  <a:srgbClr val="353B4A"/>
                </a:solidFill>
                <a:latin typeface="Inter"/>
              </a:rPr>
              <a:t> MongoDB Atlas, HMAC chain.</a:t>
            </a:r>
          </a:p>
          <a:p>
            <a:pPr algn="l">
              <a:spcAft>
                <a:spcPts val="500"/>
              </a:spcAft>
            </a:pPr>
            <a:r>
              <a:rPr sz="1150" b="1" i="0">
                <a:solidFill>
                  <a:srgbClr val="1B2A55"/>
                </a:solidFill>
                <a:latin typeface="Inter"/>
              </a:rPr>
              <a:t>•  </a:t>
            </a:r>
            <a:r>
              <a:rPr sz="1150" b="1" i="0">
                <a:solidFill>
                  <a:srgbClr val="1B2A55"/>
                </a:solidFill>
                <a:latin typeface="Inter"/>
              </a:rPr>
              <a:t>Secrets:</a:t>
            </a:r>
            <a:r>
              <a:rPr sz="1150" b="0" i="0">
                <a:solidFill>
                  <a:srgbClr val="353B4A"/>
                </a:solidFill>
                <a:latin typeface="Inter"/>
              </a:rPr>
              <a:t> in .env, outside every store.</a:t>
            </a:r>
          </a:p>
          <a:p>
            <a:pPr algn="l">
              <a:spcAft>
                <a:spcPts val="500"/>
              </a:spcAft>
            </a:pPr>
            <a:r>
              <a:rPr sz="1150" b="1" i="0">
                <a:solidFill>
                  <a:srgbClr val="1B2A55"/>
                </a:solidFill>
                <a:latin typeface="Inter"/>
              </a:rPr>
              <a:t>•  </a:t>
            </a:r>
            <a:r>
              <a:rPr sz="1150" b="0" i="0">
                <a:solidFill>
                  <a:srgbClr val="353B4A"/>
                </a:solidFill>
                <a:latin typeface="Inter"/>
              </a:rPr>
              <a:t>An administrator of one store cannot touch the others.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DATA MODEL</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Data model: election, ledger and verification stores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10</a:t>
            </a:r>
          </a:p>
        </p:txBody>
      </p:sp>
      <p:pic>
        <p:nvPicPr>
          <p:cNvPr id="6" name="Picture 5" descr="er.png"/>
          <p:cNvPicPr>
            <a:picLocks noChangeAspect="1"/>
          </p:cNvPicPr>
          <p:nvPr/>
        </p:nvPicPr>
        <p:blipFill>
          <a:blip r:embed="rId2"/>
          <a:stretch>
            <a:fillRect/>
          </a:stretch>
        </p:blipFill>
        <p:spPr>
          <a:xfrm>
            <a:off x="814493" y="1051560"/>
            <a:ext cx="5137573" cy="3749039"/>
          </a:xfrm>
          <a:prstGeom prst="rect">
            <a:avLst/>
          </a:prstGeom>
        </p:spPr>
      </p:pic>
      <p:sp>
        <p:nvSpPr>
          <p:cNvPr id="7" name="TextBox 6"/>
          <p:cNvSpPr txBox="1"/>
          <p:nvPr/>
        </p:nvSpPr>
        <p:spPr>
          <a:xfrm>
            <a:off x="6492240" y="1188720"/>
            <a:ext cx="2286000" cy="347472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0" i="0">
                <a:solidFill>
                  <a:srgbClr val="353B4A"/>
                </a:solidFill>
                <a:latin typeface="Inter"/>
              </a:rPr>
              <a:t>Shared multi-tenant schema, scoped by election.</a:t>
            </a:r>
          </a:p>
          <a:p>
            <a:pPr algn="l">
              <a:spcAft>
                <a:spcPts val="500"/>
              </a:spcAft>
            </a:pPr>
            <a:r>
              <a:rPr sz="1100" b="1" i="0">
                <a:solidFill>
                  <a:srgbClr val="1B2A55"/>
                </a:solidFill>
                <a:latin typeface="Inter"/>
              </a:rPr>
              <a:t>•  </a:t>
            </a:r>
            <a:r>
              <a:rPr sz="1100" b="0" i="0">
                <a:solidFill>
                  <a:srgbClr val="353B4A"/>
                </a:solidFill>
                <a:latin typeface="Inter"/>
              </a:rPr>
              <a:t>No column links a ballot to a voter.</a:t>
            </a:r>
          </a:p>
          <a:p>
            <a:pPr algn="l">
              <a:spcAft>
                <a:spcPts val="500"/>
              </a:spcAft>
            </a:pPr>
            <a:r>
              <a:rPr sz="1100" b="1" i="0">
                <a:solidFill>
                  <a:srgbClr val="1B2A55"/>
                </a:solidFill>
                <a:latin typeface="Inter"/>
              </a:rPr>
              <a:t>•  </a:t>
            </a:r>
            <a:r>
              <a:rPr sz="1100" b="0" i="0">
                <a:solidFill>
                  <a:srgbClr val="353B4A"/>
                </a:solidFill>
                <a:latin typeface="Inter"/>
              </a:rPr>
              <a:t>Candidate roster hash sealed in the ledger.</a:t>
            </a:r>
          </a:p>
          <a:p>
            <a:pPr algn="l">
              <a:spcAft>
                <a:spcPts val="500"/>
              </a:spcAft>
            </a:pPr>
            <a:r>
              <a:rPr sz="1100" b="1" i="0">
                <a:solidFill>
                  <a:srgbClr val="1B2A55"/>
                </a:solidFill>
                <a:latin typeface="Inter"/>
              </a:rPr>
              <a:t>•  </a:t>
            </a:r>
            <a:r>
              <a:rPr sz="1100" b="0" i="0">
                <a:solidFill>
                  <a:srgbClr val="353B4A"/>
                </a:solidFill>
                <a:latin typeface="Inter"/>
              </a:rPr>
              <a:t>Emails live in a different file; no key reaches ballots.</a:t>
            </a:r>
          </a:p>
          <a:p>
            <a:pPr algn="l">
              <a:spcAft>
                <a:spcPts val="500"/>
              </a:spcAft>
            </a:pPr>
            <a:r>
              <a:rPr sz="1100" b="1" i="0">
                <a:solidFill>
                  <a:srgbClr val="1B2A55"/>
                </a:solidFill>
                <a:latin typeface="Inter"/>
              </a:rPr>
              <a:t>•  </a:t>
            </a:r>
            <a:r>
              <a:rPr sz="1100" b="0" i="0">
                <a:solidFill>
                  <a:srgbClr val="353B4A"/>
                </a:solidFill>
                <a:latin typeface="Inter"/>
              </a:rPr>
              <a:t>Trigger, CHECK, UNIQUE, FK enforce the rules.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CASTING A BALLOT</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One serialised, transactional path touches every structure</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11</a:t>
            </a:r>
          </a:p>
        </p:txBody>
      </p:sp>
      <p:pic>
        <p:nvPicPr>
          <p:cNvPr id="6" name="Picture 5" descr="cast_transaction.png"/>
          <p:cNvPicPr>
            <a:picLocks noChangeAspect="1"/>
          </p:cNvPicPr>
          <p:nvPr/>
        </p:nvPicPr>
        <p:blipFill>
          <a:blip r:embed="rId2"/>
          <a:stretch>
            <a:fillRect/>
          </a:stretch>
        </p:blipFill>
        <p:spPr>
          <a:xfrm>
            <a:off x="484632" y="1005840"/>
            <a:ext cx="3511296" cy="3840480"/>
          </a:xfrm>
          <a:prstGeom prst="rect">
            <a:avLst/>
          </a:prstGeom>
        </p:spPr>
      </p:pic>
      <p:sp>
        <p:nvSpPr>
          <p:cNvPr id="7" name="TextBox 6"/>
          <p:cNvSpPr txBox="1"/>
          <p:nvPr/>
        </p:nvSpPr>
        <p:spPr>
          <a:xfrm>
            <a:off x="4297680" y="1188720"/>
            <a:ext cx="4389120" cy="3474720"/>
          </a:xfrm>
          <a:prstGeom prst="rect">
            <a:avLst/>
          </a:prstGeom>
          <a:noFill/>
        </p:spPr>
        <p:txBody>
          <a:bodyPr wrap="square" anchor="t" lIns="0" rIns="0" tIns="0" bIns="0">
            <a:spAutoFit/>
          </a:bodyPr>
          <a:lstStyle/>
          <a:p>
            <a:pPr algn="l">
              <a:spcAft>
                <a:spcPts val="500"/>
              </a:spcAft>
            </a:pPr>
            <a:r>
              <a:rPr sz="1200" b="1" i="0">
                <a:solidFill>
                  <a:srgbClr val="1B2A55"/>
                </a:solidFill>
                <a:latin typeface="Inter"/>
              </a:rPr>
              <a:t>•  </a:t>
            </a:r>
            <a:r>
              <a:rPr sz="1200" b="1" i="0">
                <a:solidFill>
                  <a:srgbClr val="1B2A55"/>
                </a:solidFill>
                <a:latin typeface="Inter"/>
              </a:rPr>
              <a:t>Serialised:</a:t>
            </a:r>
            <a:r>
              <a:rPr sz="1200" b="0" i="0">
                <a:solidFill>
                  <a:srgbClr val="353B4A"/>
                </a:solidFill>
                <a:latin typeface="Inter"/>
              </a:rPr>
              <a:t> a write lock plus the voted flag, checked inside the transaction.</a:t>
            </a:r>
          </a:p>
          <a:p>
            <a:pPr algn="l">
              <a:spcAft>
                <a:spcPts val="500"/>
              </a:spcAft>
            </a:pPr>
            <a:r>
              <a:rPr sz="1200" b="1" i="0">
                <a:solidFill>
                  <a:srgbClr val="1B2A55"/>
                </a:solidFill>
                <a:latin typeface="Inter"/>
              </a:rPr>
              <a:t>•  </a:t>
            </a:r>
            <a:r>
              <a:rPr sz="1200" b="1" i="0">
                <a:solidFill>
                  <a:srgbClr val="1B2A55"/>
                </a:solidFill>
                <a:latin typeface="Inter"/>
              </a:rPr>
              <a:t>Atomic:</a:t>
            </a:r>
            <a:r>
              <a:rPr sz="1200" b="0" i="0">
                <a:solidFill>
                  <a:srgbClr val="353B4A"/>
                </a:solidFill>
                <a:latin typeface="Inter"/>
              </a:rPr>
              <a:t> flag and ballot rows commit together or not at all.</a:t>
            </a:r>
          </a:p>
          <a:p>
            <a:pPr algn="l">
              <a:spcAft>
                <a:spcPts val="500"/>
              </a:spcAft>
            </a:pPr>
            <a:r>
              <a:rPr sz="1200" b="1" i="0">
                <a:solidFill>
                  <a:srgbClr val="1B2A55"/>
                </a:solidFill>
                <a:latin typeface="Inter"/>
              </a:rPr>
              <a:t>•  </a:t>
            </a:r>
            <a:r>
              <a:rPr sz="1200" b="1" i="0">
                <a:solidFill>
                  <a:srgbClr val="1B2A55"/>
                </a:solidFill>
                <a:latin typeface="Inter"/>
              </a:rPr>
              <a:t>Anonymous:</a:t>
            </a:r>
            <a:r>
              <a:rPr sz="1200" b="0" i="0">
                <a:solidFill>
                  <a:srgbClr val="353B4A"/>
                </a:solidFill>
                <a:latin typeface="Inter"/>
              </a:rPr>
              <a:t> the ballot is stored under a random token.</a:t>
            </a:r>
          </a:p>
          <a:p>
            <a:pPr algn="l">
              <a:spcAft>
                <a:spcPts val="500"/>
              </a:spcAft>
            </a:pPr>
            <a:r>
              <a:rPr sz="1200" b="1" i="0">
                <a:solidFill>
                  <a:srgbClr val="1B2A55"/>
                </a:solidFill>
                <a:latin typeface="Inter"/>
              </a:rPr>
              <a:t>•  </a:t>
            </a:r>
            <a:r>
              <a:rPr sz="1200" b="1" i="0">
                <a:solidFill>
                  <a:srgbClr val="1B2A55"/>
                </a:solidFill>
                <a:latin typeface="Inter"/>
              </a:rPr>
              <a:t>Sealed:</a:t>
            </a:r>
            <a:r>
              <a:rPr sz="1200" b="0" i="0">
                <a:solidFill>
                  <a:srgbClr val="353B4A"/>
                </a:solidFill>
                <a:latin typeface="Inter"/>
              </a:rPr>
              <a:t> then a block with the ranks hash and roster hash joins the ledger.</a:t>
            </a:r>
          </a:p>
          <a:p>
            <a:pPr algn="l">
              <a:spcAft>
                <a:spcPts val="500"/>
              </a:spcAft>
            </a:pPr>
            <a:r>
              <a:rPr sz="1200" b="1" i="0">
                <a:solidFill>
                  <a:srgbClr val="1B2A55"/>
                </a:solidFill>
                <a:latin typeface="Inter"/>
              </a:rPr>
              <a:t>•  </a:t>
            </a:r>
            <a:r>
              <a:rPr sz="1200" b="1" i="0">
                <a:solidFill>
                  <a:srgbClr val="1B2A55"/>
                </a:solidFill>
                <a:latin typeface="Inter"/>
              </a:rPr>
              <a:t>Fails visibly:</a:t>
            </a:r>
            <a:r>
              <a:rPr sz="1200" b="0" i="0">
                <a:solidFill>
                  <a:srgbClr val="353B4A"/>
                </a:solidFill>
                <a:latin typeface="Inter"/>
              </a:rPr>
              <a:t> if the ledger is down after commit, the sweep reports a ballot with no receipt.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KEYED AUDIT LEDGER</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Keyed chain: rebuilding it needs the secret key</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12</a:t>
            </a:r>
          </a:p>
        </p:txBody>
      </p:sp>
      <p:sp>
        <p:nvSpPr>
          <p:cNvPr id="6" name="Rounded Rectangle 5"/>
          <p:cNvSpPr/>
          <p:nvPr/>
        </p:nvSpPr>
        <p:spPr>
          <a:xfrm>
            <a:off x="457200" y="1143000"/>
            <a:ext cx="178308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207008"/>
            <a:ext cx="1554480" cy="22860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Block 1</a:t>
            </a:r>
          </a:p>
        </p:txBody>
      </p:sp>
      <p:sp>
        <p:nvSpPr>
          <p:cNvPr id="8" name="TextBox 7"/>
          <p:cNvSpPr txBox="1"/>
          <p:nvPr/>
        </p:nvSpPr>
        <p:spPr>
          <a:xfrm>
            <a:off x="566928" y="1481328"/>
            <a:ext cx="1600200" cy="457200"/>
          </a:xfrm>
          <a:prstGeom prst="rect">
            <a:avLst/>
          </a:prstGeom>
          <a:noFill/>
        </p:spPr>
        <p:txBody>
          <a:bodyPr wrap="square" anchor="t" lIns="0" rIns="0" tIns="0" bIns="0">
            <a:spAutoFit/>
          </a:bodyPr>
          <a:lstStyle/>
          <a:p>
            <a:pPr algn="l">
              <a:spcAft>
                <a:spcPts val="0"/>
              </a:spcAft>
            </a:pPr>
            <a:r>
              <a:rPr sz="750" b="0" i="0">
                <a:solidFill>
                  <a:srgbClr val="353B4A"/>
                </a:solidFill>
                <a:latin typeface="Consolas"/>
              </a:rPr>
              <a:t>ballot_token, vote_data_hash,</a:t>
            </a:r>
          </a:p>
          <a:p>
            <a:pPr algn="l">
              <a:spcAft>
                <a:spcPts val="0"/>
              </a:spcAft>
            </a:pPr>
            <a:r>
              <a:rPr sz="750" b="0" i="0">
                <a:solidFill>
                  <a:srgbClr val="353B4A"/>
                </a:solidFill>
                <a:latin typeface="Consolas"/>
              </a:rPr>
              <a:t>roster_hash, prev_hash</a:t>
            </a:r>
          </a:p>
        </p:txBody>
      </p:sp>
      <p:sp>
        <p:nvSpPr>
          <p:cNvPr id="9" name="Rounded Rectangle 8"/>
          <p:cNvSpPr/>
          <p:nvPr/>
        </p:nvSpPr>
        <p:spPr>
          <a:xfrm>
            <a:off x="566928" y="2057400"/>
            <a:ext cx="1554480" cy="365760"/>
          </a:xfrm>
          <a:prstGeom prst="roundRect">
            <a:avLst>
              <a:gd name="adj" fmla="val 10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00" b="1" i="0">
                <a:solidFill>
                  <a:srgbClr val="1B2A55"/>
                </a:solidFill>
                <a:latin typeface="Inter"/>
              </a:rPr>
              <a:t>curr_hash = HMAC(key, block)</a:t>
            </a:r>
          </a:p>
        </p:txBody>
      </p:sp>
      <p:cxnSp>
        <p:nvCxnSpPr>
          <p:cNvPr id="10" name="Connector 9"/>
          <p:cNvCxnSpPr/>
          <p:nvPr/>
        </p:nvCxnSpPr>
        <p:spPr>
          <a:xfrm>
            <a:off x="2240280" y="1828800"/>
            <a:ext cx="228600" cy="0"/>
          </a:xfrm>
          <a:prstGeom prst="line">
            <a:avLst/>
          </a:prstGeom>
          <a:ln w="19050">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468880" y="1143000"/>
            <a:ext cx="178308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78608" y="1207008"/>
            <a:ext cx="1554480" cy="22860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Block 2</a:t>
            </a:r>
          </a:p>
        </p:txBody>
      </p:sp>
      <p:sp>
        <p:nvSpPr>
          <p:cNvPr id="13" name="TextBox 12"/>
          <p:cNvSpPr txBox="1"/>
          <p:nvPr/>
        </p:nvSpPr>
        <p:spPr>
          <a:xfrm>
            <a:off x="2578608" y="1481328"/>
            <a:ext cx="1600200" cy="457200"/>
          </a:xfrm>
          <a:prstGeom prst="rect">
            <a:avLst/>
          </a:prstGeom>
          <a:noFill/>
        </p:spPr>
        <p:txBody>
          <a:bodyPr wrap="square" anchor="t" lIns="0" rIns="0" tIns="0" bIns="0">
            <a:spAutoFit/>
          </a:bodyPr>
          <a:lstStyle/>
          <a:p>
            <a:pPr algn="l">
              <a:spcAft>
                <a:spcPts val="0"/>
              </a:spcAft>
            </a:pPr>
            <a:r>
              <a:rPr sz="750" b="0" i="0">
                <a:solidFill>
                  <a:srgbClr val="353B4A"/>
                </a:solidFill>
                <a:latin typeface="Consolas"/>
              </a:rPr>
              <a:t>ballot_token, vote_data_hash,</a:t>
            </a:r>
          </a:p>
          <a:p>
            <a:pPr algn="l">
              <a:spcAft>
                <a:spcPts val="0"/>
              </a:spcAft>
            </a:pPr>
            <a:r>
              <a:rPr sz="750" b="0" i="0">
                <a:solidFill>
                  <a:srgbClr val="353B4A"/>
                </a:solidFill>
                <a:latin typeface="Consolas"/>
              </a:rPr>
              <a:t>roster_hash, prev_hash</a:t>
            </a:r>
          </a:p>
        </p:txBody>
      </p:sp>
      <p:sp>
        <p:nvSpPr>
          <p:cNvPr id="14" name="Rounded Rectangle 13"/>
          <p:cNvSpPr/>
          <p:nvPr/>
        </p:nvSpPr>
        <p:spPr>
          <a:xfrm>
            <a:off x="2578608" y="2057400"/>
            <a:ext cx="1554480" cy="365760"/>
          </a:xfrm>
          <a:prstGeom prst="roundRect">
            <a:avLst>
              <a:gd name="adj" fmla="val 10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00" b="1" i="0">
                <a:solidFill>
                  <a:srgbClr val="1B2A55"/>
                </a:solidFill>
                <a:latin typeface="Inter"/>
              </a:rPr>
              <a:t>curr_hash = HMAC(key, block)</a:t>
            </a:r>
          </a:p>
        </p:txBody>
      </p:sp>
      <p:cxnSp>
        <p:nvCxnSpPr>
          <p:cNvPr id="15" name="Connector 14"/>
          <p:cNvCxnSpPr/>
          <p:nvPr/>
        </p:nvCxnSpPr>
        <p:spPr>
          <a:xfrm>
            <a:off x="4251960" y="1828800"/>
            <a:ext cx="228600" cy="0"/>
          </a:xfrm>
          <a:prstGeom prst="line">
            <a:avLst/>
          </a:prstGeom>
          <a:ln w="19050">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80560" y="1143000"/>
            <a:ext cx="178308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1207008"/>
            <a:ext cx="1554480" cy="22860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Block 3</a:t>
            </a:r>
          </a:p>
        </p:txBody>
      </p:sp>
      <p:sp>
        <p:nvSpPr>
          <p:cNvPr id="18" name="TextBox 17"/>
          <p:cNvSpPr txBox="1"/>
          <p:nvPr/>
        </p:nvSpPr>
        <p:spPr>
          <a:xfrm>
            <a:off x="4590288" y="1481328"/>
            <a:ext cx="1600200" cy="457200"/>
          </a:xfrm>
          <a:prstGeom prst="rect">
            <a:avLst/>
          </a:prstGeom>
          <a:noFill/>
        </p:spPr>
        <p:txBody>
          <a:bodyPr wrap="square" anchor="t" lIns="0" rIns="0" tIns="0" bIns="0">
            <a:spAutoFit/>
          </a:bodyPr>
          <a:lstStyle/>
          <a:p>
            <a:pPr algn="l">
              <a:spcAft>
                <a:spcPts val="0"/>
              </a:spcAft>
            </a:pPr>
            <a:r>
              <a:rPr sz="750" b="0" i="0">
                <a:solidFill>
                  <a:srgbClr val="353B4A"/>
                </a:solidFill>
                <a:latin typeface="Consolas"/>
              </a:rPr>
              <a:t>ballot_token, vote_data_hash,</a:t>
            </a:r>
          </a:p>
          <a:p>
            <a:pPr algn="l">
              <a:spcAft>
                <a:spcPts val="0"/>
              </a:spcAft>
            </a:pPr>
            <a:r>
              <a:rPr sz="750" b="0" i="0">
                <a:solidFill>
                  <a:srgbClr val="353B4A"/>
                </a:solidFill>
                <a:latin typeface="Consolas"/>
              </a:rPr>
              <a:t>roster_hash, prev_hash</a:t>
            </a:r>
          </a:p>
        </p:txBody>
      </p:sp>
      <p:sp>
        <p:nvSpPr>
          <p:cNvPr id="19" name="Rounded Rectangle 18"/>
          <p:cNvSpPr/>
          <p:nvPr/>
        </p:nvSpPr>
        <p:spPr>
          <a:xfrm>
            <a:off x="4590288" y="2057400"/>
            <a:ext cx="1554480" cy="365760"/>
          </a:xfrm>
          <a:prstGeom prst="roundRect">
            <a:avLst>
              <a:gd name="adj" fmla="val 10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00" b="1" i="0">
                <a:solidFill>
                  <a:srgbClr val="1B2A55"/>
                </a:solidFill>
                <a:latin typeface="Inter"/>
              </a:rPr>
              <a:t>curr_hash = HMAC(key, block)</a:t>
            </a:r>
          </a:p>
        </p:txBody>
      </p:sp>
      <p:sp>
        <p:nvSpPr>
          <p:cNvPr id="20" name="TextBox 19"/>
          <p:cNvSpPr txBox="1"/>
          <p:nvPr/>
        </p:nvSpPr>
        <p:spPr>
          <a:xfrm>
            <a:off x="6583680" y="1188720"/>
            <a:ext cx="2103120" cy="1280160"/>
          </a:xfrm>
          <a:prstGeom prst="rect">
            <a:avLst/>
          </a:prstGeom>
          <a:noFill/>
        </p:spPr>
        <p:txBody>
          <a:bodyPr wrap="square" anchor="t" lIns="0" rIns="0" tIns="0" bIns="0">
            <a:spAutoFit/>
          </a:bodyPr>
          <a:lstStyle/>
          <a:p>
            <a:pPr algn="l">
              <a:spcAft>
                <a:spcPts val="0"/>
              </a:spcAft>
            </a:pPr>
            <a:r>
              <a:rPr sz="1000" b="1" i="0">
                <a:solidFill>
                  <a:srgbClr val="1B2A55"/>
                </a:solidFill>
                <a:latin typeface="Consolas"/>
              </a:rPr>
              <a:t>prev_hash</a:t>
            </a:r>
            <a:r>
              <a:rPr sz="1050" b="0" i="0">
                <a:solidFill>
                  <a:srgbClr val="353B4A"/>
                </a:solidFill>
                <a:latin typeface="Inter"/>
              </a:rPr>
              <a:t> links each block to the one before it.</a:t>
            </a:r>
          </a:p>
        </p:txBody>
      </p:sp>
      <p:sp>
        <p:nvSpPr>
          <p:cNvPr id="21" name="TextBox 20"/>
          <p:cNvSpPr txBox="1"/>
          <p:nvPr/>
        </p:nvSpPr>
        <p:spPr>
          <a:xfrm>
            <a:off x="457200" y="2743200"/>
            <a:ext cx="8229600" cy="2011680"/>
          </a:xfrm>
          <a:prstGeom prst="rect">
            <a:avLst/>
          </a:prstGeom>
          <a:noFill/>
        </p:spPr>
        <p:txBody>
          <a:bodyPr wrap="square" anchor="t" lIns="0" rIns="0" tIns="0" bIns="0">
            <a:spAutoFit/>
          </a:bodyPr>
          <a:lstStyle/>
          <a:p>
            <a:pPr algn="l">
              <a:spcAft>
                <a:spcPts val="500"/>
              </a:spcAft>
            </a:pPr>
            <a:r>
              <a:rPr sz="1150" b="1" i="0">
                <a:solidFill>
                  <a:srgbClr val="1B2A55"/>
                </a:solidFill>
                <a:latin typeface="Inter"/>
              </a:rPr>
              <a:t>•  </a:t>
            </a:r>
            <a:r>
              <a:rPr sz="1150" b="1" i="0">
                <a:solidFill>
                  <a:srgbClr val="1B2A55"/>
                </a:solidFill>
                <a:latin typeface="Inter"/>
              </a:rPr>
              <a:t>Review 2:</a:t>
            </a:r>
            <a:r>
              <a:rPr sz="1150" b="0" i="0">
                <a:solidFill>
                  <a:srgbClr val="353B4A"/>
                </a:solidFill>
                <a:latin typeface="Inter"/>
              </a:rPr>
              <a:t> curr_hash was plain SHA-256. An attacker who can write the store can edit a ballot and recompute every later hash.</a:t>
            </a:r>
          </a:p>
          <a:p>
            <a:pPr algn="l">
              <a:spcAft>
                <a:spcPts val="500"/>
              </a:spcAft>
            </a:pPr>
            <a:r>
              <a:rPr sz="1150" b="1" i="0">
                <a:solidFill>
                  <a:srgbClr val="1B2A55"/>
                </a:solidFill>
                <a:latin typeface="Inter"/>
              </a:rPr>
              <a:t>•  </a:t>
            </a:r>
            <a:r>
              <a:rPr sz="1150" b="1" i="0">
                <a:solidFill>
                  <a:srgbClr val="1B2A55"/>
                </a:solidFill>
                <a:latin typeface="Inter"/>
              </a:rPr>
              <a:t>Final:</a:t>
            </a:r>
            <a:r>
              <a:rPr sz="1150" b="0" i="0">
                <a:solidFill>
                  <a:srgbClr val="353B4A"/>
                </a:solidFill>
                <a:latin typeface="Inter"/>
              </a:rPr>
              <a:t> curr_hash is HMAC-SHA-256 under LEDGER_KEY, held outside the database and the ledger store. Without the key the rebuilt chain fails verification.</a:t>
            </a:r>
          </a:p>
          <a:p>
            <a:pPr algn="l">
              <a:spcAft>
                <a:spcPts val="500"/>
              </a:spcAft>
            </a:pPr>
            <a:r>
              <a:rPr sz="1150" b="1" i="0">
                <a:solidFill>
                  <a:srgbClr val="1B2A55"/>
                </a:solidFill>
                <a:latin typeface="Inter"/>
              </a:rPr>
              <a:t>•  </a:t>
            </a:r>
            <a:r>
              <a:rPr sz="1150" b="1" i="0">
                <a:solidFill>
                  <a:srgbClr val="1B2A55"/>
                </a:solidFill>
                <a:latin typeface="Inter"/>
              </a:rPr>
              <a:t>Roster hash:</a:t>
            </a:r>
            <a:r>
              <a:rPr sz="1150" b="0" i="0">
                <a:solidFill>
                  <a:srgbClr val="353B4A"/>
                </a:solidFill>
                <a:latin typeface="Inter"/>
              </a:rPr>
              <a:t> every block also seals the candidate list, so renaming candidates after voting is detected.</a:t>
            </a:r>
          </a:p>
          <a:p>
            <a:pPr algn="l">
              <a:spcAft>
                <a:spcPts val="500"/>
              </a:spcAft>
            </a:pPr>
            <a:r>
              <a:rPr sz="1150" b="1" i="0">
                <a:solidFill>
                  <a:srgbClr val="1B2A55"/>
                </a:solidFill>
                <a:latin typeface="Inter"/>
              </a:rPr>
              <a:t>•  </a:t>
            </a:r>
            <a:r>
              <a:rPr sz="1150" b="1" i="0">
                <a:solidFill>
                  <a:srgbClr val="1B2A55"/>
                </a:solidFill>
                <a:latin typeface="Inter"/>
              </a:rPr>
              <a:t>Backward compatible:</a:t>
            </a:r>
            <a:r>
              <a:rPr sz="1150" b="0" i="0">
                <a:solidFill>
                  <a:srgbClr val="353B4A"/>
                </a:solidFill>
                <a:latin typeface="Inter"/>
              </a:rPr>
              <a:t> blocks written before the key existed still verify (LEDGER_LEGACY_UNTIL).</a:t>
            </a:r>
          </a:p>
          <a:p>
            <a:pPr algn="l">
              <a:spcAft>
                <a:spcPts val="500"/>
              </a:spcAft>
            </a:pPr>
            <a:r>
              <a:rPr sz="1150" b="1" i="0">
                <a:solidFill>
                  <a:srgbClr val="1B2A55"/>
                </a:solidFill>
                <a:latin typeface="Inter"/>
              </a:rPr>
              <a:t>•  </a:t>
            </a:r>
            <a:r>
              <a:rPr sz="1150" b="1" i="0">
                <a:solidFill>
                  <a:srgbClr val="1B2A55"/>
                </a:solidFill>
                <a:latin typeface="Inter"/>
              </a:rPr>
              <a:t>Limit:</a:t>
            </a:r>
            <a:r>
              <a:rPr sz="1150" b="0" i="0">
                <a:solidFill>
                  <a:srgbClr val="353B4A"/>
                </a:solidFill>
                <a:latin typeface="Inter"/>
              </a:rPr>
              <a:t> whoever holds the key can still forge blocks; that needs an external witness (future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INTEGRITY SWEEP</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Five rules compare the database with the ledger</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13</a:t>
            </a:r>
          </a:p>
        </p:txBody>
      </p:sp>
      <p:graphicFrame>
        <p:nvGraphicFramePr>
          <p:cNvPr id="6" name="Table 5"/>
          <p:cNvGraphicFramePr>
            <a:graphicFrameLocks noGrp="1"/>
          </p:cNvGraphicFramePr>
          <p:nvPr/>
        </p:nvGraphicFramePr>
        <p:xfrm>
          <a:off x="457200" y="1097280"/>
          <a:ext cx="8229599" cy="2880360"/>
        </p:xfrm>
        <a:graphic>
          <a:graphicData uri="http://schemas.openxmlformats.org/drawingml/2006/table">
            <a:tbl>
              <a:tblPr firstRow="1" bandRow="1">
                <a:tableStyleId>{5C22544A-7EE6-4342-B048-85BDC9FD1C3A}</a:tableStyleId>
              </a:tblPr>
              <a:tblGrid>
                <a:gridCol w="1554480"/>
                <a:gridCol w="2468880"/>
                <a:gridCol w="3383280"/>
                <a:gridCol w="822959"/>
              </a:tblGrid>
              <a:tr h="365760">
                <a:tc>
                  <a:txBody>
                    <a:bodyPr wrap="square"/>
                    <a:lstStyle/>
                    <a:p>
                      <a:r>
                        <a:rPr sz="1000" b="1" i="0">
                          <a:solidFill>
                            <a:srgbClr val="FFFFFF"/>
                          </a:solidFill>
                          <a:latin typeface="Inter"/>
                        </a:rPr>
                        <a:t>Rule</a:t>
                      </a:r>
                    </a:p>
                  </a:txBody>
                  <a:tcPr marL="73152" marR="73152" marT="36576" marB="36576" anchor="ctr">
                    <a:solidFill>
                      <a:srgbClr val="1B2A55"/>
                    </a:solidFill>
                  </a:tcPr>
                </a:tc>
                <a:tc>
                  <a:txBody>
                    <a:bodyPr wrap="square"/>
                    <a:lstStyle/>
                    <a:p>
                      <a:r>
                        <a:rPr sz="1000" b="1" i="0">
                          <a:solidFill>
                            <a:srgbClr val="FFFFFF"/>
                          </a:solidFill>
                          <a:latin typeface="Inter"/>
                        </a:rPr>
                        <a:t>Detects</a:t>
                      </a:r>
                    </a:p>
                  </a:txBody>
                  <a:tcPr marL="73152" marR="73152" marT="36576" marB="36576" anchor="ctr">
                    <a:solidFill>
                      <a:srgbClr val="1B2A55"/>
                    </a:solidFill>
                  </a:tcPr>
                </a:tc>
                <a:tc>
                  <a:txBody>
                    <a:bodyPr wrap="square"/>
                    <a:lstStyle/>
                    <a:p>
                      <a:r>
                        <a:rPr sz="1000" b="1" i="0">
                          <a:solidFill>
                            <a:srgbClr val="FFFFFF"/>
                          </a:solidFill>
                          <a:latin typeface="Inter"/>
                        </a:rPr>
                        <a:t>How</a:t>
                      </a:r>
                    </a:p>
                  </a:txBody>
                  <a:tcPr marL="73152" marR="73152" marT="36576" marB="36576" anchor="ctr">
                    <a:solidFill>
                      <a:srgbClr val="1B2A55"/>
                    </a:solidFill>
                  </a:tcPr>
                </a:tc>
                <a:tc>
                  <a:txBody>
                    <a:bodyPr wrap="square"/>
                    <a:lstStyle/>
                    <a:p>
                      <a:r>
                        <a:rPr sz="1000" b="1" i="0">
                          <a:solidFill>
                            <a:srgbClr val="FFFFFF"/>
                          </a:solidFill>
                          <a:latin typeface="Inter"/>
                        </a:rPr>
                        <a:t>New?</a:t>
                      </a:r>
                    </a:p>
                  </a:txBody>
                  <a:tcPr marL="73152" marR="73152" marT="36576" marB="36576" anchor="ctr">
                    <a:solidFill>
                      <a:srgbClr val="1B2A55"/>
                    </a:solidFill>
                  </a:tcPr>
                </a:tc>
              </a:tr>
              <a:tr h="502920">
                <a:tc>
                  <a:txBody>
                    <a:bodyPr wrap="square"/>
                    <a:lstStyle/>
                    <a:p>
                      <a:r>
                        <a:rPr sz="1050" b="1" i="0">
                          <a:solidFill>
                            <a:srgbClr val="1B2A55"/>
                          </a:solidFill>
                          <a:latin typeface="Inter"/>
                        </a:rPr>
                        <a:t>1  Modified</a:t>
                      </a:r>
                    </a:p>
                  </a:txBody>
                  <a:tcPr marL="73152" marR="73152" marT="36576" marB="36576" anchor="ctr">
                    <a:solidFill>
                      <a:srgbClr val="FFFFFF"/>
                    </a:solidFill>
                  </a:tcPr>
                </a:tc>
                <a:tc>
                  <a:txBody>
                    <a:bodyPr wrap="square"/>
                    <a:lstStyle/>
                    <a:p>
                      <a:r>
                        <a:rPr sz="1050" b="0" i="0">
                          <a:solidFill>
                            <a:srgbClr val="353B4A"/>
                          </a:solidFill>
                          <a:latin typeface="Inter"/>
                        </a:rPr>
                        <a:t>A ballot whose ranks changed</a:t>
                      </a:r>
                    </a:p>
                  </a:txBody>
                  <a:tcPr marL="73152" marR="73152" marT="36576" marB="36576" anchor="ctr">
                    <a:solidFill>
                      <a:srgbClr val="FFFFFF"/>
                    </a:solidFill>
                  </a:tcPr>
                </a:tc>
                <a:tc>
                  <a:txBody>
                    <a:bodyPr wrap="square"/>
                    <a:lstStyle/>
                    <a:p>
                      <a:r>
                        <a:rPr sz="1050" b="0" i="0">
                          <a:solidFill>
                            <a:srgbClr val="353B4A"/>
                          </a:solidFill>
                          <a:latin typeface="Inter"/>
                        </a:rPr>
                        <a:t>Recompute ranks hash; compare with the receipt</a:t>
                      </a:r>
                    </a:p>
                  </a:txBody>
                  <a:tcPr marL="73152" marR="73152" marT="36576" marB="36576" anchor="ctr">
                    <a:solidFill>
                      <a:srgbClr val="FFFFFF"/>
                    </a:solidFill>
                  </a:tcPr>
                </a:tc>
                <a:tc>
                  <a:txBody>
                    <a:bodyPr wrap="square"/>
                    <a:lstStyle/>
                    <a:p>
                      <a:r>
                        <a:rPr sz="1050" b="0" i="0">
                          <a:solidFill>
                            <a:srgbClr val="353B4A"/>
                          </a:solidFill>
                          <a:latin typeface="Inter"/>
                        </a:rPr>
                        <a:t>Review 2</a:t>
                      </a:r>
                    </a:p>
                  </a:txBody>
                  <a:tcPr marL="73152" marR="73152" marT="36576" marB="36576" anchor="ctr">
                    <a:solidFill>
                      <a:srgbClr val="FFFFFF"/>
                    </a:solidFill>
                  </a:tcPr>
                </a:tc>
              </a:tr>
              <a:tr h="502920">
                <a:tc>
                  <a:txBody>
                    <a:bodyPr wrap="square"/>
                    <a:lstStyle/>
                    <a:p>
                      <a:r>
                        <a:rPr sz="1050" b="1" i="0">
                          <a:solidFill>
                            <a:srgbClr val="1B2A55"/>
                          </a:solidFill>
                          <a:latin typeface="Inter"/>
                        </a:rPr>
                        <a:t>2  Deleted</a:t>
                      </a:r>
                    </a:p>
                  </a:txBody>
                  <a:tcPr marL="73152" marR="73152" marT="36576" marB="36576" anchor="ctr">
                    <a:solidFill>
                      <a:srgbClr val="F1F0F6"/>
                    </a:solidFill>
                  </a:tcPr>
                </a:tc>
                <a:tc>
                  <a:txBody>
                    <a:bodyPr wrap="square"/>
                    <a:lstStyle/>
                    <a:p>
                      <a:r>
                        <a:rPr sz="1050" b="0" i="0">
                          <a:solidFill>
                            <a:srgbClr val="353B4A"/>
                          </a:solidFill>
                          <a:latin typeface="Inter"/>
                        </a:rPr>
                        <a:t>A sealed ballot missing from the database</a:t>
                      </a:r>
                    </a:p>
                  </a:txBody>
                  <a:tcPr marL="73152" marR="73152" marT="36576" marB="36576" anchor="ctr">
                    <a:solidFill>
                      <a:srgbClr val="F1F0F6"/>
                    </a:solidFill>
                  </a:tcPr>
                </a:tc>
                <a:tc>
                  <a:txBody>
                    <a:bodyPr wrap="square"/>
                    <a:lstStyle/>
                    <a:p>
                      <a:r>
                        <a:rPr sz="1050" b="0" i="0">
                          <a:solidFill>
                            <a:srgbClr val="353B4A"/>
                          </a:solidFill>
                          <a:latin typeface="Inter"/>
                        </a:rPr>
                        <a:t>Receipt exists with no ballot rows</a:t>
                      </a:r>
                    </a:p>
                  </a:txBody>
                  <a:tcPr marL="73152" marR="73152" marT="36576" marB="36576" anchor="ctr">
                    <a:solidFill>
                      <a:srgbClr val="F1F0F6"/>
                    </a:solidFill>
                  </a:tcPr>
                </a:tc>
                <a:tc>
                  <a:txBody>
                    <a:bodyPr wrap="square"/>
                    <a:lstStyle/>
                    <a:p>
                      <a:r>
                        <a:rPr sz="1050" b="0" i="0">
                          <a:solidFill>
                            <a:srgbClr val="353B4A"/>
                          </a:solidFill>
                          <a:latin typeface="Inter"/>
                        </a:rPr>
                        <a:t>Review 2</a:t>
                      </a:r>
                    </a:p>
                  </a:txBody>
                  <a:tcPr marL="73152" marR="73152" marT="36576" marB="36576" anchor="ctr">
                    <a:solidFill>
                      <a:srgbClr val="F1F0F6"/>
                    </a:solidFill>
                  </a:tcPr>
                </a:tc>
              </a:tr>
              <a:tr h="502920">
                <a:tc>
                  <a:txBody>
                    <a:bodyPr wrap="square"/>
                    <a:lstStyle/>
                    <a:p>
                      <a:r>
                        <a:rPr sz="1050" b="1" i="0">
                          <a:solidFill>
                            <a:srgbClr val="1B2A55"/>
                          </a:solidFill>
                          <a:latin typeface="Inter"/>
                        </a:rPr>
                        <a:t>3  Injected</a:t>
                      </a:r>
                    </a:p>
                  </a:txBody>
                  <a:tcPr marL="73152" marR="73152" marT="36576" marB="36576" anchor="ctr">
                    <a:solidFill>
                      <a:srgbClr val="FFFFFF"/>
                    </a:solidFill>
                  </a:tcPr>
                </a:tc>
                <a:tc>
                  <a:txBody>
                    <a:bodyPr wrap="square"/>
                    <a:lstStyle/>
                    <a:p>
                      <a:r>
                        <a:rPr sz="1050" b="0" i="0">
                          <a:solidFill>
                            <a:srgbClr val="353B4A"/>
                          </a:solidFill>
                          <a:latin typeface="Inter"/>
                        </a:rPr>
                        <a:t>A ballot with no receipt</a:t>
                      </a:r>
                    </a:p>
                  </a:txBody>
                  <a:tcPr marL="73152" marR="73152" marT="36576" marB="36576" anchor="ctr">
                    <a:solidFill>
                      <a:srgbClr val="FFFFFF"/>
                    </a:solidFill>
                  </a:tcPr>
                </a:tc>
                <a:tc>
                  <a:txBody>
                    <a:bodyPr wrap="square"/>
                    <a:lstStyle/>
                    <a:p>
                      <a:r>
                        <a:rPr sz="1050" b="0" i="0">
                          <a:solidFill>
                            <a:srgbClr val="353B4A"/>
                          </a:solidFill>
                          <a:latin typeface="Inter"/>
                        </a:rPr>
                        <a:t>Ballot rows exist with no block</a:t>
                      </a:r>
                    </a:p>
                  </a:txBody>
                  <a:tcPr marL="73152" marR="73152" marT="36576" marB="36576" anchor="ctr">
                    <a:solidFill>
                      <a:srgbClr val="FFFFFF"/>
                    </a:solidFill>
                  </a:tcPr>
                </a:tc>
                <a:tc>
                  <a:txBody>
                    <a:bodyPr wrap="square"/>
                    <a:lstStyle/>
                    <a:p>
                      <a:r>
                        <a:rPr sz="1050" b="0" i="0">
                          <a:solidFill>
                            <a:srgbClr val="353B4A"/>
                          </a:solidFill>
                          <a:latin typeface="Inter"/>
                        </a:rPr>
                        <a:t>New</a:t>
                      </a:r>
                    </a:p>
                  </a:txBody>
                  <a:tcPr marL="73152" marR="73152" marT="36576" marB="36576" anchor="ctr">
                    <a:solidFill>
                      <a:srgbClr val="FFFFFF"/>
                    </a:solidFill>
                  </a:tcPr>
                </a:tc>
              </a:tr>
              <a:tr h="502920">
                <a:tc>
                  <a:txBody>
                    <a:bodyPr wrap="square"/>
                    <a:lstStyle/>
                    <a:p>
                      <a:r>
                        <a:rPr sz="1050" b="1" i="0">
                          <a:solidFill>
                            <a:srgbClr val="1B2A55"/>
                          </a:solidFill>
                          <a:latin typeface="Inter"/>
                        </a:rPr>
                        <a:t>4  Roster changed</a:t>
                      </a:r>
                    </a:p>
                  </a:txBody>
                  <a:tcPr marL="73152" marR="73152" marT="36576" marB="36576" anchor="ctr">
                    <a:solidFill>
                      <a:srgbClr val="F1F0F6"/>
                    </a:solidFill>
                  </a:tcPr>
                </a:tc>
                <a:tc>
                  <a:txBody>
                    <a:bodyPr wrap="square"/>
                    <a:lstStyle/>
                    <a:p>
                      <a:r>
                        <a:rPr sz="1050" b="0" i="0">
                          <a:solidFill>
                            <a:srgbClr val="353B4A"/>
                          </a:solidFill>
                          <a:latin typeface="Inter"/>
                        </a:rPr>
                        <a:t>Candidate names altered after voting</a:t>
                      </a:r>
                    </a:p>
                  </a:txBody>
                  <a:tcPr marL="73152" marR="73152" marT="36576" marB="36576" anchor="ctr">
                    <a:solidFill>
                      <a:srgbClr val="F1F0F6"/>
                    </a:solidFill>
                  </a:tcPr>
                </a:tc>
                <a:tc>
                  <a:txBody>
                    <a:bodyPr wrap="square"/>
                    <a:lstStyle/>
                    <a:p>
                      <a:r>
                        <a:rPr sz="1050" b="0" i="0">
                          <a:solidFill>
                            <a:srgbClr val="353B4A"/>
                          </a:solidFill>
                          <a:latin typeface="Inter"/>
                        </a:rPr>
                        <a:t>Current roster hash differs from the sealed hash</a:t>
                      </a:r>
                    </a:p>
                  </a:txBody>
                  <a:tcPr marL="73152" marR="73152" marT="36576" marB="36576" anchor="ctr">
                    <a:solidFill>
                      <a:srgbClr val="F1F0F6"/>
                    </a:solidFill>
                  </a:tcPr>
                </a:tc>
                <a:tc>
                  <a:txBody>
                    <a:bodyPr wrap="square"/>
                    <a:lstStyle/>
                    <a:p>
                      <a:r>
                        <a:rPr sz="1050" b="0" i="0">
                          <a:solidFill>
                            <a:srgbClr val="353B4A"/>
                          </a:solidFill>
                          <a:latin typeface="Inter"/>
                        </a:rPr>
                        <a:t>New</a:t>
                      </a:r>
                    </a:p>
                  </a:txBody>
                  <a:tcPr marL="73152" marR="73152" marT="36576" marB="36576" anchor="ctr">
                    <a:solidFill>
                      <a:srgbClr val="F1F0F6"/>
                    </a:solidFill>
                  </a:tcPr>
                </a:tc>
              </a:tr>
              <a:tr h="502920">
                <a:tc>
                  <a:txBody>
                    <a:bodyPr wrap="square"/>
                    <a:lstStyle/>
                    <a:p>
                      <a:r>
                        <a:rPr sz="1050" b="1" i="0">
                          <a:solidFill>
                            <a:srgbClr val="1B2A55"/>
                          </a:solidFill>
                          <a:latin typeface="Inter"/>
                        </a:rPr>
                        <a:t>5  Count mismatch</a:t>
                      </a:r>
                    </a:p>
                  </a:txBody>
                  <a:tcPr marL="73152" marR="73152" marT="36576" marB="36576" anchor="ctr">
                    <a:solidFill>
                      <a:srgbClr val="FFFFFF"/>
                    </a:solidFill>
                  </a:tcPr>
                </a:tc>
                <a:tc>
                  <a:txBody>
                    <a:bodyPr wrap="square"/>
                    <a:lstStyle/>
                    <a:p>
                      <a:r>
                        <a:rPr sz="1050" b="0" i="0">
                          <a:solidFill>
                            <a:srgbClr val="353B4A"/>
                          </a:solidFill>
                          <a:latin typeface="Inter"/>
                        </a:rPr>
                        <a:t>Flags, ballots, receipts disagree</a:t>
                      </a:r>
                    </a:p>
                  </a:txBody>
                  <a:tcPr marL="73152" marR="73152" marT="36576" marB="36576" anchor="ctr">
                    <a:solidFill>
                      <a:srgbClr val="FFFFFF"/>
                    </a:solidFill>
                  </a:tcPr>
                </a:tc>
                <a:tc>
                  <a:txBody>
                    <a:bodyPr wrap="square"/>
                    <a:lstStyle/>
                    <a:p>
                      <a:r>
                        <a:rPr sz="1050" b="0" i="0">
                          <a:solidFill>
                            <a:srgbClr val="353B4A"/>
                          </a:solidFill>
                          <a:latin typeface="Inter"/>
                        </a:rPr>
                        <a:t>Compare the three counts for the election</a:t>
                      </a:r>
                    </a:p>
                  </a:txBody>
                  <a:tcPr marL="73152" marR="73152" marT="36576" marB="36576" anchor="ctr">
                    <a:solidFill>
                      <a:srgbClr val="FFFFFF"/>
                    </a:solidFill>
                  </a:tcPr>
                </a:tc>
                <a:tc>
                  <a:txBody>
                    <a:bodyPr wrap="square"/>
                    <a:lstStyle/>
                    <a:p>
                      <a:r>
                        <a:rPr sz="1050" b="0" i="0">
                          <a:solidFill>
                            <a:srgbClr val="353B4A"/>
                          </a:solidFill>
                          <a:latin typeface="Inter"/>
                        </a:rPr>
                        <a:t>New</a:t>
                      </a:r>
                    </a:p>
                  </a:txBody>
                  <a:tcPr marL="73152" marR="73152" marT="36576" marB="36576" anchor="ctr">
                    <a:solidFill>
                      <a:srgbClr val="FFFFFF"/>
                    </a:solidFill>
                  </a:tcPr>
                </a:tc>
              </a:tr>
            </a:tbl>
          </a:graphicData>
        </a:graphic>
      </p:graphicFrame>
      <p:sp>
        <p:nvSpPr>
          <p:cNvPr id="7" name="TextBox 6"/>
          <p:cNvSpPr txBox="1"/>
          <p:nvPr/>
        </p:nvSpPr>
        <p:spPr>
          <a:xfrm>
            <a:off x="457200" y="4114800"/>
            <a:ext cx="8229600" cy="640080"/>
          </a:xfrm>
          <a:prstGeom prst="rect">
            <a:avLst/>
          </a:prstGeom>
          <a:noFill/>
        </p:spPr>
        <p:txBody>
          <a:bodyPr wrap="square" anchor="t" lIns="0" rIns="0" tIns="0" bIns="0">
            <a:spAutoFit/>
          </a:bodyPr>
          <a:lstStyle/>
          <a:p>
            <a:pPr algn="l">
              <a:spcAft>
                <a:spcPts val="0"/>
              </a:spcAft>
            </a:pPr>
            <a:r>
              <a:rPr sz="1150" b="1" i="0">
                <a:solidFill>
                  <a:srgbClr val="1B2A55"/>
                </a:solidFill>
                <a:latin typeface="Inter"/>
              </a:rPr>
              <a:t>Plus the chain check: </a:t>
            </a:r>
            <a:r>
              <a:rPr sz="1150" b="0" i="0">
                <a:solidFill>
                  <a:srgbClr val="353B4A"/>
                </a:solidFill>
                <a:latin typeface="Inter"/>
              </a:rPr>
              <a:t>recompute every block's link and hash across the whole ledger. The chain check finds edits inside the ledger; the sweep finds edits to the database.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MONGODB ATLAS LEDGER</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A real document store with its own concurrency control</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14</a:t>
            </a:r>
          </a:p>
        </p:txBody>
      </p:sp>
      <p:sp>
        <p:nvSpPr>
          <p:cNvPr id="6" name="TextBox 5"/>
          <p:cNvSpPr txBox="1"/>
          <p:nvPr/>
        </p:nvSpPr>
        <p:spPr>
          <a:xfrm>
            <a:off x="457200" y="1143000"/>
            <a:ext cx="4846320" cy="3566160"/>
          </a:xfrm>
          <a:prstGeom prst="rect">
            <a:avLst/>
          </a:prstGeom>
          <a:noFill/>
        </p:spPr>
        <p:txBody>
          <a:bodyPr wrap="square" anchor="t" lIns="0" rIns="0" tIns="0" bIns="0">
            <a:spAutoFit/>
          </a:bodyPr>
          <a:lstStyle/>
          <a:p>
            <a:pPr algn="l">
              <a:spcAft>
                <a:spcPts val="500"/>
              </a:spcAft>
            </a:pPr>
            <a:r>
              <a:rPr sz="1150" b="1" i="0">
                <a:solidFill>
                  <a:srgbClr val="1B2A55"/>
                </a:solidFill>
                <a:latin typeface="Inter"/>
              </a:rPr>
              <a:t>•  </a:t>
            </a:r>
            <a:r>
              <a:rPr sz="1150" b="1" i="0">
                <a:solidFill>
                  <a:srgbClr val="1B2A55"/>
                </a:solidFill>
                <a:latin typeface="Inter"/>
              </a:rPr>
              <a:t>Collection:</a:t>
            </a:r>
            <a:r>
              <a:rPr sz="1150" b="0" i="0">
                <a:solidFill>
                  <a:srgbClr val="353B4A"/>
                </a:solidFill>
                <a:latin typeface="Inter"/>
              </a:rPr>
              <a:t> each block is one document in polyvote.ledger.</a:t>
            </a:r>
          </a:p>
          <a:p>
            <a:pPr algn="l">
              <a:spcAft>
                <a:spcPts val="500"/>
              </a:spcAft>
            </a:pPr>
            <a:r>
              <a:rPr sz="1150" b="1" i="0">
                <a:solidFill>
                  <a:srgbClr val="1B2A55"/>
                </a:solidFill>
                <a:latin typeface="Inter"/>
              </a:rPr>
              <a:t>•  </a:t>
            </a:r>
            <a:r>
              <a:rPr sz="1150" b="1" i="0">
                <a:solidFill>
                  <a:srgbClr val="1B2A55"/>
                </a:solidFill>
                <a:latin typeface="Inter"/>
              </a:rPr>
              <a:t>Unique index on block index:</a:t>
            </a:r>
            <a:r>
              <a:rPr sz="1150" b="0" i="0">
                <a:solidFill>
                  <a:srgbClr val="353B4A"/>
                </a:solidFill>
                <a:latin typeface="Inter"/>
              </a:rPr>
              <a:t> two writers cannot both claim the next slot, so the chain cannot fork.</a:t>
            </a:r>
          </a:p>
          <a:p>
            <a:pPr algn="l">
              <a:spcAft>
                <a:spcPts val="500"/>
              </a:spcAft>
            </a:pPr>
            <a:r>
              <a:rPr sz="1150" b="1" i="0">
                <a:solidFill>
                  <a:srgbClr val="1B2A55"/>
                </a:solidFill>
                <a:latin typeface="Inter"/>
              </a:rPr>
              <a:t>•  </a:t>
            </a:r>
            <a:r>
              <a:rPr sz="1150" b="1" i="0">
                <a:solidFill>
                  <a:srgbClr val="1B2A55"/>
                </a:solidFill>
                <a:latin typeface="Inter"/>
              </a:rPr>
              <a:t>Append cost:</a:t>
            </a:r>
            <a:r>
              <a:rPr sz="1150" b="0" i="0">
                <a:solidFill>
                  <a:srgbClr val="353B4A"/>
                </a:solidFill>
                <a:latin typeface="Inter"/>
              </a:rPr>
              <a:t> reads only the last block and inserts one document, so it does not grow with the chain.</a:t>
            </a:r>
          </a:p>
          <a:p>
            <a:pPr algn="l">
              <a:spcAft>
                <a:spcPts val="500"/>
              </a:spcAft>
            </a:pPr>
            <a:r>
              <a:rPr sz="1150" b="1" i="0">
                <a:solidFill>
                  <a:srgbClr val="1B2A55"/>
                </a:solidFill>
                <a:latin typeface="Inter"/>
              </a:rPr>
              <a:t>•  </a:t>
            </a:r>
            <a:r>
              <a:rPr sz="1150" b="1" i="0">
                <a:solidFill>
                  <a:srgbClr val="1B2A55"/>
                </a:solidFill>
                <a:latin typeface="Inter"/>
              </a:rPr>
              <a:t>Fallback:</a:t>
            </a:r>
            <a:r>
              <a:rPr sz="1150" b="0" i="0">
                <a:solidFill>
                  <a:srgbClr val="353B4A"/>
                </a:solidFill>
                <a:latin typeface="Inter"/>
              </a:rPr>
              <a:t> no connection string, or Atlas unreachable, and it uses the local file; /api/health shows which.</a:t>
            </a:r>
          </a:p>
          <a:p>
            <a:pPr algn="l">
              <a:spcAft>
                <a:spcPts val="500"/>
              </a:spcAft>
            </a:pPr>
            <a:r>
              <a:rPr sz="1150" b="1" i="0">
                <a:solidFill>
                  <a:srgbClr val="1B2A55"/>
                </a:solidFill>
                <a:latin typeface="Inter"/>
              </a:rPr>
              <a:t>•  </a:t>
            </a:r>
            <a:r>
              <a:rPr sz="1150" b="1" i="0">
                <a:solidFill>
                  <a:srgbClr val="1B2A55"/>
                </a:solidFill>
                <a:latin typeface="Inter"/>
              </a:rPr>
              <a:t>Migration:</a:t>
            </a:r>
            <a:r>
              <a:rPr sz="1150" b="0" i="0">
                <a:solidFill>
                  <a:srgbClr val="353B4A"/>
                </a:solidFill>
                <a:latin typeface="Inter"/>
              </a:rPr>
              <a:t> a script copies the old blocks and verifies the chain; it refuses to overwrite a non-empty collection.</a:t>
            </a:r>
          </a:p>
          <a:p>
            <a:pPr algn="l">
              <a:spcAft>
                <a:spcPts val="500"/>
              </a:spcAft>
            </a:pPr>
            <a:r>
              <a:rPr sz="1150" b="1" i="0">
                <a:solidFill>
                  <a:srgbClr val="1B2A55"/>
                </a:solidFill>
                <a:latin typeface="Inter"/>
              </a:rPr>
              <a:t>•  </a:t>
            </a:r>
            <a:r>
              <a:rPr sz="1150" b="1" i="0">
                <a:solidFill>
                  <a:srgbClr val="1B2A55"/>
                </a:solidFill>
                <a:latin typeface="Inter"/>
              </a:rPr>
              <a:t>Secrets:</a:t>
            </a:r>
            <a:r>
              <a:rPr sz="1150" b="0" i="0">
                <a:solidFill>
                  <a:srgbClr val="353B4A"/>
                </a:solidFill>
                <a:latin typeface="Inter"/>
              </a:rPr>
              <a:t> the connection string lives in .env, never in the code or the repository.</a:t>
            </a:r>
          </a:p>
        </p:txBody>
      </p:sp>
      <p:sp>
        <p:nvSpPr>
          <p:cNvPr id="7" name="Rounded Rectangle 6"/>
          <p:cNvSpPr/>
          <p:nvPr/>
        </p:nvSpPr>
        <p:spPr>
          <a:xfrm>
            <a:off x="5577840" y="1188720"/>
            <a:ext cx="3108960" cy="3383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0" y="1280160"/>
            <a:ext cx="2743200" cy="274320"/>
          </a:xfrm>
          <a:prstGeom prst="rect">
            <a:avLst/>
          </a:prstGeom>
          <a:noFill/>
        </p:spPr>
        <p:txBody>
          <a:bodyPr wrap="square" anchor="t" lIns="0" rIns="0" tIns="0" bIns="0">
            <a:spAutoFit/>
          </a:bodyPr>
          <a:lstStyle/>
          <a:p>
            <a:pPr algn="l">
              <a:spcAft>
                <a:spcPts val="0"/>
              </a:spcAft>
            </a:pPr>
            <a:r>
              <a:rPr sz="1200" b="1" i="0">
                <a:solidFill>
                  <a:srgbClr val="1B2A55"/>
                </a:solidFill>
                <a:latin typeface="Inter"/>
              </a:rPr>
              <a:t>Live health check</a:t>
            </a:r>
          </a:p>
        </p:txBody>
      </p:sp>
      <p:sp>
        <p:nvSpPr>
          <p:cNvPr id="9" name="TextBox 8"/>
          <p:cNvSpPr txBox="1"/>
          <p:nvPr/>
        </p:nvSpPr>
        <p:spPr>
          <a:xfrm>
            <a:off x="5760720" y="1645920"/>
            <a:ext cx="2743200" cy="914400"/>
          </a:xfrm>
          <a:prstGeom prst="rect">
            <a:avLst/>
          </a:prstGeom>
          <a:noFill/>
        </p:spPr>
        <p:txBody>
          <a:bodyPr wrap="square" anchor="t" lIns="0" rIns="0" tIns="0" bIns="0">
            <a:spAutoFit/>
          </a:bodyPr>
          <a:lstStyle/>
          <a:p>
            <a:pPr algn="l">
              <a:spcAft>
                <a:spcPts val="0"/>
              </a:spcAft>
            </a:pPr>
            <a:r>
              <a:rPr sz="900" b="0" i="0">
                <a:solidFill>
                  <a:srgbClr val="353B4A"/>
                </a:solidFill>
                <a:latin typeface="Consolas"/>
              </a:rPr>
              <a:t>{"backend":"mongodb",</a:t>
            </a:r>
          </a:p>
          <a:p>
            <a:pPr algn="l">
              <a:spcAft>
                <a:spcPts val="0"/>
              </a:spcAft>
            </a:pPr>
            <a:r>
              <a:rPr sz="900" b="0" i="0">
                <a:solidFill>
                  <a:srgbClr val="353B4A"/>
                </a:solidFill>
                <a:latin typeface="Consolas"/>
              </a:rPr>
              <a:t> "detail":"mongodb</a:t>
            </a:r>
          </a:p>
          <a:p>
            <a:pPr algn="l">
              <a:spcAft>
                <a:spcPts val="0"/>
              </a:spcAft>
            </a:pPr>
            <a:r>
              <a:rPr sz="900" b="0" i="0">
                <a:solidFill>
                  <a:srgbClr val="353B4A"/>
                </a:solidFill>
                <a:latin typeface="Consolas"/>
              </a:rPr>
              <a:t>   (polyvote.ledger)",</a:t>
            </a:r>
          </a:p>
          <a:p>
            <a:pPr algn="l">
              <a:spcAft>
                <a:spcPts val="0"/>
              </a:spcAft>
            </a:pPr>
            <a:r>
              <a:rPr sz="900" b="0" i="0">
                <a:solidFill>
                  <a:srgbClr val="353B4A"/>
                </a:solidFill>
                <a:latin typeface="Consolas"/>
              </a:rPr>
              <a:t> "sealing":"hmac-sha256"}</a:t>
            </a:r>
          </a:p>
        </p:txBody>
      </p:sp>
      <p:sp>
        <p:nvSpPr>
          <p:cNvPr id="10" name="TextBox 9"/>
          <p:cNvSpPr txBox="1"/>
          <p:nvPr/>
        </p:nvSpPr>
        <p:spPr>
          <a:xfrm>
            <a:off x="5760720" y="2743200"/>
            <a:ext cx="2743200" cy="173736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Editing any block in Atlas (for example a vote_data_hash) makes the Audit ledger page show "Data tampered at block 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EMAIL ONE-TIME CODE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A correct password no longer opens a ballot on its own</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15</a:t>
            </a:r>
          </a:p>
        </p:txBody>
      </p:sp>
      <p:pic>
        <p:nvPicPr>
          <p:cNvPr id="6" name="Picture 5" descr="otp_sequence.png"/>
          <p:cNvPicPr>
            <a:picLocks noChangeAspect="1"/>
          </p:cNvPicPr>
          <p:nvPr/>
        </p:nvPicPr>
        <p:blipFill>
          <a:blip r:embed="rId2"/>
          <a:stretch>
            <a:fillRect/>
          </a:stretch>
        </p:blipFill>
        <p:spPr>
          <a:xfrm>
            <a:off x="1905609" y="1051560"/>
            <a:ext cx="5332780" cy="3703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EMAIL ONE-TIME CODE · DESIGN</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Small choices that make it hold up</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16</a:t>
            </a:r>
          </a:p>
        </p:txBody>
      </p:sp>
      <p:graphicFrame>
        <p:nvGraphicFramePr>
          <p:cNvPr id="6" name="Table 5"/>
          <p:cNvGraphicFramePr>
            <a:graphicFrameLocks noGrp="1"/>
          </p:cNvGraphicFramePr>
          <p:nvPr/>
        </p:nvGraphicFramePr>
        <p:xfrm>
          <a:off x="457200" y="1097280"/>
          <a:ext cx="5120640" cy="3291840"/>
        </p:xfrm>
        <a:graphic>
          <a:graphicData uri="http://schemas.openxmlformats.org/drawingml/2006/table">
            <a:tbl>
              <a:tblPr firstRow="1" bandRow="1">
                <a:tableStyleId>{5C22544A-7EE6-4342-B048-85BDC9FD1C3A}</a:tableStyleId>
              </a:tblPr>
              <a:tblGrid>
                <a:gridCol w="1554480"/>
                <a:gridCol w="3566160"/>
              </a:tblGrid>
              <a:tr h="365760">
                <a:tc>
                  <a:txBody>
                    <a:bodyPr wrap="square"/>
                    <a:lstStyle/>
                    <a:p>
                      <a:r>
                        <a:rPr sz="1000" b="1" i="0">
                          <a:solidFill>
                            <a:srgbClr val="FFFFFF"/>
                          </a:solidFill>
                          <a:latin typeface="Inter"/>
                        </a:rPr>
                        <a:t>Choice</a:t>
                      </a:r>
                    </a:p>
                  </a:txBody>
                  <a:tcPr marL="73152" marR="73152" marT="36576" marB="36576" anchor="ctr">
                    <a:solidFill>
                      <a:srgbClr val="1B2A55"/>
                    </a:solidFill>
                  </a:tcPr>
                </a:tc>
                <a:tc>
                  <a:txBody>
                    <a:bodyPr wrap="square"/>
                    <a:lstStyle/>
                    <a:p>
                      <a:r>
                        <a:rPr sz="1000" b="1" i="0">
                          <a:solidFill>
                            <a:srgbClr val="FFFFFF"/>
                          </a:solidFill>
                          <a:latin typeface="Inter"/>
                        </a:rPr>
                        <a:t>Value</a:t>
                      </a:r>
                    </a:p>
                  </a:txBody>
                  <a:tcPr marL="73152" marR="73152" marT="36576" marB="36576" anchor="ctr">
                    <a:solidFill>
                      <a:srgbClr val="1B2A55"/>
                    </a:solidFill>
                  </a:tcPr>
                </a:tc>
              </a:tr>
              <a:tr h="365760">
                <a:tc>
                  <a:txBody>
                    <a:bodyPr wrap="square"/>
                    <a:lstStyle/>
                    <a:p>
                      <a:r>
                        <a:rPr sz="1000" b="1" i="0">
                          <a:solidFill>
                            <a:srgbClr val="1B2A55"/>
                          </a:solidFill>
                          <a:latin typeface="Inter"/>
                        </a:rPr>
                        <a:t>Code</a:t>
                      </a:r>
                    </a:p>
                  </a:txBody>
                  <a:tcPr marL="73152" marR="73152" marT="36576" marB="36576" anchor="ctr">
                    <a:solidFill>
                      <a:srgbClr val="FFFFFF"/>
                    </a:solidFill>
                  </a:tcPr>
                </a:tc>
                <a:tc>
                  <a:txBody>
                    <a:bodyPr wrap="square"/>
                    <a:lstStyle/>
                    <a:p>
                      <a:r>
                        <a:rPr sz="1000" b="0" i="0">
                          <a:solidFill>
                            <a:srgbClr val="353B4A"/>
                          </a:solidFill>
                          <a:latin typeface="Inter"/>
                        </a:rPr>
                        <a:t>6 digits from a secure generator</a:t>
                      </a:r>
                    </a:p>
                  </a:txBody>
                  <a:tcPr marL="73152" marR="73152" marT="36576" marB="36576" anchor="ctr">
                    <a:solidFill>
                      <a:srgbClr val="FFFFFF"/>
                    </a:solidFill>
                  </a:tcPr>
                </a:tc>
              </a:tr>
              <a:tr h="365760">
                <a:tc>
                  <a:txBody>
                    <a:bodyPr wrap="square"/>
                    <a:lstStyle/>
                    <a:p>
                      <a:r>
                        <a:rPr sz="1000" b="1" i="0">
                          <a:solidFill>
                            <a:srgbClr val="1B2A55"/>
                          </a:solidFill>
                          <a:latin typeface="Inter"/>
                        </a:rPr>
                        <a:t>Stored as</a:t>
                      </a:r>
                    </a:p>
                  </a:txBody>
                  <a:tcPr marL="73152" marR="73152" marT="36576" marB="36576" anchor="ctr">
                    <a:solidFill>
                      <a:srgbClr val="F1F0F6"/>
                    </a:solidFill>
                  </a:tcPr>
                </a:tc>
                <a:tc>
                  <a:txBody>
                    <a:bodyPr wrap="square"/>
                    <a:lstStyle/>
                    <a:p>
                      <a:r>
                        <a:rPr sz="1000" b="0" i="0">
                          <a:solidFill>
                            <a:srgbClr val="353B4A"/>
                          </a:solidFill>
                          <a:latin typeface="Inter"/>
                        </a:rPr>
                        <a:t>HMAC of challenge and code</a:t>
                      </a:r>
                    </a:p>
                  </a:txBody>
                  <a:tcPr marL="73152" marR="73152" marT="36576" marB="36576" anchor="ctr">
                    <a:solidFill>
                      <a:srgbClr val="F1F0F6"/>
                    </a:solidFill>
                  </a:tcPr>
                </a:tc>
              </a:tr>
              <a:tr h="365760">
                <a:tc>
                  <a:txBody>
                    <a:bodyPr wrap="square"/>
                    <a:lstStyle/>
                    <a:p>
                      <a:r>
                        <a:rPr sz="1000" b="1" i="0">
                          <a:solidFill>
                            <a:srgbClr val="1B2A55"/>
                          </a:solidFill>
                          <a:latin typeface="Inter"/>
                        </a:rPr>
                        <a:t>Valid for</a:t>
                      </a:r>
                    </a:p>
                  </a:txBody>
                  <a:tcPr marL="73152" marR="73152" marT="36576" marB="36576" anchor="ctr">
                    <a:solidFill>
                      <a:srgbClr val="FFFFFF"/>
                    </a:solidFill>
                  </a:tcPr>
                </a:tc>
                <a:tc>
                  <a:txBody>
                    <a:bodyPr wrap="square"/>
                    <a:lstStyle/>
                    <a:p>
                      <a:r>
                        <a:rPr sz="1000" b="0" i="0">
                          <a:solidFill>
                            <a:srgbClr val="353B4A"/>
                          </a:solidFill>
                          <a:latin typeface="Inter"/>
                        </a:rPr>
                        <a:t>5 minutes, single use</a:t>
                      </a:r>
                    </a:p>
                  </a:txBody>
                  <a:tcPr marL="73152" marR="73152" marT="36576" marB="36576" anchor="ctr">
                    <a:solidFill>
                      <a:srgbClr val="FFFFFF"/>
                    </a:solidFill>
                  </a:tcPr>
                </a:tc>
              </a:tr>
              <a:tr h="365760">
                <a:tc>
                  <a:txBody>
                    <a:bodyPr wrap="square"/>
                    <a:lstStyle/>
                    <a:p>
                      <a:r>
                        <a:rPr sz="1000" b="1" i="0">
                          <a:solidFill>
                            <a:srgbClr val="1B2A55"/>
                          </a:solidFill>
                          <a:latin typeface="Inter"/>
                        </a:rPr>
                        <a:t>Guesses</a:t>
                      </a:r>
                    </a:p>
                  </a:txBody>
                  <a:tcPr marL="73152" marR="73152" marT="36576" marB="36576" anchor="ctr">
                    <a:solidFill>
                      <a:srgbClr val="F1F0F6"/>
                    </a:solidFill>
                  </a:tcPr>
                </a:tc>
                <a:tc>
                  <a:txBody>
                    <a:bodyPr wrap="square"/>
                    <a:lstStyle/>
                    <a:p>
                      <a:r>
                        <a:rPr sz="1000" b="0" i="0">
                          <a:solidFill>
                            <a:srgbClr val="353B4A"/>
                          </a:solidFill>
                          <a:latin typeface="Inter"/>
                        </a:rPr>
                        <a:t>3 per code, then locked</a:t>
                      </a:r>
                    </a:p>
                  </a:txBody>
                  <a:tcPr marL="73152" marR="73152" marT="36576" marB="36576" anchor="ctr">
                    <a:solidFill>
                      <a:srgbClr val="F1F0F6"/>
                    </a:solidFill>
                  </a:tcPr>
                </a:tc>
              </a:tr>
              <a:tr h="365760">
                <a:tc>
                  <a:txBody>
                    <a:bodyPr wrap="square"/>
                    <a:lstStyle/>
                    <a:p>
                      <a:r>
                        <a:rPr sz="1000" b="1" i="0">
                          <a:solidFill>
                            <a:srgbClr val="1B2A55"/>
                          </a:solidFill>
                          <a:latin typeface="Inter"/>
                        </a:rPr>
                        <a:t>Resend</a:t>
                      </a:r>
                    </a:p>
                  </a:txBody>
                  <a:tcPr marL="73152" marR="73152" marT="36576" marB="36576" anchor="ctr">
                    <a:solidFill>
                      <a:srgbClr val="FFFFFF"/>
                    </a:solidFill>
                  </a:tcPr>
                </a:tc>
                <a:tc>
                  <a:txBody>
                    <a:bodyPr wrap="square"/>
                    <a:lstStyle/>
                    <a:p>
                      <a:r>
                        <a:rPr sz="1000" b="0" i="0">
                          <a:solidFill>
                            <a:srgbClr val="353B4A"/>
                          </a:solidFill>
                          <a:latin typeface="Inter"/>
                        </a:rPr>
                        <a:t>1 per 30 s, 5 per challenge</a:t>
                      </a:r>
                    </a:p>
                  </a:txBody>
                  <a:tcPr marL="73152" marR="73152" marT="36576" marB="36576" anchor="ctr">
                    <a:solidFill>
                      <a:srgbClr val="FFFFFF"/>
                    </a:solidFill>
                  </a:tcPr>
                </a:tc>
              </a:tr>
              <a:tr h="365760">
                <a:tc>
                  <a:txBody>
                    <a:bodyPr wrap="square"/>
                    <a:lstStyle/>
                    <a:p>
                      <a:r>
                        <a:rPr sz="1000" b="1" i="0">
                          <a:solidFill>
                            <a:srgbClr val="1B2A55"/>
                          </a:solidFill>
                          <a:latin typeface="Inter"/>
                        </a:rPr>
                        <a:t>Challenges</a:t>
                      </a:r>
                    </a:p>
                  </a:txBody>
                  <a:tcPr marL="73152" marR="73152" marT="36576" marB="36576" anchor="ctr">
                    <a:solidFill>
                      <a:srgbClr val="F1F0F6"/>
                    </a:solidFill>
                  </a:tcPr>
                </a:tc>
                <a:tc>
                  <a:txBody>
                    <a:bodyPr wrap="square"/>
                    <a:lstStyle/>
                    <a:p>
                      <a:r>
                        <a:rPr sz="1000" b="0" i="0">
                          <a:solidFill>
                            <a:srgbClr val="353B4A"/>
                          </a:solidFill>
                          <a:latin typeface="Inter"/>
                        </a:rPr>
                        <a:t>5 per voter per 15 min</a:t>
                      </a:r>
                    </a:p>
                  </a:txBody>
                  <a:tcPr marL="73152" marR="73152" marT="36576" marB="36576" anchor="ctr">
                    <a:solidFill>
                      <a:srgbClr val="F1F0F6"/>
                    </a:solidFill>
                  </a:tcPr>
                </a:tc>
              </a:tr>
              <a:tr h="365760">
                <a:tc>
                  <a:txBody>
                    <a:bodyPr wrap="square"/>
                    <a:lstStyle/>
                    <a:p>
                      <a:r>
                        <a:rPr sz="1000" b="1" i="0">
                          <a:solidFill>
                            <a:srgbClr val="1B2A55"/>
                          </a:solidFill>
                          <a:latin typeface="Inter"/>
                        </a:rPr>
                        <a:t>Delivery</a:t>
                      </a:r>
                    </a:p>
                  </a:txBody>
                  <a:tcPr marL="73152" marR="73152" marT="36576" marB="36576" anchor="ctr">
                    <a:solidFill>
                      <a:srgbClr val="FFFFFF"/>
                    </a:solidFill>
                  </a:tcPr>
                </a:tc>
                <a:tc>
                  <a:txBody>
                    <a:bodyPr wrap="square"/>
                    <a:lstStyle/>
                    <a:p>
                      <a:r>
                        <a:rPr sz="1000" b="0" i="0">
                          <a:solidFill>
                            <a:srgbClr val="353B4A"/>
                          </a:solidFill>
                          <a:latin typeface="Inter"/>
                        </a:rPr>
                        <a:t>SMTP; failure never blocks sign-in</a:t>
                      </a:r>
                    </a:p>
                  </a:txBody>
                  <a:tcPr marL="73152" marR="73152" marT="36576" marB="36576" anchor="ctr">
                    <a:solidFill>
                      <a:srgbClr val="FFFFFF"/>
                    </a:solidFill>
                  </a:tcPr>
                </a:tc>
              </a:tr>
              <a:tr h="365760">
                <a:tc>
                  <a:txBody>
                    <a:bodyPr wrap="square"/>
                    <a:lstStyle/>
                    <a:p>
                      <a:r>
                        <a:rPr sz="1000" b="1" i="0">
                          <a:solidFill>
                            <a:srgbClr val="1B2A55"/>
                          </a:solidFill>
                          <a:latin typeface="Inter"/>
                        </a:rPr>
                        <a:t>Where emails live</a:t>
                      </a:r>
                    </a:p>
                  </a:txBody>
                  <a:tcPr marL="73152" marR="73152" marT="36576" marB="36576" anchor="ctr">
                    <a:solidFill>
                      <a:srgbClr val="F1F0F6"/>
                    </a:solidFill>
                  </a:tcPr>
                </a:tc>
                <a:tc>
                  <a:txBody>
                    <a:bodyPr wrap="square"/>
                    <a:lstStyle/>
                    <a:p>
                      <a:r>
                        <a:rPr sz="1000" b="0" i="0">
                          <a:solidFill>
                            <a:srgbClr val="353B4A"/>
                          </a:solidFill>
                          <a:latin typeface="Inter"/>
                        </a:rPr>
                        <a:t>Separate database</a:t>
                      </a:r>
                    </a:p>
                  </a:txBody>
                  <a:tcPr marL="73152" marR="73152" marT="36576" marB="36576" anchor="ctr">
                    <a:solidFill>
                      <a:srgbClr val="F1F0F6"/>
                    </a:solidFill>
                  </a:tcPr>
                </a:tc>
              </a:tr>
            </a:tbl>
          </a:graphicData>
        </a:graphic>
      </p:graphicFrame>
      <p:pic>
        <p:nvPicPr>
          <p:cNvPr id="7" name="Picture 6" descr="voter_otp.png"/>
          <p:cNvPicPr>
            <a:picLocks noChangeAspect="1"/>
          </p:cNvPicPr>
          <p:nvPr/>
        </p:nvPicPr>
        <p:blipFill>
          <a:blip r:embed="rId2"/>
          <a:stretch>
            <a:fillRect/>
          </a:stretch>
        </p:blipFill>
        <p:spPr>
          <a:xfrm>
            <a:off x="5806440" y="1162189"/>
            <a:ext cx="2880360" cy="2887701"/>
          </a:xfrm>
          <a:prstGeom prst="rect">
            <a:avLst/>
          </a:prstGeom>
          <a:ln w="12700">
            <a:solidFill>
              <a:srgbClr val="D9D9E4"/>
            </a:solidFill>
          </a:ln>
        </p:spPr>
      </p:pic>
      <p:sp>
        <p:nvSpPr>
          <p:cNvPr id="8" name="TextBox 7"/>
          <p:cNvSpPr txBox="1"/>
          <p:nvPr/>
        </p:nvSpPr>
        <p:spPr>
          <a:xfrm>
            <a:off x="5806440" y="4160520"/>
            <a:ext cx="2880360" cy="457200"/>
          </a:xfrm>
          <a:prstGeom prst="rect">
            <a:avLst/>
          </a:prstGeom>
          <a:noFill/>
        </p:spPr>
        <p:txBody>
          <a:bodyPr wrap="square" anchor="t" lIns="0" rIns="0" tIns="0" bIns="0">
            <a:spAutoFit/>
          </a:bodyPr>
          <a:lstStyle/>
          <a:p>
            <a:pPr algn="ctr">
              <a:spcAft>
                <a:spcPts val="0"/>
              </a:spcAft>
            </a:pPr>
            <a:r>
              <a:rPr sz="1000" b="0" i="1">
                <a:solidFill>
                  <a:srgbClr val="666A78"/>
                </a:solidFill>
                <a:latin typeface="Inter"/>
              </a:rPr>
              <a:t>The voter sees only a masked address.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THE VOTER EXPERIENCE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Sign in, confirm by code, rank, and keep a receipt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17</a:t>
            </a:r>
          </a:p>
        </p:txBody>
      </p:sp>
      <p:pic>
        <p:nvPicPr>
          <p:cNvPr id="6" name="Picture 5" descr="voter_signin_qr.png"/>
          <p:cNvPicPr>
            <a:picLocks noChangeAspect="1"/>
          </p:cNvPicPr>
          <p:nvPr/>
        </p:nvPicPr>
        <p:blipFill>
          <a:blip r:embed="rId2"/>
          <a:stretch>
            <a:fillRect/>
          </a:stretch>
        </p:blipFill>
        <p:spPr>
          <a:xfrm>
            <a:off x="411480" y="1315508"/>
            <a:ext cx="1965960" cy="2672502"/>
          </a:xfrm>
          <a:prstGeom prst="rect">
            <a:avLst/>
          </a:prstGeom>
          <a:ln w="12700">
            <a:solidFill>
              <a:srgbClr val="D9D9E4"/>
            </a:solidFill>
          </a:ln>
        </p:spPr>
      </p:pic>
      <p:sp>
        <p:nvSpPr>
          <p:cNvPr id="7" name="TextBox 6"/>
          <p:cNvSpPr txBox="1"/>
          <p:nvPr/>
        </p:nvSpPr>
        <p:spPr>
          <a:xfrm>
            <a:off x="411480" y="4224528"/>
            <a:ext cx="1965960" cy="365760"/>
          </a:xfrm>
          <a:prstGeom prst="rect">
            <a:avLst/>
          </a:prstGeom>
          <a:noFill/>
        </p:spPr>
        <p:txBody>
          <a:bodyPr wrap="square" anchor="t" lIns="0" rIns="0" tIns="0" bIns="0">
            <a:spAutoFit/>
          </a:bodyPr>
          <a:lstStyle/>
          <a:p>
            <a:pPr algn="ctr">
              <a:spcAft>
                <a:spcPts val="0"/>
              </a:spcAft>
            </a:pPr>
            <a:r>
              <a:rPr sz="1000" b="1" i="0">
                <a:solidFill>
                  <a:srgbClr val="1B2A55"/>
                </a:solidFill>
                <a:latin typeface="Inter"/>
              </a:rPr>
              <a:t>1  Sign in (QR for phones)</a:t>
            </a:r>
          </a:p>
        </p:txBody>
      </p:sp>
      <p:pic>
        <p:nvPicPr>
          <p:cNvPr id="8" name="Picture 7" descr="voter_otp.png"/>
          <p:cNvPicPr>
            <a:picLocks noChangeAspect="1"/>
          </p:cNvPicPr>
          <p:nvPr/>
        </p:nvPicPr>
        <p:blipFill>
          <a:blip r:embed="rId3"/>
          <a:stretch>
            <a:fillRect/>
          </a:stretch>
        </p:blipFill>
        <p:spPr>
          <a:xfrm>
            <a:off x="2496312" y="1666274"/>
            <a:ext cx="1965960" cy="1970970"/>
          </a:xfrm>
          <a:prstGeom prst="rect">
            <a:avLst/>
          </a:prstGeom>
          <a:ln w="12700">
            <a:solidFill>
              <a:srgbClr val="D9D9E4"/>
            </a:solidFill>
          </a:ln>
        </p:spPr>
      </p:pic>
      <p:sp>
        <p:nvSpPr>
          <p:cNvPr id="9" name="TextBox 8"/>
          <p:cNvSpPr txBox="1"/>
          <p:nvPr/>
        </p:nvSpPr>
        <p:spPr>
          <a:xfrm>
            <a:off x="2496312" y="4224528"/>
            <a:ext cx="1965960" cy="365760"/>
          </a:xfrm>
          <a:prstGeom prst="rect">
            <a:avLst/>
          </a:prstGeom>
          <a:noFill/>
        </p:spPr>
        <p:txBody>
          <a:bodyPr wrap="square" anchor="t" lIns="0" rIns="0" tIns="0" bIns="0">
            <a:spAutoFit/>
          </a:bodyPr>
          <a:lstStyle/>
          <a:p>
            <a:pPr algn="ctr">
              <a:spcAft>
                <a:spcPts val="0"/>
              </a:spcAft>
            </a:pPr>
            <a:r>
              <a:rPr sz="1000" b="1" i="0">
                <a:solidFill>
                  <a:srgbClr val="1B2A55"/>
                </a:solidFill>
                <a:latin typeface="Inter"/>
              </a:rPr>
              <a:t>2  Enter the emailed code</a:t>
            </a:r>
          </a:p>
        </p:txBody>
      </p:sp>
      <p:pic>
        <p:nvPicPr>
          <p:cNvPr id="10" name="Picture 9" descr="voter_ballot_desktop.png"/>
          <p:cNvPicPr>
            <a:picLocks noChangeAspect="1"/>
          </p:cNvPicPr>
          <p:nvPr/>
        </p:nvPicPr>
        <p:blipFill>
          <a:blip r:embed="rId4"/>
          <a:stretch>
            <a:fillRect/>
          </a:stretch>
        </p:blipFill>
        <p:spPr>
          <a:xfrm>
            <a:off x="4581144" y="2167949"/>
            <a:ext cx="1965960" cy="967620"/>
          </a:xfrm>
          <a:prstGeom prst="rect">
            <a:avLst/>
          </a:prstGeom>
          <a:ln w="12700">
            <a:solidFill>
              <a:srgbClr val="D9D9E4"/>
            </a:solidFill>
          </a:ln>
        </p:spPr>
      </p:pic>
      <p:sp>
        <p:nvSpPr>
          <p:cNvPr id="11" name="TextBox 10"/>
          <p:cNvSpPr txBox="1"/>
          <p:nvPr/>
        </p:nvSpPr>
        <p:spPr>
          <a:xfrm>
            <a:off x="4581144" y="4224528"/>
            <a:ext cx="1965960" cy="365760"/>
          </a:xfrm>
          <a:prstGeom prst="rect">
            <a:avLst/>
          </a:prstGeom>
          <a:noFill/>
        </p:spPr>
        <p:txBody>
          <a:bodyPr wrap="square" anchor="t" lIns="0" rIns="0" tIns="0" bIns="0">
            <a:spAutoFit/>
          </a:bodyPr>
          <a:lstStyle/>
          <a:p>
            <a:pPr algn="ctr">
              <a:spcAft>
                <a:spcPts val="0"/>
              </a:spcAft>
            </a:pPr>
            <a:r>
              <a:rPr sz="1000" b="1" i="0">
                <a:solidFill>
                  <a:srgbClr val="1B2A55"/>
                </a:solidFill>
                <a:latin typeface="Inter"/>
              </a:rPr>
              <a:t>3  Rank three choices</a:t>
            </a:r>
          </a:p>
        </p:txBody>
      </p:sp>
      <p:pic>
        <p:nvPicPr>
          <p:cNvPr id="12" name="Picture 11" descr="voter_receipt.png"/>
          <p:cNvPicPr>
            <a:picLocks noChangeAspect="1"/>
          </p:cNvPicPr>
          <p:nvPr/>
        </p:nvPicPr>
        <p:blipFill>
          <a:blip r:embed="rId5"/>
          <a:stretch>
            <a:fillRect/>
          </a:stretch>
        </p:blipFill>
        <p:spPr>
          <a:xfrm>
            <a:off x="6665976" y="1749790"/>
            <a:ext cx="1965960" cy="1803939"/>
          </a:xfrm>
          <a:prstGeom prst="rect">
            <a:avLst/>
          </a:prstGeom>
          <a:ln w="12700">
            <a:solidFill>
              <a:srgbClr val="D9D9E4"/>
            </a:solidFill>
          </a:ln>
        </p:spPr>
      </p:pic>
      <p:sp>
        <p:nvSpPr>
          <p:cNvPr id="13" name="TextBox 12"/>
          <p:cNvSpPr txBox="1"/>
          <p:nvPr/>
        </p:nvSpPr>
        <p:spPr>
          <a:xfrm>
            <a:off x="6665976" y="4224528"/>
            <a:ext cx="1965960" cy="365760"/>
          </a:xfrm>
          <a:prstGeom prst="rect">
            <a:avLst/>
          </a:prstGeom>
          <a:noFill/>
        </p:spPr>
        <p:txBody>
          <a:bodyPr wrap="square" anchor="t" lIns="0" rIns="0" tIns="0" bIns="0">
            <a:spAutoFit/>
          </a:bodyPr>
          <a:lstStyle/>
          <a:p>
            <a:pPr algn="ctr">
              <a:spcAft>
                <a:spcPts val="0"/>
              </a:spcAft>
            </a:pPr>
            <a:r>
              <a:rPr sz="1000" b="1" i="0">
                <a:solidFill>
                  <a:srgbClr val="1B2A55"/>
                </a:solidFill>
                <a:latin typeface="Inter"/>
              </a:rPr>
              <a:t>4  Receipt token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PHONE VOTING AND HOSTING</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Phone voting, a public link, and an honest account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18</a:t>
            </a:r>
          </a:p>
        </p:txBody>
      </p:sp>
      <p:pic>
        <p:nvPicPr>
          <p:cNvPr id="6" name="Picture 5" descr="voter_signin_mobile.png"/>
          <p:cNvPicPr>
            <a:picLocks noChangeAspect="1"/>
          </p:cNvPicPr>
          <p:nvPr/>
        </p:nvPicPr>
        <p:blipFill>
          <a:blip r:embed="rId2"/>
          <a:stretch>
            <a:fillRect/>
          </a:stretch>
        </p:blipFill>
        <p:spPr>
          <a:xfrm>
            <a:off x="457200" y="1547446"/>
            <a:ext cx="1554480" cy="2391507"/>
          </a:xfrm>
          <a:prstGeom prst="rect">
            <a:avLst/>
          </a:prstGeom>
          <a:ln w="12700">
            <a:solidFill>
              <a:srgbClr val="D9D9E4"/>
            </a:solidFill>
          </a:ln>
        </p:spPr>
      </p:pic>
      <p:pic>
        <p:nvPicPr>
          <p:cNvPr id="7" name="Picture 6" descr="voter_ballot_mobile.png"/>
          <p:cNvPicPr>
            <a:picLocks noChangeAspect="1"/>
          </p:cNvPicPr>
          <p:nvPr/>
        </p:nvPicPr>
        <p:blipFill>
          <a:blip r:embed="rId3"/>
          <a:stretch>
            <a:fillRect/>
          </a:stretch>
        </p:blipFill>
        <p:spPr>
          <a:xfrm>
            <a:off x="2119804" y="1097280"/>
            <a:ext cx="1521110" cy="3291839"/>
          </a:xfrm>
          <a:prstGeom prst="rect">
            <a:avLst/>
          </a:prstGeom>
          <a:ln w="12700">
            <a:solidFill>
              <a:srgbClr val="D9D9E4"/>
            </a:solidFill>
          </a:ln>
        </p:spPr>
      </p:pic>
      <p:sp>
        <p:nvSpPr>
          <p:cNvPr id="8" name="TextBox 7"/>
          <p:cNvSpPr txBox="1"/>
          <p:nvPr/>
        </p:nvSpPr>
        <p:spPr>
          <a:xfrm>
            <a:off x="3931920" y="1188720"/>
            <a:ext cx="4754880" cy="3474720"/>
          </a:xfrm>
          <a:prstGeom prst="rect">
            <a:avLst/>
          </a:prstGeom>
          <a:noFill/>
        </p:spPr>
        <p:txBody>
          <a:bodyPr wrap="square" anchor="t" lIns="0" rIns="0" tIns="0" bIns="0">
            <a:spAutoFit/>
          </a:bodyPr>
          <a:lstStyle/>
          <a:p>
            <a:pPr algn="l">
              <a:spcAft>
                <a:spcPts val="500"/>
              </a:spcAft>
            </a:pPr>
            <a:r>
              <a:rPr sz="1150" b="1" i="0">
                <a:solidFill>
                  <a:srgbClr val="1B2A55"/>
                </a:solidFill>
                <a:latin typeface="Inter"/>
              </a:rPr>
              <a:t>•  </a:t>
            </a:r>
            <a:r>
              <a:rPr sz="1150" b="1" i="0">
                <a:solidFill>
                  <a:srgbClr val="1B2A55"/>
                </a:solidFill>
                <a:latin typeface="Inter"/>
              </a:rPr>
              <a:t>How:</a:t>
            </a:r>
            <a:r>
              <a:rPr sz="1150" b="0" i="0">
                <a:solidFill>
                  <a:srgbClr val="353B4A"/>
                </a:solidFill>
                <a:latin typeface="Inter"/>
              </a:rPr>
              <a:t> a Cloudflare quick tunnel gives a temporary public HTTPS address; the vote page shows a QR code for it.</a:t>
            </a:r>
          </a:p>
          <a:p>
            <a:pPr algn="l">
              <a:spcAft>
                <a:spcPts val="500"/>
              </a:spcAft>
            </a:pPr>
            <a:r>
              <a:rPr sz="1150" b="1" i="0">
                <a:solidFill>
                  <a:srgbClr val="1B2A55"/>
                </a:solidFill>
                <a:latin typeface="Inter"/>
              </a:rPr>
              <a:t>•  </a:t>
            </a:r>
            <a:r>
              <a:rPr sz="1150" b="1" i="0">
                <a:solidFill>
                  <a:srgbClr val="1B2A55"/>
                </a:solidFill>
                <a:latin typeface="Inter"/>
              </a:rPr>
              <a:t>Works from any network;</a:t>
            </a:r>
            <a:r>
              <a:rPr sz="1150" b="0" i="0">
                <a:solidFill>
                  <a:srgbClr val="353B4A"/>
                </a:solidFill>
                <a:latin typeface="Inter"/>
              </a:rPr>
              <a:t> tested casting a real ballot from a phone.</a:t>
            </a:r>
          </a:p>
          <a:p>
            <a:pPr algn="l">
              <a:spcAft>
                <a:spcPts val="500"/>
              </a:spcAft>
            </a:pPr>
            <a:r>
              <a:rPr sz="1150" b="1" i="0">
                <a:solidFill>
                  <a:srgbClr val="1B2A55"/>
                </a:solidFill>
                <a:latin typeface="Inter"/>
              </a:rPr>
              <a:t>•  </a:t>
            </a:r>
            <a:r>
              <a:rPr sz="1150" b="1" i="0">
                <a:solidFill>
                  <a:srgbClr val="1B2A55"/>
                </a:solidFill>
                <a:latin typeface="Inter"/>
              </a:rPr>
              <a:t>What it is not:</a:t>
            </a:r>
            <a:r>
              <a:rPr sz="1150" b="0" i="0">
                <a:solidFill>
                  <a:srgbClr val="353B4A"/>
                </a:solidFill>
                <a:latin typeface="Inter"/>
              </a:rPr>
              <a:t> cloud deployment. The laptop must stay on, and the address changes when the tunnel restarts.</a:t>
            </a:r>
          </a:p>
          <a:p>
            <a:pPr algn="l">
              <a:spcAft>
                <a:spcPts val="500"/>
              </a:spcAft>
            </a:pPr>
            <a:r>
              <a:rPr sz="1150" b="1" i="0">
                <a:solidFill>
                  <a:srgbClr val="1B2A55"/>
                </a:solidFill>
                <a:latin typeface="Inter"/>
              </a:rPr>
              <a:t>•  </a:t>
            </a:r>
            <a:r>
              <a:rPr sz="1150" b="1" i="0">
                <a:solidFill>
                  <a:srgbClr val="1B2A55"/>
                </a:solidFill>
                <a:latin typeface="Inter"/>
              </a:rPr>
              <a:t>Why we say so:</a:t>
            </a:r>
            <a:r>
              <a:rPr sz="1150" b="0" i="0">
                <a:solidFill>
                  <a:srgbClr val="353B4A"/>
                </a:solidFill>
                <a:latin typeface="Inter"/>
              </a:rPr>
              <a:t> a true cloud platform with Oracle is the next step.</a:t>
            </a:r>
          </a:p>
          <a:p>
            <a:pPr algn="l">
              <a:spcAft>
                <a:spcPts val="500"/>
              </a:spcAft>
            </a:pPr>
            <a:r>
              <a:rPr sz="1150" b="1" i="0">
                <a:solidFill>
                  <a:srgbClr val="1B2A55"/>
                </a:solidFill>
                <a:latin typeface="Inter"/>
              </a:rPr>
              <a:t>•  </a:t>
            </a:r>
            <a:r>
              <a:rPr sz="1150" b="1" i="0">
                <a:solidFill>
                  <a:srgbClr val="1B2A55"/>
                </a:solidFill>
                <a:latin typeface="Inter"/>
              </a:rPr>
              <a:t>Safe by default:</a:t>
            </a:r>
            <a:r>
              <a:rPr sz="1150" b="0" i="0">
                <a:solidFill>
                  <a:srgbClr val="353B4A"/>
                </a:solidFill>
                <a:latin typeface="Inter"/>
              </a:rPr>
              <a:t> secrets stay in .env; the repository holds only .env.example.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LIVE DEMO · SAMPLE POLYVOTE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The same system with email verification switched on</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19</a:t>
            </a:r>
          </a:p>
        </p:txBody>
      </p:sp>
      <p:sp>
        <p:nvSpPr>
          <p:cNvPr id="6" name="Rounded Rectangle 5"/>
          <p:cNvSpPr/>
          <p:nvPr/>
        </p:nvSpPr>
        <p:spPr>
          <a:xfrm>
            <a:off x="457200" y="114300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25272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1</a:t>
            </a:r>
          </a:p>
        </p:txBody>
      </p:sp>
      <p:sp>
        <p:nvSpPr>
          <p:cNvPr id="8" name="TextBox 7"/>
          <p:cNvSpPr txBox="1"/>
          <p:nvPr/>
        </p:nvSpPr>
        <p:spPr>
          <a:xfrm>
            <a:off x="594360" y="160020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Admin</a:t>
            </a:r>
          </a:p>
        </p:txBody>
      </p:sp>
      <p:sp>
        <p:nvSpPr>
          <p:cNvPr id="9" name="TextBox 8"/>
          <p:cNvSpPr txBox="1"/>
          <p:nvPr/>
        </p:nvSpPr>
        <p:spPr>
          <a:xfrm>
            <a:off x="594360" y="192024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Voters have emails; Mail outbox open</a:t>
            </a:r>
          </a:p>
        </p:txBody>
      </p:sp>
      <p:sp>
        <p:nvSpPr>
          <p:cNvPr id="10" name="Rounded Rectangle 9"/>
          <p:cNvSpPr/>
          <p:nvPr/>
        </p:nvSpPr>
        <p:spPr>
          <a:xfrm>
            <a:off x="2532888" y="114300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670048" y="125272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2</a:t>
            </a:r>
          </a:p>
        </p:txBody>
      </p:sp>
      <p:sp>
        <p:nvSpPr>
          <p:cNvPr id="12" name="TextBox 11"/>
          <p:cNvSpPr txBox="1"/>
          <p:nvPr/>
        </p:nvSpPr>
        <p:spPr>
          <a:xfrm>
            <a:off x="2670048" y="160020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Sign in</a:t>
            </a:r>
          </a:p>
        </p:txBody>
      </p:sp>
      <p:sp>
        <p:nvSpPr>
          <p:cNvPr id="13" name="TextBox 12"/>
          <p:cNvSpPr txBox="1"/>
          <p:nvPr/>
        </p:nvSpPr>
        <p:spPr>
          <a:xfrm>
            <a:off x="2670048" y="192024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Password right, still no ballot</a:t>
            </a:r>
          </a:p>
        </p:txBody>
      </p:sp>
      <p:sp>
        <p:nvSpPr>
          <p:cNvPr id="14" name="Rounded Rectangle 13"/>
          <p:cNvSpPr/>
          <p:nvPr/>
        </p:nvSpPr>
        <p:spPr>
          <a:xfrm>
            <a:off x="4608576" y="114300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45736" y="125272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3</a:t>
            </a:r>
          </a:p>
        </p:txBody>
      </p:sp>
      <p:sp>
        <p:nvSpPr>
          <p:cNvPr id="16" name="TextBox 15"/>
          <p:cNvSpPr txBox="1"/>
          <p:nvPr/>
        </p:nvSpPr>
        <p:spPr>
          <a:xfrm>
            <a:off x="4745736" y="160020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Code</a:t>
            </a:r>
          </a:p>
        </p:txBody>
      </p:sp>
      <p:sp>
        <p:nvSpPr>
          <p:cNvPr id="17" name="TextBox 16"/>
          <p:cNvSpPr txBox="1"/>
          <p:nvPr/>
        </p:nvSpPr>
        <p:spPr>
          <a:xfrm>
            <a:off x="4745736" y="192024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Read it from the outbox or inbox</a:t>
            </a:r>
          </a:p>
        </p:txBody>
      </p:sp>
      <p:sp>
        <p:nvSpPr>
          <p:cNvPr id="18" name="Rounded Rectangle 17"/>
          <p:cNvSpPr/>
          <p:nvPr/>
        </p:nvSpPr>
        <p:spPr>
          <a:xfrm>
            <a:off x="6684264" y="114300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21424" y="125272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4</a:t>
            </a:r>
          </a:p>
        </p:txBody>
      </p:sp>
      <p:sp>
        <p:nvSpPr>
          <p:cNvPr id="20" name="TextBox 19"/>
          <p:cNvSpPr txBox="1"/>
          <p:nvPr/>
        </p:nvSpPr>
        <p:spPr>
          <a:xfrm>
            <a:off x="6821424" y="160020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Vote</a:t>
            </a:r>
          </a:p>
        </p:txBody>
      </p:sp>
      <p:sp>
        <p:nvSpPr>
          <p:cNvPr id="21" name="TextBox 20"/>
          <p:cNvSpPr txBox="1"/>
          <p:nvPr/>
        </p:nvSpPr>
        <p:spPr>
          <a:xfrm>
            <a:off x="6821424" y="192024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Rank, cast, get the receipt</a:t>
            </a:r>
          </a:p>
        </p:txBody>
      </p:sp>
      <p:sp>
        <p:nvSpPr>
          <p:cNvPr id="22" name="Rounded Rectangle 21"/>
          <p:cNvSpPr/>
          <p:nvPr/>
        </p:nvSpPr>
        <p:spPr>
          <a:xfrm>
            <a:off x="457200" y="269748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280720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5</a:t>
            </a:r>
          </a:p>
        </p:txBody>
      </p:sp>
      <p:sp>
        <p:nvSpPr>
          <p:cNvPr id="24" name="TextBox 23"/>
          <p:cNvSpPr txBox="1"/>
          <p:nvPr/>
        </p:nvSpPr>
        <p:spPr>
          <a:xfrm>
            <a:off x="594360" y="315468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Seal</a:t>
            </a:r>
          </a:p>
        </p:txBody>
      </p:sp>
      <p:sp>
        <p:nvSpPr>
          <p:cNvPr id="25" name="TextBox 24"/>
          <p:cNvSpPr txBox="1"/>
          <p:nvPr/>
        </p:nvSpPr>
        <p:spPr>
          <a:xfrm>
            <a:off x="594360" y="347472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Receipt check; new block in Atlas</a:t>
            </a:r>
          </a:p>
        </p:txBody>
      </p:sp>
      <p:sp>
        <p:nvSpPr>
          <p:cNvPr id="26" name="Rounded Rectangle 25"/>
          <p:cNvSpPr/>
          <p:nvPr/>
        </p:nvSpPr>
        <p:spPr>
          <a:xfrm>
            <a:off x="2532888" y="269748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670048" y="280720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6</a:t>
            </a:r>
          </a:p>
        </p:txBody>
      </p:sp>
      <p:sp>
        <p:nvSpPr>
          <p:cNvPr id="28" name="TextBox 27"/>
          <p:cNvSpPr txBox="1"/>
          <p:nvPr/>
        </p:nvSpPr>
        <p:spPr>
          <a:xfrm>
            <a:off x="2670048" y="315468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Tamper</a:t>
            </a:r>
          </a:p>
        </p:txBody>
      </p:sp>
      <p:sp>
        <p:nvSpPr>
          <p:cNvPr id="29" name="TextBox 28"/>
          <p:cNvSpPr txBox="1"/>
          <p:nvPr/>
        </p:nvSpPr>
        <p:spPr>
          <a:xfrm>
            <a:off x="2670048" y="347472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DB Studio edit; sweep names it</a:t>
            </a:r>
          </a:p>
        </p:txBody>
      </p:sp>
      <p:sp>
        <p:nvSpPr>
          <p:cNvPr id="30" name="Rounded Rectangle 29"/>
          <p:cNvSpPr/>
          <p:nvPr/>
        </p:nvSpPr>
        <p:spPr>
          <a:xfrm>
            <a:off x="4608576" y="269748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745736" y="280720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7</a:t>
            </a:r>
          </a:p>
        </p:txBody>
      </p:sp>
      <p:sp>
        <p:nvSpPr>
          <p:cNvPr id="32" name="TextBox 31"/>
          <p:cNvSpPr txBox="1"/>
          <p:nvPr/>
        </p:nvSpPr>
        <p:spPr>
          <a:xfrm>
            <a:off x="4745736" y="315468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Ledger</a:t>
            </a:r>
          </a:p>
        </p:txBody>
      </p:sp>
      <p:sp>
        <p:nvSpPr>
          <p:cNvPr id="33" name="TextBox 32"/>
          <p:cNvSpPr txBox="1"/>
          <p:nvPr/>
        </p:nvSpPr>
        <p:spPr>
          <a:xfrm>
            <a:off x="4745736" y="347472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Edit a block in Atlas; chain breaks</a:t>
            </a:r>
          </a:p>
        </p:txBody>
      </p:sp>
      <p:sp>
        <p:nvSpPr>
          <p:cNvPr id="34" name="Rounded Rectangle 33"/>
          <p:cNvSpPr/>
          <p:nvPr/>
        </p:nvSpPr>
        <p:spPr>
          <a:xfrm>
            <a:off x="6675120" y="2697480"/>
            <a:ext cx="1920240" cy="137160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12280" y="2788920"/>
            <a:ext cx="1691640" cy="1234440"/>
          </a:xfrm>
          <a:prstGeom prst="rect">
            <a:avLst/>
          </a:prstGeom>
          <a:noFill/>
        </p:spPr>
        <p:txBody>
          <a:bodyPr wrap="square" anchor="t" lIns="0" rIns="0" tIns="0" bIns="0">
            <a:spAutoFit/>
          </a:bodyPr>
          <a:lstStyle/>
          <a:p>
            <a:pPr algn="l">
              <a:spcAft>
                <a:spcPts val="300"/>
              </a:spcAft>
            </a:pPr>
            <a:r>
              <a:rPr sz="1100" b="1" i="0">
                <a:solidFill>
                  <a:srgbClr val="1B2A55"/>
                </a:solidFill>
                <a:latin typeface="Inter"/>
              </a:rPr>
              <a:t>Safety net</a:t>
            </a:r>
          </a:p>
          <a:p>
            <a:pPr algn="l">
              <a:spcAft>
                <a:spcPts val="300"/>
              </a:spcAft>
            </a:pPr>
            <a:r>
              <a:rPr sz="1000" b="0" i="0">
                <a:solidFill>
                  <a:srgbClr val="353B4A"/>
                </a:solidFill>
                <a:latin typeface="Inter"/>
              </a:rPr>
              <a:t>Every code also appears in the outbox, so a slow email cannot stall the demo.</a:t>
            </a:r>
          </a:p>
        </p:txBody>
      </p:sp>
      <p:sp>
        <p:nvSpPr>
          <p:cNvPr id="36" name="TextBox 35"/>
          <p:cNvSpPr txBox="1"/>
          <p:nvPr/>
        </p:nvSpPr>
        <p:spPr>
          <a:xfrm>
            <a:off x="457200" y="4389120"/>
            <a:ext cx="8229600" cy="365760"/>
          </a:xfrm>
          <a:prstGeom prst="rect">
            <a:avLst/>
          </a:prstGeom>
          <a:noFill/>
        </p:spPr>
        <p:txBody>
          <a:bodyPr wrap="square" anchor="t" lIns="0" rIns="0" tIns="0" bIns="0">
            <a:spAutoFit/>
          </a:bodyPr>
          <a:lstStyle/>
          <a:p>
            <a:pPr algn="l">
              <a:spcAft>
                <a:spcPts val="0"/>
              </a:spcAft>
            </a:pPr>
            <a:r>
              <a:rPr sz="1050" b="0" i="1">
                <a:solidFill>
                  <a:srgbClr val="666A78"/>
                </a:solidFill>
                <a:latin typeface="Inter"/>
              </a:rPr>
              <a:t>Separate copy: its own database, its own Atlas collection, port 8001; START_DEMO resets it in about 20 seconds.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HOW WE EVALUATED</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47 executable scenarios, old design versus final</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20</a:t>
            </a:r>
          </a:p>
        </p:txBody>
      </p:sp>
      <p:sp>
        <p:nvSpPr>
          <p:cNvPr id="6" name="Rounded Rectangle 5"/>
          <p:cNvSpPr/>
          <p:nvPr/>
        </p:nvSpPr>
        <p:spPr>
          <a:xfrm>
            <a:off x="457200" y="1143000"/>
            <a:ext cx="1536192" cy="17373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1371600" cy="548640"/>
          </a:xfrm>
          <a:prstGeom prst="rect">
            <a:avLst/>
          </a:prstGeom>
          <a:noFill/>
        </p:spPr>
        <p:txBody>
          <a:bodyPr wrap="square" anchor="t" lIns="0" rIns="0" tIns="0" bIns="0">
            <a:spAutoFit/>
          </a:bodyPr>
          <a:lstStyle/>
          <a:p>
            <a:pPr algn="l">
              <a:spcAft>
                <a:spcPts val="0"/>
              </a:spcAft>
            </a:pPr>
            <a:r>
              <a:rPr sz="3000" b="1" i="0">
                <a:solidFill>
                  <a:srgbClr val="1B2A55"/>
                </a:solidFill>
                <a:latin typeface="Inter"/>
              </a:rPr>
              <a:t>7</a:t>
            </a:r>
          </a:p>
        </p:txBody>
      </p:sp>
      <p:sp>
        <p:nvSpPr>
          <p:cNvPr id="8" name="TextBox 7"/>
          <p:cNvSpPr txBox="1"/>
          <p:nvPr/>
        </p:nvSpPr>
        <p:spPr>
          <a:xfrm>
            <a:off x="548640" y="1810512"/>
            <a:ext cx="1371600" cy="27432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DB prevention</a:t>
            </a:r>
          </a:p>
        </p:txBody>
      </p:sp>
      <p:sp>
        <p:nvSpPr>
          <p:cNvPr id="9" name="TextBox 8"/>
          <p:cNvSpPr txBox="1"/>
          <p:nvPr/>
        </p:nvSpPr>
        <p:spPr>
          <a:xfrm>
            <a:off x="548640" y="2103120"/>
            <a:ext cx="137160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Statements the schema should reject</a:t>
            </a:r>
          </a:p>
        </p:txBody>
      </p:sp>
      <p:sp>
        <p:nvSpPr>
          <p:cNvPr id="10" name="Rounded Rectangle 9"/>
          <p:cNvSpPr/>
          <p:nvPr/>
        </p:nvSpPr>
        <p:spPr>
          <a:xfrm>
            <a:off x="2121408" y="1143000"/>
            <a:ext cx="1536192" cy="17373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12848" y="1234440"/>
            <a:ext cx="1371600" cy="548640"/>
          </a:xfrm>
          <a:prstGeom prst="rect">
            <a:avLst/>
          </a:prstGeom>
          <a:noFill/>
        </p:spPr>
        <p:txBody>
          <a:bodyPr wrap="square" anchor="t" lIns="0" rIns="0" tIns="0" bIns="0">
            <a:spAutoFit/>
          </a:bodyPr>
          <a:lstStyle/>
          <a:p>
            <a:pPr algn="l">
              <a:spcAft>
                <a:spcPts val="0"/>
              </a:spcAft>
            </a:pPr>
            <a:r>
              <a:rPr sz="3000" b="1" i="0">
                <a:solidFill>
                  <a:srgbClr val="1B2A55"/>
                </a:solidFill>
                <a:latin typeface="Inter"/>
              </a:rPr>
              <a:t>13</a:t>
            </a:r>
          </a:p>
        </p:txBody>
      </p:sp>
      <p:sp>
        <p:nvSpPr>
          <p:cNvPr id="12" name="TextBox 11"/>
          <p:cNvSpPr txBox="1"/>
          <p:nvPr/>
        </p:nvSpPr>
        <p:spPr>
          <a:xfrm>
            <a:off x="2212848" y="1810512"/>
            <a:ext cx="1371600" cy="27432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API abuse</a:t>
            </a:r>
          </a:p>
        </p:txBody>
      </p:sp>
      <p:sp>
        <p:nvSpPr>
          <p:cNvPr id="13" name="TextBox 12"/>
          <p:cNvSpPr txBox="1"/>
          <p:nvPr/>
        </p:nvSpPr>
        <p:spPr>
          <a:xfrm>
            <a:off x="2212848" y="2103120"/>
            <a:ext cx="137160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Wrong password, injection, replay, races</a:t>
            </a:r>
          </a:p>
        </p:txBody>
      </p:sp>
      <p:sp>
        <p:nvSpPr>
          <p:cNvPr id="14" name="Rounded Rectangle 13"/>
          <p:cNvSpPr/>
          <p:nvPr/>
        </p:nvSpPr>
        <p:spPr>
          <a:xfrm>
            <a:off x="3785616" y="1143000"/>
            <a:ext cx="1536192" cy="17373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77056" y="1234440"/>
            <a:ext cx="1371600" cy="548640"/>
          </a:xfrm>
          <a:prstGeom prst="rect">
            <a:avLst/>
          </a:prstGeom>
          <a:noFill/>
        </p:spPr>
        <p:txBody>
          <a:bodyPr wrap="square" anchor="t" lIns="0" rIns="0" tIns="0" bIns="0">
            <a:spAutoFit/>
          </a:bodyPr>
          <a:lstStyle/>
          <a:p>
            <a:pPr algn="l">
              <a:spcAft>
                <a:spcPts val="0"/>
              </a:spcAft>
            </a:pPr>
            <a:r>
              <a:rPr sz="3000" b="1" i="0">
                <a:solidFill>
                  <a:srgbClr val="1B2A55"/>
                </a:solidFill>
                <a:latin typeface="Inter"/>
              </a:rPr>
              <a:t>13</a:t>
            </a:r>
          </a:p>
        </p:txBody>
      </p:sp>
      <p:sp>
        <p:nvSpPr>
          <p:cNvPr id="16" name="TextBox 15"/>
          <p:cNvSpPr txBox="1"/>
          <p:nvPr/>
        </p:nvSpPr>
        <p:spPr>
          <a:xfrm>
            <a:off x="3877056" y="1810512"/>
            <a:ext cx="1371600" cy="27432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Tampering</a:t>
            </a:r>
          </a:p>
        </p:txBody>
      </p:sp>
      <p:sp>
        <p:nvSpPr>
          <p:cNvPr id="17" name="TextBox 16"/>
          <p:cNvSpPr txBox="1"/>
          <p:nvPr/>
        </p:nvSpPr>
        <p:spPr>
          <a:xfrm>
            <a:off x="3877056" y="2103120"/>
            <a:ext cx="137160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Edits by someone with storage access</a:t>
            </a:r>
          </a:p>
        </p:txBody>
      </p:sp>
      <p:sp>
        <p:nvSpPr>
          <p:cNvPr id="18" name="Rounded Rectangle 17"/>
          <p:cNvSpPr/>
          <p:nvPr/>
        </p:nvSpPr>
        <p:spPr>
          <a:xfrm>
            <a:off x="5449824" y="1143000"/>
            <a:ext cx="1536192" cy="17373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41264" y="1234440"/>
            <a:ext cx="1371600" cy="548640"/>
          </a:xfrm>
          <a:prstGeom prst="rect">
            <a:avLst/>
          </a:prstGeom>
          <a:noFill/>
        </p:spPr>
        <p:txBody>
          <a:bodyPr wrap="square" anchor="t" lIns="0" rIns="0" tIns="0" bIns="0">
            <a:spAutoFit/>
          </a:bodyPr>
          <a:lstStyle/>
          <a:p>
            <a:pPr algn="l">
              <a:spcAft>
                <a:spcPts val="0"/>
              </a:spcAft>
            </a:pPr>
            <a:r>
              <a:rPr sz="3000" b="1" i="0">
                <a:solidFill>
                  <a:srgbClr val="1B2A55"/>
                </a:solidFill>
                <a:latin typeface="Inter"/>
              </a:rPr>
              <a:t>14</a:t>
            </a:r>
          </a:p>
        </p:txBody>
      </p:sp>
      <p:sp>
        <p:nvSpPr>
          <p:cNvPr id="20" name="TextBox 19"/>
          <p:cNvSpPr txBox="1"/>
          <p:nvPr/>
        </p:nvSpPr>
        <p:spPr>
          <a:xfrm>
            <a:off x="5541264" y="1810512"/>
            <a:ext cx="1371600" cy="27432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One-time code</a:t>
            </a:r>
          </a:p>
        </p:txBody>
      </p:sp>
      <p:sp>
        <p:nvSpPr>
          <p:cNvPr id="21" name="TextBox 20"/>
          <p:cNvSpPr txBox="1"/>
          <p:nvPr/>
        </p:nvSpPr>
        <p:spPr>
          <a:xfrm>
            <a:off x="5541264" y="2103120"/>
            <a:ext cx="137160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Replay, expiry, limits, failure</a:t>
            </a:r>
          </a:p>
        </p:txBody>
      </p:sp>
      <p:sp>
        <p:nvSpPr>
          <p:cNvPr id="22" name="Rounded Rectangle 21"/>
          <p:cNvSpPr/>
          <p:nvPr/>
        </p:nvSpPr>
        <p:spPr>
          <a:xfrm>
            <a:off x="7114032" y="1143000"/>
            <a:ext cx="1536192" cy="17373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05472" y="1234440"/>
            <a:ext cx="1371600" cy="548640"/>
          </a:xfrm>
          <a:prstGeom prst="rect">
            <a:avLst/>
          </a:prstGeom>
          <a:noFill/>
        </p:spPr>
        <p:txBody>
          <a:bodyPr wrap="square" anchor="t" lIns="0" rIns="0" tIns="0" bIns="0">
            <a:spAutoFit/>
          </a:bodyPr>
          <a:lstStyle/>
          <a:p>
            <a:pPr algn="l">
              <a:spcAft>
                <a:spcPts val="0"/>
              </a:spcAft>
            </a:pPr>
            <a:r>
              <a:rPr sz="3000" b="1" i="0">
                <a:solidFill>
                  <a:srgbClr val="1B2A55"/>
                </a:solidFill>
                <a:latin typeface="Inter"/>
              </a:rPr>
              <a:t>3</a:t>
            </a:r>
          </a:p>
        </p:txBody>
      </p:sp>
      <p:sp>
        <p:nvSpPr>
          <p:cNvPr id="24" name="TextBox 23"/>
          <p:cNvSpPr txBox="1"/>
          <p:nvPr/>
        </p:nvSpPr>
        <p:spPr>
          <a:xfrm>
            <a:off x="7205472" y="1810512"/>
            <a:ext cx="1371600" cy="27432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Benchmark sizes</a:t>
            </a:r>
          </a:p>
        </p:txBody>
      </p:sp>
      <p:sp>
        <p:nvSpPr>
          <p:cNvPr id="25" name="TextBox 24"/>
          <p:cNvSpPr txBox="1"/>
          <p:nvPr/>
        </p:nvSpPr>
        <p:spPr>
          <a:xfrm>
            <a:off x="7205472" y="2103120"/>
            <a:ext cx="137160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100, 1,000, 10,000 ballots</a:t>
            </a:r>
          </a:p>
        </p:txBody>
      </p:sp>
      <p:sp>
        <p:nvSpPr>
          <p:cNvPr id="26" name="TextBox 25"/>
          <p:cNvSpPr txBox="1"/>
          <p:nvPr/>
        </p:nvSpPr>
        <p:spPr>
          <a:xfrm>
            <a:off x="457200" y="3108960"/>
            <a:ext cx="8229600" cy="1645920"/>
          </a:xfrm>
          <a:prstGeom prst="rect">
            <a:avLst/>
          </a:prstGeom>
          <a:noFill/>
        </p:spPr>
        <p:txBody>
          <a:bodyPr wrap="square" anchor="t" lIns="0" rIns="0" tIns="0" bIns="0">
            <a:spAutoFit/>
          </a:bodyPr>
          <a:lstStyle/>
          <a:p>
            <a:pPr algn="l">
              <a:spcAft>
                <a:spcPts val="500"/>
              </a:spcAft>
            </a:pPr>
            <a:r>
              <a:rPr sz="1150" b="1" i="0">
                <a:solidFill>
                  <a:srgbClr val="1B2A55"/>
                </a:solidFill>
                <a:latin typeface="Inter"/>
              </a:rPr>
              <a:t>•  </a:t>
            </a:r>
            <a:r>
              <a:rPr sz="1150" b="0" i="0">
                <a:solidFill>
                  <a:srgbClr val="353B4A"/>
                </a:solidFill>
                <a:latin typeface="Inter"/>
              </a:rPr>
              <a:t>A throwaway copy of the app is driven through the real API; a "rogue administrator" edits the database and ledger files directly.</a:t>
            </a:r>
          </a:p>
          <a:p>
            <a:pPr algn="l">
              <a:spcAft>
                <a:spcPts val="500"/>
              </a:spcAft>
            </a:pPr>
            <a:r>
              <a:rPr sz="1150" b="1" i="0">
                <a:solidFill>
                  <a:srgbClr val="1B2A55"/>
                </a:solidFill>
                <a:latin typeface="Inter"/>
              </a:rPr>
              <a:t>•  </a:t>
            </a:r>
            <a:r>
              <a:rPr sz="1150" b="0" i="0">
                <a:solidFill>
                  <a:srgbClr val="353B4A"/>
                </a:solidFill>
                <a:latin typeface="Inter"/>
              </a:rPr>
              <a:t>Baseline: the Review 2 design, checked out and run unchanged. Attacker scripts never receive the ledger key.</a:t>
            </a:r>
          </a:p>
          <a:p>
            <a:pPr algn="l">
              <a:spcAft>
                <a:spcPts val="500"/>
              </a:spcAft>
            </a:pPr>
            <a:r>
              <a:rPr sz="1150" b="1" i="0">
                <a:solidFill>
                  <a:srgbClr val="1B2A55"/>
                </a:solidFill>
                <a:latin typeface="Inter"/>
              </a:rPr>
              <a:t>•  </a:t>
            </a:r>
            <a:r>
              <a:rPr sz="1150" b="0" i="0">
                <a:solidFill>
                  <a:srgbClr val="353B4A"/>
                </a:solidFill>
                <a:latin typeface="Inter"/>
              </a:rPr>
              <a:t>Outcome per attack: detected by the sweep or chain, visible only in counters, or not detected. Benchmarks are medians of three runs.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PREVENTION RESULTS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Prevention results: one gap taught us something</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21</a:t>
            </a:r>
          </a:p>
        </p:txBody>
      </p:sp>
      <p:graphicFrame>
        <p:nvGraphicFramePr>
          <p:cNvPr id="6" name="Table 5"/>
          <p:cNvGraphicFramePr>
            <a:graphicFrameLocks noGrp="1"/>
          </p:cNvGraphicFramePr>
          <p:nvPr/>
        </p:nvGraphicFramePr>
        <p:xfrm>
          <a:off x="457200" y="1097280"/>
          <a:ext cx="8229599" cy="2734056"/>
        </p:xfrm>
        <a:graphic>
          <a:graphicData uri="http://schemas.openxmlformats.org/drawingml/2006/table">
            <a:tbl>
              <a:tblPr firstRow="1" bandRow="1">
                <a:tableStyleId>{5C22544A-7EE6-4342-B048-85BDC9FD1C3A}</a:tableStyleId>
              </a:tblPr>
              <a:tblGrid>
                <a:gridCol w="4206240"/>
                <a:gridCol w="2377440"/>
                <a:gridCol w="1645919"/>
              </a:tblGrid>
              <a:tr h="365760">
                <a:tc>
                  <a:txBody>
                    <a:bodyPr wrap="square"/>
                    <a:lstStyle/>
                    <a:p>
                      <a:r>
                        <a:rPr sz="1000" b="1" i="0">
                          <a:solidFill>
                            <a:srgbClr val="FFFFFF"/>
                          </a:solidFill>
                          <a:latin typeface="Inter"/>
                        </a:rPr>
                        <a:t>Attempt</a:t>
                      </a:r>
                    </a:p>
                  </a:txBody>
                  <a:tcPr marL="73152" marR="73152" marT="36576" marB="36576" anchor="ctr">
                    <a:solidFill>
                      <a:srgbClr val="1B2A55"/>
                    </a:solidFill>
                  </a:tcPr>
                </a:tc>
                <a:tc>
                  <a:txBody>
                    <a:bodyPr wrap="square"/>
                    <a:lstStyle/>
                    <a:p>
                      <a:r>
                        <a:rPr sz="1000" b="1" i="0">
                          <a:solidFill>
                            <a:srgbClr val="FFFFFF"/>
                          </a:solidFill>
                          <a:latin typeface="Inter"/>
                        </a:rPr>
                        <a:t>Stopped by</a:t>
                      </a:r>
                    </a:p>
                  </a:txBody>
                  <a:tcPr marL="73152" marR="73152" marT="36576" marB="36576" anchor="ctr">
                    <a:solidFill>
                      <a:srgbClr val="1B2A55"/>
                    </a:solidFill>
                  </a:tcPr>
                </a:tc>
                <a:tc>
                  <a:txBody>
                    <a:bodyPr wrap="square"/>
                    <a:lstStyle/>
                    <a:p>
                      <a:r>
                        <a:rPr sz="1000" b="1" i="0">
                          <a:solidFill>
                            <a:srgbClr val="FFFFFF"/>
                          </a:solidFill>
                          <a:latin typeface="Inter"/>
                        </a:rPr>
                        <a:t>Result</a:t>
                      </a:r>
                    </a:p>
                  </a:txBody>
                  <a:tcPr marL="73152" marR="73152" marT="36576" marB="36576" anchor="ctr">
                    <a:solidFill>
                      <a:srgbClr val="1B2A55"/>
                    </a:solidFill>
                  </a:tcPr>
                </a:tc>
              </a:tr>
              <a:tr h="338328">
                <a:tc>
                  <a:txBody>
                    <a:bodyPr wrap="square"/>
                    <a:lstStyle/>
                    <a:p>
                      <a:r>
                        <a:rPr sz="1050" b="1" i="0">
                          <a:solidFill>
                            <a:srgbClr val="1B2A55"/>
                          </a:solidFill>
                          <a:latin typeface="Inter"/>
                        </a:rPr>
                        <a:t>Second vote by the same voter</a:t>
                      </a:r>
                    </a:p>
                  </a:txBody>
                  <a:tcPr marL="73152" marR="73152" marT="36576" marB="36576" anchor="ctr">
                    <a:solidFill>
                      <a:srgbClr val="FFFFFF"/>
                    </a:solidFill>
                  </a:tcPr>
                </a:tc>
                <a:tc>
                  <a:txBody>
                    <a:bodyPr wrap="square"/>
                    <a:lstStyle/>
                    <a:p>
                      <a:r>
                        <a:rPr sz="1050" b="0" i="0">
                          <a:solidFill>
                            <a:srgbClr val="353B4A"/>
                          </a:solidFill>
                          <a:latin typeface="Inter"/>
                        </a:rPr>
                        <a:t>Trigger</a:t>
                      </a:r>
                    </a:p>
                  </a:txBody>
                  <a:tcPr marL="73152" marR="73152" marT="36576" marB="36576" anchor="ctr">
                    <a:solidFill>
                      <a:srgbClr val="FFFFFF"/>
                    </a:solidFill>
                  </a:tcPr>
                </a:tc>
                <a:tc>
                  <a:txBody>
                    <a:bodyPr wrap="square"/>
                    <a:lstStyle/>
                    <a:p>
                      <a:r>
                        <a:rPr sz="1050" b="0" i="0">
                          <a:solidFill>
                            <a:srgbClr val="353B4A"/>
                          </a:solidFill>
                          <a:latin typeface="Inter"/>
                        </a:rPr>
                        <a:t>Prevented</a:t>
                      </a:r>
                    </a:p>
                  </a:txBody>
                  <a:tcPr marL="73152" marR="73152" marT="36576" marB="36576" anchor="ctr">
                    <a:solidFill>
                      <a:srgbClr val="FFFFFF"/>
                    </a:solidFill>
                  </a:tcPr>
                </a:tc>
              </a:tr>
              <a:tr h="338328">
                <a:tc>
                  <a:txBody>
                    <a:bodyPr wrap="square"/>
                    <a:lstStyle/>
                    <a:p>
                      <a:r>
                        <a:rPr sz="1050" b="1" i="0">
                          <a:solidFill>
                            <a:srgbClr val="1B2A55"/>
                          </a:solidFill>
                          <a:latin typeface="Inter"/>
                        </a:rPr>
                        <a:t>Rank 4 on a 1–3 ballot</a:t>
                      </a:r>
                    </a:p>
                  </a:txBody>
                  <a:tcPr marL="73152" marR="73152" marT="36576" marB="36576" anchor="ctr">
                    <a:solidFill>
                      <a:srgbClr val="F1F0F6"/>
                    </a:solidFill>
                  </a:tcPr>
                </a:tc>
                <a:tc>
                  <a:txBody>
                    <a:bodyPr wrap="square"/>
                    <a:lstStyle/>
                    <a:p>
                      <a:r>
                        <a:rPr sz="1050" b="0" i="0">
                          <a:solidFill>
                            <a:srgbClr val="353B4A"/>
                          </a:solidFill>
                          <a:latin typeface="Inter"/>
                        </a:rPr>
                        <a:t>CHECK</a:t>
                      </a:r>
                    </a:p>
                  </a:txBody>
                  <a:tcPr marL="73152" marR="73152" marT="36576" marB="36576" anchor="ctr">
                    <a:solidFill>
                      <a:srgbClr val="F1F0F6"/>
                    </a:solidFill>
                  </a:tcPr>
                </a:tc>
                <a:tc>
                  <a:txBody>
                    <a:bodyPr wrap="square"/>
                    <a:lstStyle/>
                    <a:p>
                      <a:r>
                        <a:rPr sz="1050" b="0" i="0">
                          <a:solidFill>
                            <a:srgbClr val="353B4A"/>
                          </a:solidFill>
                          <a:latin typeface="Inter"/>
                        </a:rPr>
                        <a:t>Prevented</a:t>
                      </a:r>
                    </a:p>
                  </a:txBody>
                  <a:tcPr marL="73152" marR="73152" marT="36576" marB="36576" anchor="ctr">
                    <a:solidFill>
                      <a:srgbClr val="F1F0F6"/>
                    </a:solidFill>
                  </a:tcPr>
                </a:tc>
              </a:tr>
              <a:tr h="338328">
                <a:tc>
                  <a:txBody>
                    <a:bodyPr wrap="square"/>
                    <a:lstStyle/>
                    <a:p>
                      <a:r>
                        <a:rPr sz="1050" b="1" i="0">
                          <a:solidFill>
                            <a:srgbClr val="1B2A55"/>
                          </a:solidFill>
                          <a:latin typeface="Inter"/>
                        </a:rPr>
                        <a:t>Same candidate ranked twice</a:t>
                      </a:r>
                    </a:p>
                  </a:txBody>
                  <a:tcPr marL="73152" marR="73152" marT="36576" marB="36576" anchor="ctr">
                    <a:solidFill>
                      <a:srgbClr val="FFFFFF"/>
                    </a:solidFill>
                  </a:tcPr>
                </a:tc>
                <a:tc>
                  <a:txBody>
                    <a:bodyPr wrap="square"/>
                    <a:lstStyle/>
                    <a:p>
                      <a:r>
                        <a:rPr sz="1050" b="0" i="0">
                          <a:solidFill>
                            <a:srgbClr val="353B4A"/>
                          </a:solidFill>
                          <a:latin typeface="Inter"/>
                        </a:rPr>
                        <a:t>Composite key</a:t>
                      </a:r>
                    </a:p>
                  </a:txBody>
                  <a:tcPr marL="73152" marR="73152" marT="36576" marB="36576" anchor="ctr">
                    <a:solidFill>
                      <a:srgbClr val="FFFFFF"/>
                    </a:solidFill>
                  </a:tcPr>
                </a:tc>
                <a:tc>
                  <a:txBody>
                    <a:bodyPr wrap="square"/>
                    <a:lstStyle/>
                    <a:p>
                      <a:r>
                        <a:rPr sz="1050" b="0" i="0">
                          <a:solidFill>
                            <a:srgbClr val="353B4A"/>
                          </a:solidFill>
                          <a:latin typeface="Inter"/>
                        </a:rPr>
                        <a:t>Prevented</a:t>
                      </a:r>
                    </a:p>
                  </a:txBody>
                  <a:tcPr marL="73152" marR="73152" marT="36576" marB="36576" anchor="ctr">
                    <a:solidFill>
                      <a:srgbClr val="FFFFFF"/>
                    </a:solidFill>
                  </a:tcPr>
                </a:tc>
              </a:tr>
              <a:tr h="338328">
                <a:tc>
                  <a:txBody>
                    <a:bodyPr wrap="square"/>
                    <a:lstStyle/>
                    <a:p>
                      <a:r>
                        <a:rPr sz="1050" b="1" i="0">
                          <a:solidFill>
                            <a:srgbClr val="1B2A55"/>
                          </a:solidFill>
                          <a:latin typeface="Inter"/>
                        </a:rPr>
                        <a:t>Duplicate roster entry</a:t>
                      </a:r>
                    </a:p>
                  </a:txBody>
                  <a:tcPr marL="73152" marR="73152" marT="36576" marB="36576" anchor="ctr">
                    <a:solidFill>
                      <a:srgbClr val="F1F0F6"/>
                    </a:solidFill>
                  </a:tcPr>
                </a:tc>
                <a:tc>
                  <a:txBody>
                    <a:bodyPr wrap="square"/>
                    <a:lstStyle/>
                    <a:p>
                      <a:r>
                        <a:rPr sz="1050" b="0" i="0">
                          <a:solidFill>
                            <a:srgbClr val="353B4A"/>
                          </a:solidFill>
                          <a:latin typeface="Inter"/>
                        </a:rPr>
                        <a:t>UNIQUE</a:t>
                      </a:r>
                    </a:p>
                  </a:txBody>
                  <a:tcPr marL="73152" marR="73152" marT="36576" marB="36576" anchor="ctr">
                    <a:solidFill>
                      <a:srgbClr val="F1F0F6"/>
                    </a:solidFill>
                  </a:tcPr>
                </a:tc>
                <a:tc>
                  <a:txBody>
                    <a:bodyPr wrap="square"/>
                    <a:lstStyle/>
                    <a:p>
                      <a:r>
                        <a:rPr sz="1050" b="0" i="0">
                          <a:solidFill>
                            <a:srgbClr val="353B4A"/>
                          </a:solidFill>
                          <a:latin typeface="Inter"/>
                        </a:rPr>
                        <a:t>Prevented</a:t>
                      </a:r>
                    </a:p>
                  </a:txBody>
                  <a:tcPr marL="73152" marR="73152" marT="36576" marB="36576" anchor="ctr">
                    <a:solidFill>
                      <a:srgbClr val="F1F0F6"/>
                    </a:solidFill>
                  </a:tcPr>
                </a:tc>
              </a:tr>
              <a:tr h="338328">
                <a:tc>
                  <a:txBody>
                    <a:bodyPr wrap="square"/>
                    <a:lstStyle/>
                    <a:p>
                      <a:r>
                        <a:rPr sz="1050" b="1" i="0">
                          <a:solidFill>
                            <a:srgbClr val="1B2A55"/>
                          </a:solidFill>
                          <a:latin typeface="Inter"/>
                        </a:rPr>
                        <a:t>Wrong password, SQL injection, replayed session</a:t>
                      </a:r>
                    </a:p>
                  </a:txBody>
                  <a:tcPr marL="73152" marR="73152" marT="36576" marB="36576" anchor="ctr">
                    <a:solidFill>
                      <a:srgbClr val="FFFFFF"/>
                    </a:solidFill>
                  </a:tcPr>
                </a:tc>
                <a:tc>
                  <a:txBody>
                    <a:bodyPr wrap="square"/>
                    <a:lstStyle/>
                    <a:p>
                      <a:r>
                        <a:rPr sz="1050" b="0" i="0">
                          <a:solidFill>
                            <a:srgbClr val="353B4A"/>
                          </a:solidFill>
                          <a:latin typeface="Inter"/>
                        </a:rPr>
                        <a:t>API</a:t>
                      </a:r>
                    </a:p>
                  </a:txBody>
                  <a:tcPr marL="73152" marR="73152" marT="36576" marB="36576" anchor="ctr">
                    <a:solidFill>
                      <a:srgbClr val="FFFFFF"/>
                    </a:solidFill>
                  </a:tcPr>
                </a:tc>
                <a:tc>
                  <a:txBody>
                    <a:bodyPr wrap="square"/>
                    <a:lstStyle/>
                    <a:p>
                      <a:r>
                        <a:rPr sz="1050" b="0" i="0">
                          <a:solidFill>
                            <a:srgbClr val="353B4A"/>
                          </a:solidFill>
                          <a:latin typeface="Inter"/>
                        </a:rPr>
                        <a:t>Prevented</a:t>
                      </a:r>
                    </a:p>
                  </a:txBody>
                  <a:tcPr marL="73152" marR="73152" marT="36576" marB="36576" anchor="ctr">
                    <a:solidFill>
                      <a:srgbClr val="FFFFFF"/>
                    </a:solidFill>
                  </a:tcPr>
                </a:tc>
              </a:tr>
              <a:tr h="338328">
                <a:tc>
                  <a:txBody>
                    <a:bodyPr wrap="square"/>
                    <a:lstStyle/>
                    <a:p>
                      <a:r>
                        <a:rPr sz="1050" b="1" i="0">
                          <a:solidFill>
                            <a:srgbClr val="1B2A55"/>
                          </a:solidFill>
                          <a:latin typeface="Inter"/>
                        </a:rPr>
                        <a:t>20 simultaneous casts by one voter</a:t>
                      </a:r>
                    </a:p>
                  </a:txBody>
                  <a:tcPr marL="73152" marR="73152" marT="36576" marB="36576" anchor="ctr">
                    <a:solidFill>
                      <a:srgbClr val="F1F0F6"/>
                    </a:solidFill>
                  </a:tcPr>
                </a:tc>
                <a:tc>
                  <a:txBody>
                    <a:bodyPr wrap="square"/>
                    <a:lstStyle/>
                    <a:p>
                      <a:r>
                        <a:rPr sz="1050" b="0" i="0">
                          <a:solidFill>
                            <a:srgbClr val="353B4A"/>
                          </a:solidFill>
                          <a:latin typeface="Inter"/>
                        </a:rPr>
                        <a:t>Lock + transaction</a:t>
                      </a:r>
                    </a:p>
                  </a:txBody>
                  <a:tcPr marL="73152" marR="73152" marT="36576" marB="36576" anchor="ctr">
                    <a:solidFill>
                      <a:srgbClr val="F1F0F6"/>
                    </a:solidFill>
                  </a:tcPr>
                </a:tc>
                <a:tc>
                  <a:txBody>
                    <a:bodyPr wrap="square"/>
                    <a:lstStyle/>
                    <a:p>
                      <a:r>
                        <a:rPr sz="1050" b="0" i="0">
                          <a:solidFill>
                            <a:srgbClr val="353B4A"/>
                          </a:solidFill>
                          <a:latin typeface="Inter"/>
                        </a:rPr>
                        <a:t>Exactly one accepted</a:t>
                      </a:r>
                    </a:p>
                  </a:txBody>
                  <a:tcPr marL="73152" marR="73152" marT="36576" marB="36576" anchor="ctr">
                    <a:solidFill>
                      <a:srgbClr val="F1F0F6"/>
                    </a:solidFill>
                  </a:tcPr>
                </a:tc>
              </a:tr>
              <a:tr h="338328">
                <a:tc>
                  <a:txBody>
                    <a:bodyPr wrap="square"/>
                    <a:lstStyle/>
                    <a:p>
                      <a:r>
                        <a:rPr sz="1050" b="1" i="0">
                          <a:solidFill>
                            <a:srgbClr val="1B2A55"/>
                          </a:solidFill>
                          <a:latin typeface="Inter"/>
                        </a:rPr>
                        <a:t>Nonexistent candidate from a default console</a:t>
                      </a:r>
                    </a:p>
                  </a:txBody>
                  <a:tcPr marL="73152" marR="73152" marT="36576" marB="36576" anchor="ctr">
                    <a:solidFill>
                      <a:srgbClr val="FFFFFF"/>
                    </a:solidFill>
                  </a:tcPr>
                </a:tc>
                <a:tc>
                  <a:txBody>
                    <a:bodyPr wrap="square"/>
                    <a:lstStyle/>
                    <a:p>
                      <a:r>
                        <a:rPr sz="1050" b="0" i="0">
                          <a:solidFill>
                            <a:srgbClr val="353B4A"/>
                          </a:solidFill>
                          <a:latin typeface="Inter"/>
                        </a:rPr>
                        <a:t>FK (off by default in SQLite)</a:t>
                      </a:r>
                    </a:p>
                  </a:txBody>
                  <a:tcPr marL="73152" marR="73152" marT="36576" marB="36576" anchor="ctr">
                    <a:solidFill>
                      <a:srgbClr val="FFFFFF"/>
                    </a:solidFill>
                  </a:tcPr>
                </a:tc>
                <a:tc>
                  <a:txBody>
                    <a:bodyPr wrap="square"/>
                    <a:lstStyle/>
                    <a:p>
                      <a:r>
                        <a:rPr sz="1050" b="0" i="0">
                          <a:solidFill>
                            <a:srgbClr val="353B4A"/>
                          </a:solidFill>
                          <a:latin typeface="Inter"/>
                        </a:rPr>
                        <a:t>Not prevented</a:t>
                      </a:r>
                    </a:p>
                  </a:txBody>
                  <a:tcPr marL="73152" marR="73152" marT="36576" marB="36576" anchor="ctr">
                    <a:solidFill>
                      <a:srgbClr val="FFFFFF"/>
                    </a:solidFill>
                  </a:tcPr>
                </a:tc>
              </a:tr>
            </a:tbl>
          </a:graphicData>
        </a:graphic>
      </p:graphicFrame>
      <p:sp>
        <p:nvSpPr>
          <p:cNvPr id="7" name="TextBox 6"/>
          <p:cNvSpPr txBox="1"/>
          <p:nvPr/>
        </p:nvSpPr>
        <p:spPr>
          <a:xfrm>
            <a:off x="457200" y="4160520"/>
            <a:ext cx="8229600" cy="640080"/>
          </a:xfrm>
          <a:prstGeom prst="rect">
            <a:avLst/>
          </a:prstGeom>
          <a:noFill/>
        </p:spPr>
        <p:txBody>
          <a:bodyPr wrap="square" anchor="t" lIns="0" rIns="0" tIns="0" bIns="0">
            <a:spAutoFit/>
          </a:bodyPr>
          <a:lstStyle/>
          <a:p>
            <a:pPr algn="l">
              <a:spcAft>
                <a:spcPts val="0"/>
              </a:spcAft>
            </a:pPr>
            <a:r>
              <a:rPr sz="1100" b="1" i="0">
                <a:solidFill>
                  <a:srgbClr val="C0392B"/>
                </a:solidFill>
                <a:latin typeface="Inter"/>
              </a:rPr>
              <a:t>The gap: </a:t>
            </a:r>
            <a:r>
              <a:rPr sz="1100" b="0" i="0">
                <a:solidFill>
                  <a:srgbClr val="353B4A"/>
                </a:solidFill>
                <a:latin typeface="Inter"/>
              </a:rPr>
              <a:t>SQLite enforces foreign keys only on connections that enable it. The application does; a console with default settings does not. A server database removes this, which is part of the Oracle move.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TAMPERING RESULTS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Automatic detection rises from 6 of 13 to 12 of 13</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22</a:t>
            </a:r>
          </a:p>
        </p:txBody>
      </p:sp>
      <p:pic>
        <p:nvPicPr>
          <p:cNvPr id="6" name="Picture 5" descr="detection.png"/>
          <p:cNvPicPr>
            <a:picLocks noChangeAspect="1"/>
          </p:cNvPicPr>
          <p:nvPr/>
        </p:nvPicPr>
        <p:blipFill>
          <a:blip r:embed="rId2"/>
          <a:stretch>
            <a:fillRect/>
          </a:stretch>
        </p:blipFill>
        <p:spPr>
          <a:xfrm>
            <a:off x="1470073" y="1097280"/>
            <a:ext cx="6203852" cy="2240280"/>
          </a:xfrm>
          <a:prstGeom prst="rect">
            <a:avLst/>
          </a:prstGeom>
        </p:spPr>
      </p:pic>
      <p:sp>
        <p:nvSpPr>
          <p:cNvPr id="7" name="Rounded Rectangle 6"/>
          <p:cNvSpPr/>
          <p:nvPr/>
        </p:nvSpPr>
        <p:spPr>
          <a:xfrm>
            <a:off x="457200" y="3520440"/>
            <a:ext cx="2587752"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566160"/>
            <a:ext cx="1188720" cy="731520"/>
          </a:xfrm>
          <a:prstGeom prst="rect">
            <a:avLst/>
          </a:prstGeom>
          <a:noFill/>
        </p:spPr>
        <p:txBody>
          <a:bodyPr wrap="square" anchor="ctr" lIns="0" rIns="0" tIns="0" bIns="0">
            <a:spAutoFit/>
          </a:bodyPr>
          <a:lstStyle/>
          <a:p>
            <a:pPr algn="l">
              <a:spcAft>
                <a:spcPts val="0"/>
              </a:spcAft>
            </a:pPr>
            <a:r>
              <a:rPr sz="2800" b="1" i="0">
                <a:solidFill>
                  <a:srgbClr val="C0392B"/>
                </a:solidFill>
                <a:latin typeface="Inter"/>
              </a:rPr>
              <a:t>6/13</a:t>
            </a:r>
          </a:p>
        </p:txBody>
      </p:sp>
      <p:sp>
        <p:nvSpPr>
          <p:cNvPr id="9" name="TextBox 8"/>
          <p:cNvSpPr txBox="1"/>
          <p:nvPr/>
        </p:nvSpPr>
        <p:spPr>
          <a:xfrm>
            <a:off x="1828800" y="3611880"/>
            <a:ext cx="1143000" cy="914400"/>
          </a:xfrm>
          <a:prstGeom prst="rect">
            <a:avLst/>
          </a:prstGeom>
          <a:noFill/>
        </p:spPr>
        <p:txBody>
          <a:bodyPr wrap="square" anchor="ctr" lIns="0" rIns="0" tIns="0" bIns="0">
            <a:spAutoFit/>
          </a:bodyPr>
          <a:lstStyle/>
          <a:p>
            <a:pPr algn="l">
              <a:spcAft>
                <a:spcPts val="0"/>
              </a:spcAft>
            </a:pPr>
            <a:r>
              <a:rPr sz="1000" b="0" i="0">
                <a:solidFill>
                  <a:srgbClr val="353B4A"/>
                </a:solidFill>
                <a:latin typeface="Inter"/>
              </a:rPr>
              <a:t>Review 2 design: detected automatically</a:t>
            </a:r>
          </a:p>
        </p:txBody>
      </p:sp>
      <p:sp>
        <p:nvSpPr>
          <p:cNvPr id="10" name="Rounded Rectangle 9"/>
          <p:cNvSpPr/>
          <p:nvPr/>
        </p:nvSpPr>
        <p:spPr>
          <a:xfrm>
            <a:off x="3282696" y="3520440"/>
            <a:ext cx="2587752"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19856" y="3566160"/>
            <a:ext cx="1188720" cy="731520"/>
          </a:xfrm>
          <a:prstGeom prst="rect">
            <a:avLst/>
          </a:prstGeom>
          <a:noFill/>
        </p:spPr>
        <p:txBody>
          <a:bodyPr wrap="square" anchor="ctr" lIns="0" rIns="0" tIns="0" bIns="0">
            <a:spAutoFit/>
          </a:bodyPr>
          <a:lstStyle/>
          <a:p>
            <a:pPr algn="l">
              <a:spcAft>
                <a:spcPts val="0"/>
              </a:spcAft>
            </a:pPr>
            <a:r>
              <a:rPr sz="2800" b="1" i="0">
                <a:solidFill>
                  <a:srgbClr val="1A7F37"/>
                </a:solidFill>
                <a:latin typeface="Inter"/>
              </a:rPr>
              <a:t>12/13</a:t>
            </a:r>
          </a:p>
        </p:txBody>
      </p:sp>
      <p:sp>
        <p:nvSpPr>
          <p:cNvPr id="12" name="TextBox 11"/>
          <p:cNvSpPr txBox="1"/>
          <p:nvPr/>
        </p:nvSpPr>
        <p:spPr>
          <a:xfrm>
            <a:off x="4654296" y="3611880"/>
            <a:ext cx="1143000" cy="914400"/>
          </a:xfrm>
          <a:prstGeom prst="rect">
            <a:avLst/>
          </a:prstGeom>
          <a:noFill/>
        </p:spPr>
        <p:txBody>
          <a:bodyPr wrap="square" anchor="ctr" lIns="0" rIns="0" tIns="0" bIns="0">
            <a:spAutoFit/>
          </a:bodyPr>
          <a:lstStyle/>
          <a:p>
            <a:pPr algn="l">
              <a:spcAft>
                <a:spcPts val="0"/>
              </a:spcAft>
            </a:pPr>
            <a:r>
              <a:rPr sz="1000" b="0" i="0">
                <a:solidFill>
                  <a:srgbClr val="353B4A"/>
                </a:solidFill>
                <a:latin typeface="Inter"/>
              </a:rPr>
              <a:t>Final design: detected automatically</a:t>
            </a:r>
          </a:p>
        </p:txBody>
      </p:sp>
      <p:sp>
        <p:nvSpPr>
          <p:cNvPr id="13" name="Rounded Rectangle 12"/>
          <p:cNvSpPr/>
          <p:nvPr/>
        </p:nvSpPr>
        <p:spPr>
          <a:xfrm>
            <a:off x="6108192" y="3520440"/>
            <a:ext cx="2587752"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45352" y="3566160"/>
            <a:ext cx="1188720" cy="731520"/>
          </a:xfrm>
          <a:prstGeom prst="rect">
            <a:avLst/>
          </a:prstGeom>
          <a:noFill/>
        </p:spPr>
        <p:txBody>
          <a:bodyPr wrap="square" anchor="ctr" lIns="0" rIns="0" tIns="0" bIns="0">
            <a:spAutoFit/>
          </a:bodyPr>
          <a:lstStyle/>
          <a:p>
            <a:pPr algn="l">
              <a:spcAft>
                <a:spcPts val="0"/>
              </a:spcAft>
            </a:pPr>
            <a:r>
              <a:rPr sz="2800" b="1" i="0">
                <a:solidFill>
                  <a:srgbClr val="9A6700"/>
                </a:solidFill>
                <a:latin typeface="Inter"/>
              </a:rPr>
              <a:t>1</a:t>
            </a:r>
          </a:p>
        </p:txBody>
      </p:sp>
      <p:sp>
        <p:nvSpPr>
          <p:cNvPr id="15" name="TextBox 14"/>
          <p:cNvSpPr txBox="1"/>
          <p:nvPr/>
        </p:nvSpPr>
        <p:spPr>
          <a:xfrm>
            <a:off x="7479792" y="3611880"/>
            <a:ext cx="1143000" cy="914400"/>
          </a:xfrm>
          <a:prstGeom prst="rect">
            <a:avLst/>
          </a:prstGeom>
          <a:noFill/>
        </p:spPr>
        <p:txBody>
          <a:bodyPr wrap="square" anchor="ctr" lIns="0" rIns="0" tIns="0" bIns="0">
            <a:spAutoFit/>
          </a:bodyPr>
          <a:lstStyle/>
          <a:p>
            <a:pPr algn="l">
              <a:spcAft>
                <a:spcPts val="0"/>
              </a:spcAft>
            </a:pPr>
            <a:r>
              <a:rPr sz="1000" b="0" i="0">
                <a:solidFill>
                  <a:srgbClr val="353B4A"/>
                </a:solidFill>
                <a:latin typeface="Inter"/>
              </a:rPr>
              <a:t>Still undetected: roster injection (C13)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SWEEP IN ACTION</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A deletion and an injection hide in the counts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23</a:t>
            </a:r>
          </a:p>
        </p:txBody>
      </p:sp>
      <p:pic>
        <p:nvPicPr>
          <p:cNvPr id="6" name="Picture 5" descr="admin_sweep_tamper.png"/>
          <p:cNvPicPr>
            <a:picLocks noChangeAspect="1"/>
          </p:cNvPicPr>
          <p:nvPr/>
        </p:nvPicPr>
        <p:blipFill>
          <a:blip r:embed="rId2"/>
          <a:stretch>
            <a:fillRect/>
          </a:stretch>
        </p:blipFill>
        <p:spPr>
          <a:xfrm>
            <a:off x="457200" y="1598056"/>
            <a:ext cx="5120640" cy="2290286"/>
          </a:xfrm>
          <a:prstGeom prst="rect">
            <a:avLst/>
          </a:prstGeom>
          <a:ln w="12700">
            <a:solidFill>
              <a:srgbClr val="D9D9E4"/>
            </a:solidFill>
          </a:ln>
        </p:spPr>
      </p:pic>
      <p:pic>
        <p:nvPicPr>
          <p:cNvPr id="7" name="Picture 6" descr="admin_ledger_tampered.png"/>
          <p:cNvPicPr>
            <a:picLocks noChangeAspect="1"/>
          </p:cNvPicPr>
          <p:nvPr/>
        </p:nvPicPr>
        <p:blipFill>
          <a:blip r:embed="rId3"/>
          <a:stretch>
            <a:fillRect/>
          </a:stretch>
        </p:blipFill>
        <p:spPr>
          <a:xfrm>
            <a:off x="5760720" y="1314450"/>
            <a:ext cx="2926080" cy="1485900"/>
          </a:xfrm>
          <a:prstGeom prst="rect">
            <a:avLst/>
          </a:prstGeom>
          <a:ln w="12700">
            <a:solidFill>
              <a:srgbClr val="D9D9E4"/>
            </a:solidFill>
          </a:ln>
        </p:spPr>
      </p:pic>
      <p:sp>
        <p:nvSpPr>
          <p:cNvPr id="8" name="TextBox 7"/>
          <p:cNvSpPr txBox="1"/>
          <p:nvPr/>
        </p:nvSpPr>
        <p:spPr>
          <a:xfrm>
            <a:off x="5760720" y="3108960"/>
            <a:ext cx="2926080" cy="1737360"/>
          </a:xfrm>
          <a:prstGeom prst="rect">
            <a:avLst/>
          </a:prstGeom>
          <a:noFill/>
        </p:spPr>
        <p:txBody>
          <a:bodyPr wrap="square" anchor="t" lIns="0" rIns="0" tIns="0" bIns="0">
            <a:spAutoFit/>
          </a:bodyPr>
          <a:lstStyle/>
          <a:p>
            <a:pPr algn="l">
              <a:spcAft>
                <a:spcPts val="500"/>
              </a:spcAft>
            </a:pPr>
            <a:r>
              <a:rPr sz="1050" b="1" i="0">
                <a:solidFill>
                  <a:srgbClr val="1B2A55"/>
                </a:solidFill>
                <a:latin typeface="Inter"/>
              </a:rPr>
              <a:t>•  </a:t>
            </a:r>
            <a:r>
              <a:rPr sz="1050" b="0" i="0">
                <a:solidFill>
                  <a:srgbClr val="353B4A"/>
                </a:solidFill>
                <a:latin typeface="Inter"/>
              </a:rPr>
              <a:t>Left: counters read 46 / 46 / 46, yet the sweep reports 1 deleted and 1 without a receipt.</a:t>
            </a:r>
          </a:p>
          <a:p>
            <a:pPr algn="l">
              <a:spcAft>
                <a:spcPts val="500"/>
              </a:spcAft>
            </a:pPr>
            <a:r>
              <a:rPr sz="1050" b="1" i="0">
                <a:solidFill>
                  <a:srgbClr val="1B2A55"/>
                </a:solidFill>
                <a:latin typeface="Inter"/>
              </a:rPr>
              <a:t>•  </a:t>
            </a:r>
            <a:r>
              <a:rPr sz="1050" b="0" i="0">
                <a:solidFill>
                  <a:srgbClr val="353B4A"/>
                </a:solidFill>
                <a:latin typeface="Inter"/>
              </a:rPr>
              <a:t>Above: one edited block breaks the chain.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WHY THE KEY MATTERS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Six scenarios the Review 2 design missed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24</a:t>
            </a:r>
          </a:p>
        </p:txBody>
      </p:sp>
      <p:graphicFrame>
        <p:nvGraphicFramePr>
          <p:cNvPr id="6" name="Table 5"/>
          <p:cNvGraphicFramePr>
            <a:graphicFrameLocks noGrp="1"/>
          </p:cNvGraphicFramePr>
          <p:nvPr/>
        </p:nvGraphicFramePr>
        <p:xfrm>
          <a:off x="457200" y="1097280"/>
          <a:ext cx="8229599" cy="2670048"/>
        </p:xfrm>
        <a:graphic>
          <a:graphicData uri="http://schemas.openxmlformats.org/drawingml/2006/table">
            <a:tbl>
              <a:tblPr firstRow="1" bandRow="1">
                <a:tableStyleId>{5C22544A-7EE6-4342-B048-85BDC9FD1C3A}</a:tableStyleId>
              </a:tblPr>
              <a:tblGrid>
                <a:gridCol w="548640"/>
                <a:gridCol w="3566160"/>
                <a:gridCol w="1280160"/>
                <a:gridCol w="1097280"/>
                <a:gridCol w="1737359"/>
              </a:tblGrid>
              <a:tr h="365760">
                <a:tc>
                  <a:txBody>
                    <a:bodyPr wrap="square"/>
                    <a:lstStyle/>
                    <a:p>
                      <a:r>
                        <a:rPr sz="1000" b="1" i="0">
                          <a:solidFill>
                            <a:srgbClr val="FFFFFF"/>
                          </a:solidFill>
                          <a:latin typeface="Inter"/>
                        </a:rPr>
                        <a:t>ID</a:t>
                      </a:r>
                    </a:p>
                  </a:txBody>
                  <a:tcPr marL="73152" marR="73152" marT="36576" marB="36576" anchor="ctr">
                    <a:solidFill>
                      <a:srgbClr val="1B2A55"/>
                    </a:solidFill>
                  </a:tcPr>
                </a:tc>
                <a:tc>
                  <a:txBody>
                    <a:bodyPr wrap="square"/>
                    <a:lstStyle/>
                    <a:p>
                      <a:r>
                        <a:rPr sz="1000" b="1" i="0">
                          <a:solidFill>
                            <a:srgbClr val="FFFFFF"/>
                          </a:solidFill>
                          <a:latin typeface="Inter"/>
                        </a:rPr>
                        <a:t>Scenario</a:t>
                      </a:r>
                    </a:p>
                  </a:txBody>
                  <a:tcPr marL="73152" marR="73152" marT="36576" marB="36576" anchor="ctr">
                    <a:solidFill>
                      <a:srgbClr val="1B2A55"/>
                    </a:solidFill>
                  </a:tcPr>
                </a:tc>
                <a:tc>
                  <a:txBody>
                    <a:bodyPr wrap="square"/>
                    <a:lstStyle/>
                    <a:p>
                      <a:r>
                        <a:rPr sz="1000" b="1" i="0">
                          <a:solidFill>
                            <a:srgbClr val="FFFFFF"/>
                          </a:solidFill>
                          <a:latin typeface="Inter"/>
                        </a:rPr>
                        <a:t>Review 2</a:t>
                      </a:r>
                    </a:p>
                  </a:txBody>
                  <a:tcPr marL="73152" marR="73152" marT="36576" marB="36576" anchor="ctr">
                    <a:solidFill>
                      <a:srgbClr val="1B2A55"/>
                    </a:solidFill>
                  </a:tcPr>
                </a:tc>
                <a:tc>
                  <a:txBody>
                    <a:bodyPr wrap="square"/>
                    <a:lstStyle/>
                    <a:p>
                      <a:r>
                        <a:rPr sz="1000" b="1" i="0">
                          <a:solidFill>
                            <a:srgbClr val="FFFFFF"/>
                          </a:solidFill>
                          <a:latin typeface="Inter"/>
                        </a:rPr>
                        <a:t>Final</a:t>
                      </a:r>
                    </a:p>
                  </a:txBody>
                  <a:tcPr marL="73152" marR="73152" marT="36576" marB="36576" anchor="ctr">
                    <a:solidFill>
                      <a:srgbClr val="1B2A55"/>
                    </a:solidFill>
                  </a:tcPr>
                </a:tc>
                <a:tc>
                  <a:txBody>
                    <a:bodyPr wrap="square"/>
                    <a:lstStyle/>
                    <a:p>
                      <a:r>
                        <a:rPr sz="1000" b="1" i="0">
                          <a:solidFill>
                            <a:srgbClr val="FFFFFF"/>
                          </a:solidFill>
                          <a:latin typeface="Inter"/>
                        </a:rPr>
                        <a:t>What closed it</a:t>
                      </a:r>
                    </a:p>
                  </a:txBody>
                  <a:tcPr marL="73152" marR="73152" marT="36576" marB="36576" anchor="ctr">
                    <a:solidFill>
                      <a:srgbClr val="1B2A55"/>
                    </a:solidFill>
                  </a:tcPr>
                </a:tc>
              </a:tr>
              <a:tr h="384048">
                <a:tc>
                  <a:txBody>
                    <a:bodyPr wrap="square"/>
                    <a:lstStyle/>
                    <a:p>
                      <a:r>
                        <a:rPr sz="1050" b="1" i="0">
                          <a:solidFill>
                            <a:srgbClr val="1B2A55"/>
                          </a:solidFill>
                          <a:latin typeface="Inter"/>
                        </a:rPr>
                        <a:t>C5</a:t>
                      </a:r>
                    </a:p>
                  </a:txBody>
                  <a:tcPr marL="73152" marR="73152" marT="36576" marB="36576" anchor="ctr">
                    <a:solidFill>
                      <a:srgbClr val="FFFFFF"/>
                    </a:solidFill>
                  </a:tcPr>
                </a:tc>
                <a:tc>
                  <a:txBody>
                    <a:bodyPr wrap="square"/>
                    <a:lstStyle/>
                    <a:p>
                      <a:r>
                        <a:rPr sz="1050" b="0" i="0">
                          <a:solidFill>
                            <a:srgbClr val="353B4A"/>
                          </a:solidFill>
                          <a:latin typeface="Inter"/>
                        </a:rPr>
                        <a:t>Inject a ballot with no receipt</a:t>
                      </a:r>
                    </a:p>
                  </a:txBody>
                  <a:tcPr marL="73152" marR="73152" marT="36576" marB="36576" anchor="ctr">
                    <a:solidFill>
                      <a:srgbClr val="FFFFFF"/>
                    </a:solidFill>
                  </a:tcPr>
                </a:tc>
                <a:tc>
                  <a:txBody>
                    <a:bodyPr wrap="square"/>
                    <a:lstStyle/>
                    <a:p>
                      <a:r>
                        <a:rPr sz="1050" b="0" i="0">
                          <a:solidFill>
                            <a:srgbClr val="353B4A"/>
                          </a:solidFill>
                          <a:latin typeface="Inter"/>
                        </a:rPr>
                        <a:t>Counters only</a:t>
                      </a:r>
                    </a:p>
                  </a:txBody>
                  <a:tcPr marL="73152" marR="73152" marT="36576" marB="36576" anchor="ctr">
                    <a:solidFill>
                      <a:srgbClr val="FFFFFF"/>
                    </a:solidFill>
                  </a:tcPr>
                </a:tc>
                <a:tc>
                  <a:txBody>
                    <a:bodyPr wrap="square"/>
                    <a:lstStyle/>
                    <a:p>
                      <a:r>
                        <a:rPr sz="1050" b="0" i="0">
                          <a:solidFill>
                            <a:srgbClr val="353B4A"/>
                          </a:solidFill>
                          <a:latin typeface="Inter"/>
                        </a:rPr>
                        <a:t>Detected</a:t>
                      </a:r>
                    </a:p>
                  </a:txBody>
                  <a:tcPr marL="73152" marR="73152" marT="36576" marB="36576" anchor="ctr">
                    <a:solidFill>
                      <a:srgbClr val="FFFFFF"/>
                    </a:solidFill>
                  </a:tcPr>
                </a:tc>
                <a:tc>
                  <a:txBody>
                    <a:bodyPr wrap="square"/>
                    <a:lstStyle/>
                    <a:p>
                      <a:r>
                        <a:rPr sz="1050" b="0" i="0">
                          <a:solidFill>
                            <a:srgbClr val="353B4A"/>
                          </a:solidFill>
                          <a:latin typeface="Inter"/>
                        </a:rPr>
                        <a:t>Injected-ballot rule</a:t>
                      </a:r>
                    </a:p>
                  </a:txBody>
                  <a:tcPr marL="73152" marR="73152" marT="36576" marB="36576" anchor="ctr">
                    <a:solidFill>
                      <a:srgbClr val="FFFFFF"/>
                    </a:solidFill>
                  </a:tcPr>
                </a:tc>
              </a:tr>
              <a:tr h="384048">
                <a:tc>
                  <a:txBody>
                    <a:bodyPr wrap="square"/>
                    <a:lstStyle/>
                    <a:p>
                      <a:r>
                        <a:rPr sz="1050" b="1" i="0">
                          <a:solidFill>
                            <a:srgbClr val="1B2A55"/>
                          </a:solidFill>
                          <a:latin typeface="Inter"/>
                        </a:rPr>
                        <a:t>C6</a:t>
                      </a:r>
                    </a:p>
                  </a:txBody>
                  <a:tcPr marL="73152" marR="73152" marT="36576" marB="36576" anchor="ctr">
                    <a:solidFill>
                      <a:srgbClr val="F1F0F6"/>
                    </a:solidFill>
                  </a:tcPr>
                </a:tc>
                <a:tc>
                  <a:txBody>
                    <a:bodyPr wrap="square"/>
                    <a:lstStyle/>
                    <a:p>
                      <a:r>
                        <a:rPr sz="1050" b="0" i="0">
                          <a:solidFill>
                            <a:srgbClr val="353B4A"/>
                          </a:solidFill>
                          <a:latin typeface="Inter"/>
                        </a:rPr>
                        <a:t>Ballot stuffing: inject, forge receipt, set a flag</a:t>
                      </a:r>
                    </a:p>
                  </a:txBody>
                  <a:tcPr marL="73152" marR="73152" marT="36576" marB="36576" anchor="ctr">
                    <a:solidFill>
                      <a:srgbClr val="F1F0F6"/>
                    </a:solidFill>
                  </a:tcPr>
                </a:tc>
                <a:tc>
                  <a:txBody>
                    <a:bodyPr wrap="square"/>
                    <a:lstStyle/>
                    <a:p>
                      <a:r>
                        <a:rPr sz="1050" b="0" i="0">
                          <a:solidFill>
                            <a:srgbClr val="353B4A"/>
                          </a:solidFill>
                          <a:latin typeface="Inter"/>
                        </a:rPr>
                        <a:t>Not detected</a:t>
                      </a:r>
                    </a:p>
                  </a:txBody>
                  <a:tcPr marL="73152" marR="73152" marT="36576" marB="36576" anchor="ctr">
                    <a:solidFill>
                      <a:srgbClr val="F1F0F6"/>
                    </a:solidFill>
                  </a:tcPr>
                </a:tc>
                <a:tc>
                  <a:txBody>
                    <a:bodyPr wrap="square"/>
                    <a:lstStyle/>
                    <a:p>
                      <a:r>
                        <a:rPr sz="1050" b="0" i="0">
                          <a:solidFill>
                            <a:srgbClr val="353B4A"/>
                          </a:solidFill>
                          <a:latin typeface="Inter"/>
                        </a:rPr>
                        <a:t>Detected</a:t>
                      </a:r>
                    </a:p>
                  </a:txBody>
                  <a:tcPr marL="73152" marR="73152" marT="36576" marB="36576" anchor="ctr">
                    <a:solidFill>
                      <a:srgbClr val="F1F0F6"/>
                    </a:solidFill>
                  </a:tcPr>
                </a:tc>
                <a:tc>
                  <a:txBody>
                    <a:bodyPr wrap="square"/>
                    <a:lstStyle/>
                    <a:p>
                      <a:r>
                        <a:rPr sz="1050" b="0" i="0">
                          <a:solidFill>
                            <a:srgbClr val="353B4A"/>
                          </a:solidFill>
                          <a:latin typeface="Inter"/>
                        </a:rPr>
                        <a:t>Keyed chain</a:t>
                      </a:r>
                    </a:p>
                  </a:txBody>
                  <a:tcPr marL="73152" marR="73152" marT="36576" marB="36576" anchor="ctr">
                    <a:solidFill>
                      <a:srgbClr val="F1F0F6"/>
                    </a:solidFill>
                  </a:tcPr>
                </a:tc>
              </a:tr>
              <a:tr h="384048">
                <a:tc>
                  <a:txBody>
                    <a:bodyPr wrap="square"/>
                    <a:lstStyle/>
                    <a:p>
                      <a:r>
                        <a:rPr sz="1050" b="1" i="0">
                          <a:solidFill>
                            <a:srgbClr val="1B2A55"/>
                          </a:solidFill>
                          <a:latin typeface="Inter"/>
                        </a:rPr>
                        <a:t>C9</a:t>
                      </a:r>
                    </a:p>
                  </a:txBody>
                  <a:tcPr marL="73152" marR="73152" marT="36576" marB="36576" anchor="ctr">
                    <a:solidFill>
                      <a:srgbClr val="FFFFFF"/>
                    </a:solidFill>
                  </a:tcPr>
                </a:tc>
                <a:tc>
                  <a:txBody>
                    <a:bodyPr wrap="square"/>
                    <a:lstStyle/>
                    <a:p>
                      <a:r>
                        <a:rPr sz="1050" b="0" i="0">
                          <a:solidFill>
                            <a:srgbClr val="353B4A"/>
                          </a:solidFill>
                          <a:latin typeface="Inter"/>
                        </a:rPr>
                        <a:t>Truncate the last ledger block</a:t>
                      </a:r>
                    </a:p>
                  </a:txBody>
                  <a:tcPr marL="73152" marR="73152" marT="36576" marB="36576" anchor="ctr">
                    <a:solidFill>
                      <a:srgbClr val="FFFFFF"/>
                    </a:solidFill>
                  </a:tcPr>
                </a:tc>
                <a:tc>
                  <a:txBody>
                    <a:bodyPr wrap="square"/>
                    <a:lstStyle/>
                    <a:p>
                      <a:r>
                        <a:rPr sz="1050" b="0" i="0">
                          <a:solidFill>
                            <a:srgbClr val="353B4A"/>
                          </a:solidFill>
                          <a:latin typeface="Inter"/>
                        </a:rPr>
                        <a:t>Counters only</a:t>
                      </a:r>
                    </a:p>
                  </a:txBody>
                  <a:tcPr marL="73152" marR="73152" marT="36576" marB="36576" anchor="ctr">
                    <a:solidFill>
                      <a:srgbClr val="FFFFFF"/>
                    </a:solidFill>
                  </a:tcPr>
                </a:tc>
                <a:tc>
                  <a:txBody>
                    <a:bodyPr wrap="square"/>
                    <a:lstStyle/>
                    <a:p>
                      <a:r>
                        <a:rPr sz="1050" b="0" i="0">
                          <a:solidFill>
                            <a:srgbClr val="353B4A"/>
                          </a:solidFill>
                          <a:latin typeface="Inter"/>
                        </a:rPr>
                        <a:t>Detected</a:t>
                      </a:r>
                    </a:p>
                  </a:txBody>
                  <a:tcPr marL="73152" marR="73152" marT="36576" marB="36576" anchor="ctr">
                    <a:solidFill>
                      <a:srgbClr val="FFFFFF"/>
                    </a:solidFill>
                  </a:tcPr>
                </a:tc>
                <a:tc>
                  <a:txBody>
                    <a:bodyPr wrap="square"/>
                    <a:lstStyle/>
                    <a:p>
                      <a:r>
                        <a:rPr sz="1050" b="0" i="0">
                          <a:solidFill>
                            <a:srgbClr val="353B4A"/>
                          </a:solidFill>
                          <a:latin typeface="Inter"/>
                        </a:rPr>
                        <a:t>Reconciliation rule</a:t>
                      </a:r>
                    </a:p>
                  </a:txBody>
                  <a:tcPr marL="73152" marR="73152" marT="36576" marB="36576" anchor="ctr">
                    <a:solidFill>
                      <a:srgbClr val="FFFFFF"/>
                    </a:solidFill>
                  </a:tcPr>
                </a:tc>
              </a:tr>
              <a:tr h="384048">
                <a:tc>
                  <a:txBody>
                    <a:bodyPr wrap="square"/>
                    <a:lstStyle/>
                    <a:p>
                      <a:r>
                        <a:rPr sz="1050" b="1" i="0">
                          <a:solidFill>
                            <a:srgbClr val="1B2A55"/>
                          </a:solidFill>
                          <a:latin typeface="Inter"/>
                        </a:rPr>
                        <a:t>C10</a:t>
                      </a:r>
                    </a:p>
                  </a:txBody>
                  <a:tcPr marL="73152" marR="73152" marT="36576" marB="36576" anchor="ctr">
                    <a:solidFill>
                      <a:srgbClr val="F1F0F6"/>
                    </a:solidFill>
                  </a:tcPr>
                </a:tc>
                <a:tc>
                  <a:txBody>
                    <a:bodyPr wrap="square"/>
                    <a:lstStyle/>
                    <a:p>
                      <a:r>
                        <a:rPr sz="1050" b="0" i="0">
                          <a:solidFill>
                            <a:srgbClr val="353B4A"/>
                          </a:solidFill>
                          <a:latin typeface="Inter"/>
                        </a:rPr>
                        <a:t>Alter a ballot and rebuild the whole chain</a:t>
                      </a:r>
                    </a:p>
                  </a:txBody>
                  <a:tcPr marL="73152" marR="73152" marT="36576" marB="36576" anchor="ctr">
                    <a:solidFill>
                      <a:srgbClr val="F1F0F6"/>
                    </a:solidFill>
                  </a:tcPr>
                </a:tc>
                <a:tc>
                  <a:txBody>
                    <a:bodyPr wrap="square"/>
                    <a:lstStyle/>
                    <a:p>
                      <a:r>
                        <a:rPr sz="1050" b="0" i="0">
                          <a:solidFill>
                            <a:srgbClr val="353B4A"/>
                          </a:solidFill>
                          <a:latin typeface="Inter"/>
                        </a:rPr>
                        <a:t>Not detected</a:t>
                      </a:r>
                    </a:p>
                  </a:txBody>
                  <a:tcPr marL="73152" marR="73152" marT="36576" marB="36576" anchor="ctr">
                    <a:solidFill>
                      <a:srgbClr val="F1F0F6"/>
                    </a:solidFill>
                  </a:tcPr>
                </a:tc>
                <a:tc>
                  <a:txBody>
                    <a:bodyPr wrap="square"/>
                    <a:lstStyle/>
                    <a:p>
                      <a:r>
                        <a:rPr sz="1050" b="0" i="0">
                          <a:solidFill>
                            <a:srgbClr val="353B4A"/>
                          </a:solidFill>
                          <a:latin typeface="Inter"/>
                        </a:rPr>
                        <a:t>Detected</a:t>
                      </a:r>
                    </a:p>
                  </a:txBody>
                  <a:tcPr marL="73152" marR="73152" marT="36576" marB="36576" anchor="ctr">
                    <a:solidFill>
                      <a:srgbClr val="F1F0F6"/>
                    </a:solidFill>
                  </a:tcPr>
                </a:tc>
                <a:tc>
                  <a:txBody>
                    <a:bodyPr wrap="square"/>
                    <a:lstStyle/>
                    <a:p>
                      <a:r>
                        <a:rPr sz="1050" b="0" i="0">
                          <a:solidFill>
                            <a:srgbClr val="353B4A"/>
                          </a:solidFill>
                          <a:latin typeface="Inter"/>
                        </a:rPr>
                        <a:t>Keyed chain</a:t>
                      </a:r>
                    </a:p>
                  </a:txBody>
                  <a:tcPr marL="73152" marR="73152" marT="36576" marB="36576" anchor="ctr">
                    <a:solidFill>
                      <a:srgbClr val="F1F0F6"/>
                    </a:solidFill>
                  </a:tcPr>
                </a:tc>
              </a:tr>
              <a:tr h="384048">
                <a:tc>
                  <a:txBody>
                    <a:bodyPr wrap="square"/>
                    <a:lstStyle/>
                    <a:p>
                      <a:r>
                        <a:rPr sz="1050" b="1" i="0">
                          <a:solidFill>
                            <a:srgbClr val="1B2A55"/>
                          </a:solidFill>
                          <a:latin typeface="Inter"/>
                        </a:rPr>
                        <a:t>C11</a:t>
                      </a:r>
                    </a:p>
                  </a:txBody>
                  <a:tcPr marL="73152" marR="73152" marT="36576" marB="36576" anchor="ctr">
                    <a:solidFill>
                      <a:srgbClr val="FFFFFF"/>
                    </a:solidFill>
                  </a:tcPr>
                </a:tc>
                <a:tc>
                  <a:txBody>
                    <a:bodyPr wrap="square"/>
                    <a:lstStyle/>
                    <a:p>
                      <a:r>
                        <a:rPr sz="1050" b="0" i="0">
                          <a:solidFill>
                            <a:srgbClr val="353B4A"/>
                          </a:solidFill>
                          <a:latin typeface="Inter"/>
                        </a:rPr>
                        <a:t>Swap two candidates' names after voting</a:t>
                      </a:r>
                    </a:p>
                  </a:txBody>
                  <a:tcPr marL="73152" marR="73152" marT="36576" marB="36576" anchor="ctr">
                    <a:solidFill>
                      <a:srgbClr val="FFFFFF"/>
                    </a:solidFill>
                  </a:tcPr>
                </a:tc>
                <a:tc>
                  <a:txBody>
                    <a:bodyPr wrap="square"/>
                    <a:lstStyle/>
                    <a:p>
                      <a:r>
                        <a:rPr sz="1050" b="0" i="0">
                          <a:solidFill>
                            <a:srgbClr val="353B4A"/>
                          </a:solidFill>
                          <a:latin typeface="Inter"/>
                        </a:rPr>
                        <a:t>Not detected</a:t>
                      </a:r>
                    </a:p>
                  </a:txBody>
                  <a:tcPr marL="73152" marR="73152" marT="36576" marB="36576" anchor="ctr">
                    <a:solidFill>
                      <a:srgbClr val="FFFFFF"/>
                    </a:solidFill>
                  </a:tcPr>
                </a:tc>
                <a:tc>
                  <a:txBody>
                    <a:bodyPr wrap="square"/>
                    <a:lstStyle/>
                    <a:p>
                      <a:r>
                        <a:rPr sz="1050" b="0" i="0">
                          <a:solidFill>
                            <a:srgbClr val="353B4A"/>
                          </a:solidFill>
                          <a:latin typeface="Inter"/>
                        </a:rPr>
                        <a:t>Detected</a:t>
                      </a:r>
                    </a:p>
                  </a:txBody>
                  <a:tcPr marL="73152" marR="73152" marT="36576" marB="36576" anchor="ctr">
                    <a:solidFill>
                      <a:srgbClr val="FFFFFF"/>
                    </a:solidFill>
                  </a:tcPr>
                </a:tc>
                <a:tc>
                  <a:txBody>
                    <a:bodyPr wrap="square"/>
                    <a:lstStyle/>
                    <a:p>
                      <a:r>
                        <a:rPr sz="1050" b="0" i="0">
                          <a:solidFill>
                            <a:srgbClr val="353B4A"/>
                          </a:solidFill>
                          <a:latin typeface="Inter"/>
                        </a:rPr>
                        <a:t>Sealed roster hash</a:t>
                      </a:r>
                    </a:p>
                  </a:txBody>
                  <a:tcPr marL="73152" marR="73152" marT="36576" marB="36576" anchor="ctr">
                    <a:solidFill>
                      <a:srgbClr val="FFFFFF"/>
                    </a:solidFill>
                  </a:tcPr>
                </a:tc>
              </a:tr>
              <a:tr h="384048">
                <a:tc>
                  <a:txBody>
                    <a:bodyPr wrap="square"/>
                    <a:lstStyle/>
                    <a:p>
                      <a:r>
                        <a:rPr sz="1050" b="1" i="0">
                          <a:solidFill>
                            <a:srgbClr val="1B2A55"/>
                          </a:solidFill>
                          <a:latin typeface="Inter"/>
                        </a:rPr>
                        <a:t>C12</a:t>
                      </a:r>
                    </a:p>
                  </a:txBody>
                  <a:tcPr marL="73152" marR="73152" marT="36576" marB="36576" anchor="ctr">
                    <a:solidFill>
                      <a:srgbClr val="F1F0F6"/>
                    </a:solidFill>
                  </a:tcPr>
                </a:tc>
                <a:tc>
                  <a:txBody>
                    <a:bodyPr wrap="square"/>
                    <a:lstStyle/>
                    <a:p>
                      <a:r>
                        <a:rPr sz="1050" b="0" i="0">
                          <a:solidFill>
                            <a:srgbClr val="353B4A"/>
                          </a:solidFill>
                          <a:latin typeface="Inter"/>
                        </a:rPr>
                        <a:t>Reset a voted flag, vote again</a:t>
                      </a:r>
                    </a:p>
                  </a:txBody>
                  <a:tcPr marL="73152" marR="73152" marT="36576" marB="36576" anchor="ctr">
                    <a:solidFill>
                      <a:srgbClr val="F1F0F6"/>
                    </a:solidFill>
                  </a:tcPr>
                </a:tc>
                <a:tc>
                  <a:txBody>
                    <a:bodyPr wrap="square"/>
                    <a:lstStyle/>
                    <a:p>
                      <a:r>
                        <a:rPr sz="1050" b="0" i="0">
                          <a:solidFill>
                            <a:srgbClr val="353B4A"/>
                          </a:solidFill>
                          <a:latin typeface="Inter"/>
                        </a:rPr>
                        <a:t>Counters only</a:t>
                      </a:r>
                    </a:p>
                  </a:txBody>
                  <a:tcPr marL="73152" marR="73152" marT="36576" marB="36576" anchor="ctr">
                    <a:solidFill>
                      <a:srgbClr val="F1F0F6"/>
                    </a:solidFill>
                  </a:tcPr>
                </a:tc>
                <a:tc>
                  <a:txBody>
                    <a:bodyPr wrap="square"/>
                    <a:lstStyle/>
                    <a:p>
                      <a:r>
                        <a:rPr sz="1050" b="0" i="0">
                          <a:solidFill>
                            <a:srgbClr val="353B4A"/>
                          </a:solidFill>
                          <a:latin typeface="Inter"/>
                        </a:rPr>
                        <a:t>Detected</a:t>
                      </a:r>
                    </a:p>
                  </a:txBody>
                  <a:tcPr marL="73152" marR="73152" marT="36576" marB="36576" anchor="ctr">
                    <a:solidFill>
                      <a:srgbClr val="F1F0F6"/>
                    </a:solidFill>
                  </a:tcPr>
                </a:tc>
                <a:tc>
                  <a:txBody>
                    <a:bodyPr wrap="square"/>
                    <a:lstStyle/>
                    <a:p>
                      <a:r>
                        <a:rPr sz="1050" b="0" i="0">
                          <a:solidFill>
                            <a:srgbClr val="353B4A"/>
                          </a:solidFill>
                          <a:latin typeface="Inter"/>
                        </a:rPr>
                        <a:t>Reconciliation rule</a:t>
                      </a:r>
                    </a:p>
                  </a:txBody>
                  <a:tcPr marL="73152" marR="73152" marT="36576" marB="36576" anchor="ctr">
                    <a:solidFill>
                      <a:srgbClr val="F1F0F6"/>
                    </a:solidFill>
                  </a:tcPr>
                </a:tc>
              </a:tr>
            </a:tbl>
          </a:graphicData>
        </a:graphic>
      </p:graphicFrame>
      <p:sp>
        <p:nvSpPr>
          <p:cNvPr id="7" name="TextBox 6"/>
          <p:cNvSpPr txBox="1"/>
          <p:nvPr/>
        </p:nvSpPr>
        <p:spPr>
          <a:xfrm>
            <a:off x="457200" y="4206240"/>
            <a:ext cx="8229600" cy="548640"/>
          </a:xfrm>
          <a:prstGeom prst="rect">
            <a:avLst/>
          </a:prstGeom>
          <a:noFill/>
        </p:spPr>
        <p:txBody>
          <a:bodyPr wrap="square" anchor="t" lIns="0" rIns="0" tIns="0" bIns="0">
            <a:spAutoFit/>
          </a:bodyPr>
          <a:lstStyle/>
          <a:p>
            <a:pPr algn="l">
              <a:spcAft>
                <a:spcPts val="0"/>
              </a:spcAft>
            </a:pPr>
            <a:r>
              <a:rPr sz="1150" b="1" i="0">
                <a:solidFill>
                  <a:srgbClr val="1B2A55"/>
                </a:solidFill>
                <a:latin typeface="Inter"/>
              </a:rPr>
              <a:t>Key point: </a:t>
            </a:r>
            <a:r>
              <a:rPr sz="1150" b="0" i="0">
                <a:solidFill>
                  <a:srgbClr val="353B4A"/>
                </a:solidFill>
                <a:latin typeface="Inter"/>
              </a:rPr>
              <a:t>C6 and C10 defeat any chain that is only hashed, because the attacker recomputes the hashes. With the HMAC key they fail at the first block the attacker cannot compute.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ONE-TIME CODE TESTS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14 of 14 pass, and the suite caught a real defect on the way</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25</a:t>
            </a:r>
          </a:p>
        </p:txBody>
      </p:sp>
      <p:sp>
        <p:nvSpPr>
          <p:cNvPr id="6" name="TextBox 5"/>
          <p:cNvSpPr txBox="1"/>
          <p:nvPr/>
        </p:nvSpPr>
        <p:spPr>
          <a:xfrm>
            <a:off x="457200" y="1143000"/>
            <a:ext cx="4206240" cy="356616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0" i="0">
                <a:solidFill>
                  <a:srgbClr val="353B4A"/>
                </a:solidFill>
                <a:latin typeface="Inter"/>
              </a:rPr>
              <a:t>Password alone gives no session; the challenge id is not a token.</a:t>
            </a:r>
          </a:p>
          <a:p>
            <a:pPr algn="l">
              <a:spcAft>
                <a:spcPts val="500"/>
              </a:spcAft>
            </a:pPr>
            <a:r>
              <a:rPr sz="1100" b="1" i="0">
                <a:solidFill>
                  <a:srgbClr val="1B2A55"/>
                </a:solidFill>
                <a:latin typeface="Inter"/>
              </a:rPr>
              <a:t>•  </a:t>
            </a:r>
            <a:r>
              <a:rPr sz="1100" b="0" i="0">
                <a:solidFill>
                  <a:srgbClr val="353B4A"/>
                </a:solidFill>
                <a:latin typeface="Inter"/>
              </a:rPr>
              <a:t>Right code opens the ballot; a used code cannot be replayed.</a:t>
            </a:r>
          </a:p>
          <a:p>
            <a:pPr algn="l">
              <a:spcAft>
                <a:spcPts val="500"/>
              </a:spcAft>
            </a:pPr>
            <a:r>
              <a:rPr sz="1100" b="1" i="0">
                <a:solidFill>
                  <a:srgbClr val="1B2A55"/>
                </a:solidFill>
                <a:latin typeface="Inter"/>
              </a:rPr>
              <a:t>•  </a:t>
            </a:r>
            <a:r>
              <a:rPr sz="1100" b="0" i="0">
                <a:solidFill>
                  <a:srgbClr val="353B4A"/>
                </a:solidFill>
                <a:latin typeface="Inter"/>
              </a:rPr>
              <a:t>Three wrong codes lock the challenge, even if the right code follows.</a:t>
            </a:r>
          </a:p>
          <a:p>
            <a:pPr algn="l">
              <a:spcAft>
                <a:spcPts val="500"/>
              </a:spcAft>
            </a:pPr>
            <a:r>
              <a:rPr sz="1100" b="1" i="0">
                <a:solidFill>
                  <a:srgbClr val="1B2A55"/>
                </a:solidFill>
                <a:latin typeface="Inter"/>
              </a:rPr>
              <a:t>•  </a:t>
            </a:r>
            <a:r>
              <a:rPr sz="1100" b="0" i="0">
                <a:solidFill>
                  <a:srgbClr val="353B4A"/>
                </a:solidFill>
                <a:latin typeface="Inter"/>
              </a:rPr>
              <a:t>Expired codes, rapid resends and a sixth code are refused.</a:t>
            </a:r>
          </a:p>
          <a:p>
            <a:pPr algn="l">
              <a:spcAft>
                <a:spcPts val="500"/>
              </a:spcAft>
            </a:pPr>
            <a:r>
              <a:rPr sz="1100" b="1" i="0">
                <a:solidFill>
                  <a:srgbClr val="1B2A55"/>
                </a:solidFill>
                <a:latin typeface="Inter"/>
              </a:rPr>
              <a:t>•  </a:t>
            </a:r>
            <a:r>
              <a:rPr sz="1100" b="0" i="0">
                <a:solidFill>
                  <a:srgbClr val="353B4A"/>
                </a:solidFill>
                <a:latin typeface="Inter"/>
              </a:rPr>
              <a:t>No email on file: clear refusal.</a:t>
            </a:r>
          </a:p>
          <a:p>
            <a:pPr algn="l">
              <a:spcAft>
                <a:spcPts val="500"/>
              </a:spcAft>
            </a:pPr>
            <a:r>
              <a:rPr sz="1100" b="1" i="0">
                <a:solidFill>
                  <a:srgbClr val="1B2A55"/>
                </a:solidFill>
                <a:latin typeface="Inter"/>
              </a:rPr>
              <a:t>•  </a:t>
            </a:r>
            <a:r>
              <a:rPr sz="1100" b="0" i="0">
                <a:solidFill>
                  <a:srgbClr val="353B4A"/>
                </a:solidFill>
                <a:latin typeface="Inter"/>
              </a:rPr>
              <a:t>Plaintext codes are absent from the database.</a:t>
            </a:r>
          </a:p>
          <a:p>
            <a:pPr algn="l">
              <a:spcAft>
                <a:spcPts val="500"/>
              </a:spcAft>
            </a:pPr>
            <a:r>
              <a:rPr sz="1100" b="1" i="0">
                <a:solidFill>
                  <a:srgbClr val="1B2A55"/>
                </a:solidFill>
                <a:latin typeface="Inter"/>
              </a:rPr>
              <a:t>•  </a:t>
            </a:r>
            <a:r>
              <a:rPr sz="1100" b="0" i="0">
                <a:solidFill>
                  <a:srgbClr val="353B4A"/>
                </a:solidFill>
                <a:latin typeface="Inter"/>
              </a:rPr>
              <a:t>A failed mail server does not block sign-in.</a:t>
            </a:r>
          </a:p>
          <a:p>
            <a:pPr algn="l">
              <a:spcAft>
                <a:spcPts val="500"/>
              </a:spcAft>
            </a:pPr>
            <a:r>
              <a:rPr sz="1100" b="1" i="0">
                <a:solidFill>
                  <a:srgbClr val="1B2A55"/>
                </a:solidFill>
                <a:latin typeface="Inter"/>
              </a:rPr>
              <a:t>•  </a:t>
            </a:r>
            <a:r>
              <a:rPr sz="1100" b="0" i="0">
                <a:solidFill>
                  <a:srgbClr val="353B4A"/>
                </a:solidFill>
                <a:latin typeface="Inter"/>
              </a:rPr>
              <a:t>No email column exists in the election database.</a:t>
            </a:r>
          </a:p>
        </p:txBody>
      </p:sp>
      <p:sp>
        <p:nvSpPr>
          <p:cNvPr id="7" name="Rounded Rectangle 6"/>
          <p:cNvSpPr/>
          <p:nvPr/>
        </p:nvSpPr>
        <p:spPr>
          <a:xfrm>
            <a:off x="4846320" y="1188720"/>
            <a:ext cx="3840480" cy="329184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1280160"/>
            <a:ext cx="3474720" cy="274320"/>
          </a:xfrm>
          <a:prstGeom prst="rect">
            <a:avLst/>
          </a:prstGeom>
          <a:noFill/>
        </p:spPr>
        <p:txBody>
          <a:bodyPr wrap="square" anchor="t" lIns="0" rIns="0" tIns="0" bIns="0">
            <a:spAutoFit/>
          </a:bodyPr>
          <a:lstStyle/>
          <a:p>
            <a:pPr algn="l">
              <a:spcAft>
                <a:spcPts val="0"/>
              </a:spcAft>
            </a:pPr>
            <a:r>
              <a:rPr sz="1300" b="1" i="0">
                <a:solidFill>
                  <a:srgbClr val="C0392B"/>
                </a:solidFill>
                <a:latin typeface="Inter"/>
              </a:rPr>
              <a:t>The defect</a:t>
            </a:r>
          </a:p>
        </p:txBody>
      </p:sp>
      <p:sp>
        <p:nvSpPr>
          <p:cNvPr id="9" name="TextBox 8"/>
          <p:cNvSpPr txBox="1"/>
          <p:nvPr/>
        </p:nvSpPr>
        <p:spPr>
          <a:xfrm>
            <a:off x="5029200" y="1645920"/>
            <a:ext cx="3474720" cy="274320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Test F4 first failed. The wrong-guess counter was saved inside a database context, and the request then raised an error. SQLite rolls back when an exception leaves the context, so every failed guess was recorded and then undone: unlimited guessing. The fix commits state before the error propagates. Review would not have found it; the test did.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PERFORMANCE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Checks are cheap; the file ledger is the one that grows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26</a:t>
            </a:r>
          </a:p>
        </p:txBody>
      </p:sp>
      <p:pic>
        <p:nvPicPr>
          <p:cNvPr id="6" name="Picture 5" descr="bench.png"/>
          <p:cNvPicPr>
            <a:picLocks noChangeAspect="1"/>
          </p:cNvPicPr>
          <p:nvPr/>
        </p:nvPicPr>
        <p:blipFill>
          <a:blip r:embed="rId2"/>
          <a:stretch>
            <a:fillRect/>
          </a:stretch>
        </p:blipFill>
        <p:spPr>
          <a:xfrm>
            <a:off x="457200" y="1143000"/>
            <a:ext cx="4937760" cy="1920240"/>
          </a:xfrm>
          <a:prstGeom prst="rect">
            <a:avLst/>
          </a:prstGeom>
        </p:spPr>
      </p:pic>
      <p:graphicFrame>
        <p:nvGraphicFramePr>
          <p:cNvPr id="7" name="Table 6"/>
          <p:cNvGraphicFramePr>
            <a:graphicFrameLocks noGrp="1"/>
          </p:cNvGraphicFramePr>
          <p:nvPr/>
        </p:nvGraphicFramePr>
        <p:xfrm>
          <a:off x="457200" y="3246120"/>
          <a:ext cx="4937760" cy="1353312"/>
        </p:xfrm>
        <a:graphic>
          <a:graphicData uri="http://schemas.openxmlformats.org/drawingml/2006/table">
            <a:tbl>
              <a:tblPr firstRow="1" bandRow="1">
                <a:tableStyleId>{5C22544A-7EE6-4342-B048-85BDC9FD1C3A}</a:tableStyleId>
              </a:tblPr>
              <a:tblGrid>
                <a:gridCol w="1005840"/>
                <a:gridCol w="1371600"/>
                <a:gridCol w="1097280"/>
                <a:gridCol w="1463040"/>
              </a:tblGrid>
              <a:tr h="365760">
                <a:tc>
                  <a:txBody>
                    <a:bodyPr wrap="square"/>
                    <a:lstStyle/>
                    <a:p>
                      <a:r>
                        <a:rPr sz="1000" b="1" i="0">
                          <a:solidFill>
                            <a:srgbClr val="FFFFFF"/>
                          </a:solidFill>
                          <a:latin typeface="Inter"/>
                        </a:rPr>
                        <a:t>Ballots</a:t>
                      </a:r>
                    </a:p>
                  </a:txBody>
                  <a:tcPr marL="73152" marR="73152" marT="36576" marB="36576" anchor="ctr">
                    <a:solidFill>
                      <a:srgbClr val="1B2A55"/>
                    </a:solidFill>
                  </a:tcPr>
                </a:tc>
                <a:tc>
                  <a:txBody>
                    <a:bodyPr wrap="square"/>
                    <a:lstStyle/>
                    <a:p>
                      <a:r>
                        <a:rPr sz="1000" b="1" i="0">
                          <a:solidFill>
                            <a:srgbClr val="FFFFFF"/>
                          </a:solidFill>
                          <a:latin typeface="Inter"/>
                        </a:rPr>
                        <a:t>Cast ms (file)</a:t>
                      </a:r>
                    </a:p>
                  </a:txBody>
                  <a:tcPr marL="73152" marR="73152" marT="36576" marB="36576" anchor="ctr">
                    <a:solidFill>
                      <a:srgbClr val="1B2A55"/>
                    </a:solidFill>
                  </a:tcPr>
                </a:tc>
                <a:tc>
                  <a:txBody>
                    <a:bodyPr wrap="square"/>
                    <a:lstStyle/>
                    <a:p>
                      <a:r>
                        <a:rPr sz="1000" b="1" i="0">
                          <a:solidFill>
                            <a:srgbClr val="FFFFFF"/>
                          </a:solidFill>
                          <a:latin typeface="Inter"/>
                        </a:rPr>
                        <a:t>Sweep ms</a:t>
                      </a:r>
                    </a:p>
                  </a:txBody>
                  <a:tcPr marL="73152" marR="73152" marT="36576" marB="36576" anchor="ctr">
                    <a:solidFill>
                      <a:srgbClr val="1B2A55"/>
                    </a:solidFill>
                  </a:tcPr>
                </a:tc>
                <a:tc>
                  <a:txBody>
                    <a:bodyPr wrap="square"/>
                    <a:lstStyle/>
                    <a:p>
                      <a:r>
                        <a:rPr sz="1000" b="1" i="0">
                          <a:solidFill>
                            <a:srgbClr val="FFFFFF"/>
                          </a:solidFill>
                          <a:latin typeface="Inter"/>
                        </a:rPr>
                        <a:t>Atlas append ms</a:t>
                      </a:r>
                    </a:p>
                  </a:txBody>
                  <a:tcPr marL="73152" marR="73152" marT="36576" marB="36576" anchor="ctr">
                    <a:solidFill>
                      <a:srgbClr val="1B2A55"/>
                    </a:solidFill>
                  </a:tcPr>
                </a:tc>
              </a:tr>
              <a:tr h="329184">
                <a:tc>
                  <a:txBody>
                    <a:bodyPr wrap="square"/>
                    <a:lstStyle/>
                    <a:p>
                      <a:r>
                        <a:rPr sz="1000" b="1" i="0">
                          <a:solidFill>
                            <a:srgbClr val="1B2A55"/>
                          </a:solidFill>
                          <a:latin typeface="Inter"/>
                        </a:rPr>
                        <a:t>100</a:t>
                      </a:r>
                    </a:p>
                  </a:txBody>
                  <a:tcPr marL="73152" marR="73152" marT="36576" marB="36576" anchor="ctr">
                    <a:solidFill>
                      <a:srgbClr val="FFFFFF"/>
                    </a:solidFill>
                  </a:tcPr>
                </a:tc>
                <a:tc>
                  <a:txBody>
                    <a:bodyPr wrap="square"/>
                    <a:lstStyle/>
                    <a:p>
                      <a:r>
                        <a:rPr sz="1000" b="0" i="0">
                          <a:solidFill>
                            <a:srgbClr val="353B4A"/>
                          </a:solidFill>
                          <a:latin typeface="Inter"/>
                        </a:rPr>
                        <a:t>9</a:t>
                      </a:r>
                    </a:p>
                  </a:txBody>
                  <a:tcPr marL="73152" marR="73152" marT="36576" marB="36576" anchor="ctr">
                    <a:solidFill>
                      <a:srgbClr val="FFFFFF"/>
                    </a:solidFill>
                  </a:tcPr>
                </a:tc>
                <a:tc>
                  <a:txBody>
                    <a:bodyPr wrap="square"/>
                    <a:lstStyle/>
                    <a:p>
                      <a:r>
                        <a:rPr sz="1000" b="0" i="0">
                          <a:solidFill>
                            <a:srgbClr val="353B4A"/>
                          </a:solidFill>
                          <a:latin typeface="Inter"/>
                        </a:rPr>
                        <a:t>4</a:t>
                      </a:r>
                    </a:p>
                  </a:txBody>
                  <a:tcPr marL="73152" marR="73152" marT="36576" marB="36576" anchor="ctr">
                    <a:solidFill>
                      <a:srgbClr val="FFFFFF"/>
                    </a:solidFill>
                  </a:tcPr>
                </a:tc>
                <a:tc>
                  <a:txBody>
                    <a:bodyPr wrap="square"/>
                    <a:lstStyle/>
                    <a:p>
                      <a:r>
                        <a:rPr sz="1000" b="0" i="0">
                          <a:solidFill>
                            <a:srgbClr val="353B4A"/>
                          </a:solidFill>
                          <a:latin typeface="Inter"/>
                        </a:rPr>
                        <a:t>136</a:t>
                      </a:r>
                    </a:p>
                  </a:txBody>
                  <a:tcPr marL="73152" marR="73152" marT="36576" marB="36576" anchor="ctr">
                    <a:solidFill>
                      <a:srgbClr val="FFFFFF"/>
                    </a:solidFill>
                  </a:tcPr>
                </a:tc>
              </a:tr>
              <a:tr h="329184">
                <a:tc>
                  <a:txBody>
                    <a:bodyPr wrap="square"/>
                    <a:lstStyle/>
                    <a:p>
                      <a:r>
                        <a:rPr sz="1000" b="1" i="0">
                          <a:solidFill>
                            <a:srgbClr val="1B2A55"/>
                          </a:solidFill>
                          <a:latin typeface="Inter"/>
                        </a:rPr>
                        <a:t>1,000</a:t>
                      </a:r>
                    </a:p>
                  </a:txBody>
                  <a:tcPr marL="73152" marR="73152" marT="36576" marB="36576" anchor="ctr">
                    <a:solidFill>
                      <a:srgbClr val="F1F0F6"/>
                    </a:solidFill>
                  </a:tcPr>
                </a:tc>
                <a:tc>
                  <a:txBody>
                    <a:bodyPr wrap="square"/>
                    <a:lstStyle/>
                    <a:p>
                      <a:r>
                        <a:rPr sz="1000" b="0" i="0">
                          <a:solidFill>
                            <a:srgbClr val="353B4A"/>
                          </a:solidFill>
                          <a:latin typeface="Inter"/>
                        </a:rPr>
                        <a:t>33</a:t>
                      </a:r>
                    </a:p>
                  </a:txBody>
                  <a:tcPr marL="73152" marR="73152" marT="36576" marB="36576" anchor="ctr">
                    <a:solidFill>
                      <a:srgbClr val="F1F0F6"/>
                    </a:solidFill>
                  </a:tcPr>
                </a:tc>
                <a:tc>
                  <a:txBody>
                    <a:bodyPr wrap="square"/>
                    <a:lstStyle/>
                    <a:p>
                      <a:r>
                        <a:rPr sz="1000" b="0" i="0">
                          <a:solidFill>
                            <a:srgbClr val="353B4A"/>
                          </a:solidFill>
                          <a:latin typeface="Inter"/>
                        </a:rPr>
                        <a:t>12</a:t>
                      </a:r>
                    </a:p>
                  </a:txBody>
                  <a:tcPr marL="73152" marR="73152" marT="36576" marB="36576" anchor="ctr">
                    <a:solidFill>
                      <a:srgbClr val="F1F0F6"/>
                    </a:solidFill>
                  </a:tcPr>
                </a:tc>
                <a:tc>
                  <a:txBody>
                    <a:bodyPr wrap="square"/>
                    <a:lstStyle/>
                    <a:p>
                      <a:r>
                        <a:rPr sz="1000" b="0" i="0">
                          <a:solidFill>
                            <a:srgbClr val="353B4A"/>
                          </a:solidFill>
                          <a:latin typeface="Inter"/>
                        </a:rPr>
                        <a:t>147</a:t>
                      </a:r>
                    </a:p>
                  </a:txBody>
                  <a:tcPr marL="73152" marR="73152" marT="36576" marB="36576" anchor="ctr">
                    <a:solidFill>
                      <a:srgbClr val="F1F0F6"/>
                    </a:solidFill>
                  </a:tcPr>
                </a:tc>
              </a:tr>
              <a:tr h="329184">
                <a:tc>
                  <a:txBody>
                    <a:bodyPr wrap="square"/>
                    <a:lstStyle/>
                    <a:p>
                      <a:r>
                        <a:rPr sz="1000" b="1" i="0">
                          <a:solidFill>
                            <a:srgbClr val="1B2A55"/>
                          </a:solidFill>
                          <a:latin typeface="Inter"/>
                        </a:rPr>
                        <a:t>10,000</a:t>
                      </a:r>
                    </a:p>
                  </a:txBody>
                  <a:tcPr marL="73152" marR="73152" marT="36576" marB="36576" anchor="ctr">
                    <a:solidFill>
                      <a:srgbClr val="FFFFFF"/>
                    </a:solidFill>
                  </a:tcPr>
                </a:tc>
                <a:tc>
                  <a:txBody>
                    <a:bodyPr wrap="square"/>
                    <a:lstStyle/>
                    <a:p>
                      <a:r>
                        <a:rPr sz="1000" b="0" i="0">
                          <a:solidFill>
                            <a:srgbClr val="353B4A"/>
                          </a:solidFill>
                          <a:latin typeface="Inter"/>
                        </a:rPr>
                        <a:t>205</a:t>
                      </a:r>
                    </a:p>
                  </a:txBody>
                  <a:tcPr marL="73152" marR="73152" marT="36576" marB="36576" anchor="ctr">
                    <a:solidFill>
                      <a:srgbClr val="FFFFFF"/>
                    </a:solidFill>
                  </a:tcPr>
                </a:tc>
                <a:tc>
                  <a:txBody>
                    <a:bodyPr wrap="square"/>
                    <a:lstStyle/>
                    <a:p>
                      <a:r>
                        <a:rPr sz="1000" b="0" i="0">
                          <a:solidFill>
                            <a:srgbClr val="353B4A"/>
                          </a:solidFill>
                          <a:latin typeface="Inter"/>
                        </a:rPr>
                        <a:t>147</a:t>
                      </a:r>
                    </a:p>
                  </a:txBody>
                  <a:tcPr marL="73152" marR="73152" marT="36576" marB="36576" anchor="ctr">
                    <a:solidFill>
                      <a:srgbClr val="FFFFFF"/>
                    </a:solidFill>
                  </a:tcPr>
                </a:tc>
                <a:tc>
                  <a:txBody>
                    <a:bodyPr wrap="square"/>
                    <a:lstStyle/>
                    <a:p>
                      <a:r>
                        <a:rPr sz="1000" b="0" i="0">
                          <a:solidFill>
                            <a:srgbClr val="353B4A"/>
                          </a:solidFill>
                          <a:latin typeface="Inter"/>
                        </a:rPr>
                        <a:t>139</a:t>
                      </a:r>
                    </a:p>
                  </a:txBody>
                  <a:tcPr marL="73152" marR="73152" marT="36576" marB="36576" anchor="ctr">
                    <a:solidFill>
                      <a:srgbClr val="FFFFFF"/>
                    </a:solidFill>
                  </a:tcPr>
                </a:tc>
              </a:tr>
            </a:tbl>
          </a:graphicData>
        </a:graphic>
      </p:graphicFrame>
      <p:sp>
        <p:nvSpPr>
          <p:cNvPr id="8" name="TextBox 7"/>
          <p:cNvSpPr txBox="1"/>
          <p:nvPr/>
        </p:nvSpPr>
        <p:spPr>
          <a:xfrm>
            <a:off x="5669280" y="1188720"/>
            <a:ext cx="3017520" cy="3474720"/>
          </a:xfrm>
          <a:prstGeom prst="rect">
            <a:avLst/>
          </a:prstGeom>
          <a:noFill/>
        </p:spPr>
        <p:txBody>
          <a:bodyPr wrap="square" anchor="t" lIns="0" rIns="0" tIns="0" bIns="0">
            <a:spAutoFit/>
          </a:bodyPr>
          <a:lstStyle/>
          <a:p>
            <a:pPr algn="l">
              <a:spcAft>
                <a:spcPts val="500"/>
              </a:spcAft>
            </a:pPr>
            <a:r>
              <a:rPr sz="1050" b="1" i="0">
                <a:solidFill>
                  <a:srgbClr val="1B2A55"/>
                </a:solidFill>
                <a:latin typeface="Inter"/>
              </a:rPr>
              <a:t>•  </a:t>
            </a:r>
            <a:r>
              <a:rPr sz="1050" b="0" i="0">
                <a:solidFill>
                  <a:srgbClr val="353B4A"/>
                </a:solidFill>
                <a:latin typeface="Inter"/>
              </a:rPr>
              <a:t>Sweep at 10,000 ballots: 147 ms, about 15% slower than before.</a:t>
            </a:r>
          </a:p>
          <a:p>
            <a:pPr algn="l">
              <a:spcAft>
                <a:spcPts val="500"/>
              </a:spcAft>
            </a:pPr>
            <a:r>
              <a:rPr sz="1050" b="1" i="0">
                <a:solidFill>
                  <a:srgbClr val="1B2A55"/>
                </a:solidFill>
                <a:latin typeface="Inter"/>
              </a:rPr>
              <a:t>•  </a:t>
            </a:r>
            <a:r>
              <a:rPr sz="1050" b="0" i="0">
                <a:solidFill>
                  <a:srgbClr val="353B4A"/>
                </a:solidFill>
                <a:latin typeface="Inter"/>
              </a:rPr>
              <a:t>File ledger: a cast grows from 9 to 205 ms because each append rewrites the file.</a:t>
            </a:r>
          </a:p>
          <a:p>
            <a:pPr algn="l">
              <a:spcAft>
                <a:spcPts val="500"/>
              </a:spcAft>
            </a:pPr>
            <a:r>
              <a:rPr sz="1050" b="1" i="0">
                <a:solidFill>
                  <a:srgbClr val="1B2A55"/>
                </a:solidFill>
                <a:latin typeface="Inter"/>
              </a:rPr>
              <a:t>•  </a:t>
            </a:r>
            <a:r>
              <a:rPr sz="1050" b="0" i="0">
                <a:solidFill>
                  <a:srgbClr val="353B4A"/>
                </a:solidFill>
                <a:latin typeface="Inter"/>
              </a:rPr>
              <a:t>Atlas: about 147 ms at any size (network round trip).</a:t>
            </a:r>
          </a:p>
          <a:p>
            <a:pPr algn="l">
              <a:spcAft>
                <a:spcPts val="500"/>
              </a:spcAft>
            </a:pPr>
            <a:r>
              <a:rPr sz="1050" b="1" i="0">
                <a:solidFill>
                  <a:srgbClr val="1B2A55"/>
                </a:solidFill>
                <a:latin typeface="Inter"/>
              </a:rPr>
              <a:t>•  </a:t>
            </a:r>
            <a:r>
              <a:rPr sz="1050" b="0" i="0">
                <a:solidFill>
                  <a:srgbClr val="353B4A"/>
                </a:solidFill>
                <a:latin typeface="Inter"/>
              </a:rPr>
              <a:t>The file is faster when small; Atlas wins on flat growth, concurrency control and living off-machine.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COMPARATIVE STUDY · SCOPE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We compared PolyVote with 33 systems in five groups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27</a:t>
            </a:r>
          </a:p>
        </p:txBody>
      </p:sp>
      <p:sp>
        <p:nvSpPr>
          <p:cNvPr id="6" name="Rounded Rectangle 5"/>
          <p:cNvSpPr/>
          <p:nvPr/>
        </p:nvSpPr>
        <p:spPr>
          <a:xfrm>
            <a:off x="457200" y="1097280"/>
            <a:ext cx="2587752" cy="14173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88720"/>
            <a:ext cx="731520" cy="457200"/>
          </a:xfrm>
          <a:prstGeom prst="rect">
            <a:avLst/>
          </a:prstGeom>
          <a:noFill/>
        </p:spPr>
        <p:txBody>
          <a:bodyPr wrap="square" anchor="t" lIns="0" rIns="0" tIns="0" bIns="0">
            <a:spAutoFit/>
          </a:bodyPr>
          <a:lstStyle/>
          <a:p>
            <a:pPr algn="l">
              <a:spcAft>
                <a:spcPts val="0"/>
              </a:spcAft>
            </a:pPr>
            <a:r>
              <a:rPr sz="2400" b="1" i="0">
                <a:solidFill>
                  <a:srgbClr val="1B2A55"/>
                </a:solidFill>
                <a:latin typeface="Inter"/>
              </a:rPr>
              <a:t>8</a:t>
            </a:r>
          </a:p>
        </p:txBody>
      </p:sp>
      <p:sp>
        <p:nvSpPr>
          <p:cNvPr id="8" name="TextBox 7"/>
          <p:cNvSpPr txBox="1"/>
          <p:nvPr/>
        </p:nvSpPr>
        <p:spPr>
          <a:xfrm>
            <a:off x="1325880" y="1225295"/>
            <a:ext cx="1600200" cy="457200"/>
          </a:xfrm>
          <a:prstGeom prst="rect">
            <a:avLst/>
          </a:prstGeom>
          <a:noFill/>
        </p:spPr>
        <p:txBody>
          <a:bodyPr wrap="square" anchor="ctr" lIns="0" rIns="0" tIns="0" bIns="0">
            <a:spAutoFit/>
          </a:bodyPr>
          <a:lstStyle/>
          <a:p>
            <a:pPr algn="l">
              <a:spcAft>
                <a:spcPts val="0"/>
              </a:spcAft>
            </a:pPr>
            <a:r>
              <a:rPr sz="1100" b="1" i="0">
                <a:solidFill>
                  <a:srgbClr val="1B2A55"/>
                </a:solidFill>
                <a:latin typeface="Inter"/>
              </a:rPr>
              <a:t>Verifiable and research</a:t>
            </a:r>
          </a:p>
        </p:txBody>
      </p:sp>
      <p:sp>
        <p:nvSpPr>
          <p:cNvPr id="9" name="TextBox 8"/>
          <p:cNvSpPr txBox="1"/>
          <p:nvPr/>
        </p:nvSpPr>
        <p:spPr>
          <a:xfrm>
            <a:off x="640080" y="1755648"/>
            <a:ext cx="224028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Helios, Belenios, Civitas, ElectionGuard, Zeus, Verificatum, Vocdoni, Aragon</a:t>
            </a:r>
          </a:p>
        </p:txBody>
      </p:sp>
      <p:sp>
        <p:nvSpPr>
          <p:cNvPr id="10" name="Rounded Rectangle 9"/>
          <p:cNvSpPr/>
          <p:nvPr/>
        </p:nvSpPr>
        <p:spPr>
          <a:xfrm>
            <a:off x="3282696" y="1097280"/>
            <a:ext cx="2587752" cy="14173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5576" y="1188720"/>
            <a:ext cx="731520" cy="457200"/>
          </a:xfrm>
          <a:prstGeom prst="rect">
            <a:avLst/>
          </a:prstGeom>
          <a:noFill/>
        </p:spPr>
        <p:txBody>
          <a:bodyPr wrap="square" anchor="t" lIns="0" rIns="0" tIns="0" bIns="0">
            <a:spAutoFit/>
          </a:bodyPr>
          <a:lstStyle/>
          <a:p>
            <a:pPr algn="l">
              <a:spcAft>
                <a:spcPts val="0"/>
              </a:spcAft>
            </a:pPr>
            <a:r>
              <a:rPr sz="2400" b="1" i="0">
                <a:solidFill>
                  <a:srgbClr val="1B2A55"/>
                </a:solidFill>
                <a:latin typeface="Inter"/>
              </a:rPr>
              <a:t>10</a:t>
            </a:r>
          </a:p>
        </p:txBody>
      </p:sp>
      <p:sp>
        <p:nvSpPr>
          <p:cNvPr id="12" name="TextBox 11"/>
          <p:cNvSpPr txBox="1"/>
          <p:nvPr/>
        </p:nvSpPr>
        <p:spPr>
          <a:xfrm>
            <a:off x="4151376" y="1225295"/>
            <a:ext cx="1600200" cy="457200"/>
          </a:xfrm>
          <a:prstGeom prst="rect">
            <a:avLst/>
          </a:prstGeom>
          <a:noFill/>
        </p:spPr>
        <p:txBody>
          <a:bodyPr wrap="square" anchor="ctr" lIns="0" rIns="0" tIns="0" bIns="0">
            <a:spAutoFit/>
          </a:bodyPr>
          <a:lstStyle/>
          <a:p>
            <a:pPr algn="l">
              <a:spcAft>
                <a:spcPts val="0"/>
              </a:spcAft>
            </a:pPr>
            <a:r>
              <a:rPr sz="1100" b="1" i="0">
                <a:solidFill>
                  <a:srgbClr val="1B2A55"/>
                </a:solidFill>
                <a:latin typeface="Inter"/>
              </a:rPr>
              <a:t>Web services and form tools</a:t>
            </a:r>
          </a:p>
        </p:txBody>
      </p:sp>
      <p:sp>
        <p:nvSpPr>
          <p:cNvPr id="13" name="TextBox 12"/>
          <p:cNvSpPr txBox="1"/>
          <p:nvPr/>
        </p:nvSpPr>
        <p:spPr>
          <a:xfrm>
            <a:off x="3465576" y="1755648"/>
            <a:ext cx="224028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CIVS, OpaVote, ElectionBuddy, Simply Voting, Election Runner, TapVoter, RankedVote, BetterVoting, Google and Microsoft Forms</a:t>
            </a:r>
          </a:p>
        </p:txBody>
      </p:sp>
      <p:sp>
        <p:nvSpPr>
          <p:cNvPr id="14" name="Rounded Rectangle 13"/>
          <p:cNvSpPr/>
          <p:nvPr/>
        </p:nvSpPr>
        <p:spPr>
          <a:xfrm>
            <a:off x="6108192" y="1097280"/>
            <a:ext cx="2587752" cy="14173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188720"/>
            <a:ext cx="731520" cy="457200"/>
          </a:xfrm>
          <a:prstGeom prst="rect">
            <a:avLst/>
          </a:prstGeom>
          <a:noFill/>
        </p:spPr>
        <p:txBody>
          <a:bodyPr wrap="square" anchor="t" lIns="0" rIns="0" tIns="0" bIns="0">
            <a:spAutoFit/>
          </a:bodyPr>
          <a:lstStyle/>
          <a:p>
            <a:pPr algn="l">
              <a:spcAft>
                <a:spcPts val="0"/>
              </a:spcAft>
            </a:pPr>
            <a:r>
              <a:rPr sz="2400" b="1" i="0">
                <a:solidFill>
                  <a:srgbClr val="1B2A55"/>
                </a:solidFill>
                <a:latin typeface="Inter"/>
              </a:rPr>
              <a:t>2</a:t>
            </a:r>
          </a:p>
        </p:txBody>
      </p:sp>
      <p:sp>
        <p:nvSpPr>
          <p:cNvPr id="16" name="TextBox 15"/>
          <p:cNvSpPr txBox="1"/>
          <p:nvPr/>
        </p:nvSpPr>
        <p:spPr>
          <a:xfrm>
            <a:off x="6976872" y="1225295"/>
            <a:ext cx="1600200" cy="457200"/>
          </a:xfrm>
          <a:prstGeom prst="rect">
            <a:avLst/>
          </a:prstGeom>
          <a:noFill/>
        </p:spPr>
        <p:txBody>
          <a:bodyPr wrap="square" anchor="ctr" lIns="0" rIns="0" tIns="0" bIns="0">
            <a:spAutoFit/>
          </a:bodyPr>
          <a:lstStyle/>
          <a:p>
            <a:pPr algn="l">
              <a:spcAft>
                <a:spcPts val="0"/>
              </a:spcAft>
            </a:pPr>
            <a:r>
              <a:rPr sz="1100" b="1" i="0">
                <a:solidFill>
                  <a:srgbClr val="1B2A55"/>
                </a:solidFill>
                <a:latin typeface="Inter"/>
              </a:rPr>
              <a:t>Independent analyses</a:t>
            </a:r>
          </a:p>
        </p:txBody>
      </p:sp>
      <p:sp>
        <p:nvSpPr>
          <p:cNvPr id="17" name="TextBox 16"/>
          <p:cNvSpPr txBox="1"/>
          <p:nvPr/>
        </p:nvSpPr>
        <p:spPr>
          <a:xfrm>
            <a:off x="6291072" y="1755648"/>
            <a:ext cx="224028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Voatz (USENIX 2020) and Democracy Live (USENIX 2021)</a:t>
            </a:r>
          </a:p>
        </p:txBody>
      </p:sp>
      <p:sp>
        <p:nvSpPr>
          <p:cNvPr id="18" name="Rounded Rectangle 17"/>
          <p:cNvSpPr/>
          <p:nvPr/>
        </p:nvSpPr>
        <p:spPr>
          <a:xfrm>
            <a:off x="457200" y="2697480"/>
            <a:ext cx="2587752" cy="14173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788920"/>
            <a:ext cx="731520" cy="457200"/>
          </a:xfrm>
          <a:prstGeom prst="rect">
            <a:avLst/>
          </a:prstGeom>
          <a:noFill/>
        </p:spPr>
        <p:txBody>
          <a:bodyPr wrap="square" anchor="t" lIns="0" rIns="0" tIns="0" bIns="0">
            <a:spAutoFit/>
          </a:bodyPr>
          <a:lstStyle/>
          <a:p>
            <a:pPr algn="l">
              <a:spcAft>
                <a:spcPts val="0"/>
              </a:spcAft>
            </a:pPr>
            <a:r>
              <a:rPr sz="2400" b="1" i="0">
                <a:solidFill>
                  <a:srgbClr val="1B2A55"/>
                </a:solidFill>
                <a:latin typeface="Inter"/>
              </a:rPr>
              <a:t>2</a:t>
            </a:r>
          </a:p>
        </p:txBody>
      </p:sp>
      <p:sp>
        <p:nvSpPr>
          <p:cNvPr id="20" name="TextBox 19"/>
          <p:cNvSpPr txBox="1"/>
          <p:nvPr/>
        </p:nvSpPr>
        <p:spPr>
          <a:xfrm>
            <a:off x="1325880" y="2825496"/>
            <a:ext cx="1600200" cy="457200"/>
          </a:xfrm>
          <a:prstGeom prst="rect">
            <a:avLst/>
          </a:prstGeom>
          <a:noFill/>
        </p:spPr>
        <p:txBody>
          <a:bodyPr wrap="square" anchor="ctr" lIns="0" rIns="0" tIns="0" bIns="0">
            <a:spAutoFit/>
          </a:bodyPr>
          <a:lstStyle/>
          <a:p>
            <a:pPr algn="l">
              <a:spcAft>
                <a:spcPts val="0"/>
              </a:spcAft>
            </a:pPr>
            <a:r>
              <a:rPr sz="1100" b="1" i="0">
                <a:solidFill>
                  <a:srgbClr val="1B2A55"/>
                </a:solidFill>
                <a:latin typeface="Inter"/>
              </a:rPr>
              <a:t>Civic platforms</a:t>
            </a:r>
          </a:p>
        </p:txBody>
      </p:sp>
      <p:sp>
        <p:nvSpPr>
          <p:cNvPr id="21" name="TextBox 20"/>
          <p:cNvSpPr txBox="1"/>
          <p:nvPr/>
        </p:nvSpPr>
        <p:spPr>
          <a:xfrm>
            <a:off x="640080" y="3355848"/>
            <a:ext cx="224028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Decidim and Consul Democracy</a:t>
            </a:r>
          </a:p>
        </p:txBody>
      </p:sp>
      <p:sp>
        <p:nvSpPr>
          <p:cNvPr id="22" name="Rounded Rectangle 21"/>
          <p:cNvSpPr/>
          <p:nvPr/>
        </p:nvSpPr>
        <p:spPr>
          <a:xfrm>
            <a:off x="3282696" y="2697480"/>
            <a:ext cx="2587752" cy="14173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65576" y="2788920"/>
            <a:ext cx="731520" cy="457200"/>
          </a:xfrm>
          <a:prstGeom prst="rect">
            <a:avLst/>
          </a:prstGeom>
          <a:noFill/>
        </p:spPr>
        <p:txBody>
          <a:bodyPr wrap="square" anchor="t" lIns="0" rIns="0" tIns="0" bIns="0">
            <a:spAutoFit/>
          </a:bodyPr>
          <a:lstStyle/>
          <a:p>
            <a:pPr algn="l">
              <a:spcAft>
                <a:spcPts val="0"/>
              </a:spcAft>
            </a:pPr>
            <a:r>
              <a:rPr sz="2400" b="1" i="0">
                <a:solidFill>
                  <a:srgbClr val="1B2A55"/>
                </a:solidFill>
                <a:latin typeface="Inter"/>
              </a:rPr>
              <a:t>11</a:t>
            </a:r>
          </a:p>
        </p:txBody>
      </p:sp>
      <p:sp>
        <p:nvSpPr>
          <p:cNvPr id="24" name="TextBox 23"/>
          <p:cNvSpPr txBox="1"/>
          <p:nvPr/>
        </p:nvSpPr>
        <p:spPr>
          <a:xfrm>
            <a:off x="4151376" y="2825496"/>
            <a:ext cx="1600200" cy="457200"/>
          </a:xfrm>
          <a:prstGeom prst="rect">
            <a:avLst/>
          </a:prstGeom>
          <a:noFill/>
        </p:spPr>
        <p:txBody>
          <a:bodyPr wrap="square" anchor="ctr" lIns="0" rIns="0" tIns="0" bIns="0">
            <a:spAutoFit/>
          </a:bodyPr>
          <a:lstStyle/>
          <a:p>
            <a:pPr algn="l">
              <a:spcAft>
                <a:spcPts val="0"/>
              </a:spcAft>
            </a:pPr>
            <a:r>
              <a:rPr sz="1100" b="1" i="0">
                <a:solidFill>
                  <a:srgbClr val="1B2A55"/>
                </a:solidFill>
                <a:latin typeface="Inter"/>
              </a:rPr>
              <a:t>Open-source student projects</a:t>
            </a:r>
          </a:p>
        </p:txBody>
      </p:sp>
      <p:sp>
        <p:nvSpPr>
          <p:cNvPr id="25" name="TextBox 24"/>
          <p:cNvSpPr txBox="1"/>
          <p:nvPr/>
        </p:nvSpPr>
        <p:spPr>
          <a:xfrm>
            <a:off x="3465576" y="3355848"/>
            <a:ext cx="224028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FlexyVotes, VeriVote and nine other GitHub repositories</a:t>
            </a:r>
          </a:p>
        </p:txBody>
      </p:sp>
      <p:sp>
        <p:nvSpPr>
          <p:cNvPr id="26" name="Rounded Rectangle 25"/>
          <p:cNvSpPr/>
          <p:nvPr/>
        </p:nvSpPr>
        <p:spPr>
          <a:xfrm>
            <a:off x="6108192" y="2697480"/>
            <a:ext cx="2587752" cy="141732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1072" y="2770632"/>
            <a:ext cx="2240280" cy="1325880"/>
          </a:xfrm>
          <a:prstGeom prst="rect">
            <a:avLst/>
          </a:prstGeom>
          <a:noFill/>
        </p:spPr>
        <p:txBody>
          <a:bodyPr wrap="square" anchor="t" lIns="0" rIns="0" tIns="0" bIns="0">
            <a:spAutoFit/>
          </a:bodyPr>
          <a:lstStyle/>
          <a:p>
            <a:pPr algn="l">
              <a:spcAft>
                <a:spcPts val="300"/>
              </a:spcAft>
            </a:pPr>
            <a:r>
              <a:rPr sz="1100" b="1" i="0">
                <a:solidFill>
                  <a:srgbClr val="1B2A55"/>
                </a:solidFill>
                <a:latin typeface="Inter"/>
              </a:rPr>
              <a:t>How</a:t>
            </a:r>
          </a:p>
          <a:p>
            <a:pPr algn="l">
              <a:spcAft>
                <a:spcPts val="300"/>
              </a:spcAft>
            </a:pPr>
            <a:r>
              <a:rPr sz="950" b="0" i="0">
                <a:solidFill>
                  <a:srgbClr val="353B4A"/>
                </a:solidFill>
                <a:latin typeface="Inter"/>
              </a:rPr>
              <a:t>We read each project's own page, README or paper (23 web queries, 20 GitHub searches, 23 Oct 2026). A feature counts only if it is documented. "Not documented" is not proof of absence.</a:t>
            </a:r>
          </a:p>
        </p:txBody>
      </p:sp>
      <p:sp>
        <p:nvSpPr>
          <p:cNvPr id="28" name="TextBox 27"/>
          <p:cNvSpPr txBox="1"/>
          <p:nvPr/>
        </p:nvSpPr>
        <p:spPr>
          <a:xfrm>
            <a:off x="457200" y="4343400"/>
            <a:ext cx="8229600" cy="457200"/>
          </a:xfrm>
          <a:prstGeom prst="rect">
            <a:avLst/>
          </a:prstGeom>
          <a:noFill/>
        </p:spPr>
        <p:txBody>
          <a:bodyPr wrap="square" anchor="t" lIns="0" rIns="0" tIns="0" bIns="0">
            <a:spAutoFit/>
          </a:bodyPr>
          <a:lstStyle/>
          <a:p>
            <a:pPr algn="l">
              <a:spcAft>
                <a:spcPts val="0"/>
              </a:spcAft>
            </a:pPr>
            <a:r>
              <a:rPr sz="1050" b="1" i="0">
                <a:solidFill>
                  <a:srgbClr val="1B2A55"/>
                </a:solidFill>
                <a:latin typeface="Inter"/>
              </a:rPr>
              <a:t>We did not run these systems. Every cell has a source URL in the evidence file; PolyVote's own cells rest on the tests in this deck.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COMPARATIVE STUDY · THE NINE FEATURES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Nine features, each with a way to test it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28</a:t>
            </a:r>
          </a:p>
        </p:txBody>
      </p:sp>
      <p:graphicFrame>
        <p:nvGraphicFramePr>
          <p:cNvPr id="6" name="Table 5"/>
          <p:cNvGraphicFramePr>
            <a:graphicFrameLocks noGrp="1"/>
          </p:cNvGraphicFramePr>
          <p:nvPr/>
        </p:nvGraphicFramePr>
        <p:xfrm>
          <a:off x="457200" y="1024128"/>
          <a:ext cx="8229599" cy="3566160"/>
        </p:xfrm>
        <a:graphic>
          <a:graphicData uri="http://schemas.openxmlformats.org/drawingml/2006/table">
            <a:tbl>
              <a:tblPr firstRow="1" bandRow="1">
                <a:tableStyleId>{5C22544A-7EE6-4342-B048-85BDC9FD1C3A}</a:tableStyleId>
              </a:tblPr>
              <a:tblGrid>
                <a:gridCol w="411479"/>
                <a:gridCol w="3657600"/>
                <a:gridCol w="4160520"/>
              </a:tblGrid>
              <a:tr h="274320">
                <a:tc>
                  <a:txBody>
                    <a:bodyPr wrap="square"/>
                    <a:lstStyle/>
                    <a:p>
                      <a:r>
                        <a:rPr sz="950" b="1" i="0">
                          <a:solidFill>
                            <a:srgbClr val="FFFFFF"/>
                          </a:solidFill>
                          <a:latin typeface="Inter"/>
                        </a:rPr>
                        <a:t/>
                      </a:r>
                    </a:p>
                  </a:txBody>
                  <a:tcPr marL="73152" marR="73152" marT="36576" marB="36576" anchor="ctr">
                    <a:solidFill>
                      <a:srgbClr val="1B2A55"/>
                    </a:solidFill>
                  </a:tcPr>
                </a:tc>
                <a:tc>
                  <a:txBody>
                    <a:bodyPr wrap="square"/>
                    <a:lstStyle/>
                    <a:p>
                      <a:r>
                        <a:rPr sz="950" b="1" i="0">
                          <a:solidFill>
                            <a:srgbClr val="FFFFFF"/>
                          </a:solidFill>
                          <a:latin typeface="Inter"/>
                        </a:rPr>
                        <a:t>Feature</a:t>
                      </a:r>
                    </a:p>
                  </a:txBody>
                  <a:tcPr marL="73152" marR="73152" marT="36576" marB="36576" anchor="ctr">
                    <a:solidFill>
                      <a:srgbClr val="1B2A55"/>
                    </a:solidFill>
                  </a:tcPr>
                </a:tc>
                <a:tc>
                  <a:txBody>
                    <a:bodyPr wrap="square"/>
                    <a:lstStyle/>
                    <a:p>
                      <a:r>
                        <a:rPr sz="950" b="1" i="0">
                          <a:solidFill>
                            <a:srgbClr val="FFFFFF"/>
                          </a:solidFill>
                          <a:latin typeface="Inter"/>
                        </a:rPr>
                        <a:t>How we prove PolyVote has it</a:t>
                      </a:r>
                    </a:p>
                  </a:txBody>
                  <a:tcPr marL="73152" marR="73152" marT="36576" marB="36576" anchor="ctr">
                    <a:solidFill>
                      <a:srgbClr val="1B2A55"/>
                    </a:solidFill>
                  </a:tcPr>
                </a:tc>
              </a:tr>
              <a:tr h="365760">
                <a:tc>
                  <a:txBody>
                    <a:bodyPr wrap="square"/>
                    <a:lstStyle/>
                    <a:p>
                      <a:r>
                        <a:rPr sz="900" b="1" i="0">
                          <a:solidFill>
                            <a:srgbClr val="1B2A55"/>
                          </a:solidFill>
                          <a:latin typeface="Inter"/>
                        </a:rPr>
                        <a:t>F1</a:t>
                      </a:r>
                    </a:p>
                  </a:txBody>
                  <a:tcPr marL="73152" marR="73152" marT="36576" marB="36576" anchor="ctr">
                    <a:solidFill>
                      <a:srgbClr val="FFFFFF"/>
                    </a:solidFill>
                  </a:tcPr>
                </a:tc>
                <a:tc>
                  <a:txBody>
                    <a:bodyPr wrap="square"/>
                    <a:lstStyle/>
                    <a:p>
                      <a:r>
                        <a:rPr sz="900" b="0" i="0">
                          <a:solidFill>
                            <a:srgbClr val="353B4A"/>
                          </a:solidFill>
                          <a:latin typeface="Inter"/>
                        </a:rPr>
                        <a:t>Ranked-choice counting with a round-by-round transcript</a:t>
                      </a:r>
                    </a:p>
                  </a:txBody>
                  <a:tcPr marL="73152" marR="73152" marT="36576" marB="36576" anchor="ctr">
                    <a:solidFill>
                      <a:srgbClr val="FFFFFF"/>
                    </a:solidFill>
                  </a:tcPr>
                </a:tc>
                <a:tc>
                  <a:txBody>
                    <a:bodyPr wrap="square"/>
                    <a:lstStyle/>
                    <a:p>
                      <a:r>
                        <a:rPr sz="900" b="0" i="0">
                          <a:solidFill>
                            <a:srgbClr val="353B4A"/>
                          </a:solidFill>
                          <a:latin typeface="Inter"/>
                        </a:rPr>
                        <a:t>46-ballot election, 5 rounds shown, tie flagged</a:t>
                      </a:r>
                    </a:p>
                  </a:txBody>
                  <a:tcPr marL="73152" marR="73152" marT="36576" marB="36576" anchor="ctr">
                    <a:solidFill>
                      <a:srgbClr val="FFFFFF"/>
                    </a:solidFill>
                  </a:tcPr>
                </a:tc>
              </a:tr>
              <a:tr h="365760">
                <a:tc>
                  <a:txBody>
                    <a:bodyPr wrap="square"/>
                    <a:lstStyle/>
                    <a:p>
                      <a:r>
                        <a:rPr sz="900" b="1" i="0">
                          <a:solidFill>
                            <a:srgbClr val="1B2A55"/>
                          </a:solidFill>
                          <a:latin typeface="Inter"/>
                        </a:rPr>
                        <a:t>F2</a:t>
                      </a:r>
                    </a:p>
                  </a:txBody>
                  <a:tcPr marL="73152" marR="73152" marT="36576" marB="36576" anchor="ctr">
                    <a:solidFill>
                      <a:srgbClr val="F1F0F6"/>
                    </a:solidFill>
                  </a:tcPr>
                </a:tc>
                <a:tc>
                  <a:txBody>
                    <a:bodyPr wrap="square"/>
                    <a:lstStyle/>
                    <a:p>
                      <a:r>
                        <a:rPr sz="900" b="0" i="0">
                          <a:solidFill>
                            <a:srgbClr val="353B4A"/>
                          </a:solidFill>
                          <a:latin typeface="Inter"/>
                        </a:rPr>
                        <a:t>Many organisations on one install</a:t>
                      </a:r>
                    </a:p>
                  </a:txBody>
                  <a:tcPr marL="73152" marR="73152" marT="36576" marB="36576" anchor="ctr">
                    <a:solidFill>
                      <a:srgbClr val="F1F0F6"/>
                    </a:solidFill>
                  </a:tcPr>
                </a:tc>
                <a:tc>
                  <a:txBody>
                    <a:bodyPr wrap="square"/>
                    <a:lstStyle/>
                    <a:p>
                      <a:r>
                        <a:rPr sz="900" b="0" i="0">
                          <a:solidFill>
                            <a:srgbClr val="353B4A"/>
                          </a:solidFill>
                          <a:latin typeface="Inter"/>
                        </a:rPr>
                        <a:t>Tests B8 and B13</a:t>
                      </a:r>
                    </a:p>
                  </a:txBody>
                  <a:tcPr marL="73152" marR="73152" marT="36576" marB="36576" anchor="ctr">
                    <a:solidFill>
                      <a:srgbClr val="F1F0F6"/>
                    </a:solidFill>
                  </a:tcPr>
                </a:tc>
              </a:tr>
              <a:tr h="365760">
                <a:tc>
                  <a:txBody>
                    <a:bodyPr wrap="square"/>
                    <a:lstStyle/>
                    <a:p>
                      <a:r>
                        <a:rPr sz="900" b="1" i="0">
                          <a:solidFill>
                            <a:srgbClr val="1B2A55"/>
                          </a:solidFill>
                          <a:latin typeface="Inter"/>
                        </a:rPr>
                        <a:t>F3</a:t>
                      </a:r>
                    </a:p>
                  </a:txBody>
                  <a:tcPr marL="73152" marR="73152" marT="36576" marB="36576" anchor="ctr">
                    <a:solidFill>
                      <a:srgbClr val="FFFFFF"/>
                    </a:solidFill>
                  </a:tcPr>
                </a:tc>
                <a:tc>
                  <a:txBody>
                    <a:bodyPr wrap="square"/>
                    <a:lstStyle/>
                    <a:p>
                      <a:r>
                        <a:rPr sz="900" b="0" i="0">
                          <a:solidFill>
                            <a:srgbClr val="353B4A"/>
                          </a:solidFill>
                          <a:latin typeface="Inter"/>
                        </a:rPr>
                        <a:t>Voting rules enforced inside the database</a:t>
                      </a:r>
                    </a:p>
                  </a:txBody>
                  <a:tcPr marL="73152" marR="73152" marT="36576" marB="36576" anchor="ctr">
                    <a:solidFill>
                      <a:srgbClr val="FFFFFF"/>
                    </a:solidFill>
                  </a:tcPr>
                </a:tc>
                <a:tc>
                  <a:txBody>
                    <a:bodyPr wrap="square"/>
                    <a:lstStyle/>
                    <a:p>
                      <a:r>
                        <a:rPr sz="900" b="0" i="0">
                          <a:solidFill>
                            <a:srgbClr val="353B4A"/>
                          </a:solidFill>
                          <a:latin typeface="Inter"/>
                        </a:rPr>
                        <a:t>6 of 7 direct SQL attempts refused; 13 of 13 API abuses refused; 1 of 20 simultaneous casts accepted</a:t>
                      </a:r>
                    </a:p>
                  </a:txBody>
                  <a:tcPr marL="73152" marR="73152" marT="36576" marB="36576" anchor="ctr">
                    <a:solidFill>
                      <a:srgbClr val="FFFFFF"/>
                    </a:solidFill>
                  </a:tcPr>
                </a:tc>
              </a:tr>
              <a:tr h="365760">
                <a:tc>
                  <a:txBody>
                    <a:bodyPr wrap="square"/>
                    <a:lstStyle/>
                    <a:p>
                      <a:r>
                        <a:rPr sz="900" b="1" i="0">
                          <a:solidFill>
                            <a:srgbClr val="1B2A55"/>
                          </a:solidFill>
                          <a:latin typeface="Inter"/>
                        </a:rPr>
                        <a:t>F4</a:t>
                      </a:r>
                    </a:p>
                  </a:txBody>
                  <a:tcPr marL="73152" marR="73152" marT="36576" marB="36576" anchor="ctr">
                    <a:solidFill>
                      <a:srgbClr val="F1F0F6"/>
                    </a:solidFill>
                  </a:tcPr>
                </a:tc>
                <a:tc>
                  <a:txBody>
                    <a:bodyPr wrap="square"/>
                    <a:lstStyle/>
                    <a:p>
                      <a:r>
                        <a:rPr sz="900" b="0" i="0">
                          <a:solidFill>
                            <a:srgbClr val="353B4A"/>
                          </a:solidFill>
                          <a:latin typeface="Inter"/>
                        </a:rPr>
                        <a:t>No link between ballot and voter; emails in a separate database</a:t>
                      </a:r>
                    </a:p>
                  </a:txBody>
                  <a:tcPr marL="73152" marR="73152" marT="36576" marB="36576" anchor="ctr">
                    <a:solidFill>
                      <a:srgbClr val="F1F0F6"/>
                    </a:solidFill>
                  </a:tcPr>
                </a:tc>
                <a:tc>
                  <a:txBody>
                    <a:bodyPr wrap="square"/>
                    <a:lstStyle/>
                    <a:p>
                      <a:r>
                        <a:rPr sz="900" b="0" i="0">
                          <a:solidFill>
                            <a:srgbClr val="353B4A"/>
                          </a:solidFill>
                          <a:latin typeface="Inter"/>
                        </a:rPr>
                        <a:t>Automated check: no shared column, no email column in the election database</a:t>
                      </a:r>
                    </a:p>
                  </a:txBody>
                  <a:tcPr marL="73152" marR="73152" marT="36576" marB="36576" anchor="ctr">
                    <a:solidFill>
                      <a:srgbClr val="F1F0F6"/>
                    </a:solidFill>
                  </a:tcPr>
                </a:tc>
              </a:tr>
              <a:tr h="365760">
                <a:tc>
                  <a:txBody>
                    <a:bodyPr wrap="square"/>
                    <a:lstStyle/>
                    <a:p>
                      <a:r>
                        <a:rPr sz="900" b="1" i="0">
                          <a:solidFill>
                            <a:srgbClr val="1B2A55"/>
                          </a:solidFill>
                          <a:latin typeface="Inter"/>
                        </a:rPr>
                        <a:t>F5</a:t>
                      </a:r>
                    </a:p>
                  </a:txBody>
                  <a:tcPr marL="73152" marR="73152" marT="36576" marB="36576" anchor="ctr">
                    <a:solidFill>
                      <a:srgbClr val="FFFFFF"/>
                    </a:solidFill>
                  </a:tcPr>
                </a:tc>
                <a:tc>
                  <a:txBody>
                    <a:bodyPr wrap="square"/>
                    <a:lstStyle/>
                    <a:p>
                      <a:r>
                        <a:rPr sz="900" b="0" i="0">
                          <a:solidFill>
                            <a:srgbClr val="353B4A"/>
                          </a:solidFill>
                          <a:latin typeface="Inter"/>
                        </a:rPr>
                        <a:t>Keyed audit ledger in a separate store, with a reconciling sweep</a:t>
                      </a:r>
                    </a:p>
                  </a:txBody>
                  <a:tcPr marL="73152" marR="73152" marT="36576" marB="36576" anchor="ctr">
                    <a:solidFill>
                      <a:srgbClr val="FFFFFF"/>
                    </a:solidFill>
                  </a:tcPr>
                </a:tc>
                <a:tc>
                  <a:txBody>
                    <a:bodyPr wrap="square"/>
                    <a:lstStyle/>
                    <a:p>
                      <a:r>
                        <a:rPr sz="900" b="0" i="0">
                          <a:solidFill>
                            <a:srgbClr val="353B4A"/>
                          </a:solidFill>
                          <a:latin typeface="Inter"/>
                        </a:rPr>
                        <a:t>12 of 13 tampering attacks caught (plain chain: 6); identical in 3 runs</a:t>
                      </a:r>
                    </a:p>
                  </a:txBody>
                  <a:tcPr marL="73152" marR="73152" marT="36576" marB="36576" anchor="ctr">
                    <a:solidFill>
                      <a:srgbClr val="FFFFFF"/>
                    </a:solidFill>
                  </a:tcPr>
                </a:tc>
              </a:tr>
              <a:tr h="365760">
                <a:tc>
                  <a:txBody>
                    <a:bodyPr wrap="square"/>
                    <a:lstStyle/>
                    <a:p>
                      <a:r>
                        <a:rPr sz="900" b="1" i="0">
                          <a:solidFill>
                            <a:srgbClr val="1B2A55"/>
                          </a:solidFill>
                          <a:latin typeface="Inter"/>
                        </a:rPr>
                        <a:t>F6</a:t>
                      </a:r>
                    </a:p>
                  </a:txBody>
                  <a:tcPr marL="73152" marR="73152" marT="36576" marB="36576" anchor="ctr">
                    <a:solidFill>
                      <a:srgbClr val="F1F0F6"/>
                    </a:solidFill>
                  </a:tcPr>
                </a:tc>
                <a:tc>
                  <a:txBody>
                    <a:bodyPr wrap="square"/>
                    <a:lstStyle/>
                    <a:p>
                      <a:r>
                        <a:rPr sz="900" b="0" i="0">
                          <a:solidFill>
                            <a:srgbClr val="353B4A"/>
                          </a:solidFill>
                          <a:latin typeface="Inter"/>
                        </a:rPr>
                        <a:t>Emailed one-time code as a second factor</a:t>
                      </a:r>
                    </a:p>
                  </a:txBody>
                  <a:tcPr marL="73152" marR="73152" marT="36576" marB="36576" anchor="ctr">
                    <a:solidFill>
                      <a:srgbClr val="F1F0F6"/>
                    </a:solidFill>
                  </a:tcPr>
                </a:tc>
                <a:tc>
                  <a:txBody>
                    <a:bodyPr wrap="square"/>
                    <a:lstStyle/>
                    <a:p>
                      <a:r>
                        <a:rPr sz="900" b="0" i="0">
                          <a:solidFill>
                            <a:srgbClr val="353B4A"/>
                          </a:solidFill>
                          <a:latin typeface="Inter"/>
                        </a:rPr>
                        <a:t>14 of 14 tests, including replay, expiry and guess limits</a:t>
                      </a:r>
                    </a:p>
                  </a:txBody>
                  <a:tcPr marL="73152" marR="73152" marT="36576" marB="36576" anchor="ctr">
                    <a:solidFill>
                      <a:srgbClr val="F1F0F6"/>
                    </a:solidFill>
                  </a:tcPr>
                </a:tc>
              </a:tr>
              <a:tr h="365760">
                <a:tc>
                  <a:txBody>
                    <a:bodyPr wrap="square"/>
                    <a:lstStyle/>
                    <a:p>
                      <a:r>
                        <a:rPr sz="900" b="1" i="0">
                          <a:solidFill>
                            <a:srgbClr val="1B2A55"/>
                          </a:solidFill>
                          <a:latin typeface="Inter"/>
                        </a:rPr>
                        <a:t>F7</a:t>
                      </a:r>
                    </a:p>
                  </a:txBody>
                  <a:tcPr marL="73152" marR="73152" marT="36576" marB="36576" anchor="ctr">
                    <a:solidFill>
                      <a:srgbClr val="FFFFFF"/>
                    </a:solidFill>
                  </a:tcPr>
                </a:tc>
                <a:tc>
                  <a:txBody>
                    <a:bodyPr wrap="square"/>
                    <a:lstStyle/>
                    <a:p>
                      <a:r>
                        <a:rPr sz="900" b="0" i="0">
                          <a:solidFill>
                            <a:srgbClr val="353B4A"/>
                          </a:solidFill>
                          <a:latin typeface="Inter"/>
                        </a:rPr>
                        <a:t>Scan-to-vote QR code on a phone</a:t>
                      </a:r>
                    </a:p>
                  </a:txBody>
                  <a:tcPr marL="73152" marR="73152" marT="36576" marB="36576" anchor="ctr">
                    <a:solidFill>
                      <a:srgbClr val="FFFFFF"/>
                    </a:solidFill>
                  </a:tcPr>
                </a:tc>
                <a:tc>
                  <a:txBody>
                    <a:bodyPr wrap="square"/>
                    <a:lstStyle/>
                    <a:p>
                      <a:r>
                        <a:rPr sz="900" b="0" i="0">
                          <a:solidFill>
                            <a:srgbClr val="353B4A"/>
                          </a:solidFill>
                          <a:latin typeface="Inter"/>
                        </a:rPr>
                        <a:t>A real ballot cast from a phone through the public link</a:t>
                      </a:r>
                    </a:p>
                  </a:txBody>
                  <a:tcPr marL="73152" marR="73152" marT="36576" marB="36576" anchor="ctr">
                    <a:solidFill>
                      <a:srgbClr val="FFFFFF"/>
                    </a:solidFill>
                  </a:tcPr>
                </a:tc>
              </a:tr>
              <a:tr h="365760">
                <a:tc>
                  <a:txBody>
                    <a:bodyPr wrap="square"/>
                    <a:lstStyle/>
                    <a:p>
                      <a:r>
                        <a:rPr sz="900" b="1" i="0">
                          <a:solidFill>
                            <a:srgbClr val="1B2A55"/>
                          </a:solidFill>
                          <a:latin typeface="Inter"/>
                        </a:rPr>
                        <a:t>F8</a:t>
                      </a:r>
                    </a:p>
                  </a:txBody>
                  <a:tcPr marL="73152" marR="73152" marT="36576" marB="36576" anchor="ctr">
                    <a:solidFill>
                      <a:srgbClr val="F1F0F6"/>
                    </a:solidFill>
                  </a:tcPr>
                </a:tc>
                <a:tc>
                  <a:txBody>
                    <a:bodyPr wrap="square"/>
                    <a:lstStyle/>
                    <a:p>
                      <a:r>
                        <a:rPr sz="900" b="0" i="0">
                          <a:solidFill>
                            <a:srgbClr val="353B4A"/>
                          </a:solidFill>
                          <a:latin typeface="Inter"/>
                        </a:rPr>
                        <a:t>Receipt to check a ballot is recorded and counted</a:t>
                      </a:r>
                    </a:p>
                  </a:txBody>
                  <a:tcPr marL="73152" marR="73152" marT="36576" marB="36576" anchor="ctr">
                    <a:solidFill>
                      <a:srgbClr val="F1F0F6"/>
                    </a:solidFill>
                  </a:tcPr>
                </a:tc>
                <a:tc>
                  <a:txBody>
                    <a:bodyPr wrap="square"/>
                    <a:lstStyle/>
                    <a:p>
                      <a:r>
                        <a:rPr sz="900" b="0" i="0">
                          <a:solidFill>
                            <a:srgbClr val="353B4A"/>
                          </a:solidFill>
                          <a:latin typeface="Inter"/>
                        </a:rPr>
                        <a:t>Receipt check page; one ledger block per ballot</a:t>
                      </a:r>
                    </a:p>
                  </a:txBody>
                  <a:tcPr marL="73152" marR="73152" marT="36576" marB="36576" anchor="ctr">
                    <a:solidFill>
                      <a:srgbClr val="F1F0F6"/>
                    </a:solidFill>
                  </a:tcPr>
                </a:tc>
              </a:tr>
              <a:tr h="365760">
                <a:tc>
                  <a:txBody>
                    <a:bodyPr wrap="square"/>
                    <a:lstStyle/>
                    <a:p>
                      <a:r>
                        <a:rPr sz="900" b="1" i="0">
                          <a:solidFill>
                            <a:srgbClr val="1B2A55"/>
                          </a:solidFill>
                          <a:latin typeface="Inter"/>
                        </a:rPr>
                        <a:t>F9</a:t>
                      </a:r>
                    </a:p>
                  </a:txBody>
                  <a:tcPr marL="73152" marR="73152" marT="36576" marB="36576" anchor="ctr">
                    <a:solidFill>
                      <a:srgbClr val="FFFFFF"/>
                    </a:solidFill>
                  </a:tcPr>
                </a:tc>
                <a:tc>
                  <a:txBody>
                    <a:bodyPr wrap="square"/>
                    <a:lstStyle/>
                    <a:p>
                      <a:r>
                        <a:rPr sz="900" b="0" i="0">
                          <a:solidFill>
                            <a:srgbClr val="353B4A"/>
                          </a:solidFill>
                          <a:latin typeface="Inter"/>
                        </a:rPr>
                        <a:t>Easy to run and host</a:t>
                      </a:r>
                    </a:p>
                  </a:txBody>
                  <a:tcPr marL="73152" marR="73152" marT="36576" marB="36576" anchor="ctr">
                    <a:solidFill>
                      <a:srgbClr val="FFFFFF"/>
                    </a:solidFill>
                  </a:tcPr>
                </a:tc>
                <a:tc>
                  <a:txBody>
                    <a:bodyPr wrap="square"/>
                    <a:lstStyle/>
                    <a:p>
                      <a:r>
                        <a:rPr sz="900" b="0" i="0">
                          <a:solidFill>
                            <a:srgbClr val="353B4A"/>
                          </a:solidFill>
                          <a:latin typeface="Inter"/>
                        </a:rPr>
                        <a:t>One command locally; free hosted demo configured for Render</a:t>
                      </a:r>
                    </a:p>
                  </a:txBody>
                  <a:tcPr marL="73152" marR="73152" marT="36576" marB="36576"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COMPARATIVE STUDY · COVERAGE MATRIX</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Coverage matrix: who documents which feature</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29</a:t>
            </a:r>
          </a:p>
        </p:txBody>
      </p:sp>
      <p:sp>
        <p:nvSpPr>
          <p:cNvPr id="6" name="Rectangle 5"/>
          <p:cNvSpPr/>
          <p:nvPr/>
        </p:nvSpPr>
        <p:spPr>
          <a:xfrm>
            <a:off x="457200" y="1024128"/>
            <a:ext cx="2194560" cy="274320"/>
          </a:xfrm>
          <a:prstGeom prst="rect">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FFFFFF"/>
                </a:solidFill>
                <a:latin typeface="Inter"/>
              </a:rPr>
              <a:t>System</a:t>
            </a:r>
          </a:p>
        </p:txBody>
      </p:sp>
      <p:sp>
        <p:nvSpPr>
          <p:cNvPr id="7" name="Rectangle 6"/>
          <p:cNvSpPr/>
          <p:nvPr/>
        </p:nvSpPr>
        <p:spPr>
          <a:xfrm>
            <a:off x="2651760" y="1024128"/>
            <a:ext cx="548640" cy="274320"/>
          </a:xfrm>
          <a:prstGeom prst="rect">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00" b="1" i="0">
                <a:solidFill>
                  <a:srgbClr val="FFFFFF"/>
                </a:solidFill>
                <a:latin typeface="Inter"/>
              </a:rPr>
              <a:t>F1</a:t>
            </a:r>
          </a:p>
        </p:txBody>
      </p:sp>
      <p:sp>
        <p:nvSpPr>
          <p:cNvPr id="8" name="Rectangle 7"/>
          <p:cNvSpPr/>
          <p:nvPr/>
        </p:nvSpPr>
        <p:spPr>
          <a:xfrm>
            <a:off x="3236976" y="1024128"/>
            <a:ext cx="548640" cy="274320"/>
          </a:xfrm>
          <a:prstGeom prst="rect">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00" b="1" i="0">
                <a:solidFill>
                  <a:srgbClr val="FFFFFF"/>
                </a:solidFill>
                <a:latin typeface="Inter"/>
              </a:rPr>
              <a:t>F2</a:t>
            </a:r>
          </a:p>
        </p:txBody>
      </p:sp>
      <p:sp>
        <p:nvSpPr>
          <p:cNvPr id="9" name="Rectangle 8"/>
          <p:cNvSpPr/>
          <p:nvPr/>
        </p:nvSpPr>
        <p:spPr>
          <a:xfrm>
            <a:off x="3822191" y="1024128"/>
            <a:ext cx="548640" cy="274320"/>
          </a:xfrm>
          <a:prstGeom prst="rect">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00" b="1" i="0">
                <a:solidFill>
                  <a:srgbClr val="FFFFFF"/>
                </a:solidFill>
                <a:latin typeface="Inter"/>
              </a:rPr>
              <a:t>F3</a:t>
            </a:r>
          </a:p>
        </p:txBody>
      </p:sp>
      <p:sp>
        <p:nvSpPr>
          <p:cNvPr id="10" name="Rectangle 9"/>
          <p:cNvSpPr/>
          <p:nvPr/>
        </p:nvSpPr>
        <p:spPr>
          <a:xfrm>
            <a:off x="4407408" y="1024128"/>
            <a:ext cx="548640" cy="274320"/>
          </a:xfrm>
          <a:prstGeom prst="rect">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00" b="1" i="0">
                <a:solidFill>
                  <a:srgbClr val="FFFFFF"/>
                </a:solidFill>
                <a:latin typeface="Inter"/>
              </a:rPr>
              <a:t>F4</a:t>
            </a:r>
          </a:p>
        </p:txBody>
      </p:sp>
      <p:sp>
        <p:nvSpPr>
          <p:cNvPr id="11" name="Rectangle 10"/>
          <p:cNvSpPr/>
          <p:nvPr/>
        </p:nvSpPr>
        <p:spPr>
          <a:xfrm>
            <a:off x="4992624" y="1024128"/>
            <a:ext cx="548640" cy="274320"/>
          </a:xfrm>
          <a:prstGeom prst="rect">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00" b="1" i="0">
                <a:solidFill>
                  <a:srgbClr val="FFFFFF"/>
                </a:solidFill>
                <a:latin typeface="Inter"/>
              </a:rPr>
              <a:t>F5</a:t>
            </a:r>
          </a:p>
        </p:txBody>
      </p:sp>
      <p:sp>
        <p:nvSpPr>
          <p:cNvPr id="12" name="Rectangle 11"/>
          <p:cNvSpPr/>
          <p:nvPr/>
        </p:nvSpPr>
        <p:spPr>
          <a:xfrm>
            <a:off x="5577840" y="1024128"/>
            <a:ext cx="548640" cy="274320"/>
          </a:xfrm>
          <a:prstGeom prst="rect">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00" b="1" i="0">
                <a:solidFill>
                  <a:srgbClr val="FFFFFF"/>
                </a:solidFill>
                <a:latin typeface="Inter"/>
              </a:rPr>
              <a:t>F6</a:t>
            </a:r>
          </a:p>
        </p:txBody>
      </p:sp>
      <p:sp>
        <p:nvSpPr>
          <p:cNvPr id="13" name="Rectangle 12"/>
          <p:cNvSpPr/>
          <p:nvPr/>
        </p:nvSpPr>
        <p:spPr>
          <a:xfrm>
            <a:off x="6163056" y="1024128"/>
            <a:ext cx="548640" cy="274320"/>
          </a:xfrm>
          <a:prstGeom prst="rect">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00" b="1" i="0">
                <a:solidFill>
                  <a:srgbClr val="FFFFFF"/>
                </a:solidFill>
                <a:latin typeface="Inter"/>
              </a:rPr>
              <a:t>F7</a:t>
            </a:r>
          </a:p>
        </p:txBody>
      </p:sp>
      <p:sp>
        <p:nvSpPr>
          <p:cNvPr id="14" name="Rectangle 13"/>
          <p:cNvSpPr/>
          <p:nvPr/>
        </p:nvSpPr>
        <p:spPr>
          <a:xfrm>
            <a:off x="6748272" y="1024128"/>
            <a:ext cx="548640" cy="274320"/>
          </a:xfrm>
          <a:prstGeom prst="rect">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00" b="1" i="0">
                <a:solidFill>
                  <a:srgbClr val="FFFFFF"/>
                </a:solidFill>
                <a:latin typeface="Inter"/>
              </a:rPr>
              <a:t>F8</a:t>
            </a:r>
          </a:p>
        </p:txBody>
      </p:sp>
      <p:sp>
        <p:nvSpPr>
          <p:cNvPr id="15" name="Rectangle 14"/>
          <p:cNvSpPr/>
          <p:nvPr/>
        </p:nvSpPr>
        <p:spPr>
          <a:xfrm>
            <a:off x="7333488" y="1024128"/>
            <a:ext cx="548640" cy="274320"/>
          </a:xfrm>
          <a:prstGeom prst="rect">
            <a:avLst/>
          </a:prstGeom>
          <a:solidFill>
            <a:srgbClr val="1B2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900" b="1" i="0">
                <a:solidFill>
                  <a:srgbClr val="FFFFFF"/>
                </a:solidFill>
                <a:latin typeface="Inter"/>
              </a:rPr>
              <a:t>F9</a:t>
            </a:r>
          </a:p>
        </p:txBody>
      </p:sp>
      <p:sp>
        <p:nvSpPr>
          <p:cNvPr id="16" name="Rectangle 15"/>
          <p:cNvSpPr/>
          <p:nvPr/>
        </p:nvSpPr>
        <p:spPr>
          <a:xfrm>
            <a:off x="457200" y="1325880"/>
            <a:ext cx="219456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1B2A55"/>
                </a:solidFill>
                <a:latin typeface="Inter"/>
              </a:rPr>
              <a:t>Helios</a:t>
            </a:r>
          </a:p>
        </p:txBody>
      </p:sp>
      <p:sp>
        <p:nvSpPr>
          <p:cNvPr id="17" name="Rectangle 16"/>
          <p:cNvSpPr/>
          <p:nvPr/>
        </p:nvSpPr>
        <p:spPr>
          <a:xfrm>
            <a:off x="2651760" y="1325880"/>
            <a:ext cx="548640" cy="237744"/>
          </a:xfrm>
          <a:prstGeom prst="rect">
            <a:avLst/>
          </a:prstGeom>
          <a:solidFill>
            <a:srgbClr val="F8D9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C0392B"/>
                </a:solidFill>
                <a:latin typeface="Inter"/>
              </a:rPr>
              <a:t>No</a:t>
            </a:r>
          </a:p>
        </p:txBody>
      </p:sp>
      <p:sp>
        <p:nvSpPr>
          <p:cNvPr id="18" name="Rectangle 17"/>
          <p:cNvSpPr/>
          <p:nvPr/>
        </p:nvSpPr>
        <p:spPr>
          <a:xfrm>
            <a:off x="3236976" y="132588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19" name="Rectangle 18"/>
          <p:cNvSpPr/>
          <p:nvPr/>
        </p:nvSpPr>
        <p:spPr>
          <a:xfrm>
            <a:off x="3822191" y="132588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20" name="Rectangle 19"/>
          <p:cNvSpPr/>
          <p:nvPr/>
        </p:nvSpPr>
        <p:spPr>
          <a:xfrm>
            <a:off x="4407408" y="132588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21" name="Rectangle 20"/>
          <p:cNvSpPr/>
          <p:nvPr/>
        </p:nvSpPr>
        <p:spPr>
          <a:xfrm>
            <a:off x="4992624" y="132588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22" name="Rectangle 21"/>
          <p:cNvSpPr/>
          <p:nvPr/>
        </p:nvSpPr>
        <p:spPr>
          <a:xfrm>
            <a:off x="5577840" y="132588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23" name="Rectangle 22"/>
          <p:cNvSpPr/>
          <p:nvPr/>
        </p:nvSpPr>
        <p:spPr>
          <a:xfrm>
            <a:off x="6163056" y="132588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24" name="Rectangle 23"/>
          <p:cNvSpPr/>
          <p:nvPr/>
        </p:nvSpPr>
        <p:spPr>
          <a:xfrm>
            <a:off x="6748272" y="132588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25" name="Rectangle 24"/>
          <p:cNvSpPr/>
          <p:nvPr/>
        </p:nvSpPr>
        <p:spPr>
          <a:xfrm>
            <a:off x="7333488" y="132588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26" name="Rectangle 25"/>
          <p:cNvSpPr/>
          <p:nvPr/>
        </p:nvSpPr>
        <p:spPr>
          <a:xfrm>
            <a:off x="457200" y="1600200"/>
            <a:ext cx="219456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1B2A55"/>
                </a:solidFill>
                <a:latin typeface="Inter"/>
              </a:rPr>
              <a:t>Belenios</a:t>
            </a:r>
          </a:p>
        </p:txBody>
      </p:sp>
      <p:sp>
        <p:nvSpPr>
          <p:cNvPr id="27" name="Rectangle 26"/>
          <p:cNvSpPr/>
          <p:nvPr/>
        </p:nvSpPr>
        <p:spPr>
          <a:xfrm>
            <a:off x="2651760" y="160020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28" name="Rectangle 27"/>
          <p:cNvSpPr/>
          <p:nvPr/>
        </p:nvSpPr>
        <p:spPr>
          <a:xfrm>
            <a:off x="3236976" y="160020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29" name="Rectangle 28"/>
          <p:cNvSpPr/>
          <p:nvPr/>
        </p:nvSpPr>
        <p:spPr>
          <a:xfrm>
            <a:off x="3822191" y="160020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30" name="Rectangle 29"/>
          <p:cNvSpPr/>
          <p:nvPr/>
        </p:nvSpPr>
        <p:spPr>
          <a:xfrm>
            <a:off x="4407408" y="160020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31" name="Rectangle 30"/>
          <p:cNvSpPr/>
          <p:nvPr/>
        </p:nvSpPr>
        <p:spPr>
          <a:xfrm>
            <a:off x="4992624" y="160020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32" name="Rectangle 31"/>
          <p:cNvSpPr/>
          <p:nvPr/>
        </p:nvSpPr>
        <p:spPr>
          <a:xfrm>
            <a:off x="5577840" y="160020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33" name="Rectangle 32"/>
          <p:cNvSpPr/>
          <p:nvPr/>
        </p:nvSpPr>
        <p:spPr>
          <a:xfrm>
            <a:off x="6163056" y="160020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34" name="Rectangle 33"/>
          <p:cNvSpPr/>
          <p:nvPr/>
        </p:nvSpPr>
        <p:spPr>
          <a:xfrm>
            <a:off x="6748272" y="160020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35" name="Rectangle 34"/>
          <p:cNvSpPr/>
          <p:nvPr/>
        </p:nvSpPr>
        <p:spPr>
          <a:xfrm>
            <a:off x="7333488" y="160020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36" name="Rectangle 35"/>
          <p:cNvSpPr/>
          <p:nvPr/>
        </p:nvSpPr>
        <p:spPr>
          <a:xfrm>
            <a:off x="457200" y="1874519"/>
            <a:ext cx="219456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1B2A55"/>
                </a:solidFill>
                <a:latin typeface="Inter"/>
              </a:rPr>
              <a:t>OpaVote</a:t>
            </a:r>
          </a:p>
        </p:txBody>
      </p:sp>
      <p:sp>
        <p:nvSpPr>
          <p:cNvPr id="37" name="Rectangle 36"/>
          <p:cNvSpPr/>
          <p:nvPr/>
        </p:nvSpPr>
        <p:spPr>
          <a:xfrm>
            <a:off x="2651760" y="1874519"/>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38" name="Rectangle 37"/>
          <p:cNvSpPr/>
          <p:nvPr/>
        </p:nvSpPr>
        <p:spPr>
          <a:xfrm>
            <a:off x="3236976" y="187451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39" name="Rectangle 38"/>
          <p:cNvSpPr/>
          <p:nvPr/>
        </p:nvSpPr>
        <p:spPr>
          <a:xfrm>
            <a:off x="3822191" y="1874519"/>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40" name="Rectangle 39"/>
          <p:cNvSpPr/>
          <p:nvPr/>
        </p:nvSpPr>
        <p:spPr>
          <a:xfrm>
            <a:off x="4407408" y="1874519"/>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41" name="Rectangle 40"/>
          <p:cNvSpPr/>
          <p:nvPr/>
        </p:nvSpPr>
        <p:spPr>
          <a:xfrm>
            <a:off x="4992624" y="1874519"/>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42" name="Rectangle 41"/>
          <p:cNvSpPr/>
          <p:nvPr/>
        </p:nvSpPr>
        <p:spPr>
          <a:xfrm>
            <a:off x="5577840" y="187451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43" name="Rectangle 42"/>
          <p:cNvSpPr/>
          <p:nvPr/>
        </p:nvSpPr>
        <p:spPr>
          <a:xfrm>
            <a:off x="6163056" y="1874519"/>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44" name="Rectangle 43"/>
          <p:cNvSpPr/>
          <p:nvPr/>
        </p:nvSpPr>
        <p:spPr>
          <a:xfrm>
            <a:off x="6748272" y="1874519"/>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45" name="Rectangle 44"/>
          <p:cNvSpPr/>
          <p:nvPr/>
        </p:nvSpPr>
        <p:spPr>
          <a:xfrm>
            <a:off x="7333488" y="187451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46" name="Rectangle 45"/>
          <p:cNvSpPr/>
          <p:nvPr/>
        </p:nvSpPr>
        <p:spPr>
          <a:xfrm>
            <a:off x="457200" y="2148840"/>
            <a:ext cx="219456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1B2A55"/>
                </a:solidFill>
                <a:latin typeface="Inter"/>
              </a:rPr>
              <a:t>ElectionBuddy</a:t>
            </a:r>
          </a:p>
        </p:txBody>
      </p:sp>
      <p:sp>
        <p:nvSpPr>
          <p:cNvPr id="47" name="Rectangle 46"/>
          <p:cNvSpPr/>
          <p:nvPr/>
        </p:nvSpPr>
        <p:spPr>
          <a:xfrm>
            <a:off x="2651760" y="214884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48" name="Rectangle 47"/>
          <p:cNvSpPr/>
          <p:nvPr/>
        </p:nvSpPr>
        <p:spPr>
          <a:xfrm>
            <a:off x="3236976" y="214884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49" name="Rectangle 48"/>
          <p:cNvSpPr/>
          <p:nvPr/>
        </p:nvSpPr>
        <p:spPr>
          <a:xfrm>
            <a:off x="3822191" y="214884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50" name="Rectangle 49"/>
          <p:cNvSpPr/>
          <p:nvPr/>
        </p:nvSpPr>
        <p:spPr>
          <a:xfrm>
            <a:off x="4407408" y="214884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51" name="Rectangle 50"/>
          <p:cNvSpPr/>
          <p:nvPr/>
        </p:nvSpPr>
        <p:spPr>
          <a:xfrm>
            <a:off x="4992624" y="214884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52" name="Rectangle 51"/>
          <p:cNvSpPr/>
          <p:nvPr/>
        </p:nvSpPr>
        <p:spPr>
          <a:xfrm>
            <a:off x="5577840" y="214884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53" name="Rectangle 52"/>
          <p:cNvSpPr/>
          <p:nvPr/>
        </p:nvSpPr>
        <p:spPr>
          <a:xfrm>
            <a:off x="6163056" y="214884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54" name="Rectangle 53"/>
          <p:cNvSpPr/>
          <p:nvPr/>
        </p:nvSpPr>
        <p:spPr>
          <a:xfrm>
            <a:off x="6748272" y="214884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55" name="Rectangle 54"/>
          <p:cNvSpPr/>
          <p:nvPr/>
        </p:nvSpPr>
        <p:spPr>
          <a:xfrm>
            <a:off x="7333488" y="214884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56" name="Rectangle 55"/>
          <p:cNvSpPr/>
          <p:nvPr/>
        </p:nvSpPr>
        <p:spPr>
          <a:xfrm>
            <a:off x="457200" y="2423160"/>
            <a:ext cx="219456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1B2A55"/>
                </a:solidFill>
                <a:latin typeface="Inter"/>
              </a:rPr>
              <a:t>TapVoter</a:t>
            </a:r>
          </a:p>
        </p:txBody>
      </p:sp>
      <p:sp>
        <p:nvSpPr>
          <p:cNvPr id="57" name="Rectangle 56"/>
          <p:cNvSpPr/>
          <p:nvPr/>
        </p:nvSpPr>
        <p:spPr>
          <a:xfrm>
            <a:off x="2651760" y="242316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58" name="Rectangle 57"/>
          <p:cNvSpPr/>
          <p:nvPr/>
        </p:nvSpPr>
        <p:spPr>
          <a:xfrm>
            <a:off x="3236976" y="242316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59" name="Rectangle 58"/>
          <p:cNvSpPr/>
          <p:nvPr/>
        </p:nvSpPr>
        <p:spPr>
          <a:xfrm>
            <a:off x="3822191" y="242316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60" name="Rectangle 59"/>
          <p:cNvSpPr/>
          <p:nvPr/>
        </p:nvSpPr>
        <p:spPr>
          <a:xfrm>
            <a:off x="4407408" y="242316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61" name="Rectangle 60"/>
          <p:cNvSpPr/>
          <p:nvPr/>
        </p:nvSpPr>
        <p:spPr>
          <a:xfrm>
            <a:off x="4992624" y="242316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62" name="Rectangle 61"/>
          <p:cNvSpPr/>
          <p:nvPr/>
        </p:nvSpPr>
        <p:spPr>
          <a:xfrm>
            <a:off x="5577840" y="242316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63" name="Rectangle 62"/>
          <p:cNvSpPr/>
          <p:nvPr/>
        </p:nvSpPr>
        <p:spPr>
          <a:xfrm>
            <a:off x="6163056" y="242316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64" name="Rectangle 63"/>
          <p:cNvSpPr/>
          <p:nvPr/>
        </p:nvSpPr>
        <p:spPr>
          <a:xfrm>
            <a:off x="6748272" y="242316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65" name="Rectangle 64"/>
          <p:cNvSpPr/>
          <p:nvPr/>
        </p:nvSpPr>
        <p:spPr>
          <a:xfrm>
            <a:off x="7333488" y="242316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66" name="Rectangle 65"/>
          <p:cNvSpPr/>
          <p:nvPr/>
        </p:nvSpPr>
        <p:spPr>
          <a:xfrm>
            <a:off x="457200" y="2697479"/>
            <a:ext cx="219456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1B2A55"/>
                </a:solidFill>
                <a:latin typeface="Inter"/>
              </a:rPr>
              <a:t>BetterVoting</a:t>
            </a:r>
          </a:p>
        </p:txBody>
      </p:sp>
      <p:sp>
        <p:nvSpPr>
          <p:cNvPr id="67" name="Rectangle 66"/>
          <p:cNvSpPr/>
          <p:nvPr/>
        </p:nvSpPr>
        <p:spPr>
          <a:xfrm>
            <a:off x="2651760" y="269747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68" name="Rectangle 67"/>
          <p:cNvSpPr/>
          <p:nvPr/>
        </p:nvSpPr>
        <p:spPr>
          <a:xfrm>
            <a:off x="3236976" y="2697479"/>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69" name="Rectangle 68"/>
          <p:cNvSpPr/>
          <p:nvPr/>
        </p:nvSpPr>
        <p:spPr>
          <a:xfrm>
            <a:off x="3822191" y="2697479"/>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70" name="Rectangle 69"/>
          <p:cNvSpPr/>
          <p:nvPr/>
        </p:nvSpPr>
        <p:spPr>
          <a:xfrm>
            <a:off x="4407408" y="269747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71" name="Rectangle 70"/>
          <p:cNvSpPr/>
          <p:nvPr/>
        </p:nvSpPr>
        <p:spPr>
          <a:xfrm>
            <a:off x="4992624" y="269747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72" name="Rectangle 71"/>
          <p:cNvSpPr/>
          <p:nvPr/>
        </p:nvSpPr>
        <p:spPr>
          <a:xfrm>
            <a:off x="5577840" y="269747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73" name="Rectangle 72"/>
          <p:cNvSpPr/>
          <p:nvPr/>
        </p:nvSpPr>
        <p:spPr>
          <a:xfrm>
            <a:off x="6163056" y="269747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74" name="Rectangle 73"/>
          <p:cNvSpPr/>
          <p:nvPr/>
        </p:nvSpPr>
        <p:spPr>
          <a:xfrm>
            <a:off x="6748272" y="2697479"/>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75" name="Rectangle 74"/>
          <p:cNvSpPr/>
          <p:nvPr/>
        </p:nvSpPr>
        <p:spPr>
          <a:xfrm>
            <a:off x="7333488" y="2697479"/>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76" name="Rectangle 75"/>
          <p:cNvSpPr/>
          <p:nvPr/>
        </p:nvSpPr>
        <p:spPr>
          <a:xfrm>
            <a:off x="457200" y="2971800"/>
            <a:ext cx="219456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1B2A55"/>
                </a:solidFill>
                <a:latin typeface="Inter"/>
              </a:rPr>
              <a:t>Google Forms</a:t>
            </a:r>
          </a:p>
        </p:txBody>
      </p:sp>
      <p:sp>
        <p:nvSpPr>
          <p:cNvPr id="77" name="Rectangle 76"/>
          <p:cNvSpPr/>
          <p:nvPr/>
        </p:nvSpPr>
        <p:spPr>
          <a:xfrm>
            <a:off x="2651760" y="297180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78" name="Rectangle 77"/>
          <p:cNvSpPr/>
          <p:nvPr/>
        </p:nvSpPr>
        <p:spPr>
          <a:xfrm>
            <a:off x="3236976" y="297180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79" name="Rectangle 78"/>
          <p:cNvSpPr/>
          <p:nvPr/>
        </p:nvSpPr>
        <p:spPr>
          <a:xfrm>
            <a:off x="3822191" y="297180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80" name="Rectangle 79"/>
          <p:cNvSpPr/>
          <p:nvPr/>
        </p:nvSpPr>
        <p:spPr>
          <a:xfrm>
            <a:off x="4407408" y="297180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81" name="Rectangle 80"/>
          <p:cNvSpPr/>
          <p:nvPr/>
        </p:nvSpPr>
        <p:spPr>
          <a:xfrm>
            <a:off x="4992624" y="297180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82" name="Rectangle 81"/>
          <p:cNvSpPr/>
          <p:nvPr/>
        </p:nvSpPr>
        <p:spPr>
          <a:xfrm>
            <a:off x="5577840" y="2971800"/>
            <a:ext cx="548640" cy="237744"/>
          </a:xfrm>
          <a:prstGeom prst="rect">
            <a:avLst/>
          </a:prstGeom>
          <a:solidFill>
            <a:srgbClr val="F8D9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C0392B"/>
                </a:solidFill>
                <a:latin typeface="Inter"/>
              </a:rPr>
              <a:t>No</a:t>
            </a:r>
          </a:p>
        </p:txBody>
      </p:sp>
      <p:sp>
        <p:nvSpPr>
          <p:cNvPr id="83" name="Rectangle 82"/>
          <p:cNvSpPr/>
          <p:nvPr/>
        </p:nvSpPr>
        <p:spPr>
          <a:xfrm>
            <a:off x="6163056" y="297180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84" name="Rectangle 83"/>
          <p:cNvSpPr/>
          <p:nvPr/>
        </p:nvSpPr>
        <p:spPr>
          <a:xfrm>
            <a:off x="6748272" y="297180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85" name="Rectangle 84"/>
          <p:cNvSpPr/>
          <p:nvPr/>
        </p:nvSpPr>
        <p:spPr>
          <a:xfrm>
            <a:off x="7333488" y="297180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86" name="Rectangle 85"/>
          <p:cNvSpPr/>
          <p:nvPr/>
        </p:nvSpPr>
        <p:spPr>
          <a:xfrm>
            <a:off x="457200" y="3246120"/>
            <a:ext cx="219456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1B2A55"/>
                </a:solidFill>
                <a:latin typeface="Inter"/>
              </a:rPr>
              <a:t>FlexyVotes</a:t>
            </a:r>
          </a:p>
        </p:txBody>
      </p:sp>
      <p:sp>
        <p:nvSpPr>
          <p:cNvPr id="87" name="Rectangle 86"/>
          <p:cNvSpPr/>
          <p:nvPr/>
        </p:nvSpPr>
        <p:spPr>
          <a:xfrm>
            <a:off x="2651760" y="324612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88" name="Rectangle 87"/>
          <p:cNvSpPr/>
          <p:nvPr/>
        </p:nvSpPr>
        <p:spPr>
          <a:xfrm>
            <a:off x="3236976" y="324612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89" name="Rectangle 88"/>
          <p:cNvSpPr/>
          <p:nvPr/>
        </p:nvSpPr>
        <p:spPr>
          <a:xfrm>
            <a:off x="3822191" y="324612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90" name="Rectangle 89"/>
          <p:cNvSpPr/>
          <p:nvPr/>
        </p:nvSpPr>
        <p:spPr>
          <a:xfrm>
            <a:off x="4407408" y="324612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91" name="Rectangle 90"/>
          <p:cNvSpPr/>
          <p:nvPr/>
        </p:nvSpPr>
        <p:spPr>
          <a:xfrm>
            <a:off x="4992624" y="324612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92" name="Rectangle 91"/>
          <p:cNvSpPr/>
          <p:nvPr/>
        </p:nvSpPr>
        <p:spPr>
          <a:xfrm>
            <a:off x="5577840" y="324612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93" name="Rectangle 92"/>
          <p:cNvSpPr/>
          <p:nvPr/>
        </p:nvSpPr>
        <p:spPr>
          <a:xfrm>
            <a:off x="6163056" y="3246120"/>
            <a:ext cx="548640" cy="237744"/>
          </a:xfrm>
          <a:prstGeom prst="rect">
            <a:avLst/>
          </a:prstGeom>
          <a:solidFill>
            <a:srgbClr val="F8D9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C0392B"/>
                </a:solidFill>
                <a:latin typeface="Inter"/>
              </a:rPr>
              <a:t>No</a:t>
            </a:r>
          </a:p>
        </p:txBody>
      </p:sp>
      <p:sp>
        <p:nvSpPr>
          <p:cNvPr id="94" name="Rectangle 93"/>
          <p:cNvSpPr/>
          <p:nvPr/>
        </p:nvSpPr>
        <p:spPr>
          <a:xfrm>
            <a:off x="6748272" y="324612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95" name="Rectangle 94"/>
          <p:cNvSpPr/>
          <p:nvPr/>
        </p:nvSpPr>
        <p:spPr>
          <a:xfrm>
            <a:off x="7333488" y="324612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96" name="Rectangle 95"/>
          <p:cNvSpPr/>
          <p:nvPr/>
        </p:nvSpPr>
        <p:spPr>
          <a:xfrm>
            <a:off x="457200" y="3520439"/>
            <a:ext cx="219456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1B2A55"/>
                </a:solidFill>
                <a:latin typeface="Inter"/>
              </a:rPr>
              <a:t>VeriVote</a:t>
            </a:r>
          </a:p>
        </p:txBody>
      </p:sp>
      <p:sp>
        <p:nvSpPr>
          <p:cNvPr id="97" name="Rectangle 96"/>
          <p:cNvSpPr/>
          <p:nvPr/>
        </p:nvSpPr>
        <p:spPr>
          <a:xfrm>
            <a:off x="2651760" y="3520439"/>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98" name="Rectangle 97"/>
          <p:cNvSpPr/>
          <p:nvPr/>
        </p:nvSpPr>
        <p:spPr>
          <a:xfrm>
            <a:off x="3236976" y="3520439"/>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99" name="Rectangle 98"/>
          <p:cNvSpPr/>
          <p:nvPr/>
        </p:nvSpPr>
        <p:spPr>
          <a:xfrm>
            <a:off x="3822191" y="352043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100" name="Rectangle 99"/>
          <p:cNvSpPr/>
          <p:nvPr/>
        </p:nvSpPr>
        <p:spPr>
          <a:xfrm>
            <a:off x="4407408" y="352043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101" name="Rectangle 100"/>
          <p:cNvSpPr/>
          <p:nvPr/>
        </p:nvSpPr>
        <p:spPr>
          <a:xfrm>
            <a:off x="4992624" y="352043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102" name="Rectangle 101"/>
          <p:cNvSpPr/>
          <p:nvPr/>
        </p:nvSpPr>
        <p:spPr>
          <a:xfrm>
            <a:off x="5577840" y="352043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103" name="Rectangle 102"/>
          <p:cNvSpPr/>
          <p:nvPr/>
        </p:nvSpPr>
        <p:spPr>
          <a:xfrm>
            <a:off x="6163056" y="3520439"/>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104" name="Rectangle 103"/>
          <p:cNvSpPr/>
          <p:nvPr/>
        </p:nvSpPr>
        <p:spPr>
          <a:xfrm>
            <a:off x="6748272" y="3520439"/>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105" name="Rectangle 104"/>
          <p:cNvSpPr/>
          <p:nvPr/>
        </p:nvSpPr>
        <p:spPr>
          <a:xfrm>
            <a:off x="7333488" y="3520439"/>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106" name="Rectangle 105"/>
          <p:cNvSpPr/>
          <p:nvPr/>
        </p:nvSpPr>
        <p:spPr>
          <a:xfrm>
            <a:off x="457200" y="3794760"/>
            <a:ext cx="219456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1B2A55"/>
                </a:solidFill>
                <a:latin typeface="Inter"/>
              </a:rPr>
              <a:t>SecureVote</a:t>
            </a:r>
          </a:p>
        </p:txBody>
      </p:sp>
      <p:sp>
        <p:nvSpPr>
          <p:cNvPr id="107" name="Rectangle 106"/>
          <p:cNvSpPr/>
          <p:nvPr/>
        </p:nvSpPr>
        <p:spPr>
          <a:xfrm>
            <a:off x="2651760" y="379476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108" name="Rectangle 107"/>
          <p:cNvSpPr/>
          <p:nvPr/>
        </p:nvSpPr>
        <p:spPr>
          <a:xfrm>
            <a:off x="3236976" y="3794760"/>
            <a:ext cx="548640" cy="237744"/>
          </a:xfrm>
          <a:prstGeom prst="rect">
            <a:avLst/>
          </a:prstGeom>
          <a:solidFill>
            <a:srgbClr val="F8D9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C0392B"/>
                </a:solidFill>
                <a:latin typeface="Inter"/>
              </a:rPr>
              <a:t>No</a:t>
            </a:r>
          </a:p>
        </p:txBody>
      </p:sp>
      <p:sp>
        <p:nvSpPr>
          <p:cNvPr id="109" name="Rectangle 108"/>
          <p:cNvSpPr/>
          <p:nvPr/>
        </p:nvSpPr>
        <p:spPr>
          <a:xfrm>
            <a:off x="3822191" y="379476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110" name="Rectangle 109"/>
          <p:cNvSpPr/>
          <p:nvPr/>
        </p:nvSpPr>
        <p:spPr>
          <a:xfrm>
            <a:off x="4407408" y="379476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111" name="Rectangle 110"/>
          <p:cNvSpPr/>
          <p:nvPr/>
        </p:nvSpPr>
        <p:spPr>
          <a:xfrm>
            <a:off x="4992624" y="379476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112" name="Rectangle 111"/>
          <p:cNvSpPr/>
          <p:nvPr/>
        </p:nvSpPr>
        <p:spPr>
          <a:xfrm>
            <a:off x="5577840" y="379476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113" name="Rectangle 112"/>
          <p:cNvSpPr/>
          <p:nvPr/>
        </p:nvSpPr>
        <p:spPr>
          <a:xfrm>
            <a:off x="6163056" y="379476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114" name="Rectangle 113"/>
          <p:cNvSpPr/>
          <p:nvPr/>
        </p:nvSpPr>
        <p:spPr>
          <a:xfrm>
            <a:off x="6748272" y="3794760"/>
            <a:ext cx="548640" cy="237744"/>
          </a:xfrm>
          <a:prstGeom prst="rect">
            <a:avLst/>
          </a:prstGeom>
          <a:solidFill>
            <a:srgbClr val="F1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666A78"/>
                </a:solidFill>
                <a:latin typeface="Inter"/>
              </a:rPr>
              <a:t>–</a:t>
            </a:r>
          </a:p>
        </p:txBody>
      </p:sp>
      <p:sp>
        <p:nvSpPr>
          <p:cNvPr id="115" name="Rectangle 114"/>
          <p:cNvSpPr/>
          <p:nvPr/>
        </p:nvSpPr>
        <p:spPr>
          <a:xfrm>
            <a:off x="7333488" y="3794760"/>
            <a:ext cx="548640" cy="237744"/>
          </a:xfrm>
          <a:prstGeom prst="rect">
            <a:avLst/>
          </a:prstGeom>
          <a:solidFill>
            <a:srgbClr val="FBEE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9A6700"/>
                </a:solidFill>
                <a:latin typeface="Inter"/>
              </a:rPr>
              <a:t>Part</a:t>
            </a:r>
          </a:p>
        </p:txBody>
      </p:sp>
      <p:sp>
        <p:nvSpPr>
          <p:cNvPr id="116" name="Rectangle 115"/>
          <p:cNvSpPr/>
          <p:nvPr/>
        </p:nvSpPr>
        <p:spPr>
          <a:xfrm>
            <a:off x="457200" y="4069080"/>
            <a:ext cx="2194560" cy="237744"/>
          </a:xfrm>
          <a:prstGeom prst="rect">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spcAft>
                <a:spcPts val="0"/>
              </a:spcAft>
            </a:pPr>
            <a:r>
              <a:rPr sz="900" b="1" i="0">
                <a:solidFill>
                  <a:srgbClr val="1B2A55"/>
                </a:solidFill>
                <a:latin typeface="Inter"/>
              </a:rPr>
              <a:t>PolyVote (our tests)</a:t>
            </a:r>
          </a:p>
        </p:txBody>
      </p:sp>
      <p:sp>
        <p:nvSpPr>
          <p:cNvPr id="117" name="Rectangle 116"/>
          <p:cNvSpPr/>
          <p:nvPr/>
        </p:nvSpPr>
        <p:spPr>
          <a:xfrm>
            <a:off x="2651760" y="406908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118" name="Rectangle 117"/>
          <p:cNvSpPr/>
          <p:nvPr/>
        </p:nvSpPr>
        <p:spPr>
          <a:xfrm>
            <a:off x="3236976" y="406908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119" name="Rectangle 118"/>
          <p:cNvSpPr/>
          <p:nvPr/>
        </p:nvSpPr>
        <p:spPr>
          <a:xfrm>
            <a:off x="3822191" y="406908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120" name="Rectangle 119"/>
          <p:cNvSpPr/>
          <p:nvPr/>
        </p:nvSpPr>
        <p:spPr>
          <a:xfrm>
            <a:off x="4407408" y="406908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121" name="Rectangle 120"/>
          <p:cNvSpPr/>
          <p:nvPr/>
        </p:nvSpPr>
        <p:spPr>
          <a:xfrm>
            <a:off x="4992624" y="406908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122" name="Rectangle 121"/>
          <p:cNvSpPr/>
          <p:nvPr/>
        </p:nvSpPr>
        <p:spPr>
          <a:xfrm>
            <a:off x="5577840" y="406908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123" name="Rectangle 122"/>
          <p:cNvSpPr/>
          <p:nvPr/>
        </p:nvSpPr>
        <p:spPr>
          <a:xfrm>
            <a:off x="6163056" y="406908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124" name="Rectangle 123"/>
          <p:cNvSpPr/>
          <p:nvPr/>
        </p:nvSpPr>
        <p:spPr>
          <a:xfrm>
            <a:off x="6748272" y="406908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125" name="Rectangle 124"/>
          <p:cNvSpPr/>
          <p:nvPr/>
        </p:nvSpPr>
        <p:spPr>
          <a:xfrm>
            <a:off x="7333488" y="4069080"/>
            <a:ext cx="548640" cy="237744"/>
          </a:xfrm>
          <a:prstGeom prst="rect">
            <a:avLst/>
          </a:prstGeom>
          <a:solidFill>
            <a:srgbClr val="D7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50" b="1" i="0">
                <a:solidFill>
                  <a:srgbClr val="1A7F37"/>
                </a:solidFill>
                <a:latin typeface="Inter"/>
              </a:rPr>
              <a:t>Yes</a:t>
            </a:r>
          </a:p>
        </p:txBody>
      </p:sp>
      <p:sp>
        <p:nvSpPr>
          <p:cNvPr id="126" name="TextBox 125"/>
          <p:cNvSpPr txBox="1"/>
          <p:nvPr/>
        </p:nvSpPr>
        <p:spPr>
          <a:xfrm>
            <a:off x="8001000" y="1024128"/>
            <a:ext cx="731520" cy="2926080"/>
          </a:xfrm>
          <a:prstGeom prst="rect">
            <a:avLst/>
          </a:prstGeom>
          <a:noFill/>
        </p:spPr>
        <p:txBody>
          <a:bodyPr wrap="square" anchor="t" lIns="0" rIns="0" tIns="0" bIns="0">
            <a:spAutoFit/>
          </a:bodyPr>
          <a:lstStyle/>
          <a:p>
            <a:pPr algn="l">
              <a:spcAft>
                <a:spcPts val="0"/>
              </a:spcAft>
            </a:pPr>
            <a:r>
              <a:rPr sz="1000" b="1" i="0">
                <a:solidFill>
                  <a:srgbClr val="1A7F37"/>
                </a:solidFill>
                <a:latin typeface="Inter"/>
              </a:rPr>
              <a:t>Yes</a:t>
            </a:r>
          </a:p>
          <a:p>
            <a:pPr algn="l">
              <a:spcAft>
                <a:spcPts val="0"/>
              </a:spcAft>
            </a:pPr>
            <a:r>
              <a:rPr sz="800" b="0" i="0">
                <a:solidFill>
                  <a:srgbClr val="353B4A"/>
                </a:solidFill>
                <a:latin typeface="Inter"/>
              </a:rPr>
              <a:t>documented</a:t>
            </a:r>
          </a:p>
          <a:p>
            <a:pPr algn="l">
              <a:spcAft>
                <a:spcPts val="0"/>
              </a:spcAft>
            </a:pPr>
            <a:r>
              <a:rPr sz="1000" b="0" i="0">
                <a:solidFill>
                  <a:srgbClr val="353B4A"/>
                </a:solidFill>
                <a:latin typeface="Inter"/>
              </a:rPr>
              <a:t/>
            </a:r>
          </a:p>
          <a:p>
            <a:pPr algn="l">
              <a:spcAft>
                <a:spcPts val="0"/>
              </a:spcAft>
            </a:pPr>
            <a:r>
              <a:rPr sz="1000" b="1" i="0">
                <a:solidFill>
                  <a:srgbClr val="9A6700"/>
                </a:solidFill>
                <a:latin typeface="Inter"/>
              </a:rPr>
              <a:t>Part</a:t>
            </a:r>
          </a:p>
          <a:p>
            <a:pPr algn="l">
              <a:spcAft>
                <a:spcPts val="0"/>
              </a:spcAft>
            </a:pPr>
            <a:r>
              <a:rPr sz="800" b="0" i="0">
                <a:solidFill>
                  <a:srgbClr val="353B4A"/>
                </a:solidFill>
                <a:latin typeface="Inter"/>
              </a:rPr>
              <a:t>partly</a:t>
            </a:r>
          </a:p>
          <a:p>
            <a:pPr algn="l">
              <a:spcAft>
                <a:spcPts val="0"/>
              </a:spcAft>
            </a:pPr>
            <a:r>
              <a:rPr sz="1000" b="0" i="0">
                <a:solidFill>
                  <a:srgbClr val="353B4A"/>
                </a:solidFill>
                <a:latin typeface="Inter"/>
              </a:rPr>
              <a:t/>
            </a:r>
          </a:p>
          <a:p>
            <a:pPr algn="l">
              <a:spcAft>
                <a:spcPts val="0"/>
              </a:spcAft>
            </a:pPr>
            <a:r>
              <a:rPr sz="1000" b="1" i="0">
                <a:solidFill>
                  <a:srgbClr val="C0392B"/>
                </a:solidFill>
                <a:latin typeface="Inter"/>
              </a:rPr>
              <a:t>No</a:t>
            </a:r>
          </a:p>
          <a:p>
            <a:pPr algn="l">
              <a:spcAft>
                <a:spcPts val="0"/>
              </a:spcAft>
            </a:pPr>
            <a:r>
              <a:rPr sz="800" b="0" i="0">
                <a:solidFill>
                  <a:srgbClr val="353B4A"/>
                </a:solidFill>
                <a:latin typeface="Inter"/>
              </a:rPr>
              <a:t>absent</a:t>
            </a:r>
          </a:p>
          <a:p>
            <a:pPr algn="l">
              <a:spcAft>
                <a:spcPts val="0"/>
              </a:spcAft>
            </a:pPr>
            <a:r>
              <a:rPr sz="1000" b="0" i="0">
                <a:solidFill>
                  <a:srgbClr val="353B4A"/>
                </a:solidFill>
                <a:latin typeface="Inter"/>
              </a:rPr>
              <a:t/>
            </a:r>
          </a:p>
          <a:p>
            <a:pPr algn="l">
              <a:spcAft>
                <a:spcPts val="0"/>
              </a:spcAft>
            </a:pPr>
            <a:r>
              <a:rPr sz="1000" b="1" i="0">
                <a:solidFill>
                  <a:srgbClr val="666A78"/>
                </a:solidFill>
                <a:latin typeface="Inter"/>
              </a:rPr>
              <a:t>–</a:t>
            </a:r>
          </a:p>
          <a:p>
            <a:pPr algn="l">
              <a:spcAft>
                <a:spcPts val="0"/>
              </a:spcAft>
            </a:pPr>
            <a:r>
              <a:rPr sz="800" b="0" i="0">
                <a:solidFill>
                  <a:srgbClr val="353B4A"/>
                </a:solidFill>
                <a:latin typeface="Inter"/>
              </a:rPr>
              <a:t>not documented</a:t>
            </a:r>
          </a:p>
        </p:txBody>
      </p:sp>
      <p:sp>
        <p:nvSpPr>
          <p:cNvPr id="127" name="TextBox 126"/>
          <p:cNvSpPr txBox="1"/>
          <p:nvPr/>
        </p:nvSpPr>
        <p:spPr>
          <a:xfrm>
            <a:off x="457200" y="4434840"/>
            <a:ext cx="8229600" cy="365760"/>
          </a:xfrm>
          <a:prstGeom prst="rect">
            <a:avLst/>
          </a:prstGeom>
          <a:noFill/>
        </p:spPr>
        <p:txBody>
          <a:bodyPr wrap="square" anchor="t" lIns="0" rIns="0" tIns="0" bIns="0">
            <a:spAutoFit/>
          </a:bodyPr>
          <a:lstStyle/>
          <a:p>
            <a:pPr algn="l">
              <a:spcAft>
                <a:spcPts val="0"/>
              </a:spcAft>
            </a:pPr>
            <a:r>
              <a:rPr sz="850" b="0" i="1">
                <a:solidFill>
                  <a:srgbClr val="666A78"/>
                </a:solidFill>
                <a:latin typeface="Inter"/>
              </a:rPr>
              <a:t>F1 ranked counting · F2 many organisations · F3 database rules · F4 unlinked ballots · F5 keyed ledger and sweep · F6 email OTP · F7 QR voting · F8 receipt · F9 easy to run. Other rows: documentation we read. F5 is judged strictly (keyed chain, separate store, reconciling sweep, published attack results), so most systems score Part.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FEATURES 1-2 · COUNTING AND MANY ORGANISATIONS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Ranked counting and many organisations: not unique</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30</a:t>
            </a:r>
          </a:p>
        </p:txBody>
      </p:sp>
      <p:graphicFrame>
        <p:nvGraphicFramePr>
          <p:cNvPr id="6" name="Table 5"/>
          <p:cNvGraphicFramePr>
            <a:graphicFrameLocks noGrp="1"/>
          </p:cNvGraphicFramePr>
          <p:nvPr/>
        </p:nvGraphicFramePr>
        <p:xfrm>
          <a:off x="457200" y="1051560"/>
          <a:ext cx="8229600" cy="2395728"/>
        </p:xfrm>
        <a:graphic>
          <a:graphicData uri="http://schemas.openxmlformats.org/drawingml/2006/table">
            <a:tbl>
              <a:tblPr firstRow="1" bandRow="1">
                <a:tableStyleId>{5C22544A-7EE6-4342-B048-85BDC9FD1C3A}</a:tableStyleId>
              </a:tblPr>
              <a:tblGrid>
                <a:gridCol w="1828800"/>
                <a:gridCol w="5120640"/>
                <a:gridCol w="1280160"/>
              </a:tblGrid>
              <a:tr h="292608">
                <a:tc>
                  <a:txBody>
                    <a:bodyPr wrap="square"/>
                    <a:lstStyle/>
                    <a:p>
                      <a:r>
                        <a:rPr sz="950" b="1" i="0">
                          <a:solidFill>
                            <a:srgbClr val="FFFFFF"/>
                          </a:solidFill>
                          <a:latin typeface="Inter"/>
                        </a:rPr>
                        <a:t>System</a:t>
                      </a:r>
                    </a:p>
                  </a:txBody>
                  <a:tcPr marL="73152" marR="73152" marT="36576" marB="36576" anchor="ctr">
                    <a:solidFill>
                      <a:srgbClr val="1B2A55"/>
                    </a:solidFill>
                  </a:tcPr>
                </a:tc>
                <a:tc>
                  <a:txBody>
                    <a:bodyPr wrap="square"/>
                    <a:lstStyle/>
                    <a:p>
                      <a:r>
                        <a:rPr sz="950" b="1" i="0">
                          <a:solidFill>
                            <a:srgbClr val="FFFFFF"/>
                          </a:solidFill>
                          <a:latin typeface="Inter"/>
                        </a:rPr>
                        <a:t>What its own page, README or paper documents</a:t>
                      </a:r>
                    </a:p>
                  </a:txBody>
                  <a:tcPr marL="73152" marR="73152" marT="36576" marB="36576" anchor="ctr">
                    <a:solidFill>
                      <a:srgbClr val="1B2A55"/>
                    </a:solidFill>
                  </a:tcPr>
                </a:tc>
                <a:tc>
                  <a:txBody>
                    <a:bodyPr wrap="square"/>
                    <a:lstStyle/>
                    <a:p>
                      <a:r>
                        <a:rPr sz="950" b="1" i="0">
                          <a:solidFill>
                            <a:srgbClr val="FFFFFF"/>
                          </a:solidFill>
                          <a:latin typeface="Inter"/>
                        </a:rPr>
                        <a:t>Match</a:t>
                      </a:r>
                    </a:p>
                  </a:txBody>
                  <a:tcPr marL="73152" marR="73152" marT="36576" marB="36576" anchor="ctr">
                    <a:solidFill>
                      <a:srgbClr val="1B2A55"/>
                    </a:solidFill>
                  </a:tcPr>
                </a:tc>
              </a:tr>
              <a:tr h="420624">
                <a:tc>
                  <a:txBody>
                    <a:bodyPr wrap="square"/>
                    <a:lstStyle/>
                    <a:p>
                      <a:r>
                        <a:rPr sz="950" b="1" i="0">
                          <a:solidFill>
                            <a:srgbClr val="1B2A55"/>
                          </a:solidFill>
                          <a:latin typeface="Inter"/>
                        </a:rPr>
                        <a:t>OpaVote (web service)</a:t>
                      </a:r>
                    </a:p>
                  </a:txBody>
                  <a:tcPr marL="73152" marR="73152" marT="36576" marB="36576" anchor="ctr">
                    <a:solidFill>
                      <a:srgbClr val="FFFFFF"/>
                    </a:solidFill>
                  </a:tcPr>
                </a:tc>
                <a:tc>
                  <a:txBody>
                    <a:bodyPr wrap="square"/>
                    <a:lstStyle/>
                    <a:p>
                      <a:r>
                        <a:rPr sz="950" b="0" i="0">
                          <a:solidFill>
                            <a:srgbClr val="353B4A"/>
                          </a:solidFill>
                          <a:latin typeface="Inter"/>
                        </a:rPr>
                        <a:t>Instant-runoff, STV and Condorcet with a step-by-step explanation of each count; free up to 25 voters; sub-groups only partly.</a:t>
                      </a:r>
                    </a:p>
                  </a:txBody>
                  <a:tcPr marL="73152" marR="73152" marT="36576" marB="36576" anchor="ctr">
                    <a:solidFill>
                      <a:srgbClr val="FFFFFF"/>
                    </a:solidFill>
                  </a:tcPr>
                </a:tc>
                <a:tc>
                  <a:txBody>
                    <a:bodyPr wrap="square"/>
                    <a:lstStyle/>
                    <a:p>
                      <a:r>
                        <a:rPr sz="950" b="0" i="0">
                          <a:solidFill>
                            <a:srgbClr val="353B4A"/>
                          </a:solidFill>
                          <a:latin typeface="Inter"/>
                        </a:rPr>
                        <a:t>F1 Yes · F2 Part</a:t>
                      </a:r>
                    </a:p>
                  </a:txBody>
                  <a:tcPr marL="73152" marR="73152" marT="36576" marB="36576" anchor="ctr">
                    <a:solidFill>
                      <a:srgbClr val="FFFFFF"/>
                    </a:solidFill>
                  </a:tcPr>
                </a:tc>
              </a:tr>
              <a:tr h="420624">
                <a:tc>
                  <a:txBody>
                    <a:bodyPr wrap="square"/>
                    <a:lstStyle/>
                    <a:p>
                      <a:r>
                        <a:rPr sz="950" b="1" i="0">
                          <a:solidFill>
                            <a:srgbClr val="1B2A55"/>
                          </a:solidFill>
                          <a:latin typeface="Inter"/>
                        </a:rPr>
                        <a:t>FlexyVotes (GitHub)</a:t>
                      </a:r>
                    </a:p>
                  </a:txBody>
                  <a:tcPr marL="73152" marR="73152" marT="36576" marB="36576" anchor="ctr">
                    <a:solidFill>
                      <a:srgbClr val="F1F0F6"/>
                    </a:solidFill>
                  </a:tcPr>
                </a:tc>
                <a:tc>
                  <a:txBody>
                    <a:bodyPr wrap="square"/>
                    <a:lstStyle/>
                    <a:p>
                      <a:r>
                        <a:rPr sz="950" b="0" i="0">
                          <a:solidFill>
                            <a:srgbClr val="353B4A"/>
                          </a:solidFill>
                          <a:latin typeface="Inter"/>
                        </a:rPr>
                        <a:t>Instant-runoff for one seat, STV for several, with per-round data stored; many organisations with scoped roles.</a:t>
                      </a:r>
                    </a:p>
                  </a:txBody>
                  <a:tcPr marL="73152" marR="73152" marT="36576" marB="36576" anchor="ctr">
                    <a:solidFill>
                      <a:srgbClr val="F1F0F6"/>
                    </a:solidFill>
                  </a:tcPr>
                </a:tc>
                <a:tc>
                  <a:txBody>
                    <a:bodyPr wrap="square"/>
                    <a:lstStyle/>
                    <a:p>
                      <a:r>
                        <a:rPr sz="950" b="0" i="0">
                          <a:solidFill>
                            <a:srgbClr val="353B4A"/>
                          </a:solidFill>
                          <a:latin typeface="Inter"/>
                        </a:rPr>
                        <a:t>F1 Yes · F2 Yes</a:t>
                      </a:r>
                    </a:p>
                  </a:txBody>
                  <a:tcPr marL="73152" marR="73152" marT="36576" marB="36576" anchor="ctr">
                    <a:solidFill>
                      <a:srgbClr val="F1F0F6"/>
                    </a:solidFill>
                  </a:tcPr>
                </a:tc>
              </a:tr>
              <a:tr h="420624">
                <a:tc>
                  <a:txBody>
                    <a:bodyPr wrap="square"/>
                    <a:lstStyle/>
                    <a:p>
                      <a:r>
                        <a:rPr sz="950" b="1" i="0">
                          <a:solidFill>
                            <a:srgbClr val="1B2A55"/>
                          </a:solidFill>
                          <a:latin typeface="Inter"/>
                        </a:rPr>
                        <a:t>BetterVoting (GitHub)</a:t>
                      </a:r>
                    </a:p>
                  </a:txBody>
                  <a:tcPr marL="73152" marR="73152" marT="36576" marB="36576" anchor="ctr">
                    <a:solidFill>
                      <a:srgbClr val="FFFFFF"/>
                    </a:solidFill>
                  </a:tcPr>
                </a:tc>
                <a:tc>
                  <a:txBody>
                    <a:bodyPr wrap="square"/>
                    <a:lstStyle/>
                    <a:p>
                      <a:r>
                        <a:rPr sz="950" b="0" i="0">
                          <a:solidFill>
                            <a:srgbClr val="353B4A"/>
                          </a:solidFill>
                          <a:latin typeface="Inter"/>
                        </a:rPr>
                        <a:t>Ranked-choice listed among voting methods; organisations and teams; round-by-round output not verified.</a:t>
                      </a:r>
                    </a:p>
                  </a:txBody>
                  <a:tcPr marL="73152" marR="73152" marT="36576" marB="36576" anchor="ctr">
                    <a:solidFill>
                      <a:srgbClr val="FFFFFF"/>
                    </a:solidFill>
                  </a:tcPr>
                </a:tc>
                <a:tc>
                  <a:txBody>
                    <a:bodyPr wrap="square"/>
                    <a:lstStyle/>
                    <a:p>
                      <a:r>
                        <a:rPr sz="950" b="0" i="0">
                          <a:solidFill>
                            <a:srgbClr val="353B4A"/>
                          </a:solidFill>
                          <a:latin typeface="Inter"/>
                        </a:rPr>
                        <a:t>F1 Part · F2 Yes</a:t>
                      </a:r>
                    </a:p>
                  </a:txBody>
                  <a:tcPr marL="73152" marR="73152" marT="36576" marB="36576" anchor="ctr">
                    <a:solidFill>
                      <a:srgbClr val="FFFFFF"/>
                    </a:solidFill>
                  </a:tcPr>
                </a:tc>
              </a:tr>
              <a:tr h="420624">
                <a:tc>
                  <a:txBody>
                    <a:bodyPr wrap="square"/>
                    <a:lstStyle/>
                    <a:p>
                      <a:r>
                        <a:rPr sz="950" b="1" i="0">
                          <a:solidFill>
                            <a:srgbClr val="1B2A55"/>
                          </a:solidFill>
                          <a:latin typeface="Inter"/>
                        </a:rPr>
                        <a:t>Belenios</a:t>
                      </a:r>
                    </a:p>
                  </a:txBody>
                  <a:tcPr marL="73152" marR="73152" marT="36576" marB="36576" anchor="ctr">
                    <a:solidFill>
                      <a:srgbClr val="F1F0F6"/>
                    </a:solidFill>
                  </a:tcPr>
                </a:tc>
                <a:tc>
                  <a:txBody>
                    <a:bodyPr wrap="square"/>
                    <a:lstStyle/>
                    <a:p>
                      <a:r>
                        <a:rPr sz="950" b="0" i="0">
                          <a:solidFill>
                            <a:srgbClr val="353B4A"/>
                          </a:solidFill>
                          <a:latin typeface="Inter"/>
                        </a:rPr>
                        <a:t>Condorcet-Schulze and STV are documented; instant-runoff and round transcripts are not.</a:t>
                      </a:r>
                    </a:p>
                  </a:txBody>
                  <a:tcPr marL="73152" marR="73152" marT="36576" marB="36576" anchor="ctr">
                    <a:solidFill>
                      <a:srgbClr val="F1F0F6"/>
                    </a:solidFill>
                  </a:tcPr>
                </a:tc>
                <a:tc>
                  <a:txBody>
                    <a:bodyPr wrap="square"/>
                    <a:lstStyle/>
                    <a:p>
                      <a:r>
                        <a:rPr sz="950" b="0" i="0">
                          <a:solidFill>
                            <a:srgbClr val="353B4A"/>
                          </a:solidFill>
                          <a:latin typeface="Inter"/>
                        </a:rPr>
                        <a:t>F1 Part · F2 Part</a:t>
                      </a:r>
                    </a:p>
                  </a:txBody>
                  <a:tcPr marL="73152" marR="73152" marT="36576" marB="36576" anchor="ctr">
                    <a:solidFill>
                      <a:srgbClr val="F1F0F6"/>
                    </a:solidFill>
                  </a:tcPr>
                </a:tc>
              </a:tr>
              <a:tr h="420624">
                <a:tc>
                  <a:txBody>
                    <a:bodyPr wrap="square"/>
                    <a:lstStyle/>
                    <a:p>
                      <a:r>
                        <a:rPr sz="950" b="1" i="0">
                          <a:solidFill>
                            <a:srgbClr val="1B2A55"/>
                          </a:solidFill>
                          <a:latin typeface="Inter"/>
                        </a:rPr>
                        <a:t>Microsoft Forms</a:t>
                      </a:r>
                    </a:p>
                  </a:txBody>
                  <a:tcPr marL="73152" marR="73152" marT="36576" marB="36576" anchor="ctr">
                    <a:solidFill>
                      <a:srgbClr val="FFFFFF"/>
                    </a:solidFill>
                  </a:tcPr>
                </a:tc>
                <a:tc>
                  <a:txBody>
                    <a:bodyPr wrap="square"/>
                    <a:lstStyle/>
                    <a:p>
                      <a:r>
                        <a:rPr sz="950" b="0" i="0">
                          <a:solidFill>
                            <a:srgbClr val="353B4A"/>
                          </a:solidFill>
                          <a:latin typeface="Inter"/>
                        </a:rPr>
                        <a:t>A ranking question exists, but no instant-runoff tally is documented.</a:t>
                      </a:r>
                    </a:p>
                  </a:txBody>
                  <a:tcPr marL="73152" marR="73152" marT="36576" marB="36576" anchor="ctr">
                    <a:solidFill>
                      <a:srgbClr val="FFFFFF"/>
                    </a:solidFill>
                  </a:tcPr>
                </a:tc>
                <a:tc>
                  <a:txBody>
                    <a:bodyPr wrap="square"/>
                    <a:lstStyle/>
                    <a:p>
                      <a:r>
                        <a:rPr sz="950" b="0" i="0">
                          <a:solidFill>
                            <a:srgbClr val="353B4A"/>
                          </a:solidFill>
                          <a:latin typeface="Inter"/>
                        </a:rPr>
                        <a:t>F1 Part</a:t>
                      </a:r>
                    </a:p>
                  </a:txBody>
                  <a:tcPr marL="73152" marR="73152" marT="36576" marB="36576" anchor="ctr">
                    <a:solidFill>
                      <a:srgbClr val="FFFFFF"/>
                    </a:solidFill>
                  </a:tcPr>
                </a:tc>
              </a:tr>
            </a:tbl>
          </a:graphicData>
        </a:graphic>
      </p:graphicFrame>
      <p:sp>
        <p:nvSpPr>
          <p:cNvPr id="7" name="Rounded Rectangle 6"/>
          <p:cNvSpPr/>
          <p:nvPr/>
        </p:nvSpPr>
        <p:spPr>
          <a:xfrm>
            <a:off x="457200" y="3584448"/>
            <a:ext cx="8229600" cy="1170431"/>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657600"/>
            <a:ext cx="7863840" cy="1060703"/>
          </a:xfrm>
          <a:prstGeom prst="rect">
            <a:avLst/>
          </a:prstGeom>
          <a:noFill/>
        </p:spPr>
        <p:txBody>
          <a:bodyPr wrap="square" anchor="t" lIns="0" rIns="0" tIns="0" bIns="0">
            <a:spAutoFit/>
          </a:bodyPr>
          <a:lstStyle/>
          <a:p>
            <a:pPr algn="l">
              <a:spcAft>
                <a:spcPts val="300"/>
              </a:spcAft>
            </a:pPr>
            <a:r>
              <a:rPr sz="1000" b="1" i="0">
                <a:solidFill>
                  <a:srgbClr val="1B2A55"/>
                </a:solidFill>
                <a:latin typeface="Inter"/>
              </a:rPr>
              <a:t>PolyVote: </a:t>
            </a:r>
            <a:r>
              <a:rPr sz="1000" b="0" i="0">
                <a:solidFill>
                  <a:srgbClr val="353B4A"/>
                </a:solidFill>
                <a:latin typeface="Inter"/>
              </a:rPr>
              <a:t>counts instant-runoff and shows every round (46 ballots, 5 candidates, 5 rounds, tie flagged). Several organisations and elections ran in one install in tests B8 and B13.</a:t>
            </a:r>
          </a:p>
          <a:p>
            <a:pPr algn="l">
              <a:spcAft>
                <a:spcPts val="300"/>
              </a:spcAft>
            </a:pPr>
            <a:r>
              <a:rPr sz="1000" b="1" i="0">
                <a:solidFill>
                  <a:srgbClr val="1B2A55"/>
                </a:solidFill>
                <a:latin typeface="Inter"/>
              </a:rPr>
              <a:t>Verdict: </a:t>
            </a:r>
            <a:r>
              <a:rPr sz="1000" b="0" i="0">
                <a:solidFill>
                  <a:srgbClr val="353B4A"/>
                </a:solidFill>
                <a:latin typeface="Inter"/>
              </a:rPr>
              <a:t>a baseline feature, not our claim. OpaVote and FlexyVotes also count ranked ballots, and OpaVote explains every count.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FEATURES 3-4 · DATABASE RULES AND UNLINKED BALLOTS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Database rules and unlinked ballots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31</a:t>
            </a:r>
          </a:p>
        </p:txBody>
      </p:sp>
      <p:graphicFrame>
        <p:nvGraphicFramePr>
          <p:cNvPr id="6" name="Table 5"/>
          <p:cNvGraphicFramePr>
            <a:graphicFrameLocks noGrp="1"/>
          </p:cNvGraphicFramePr>
          <p:nvPr/>
        </p:nvGraphicFramePr>
        <p:xfrm>
          <a:off x="457200" y="1051560"/>
          <a:ext cx="8229600" cy="2395728"/>
        </p:xfrm>
        <a:graphic>
          <a:graphicData uri="http://schemas.openxmlformats.org/drawingml/2006/table">
            <a:tbl>
              <a:tblPr firstRow="1" bandRow="1">
                <a:tableStyleId>{5C22544A-7EE6-4342-B048-85BDC9FD1C3A}</a:tableStyleId>
              </a:tblPr>
              <a:tblGrid>
                <a:gridCol w="1828800"/>
                <a:gridCol w="5120640"/>
                <a:gridCol w="1280160"/>
              </a:tblGrid>
              <a:tr h="292608">
                <a:tc>
                  <a:txBody>
                    <a:bodyPr wrap="square"/>
                    <a:lstStyle/>
                    <a:p>
                      <a:r>
                        <a:rPr sz="950" b="1" i="0">
                          <a:solidFill>
                            <a:srgbClr val="FFFFFF"/>
                          </a:solidFill>
                          <a:latin typeface="Inter"/>
                        </a:rPr>
                        <a:t>System</a:t>
                      </a:r>
                    </a:p>
                  </a:txBody>
                  <a:tcPr marL="73152" marR="73152" marT="36576" marB="36576" anchor="ctr">
                    <a:solidFill>
                      <a:srgbClr val="1B2A55"/>
                    </a:solidFill>
                  </a:tcPr>
                </a:tc>
                <a:tc>
                  <a:txBody>
                    <a:bodyPr wrap="square"/>
                    <a:lstStyle/>
                    <a:p>
                      <a:r>
                        <a:rPr sz="950" b="1" i="0">
                          <a:solidFill>
                            <a:srgbClr val="FFFFFF"/>
                          </a:solidFill>
                          <a:latin typeface="Inter"/>
                        </a:rPr>
                        <a:t>What its own page, README or paper documents</a:t>
                      </a:r>
                    </a:p>
                  </a:txBody>
                  <a:tcPr marL="73152" marR="73152" marT="36576" marB="36576" anchor="ctr">
                    <a:solidFill>
                      <a:srgbClr val="1B2A55"/>
                    </a:solidFill>
                  </a:tcPr>
                </a:tc>
                <a:tc>
                  <a:txBody>
                    <a:bodyPr wrap="square"/>
                    <a:lstStyle/>
                    <a:p>
                      <a:r>
                        <a:rPr sz="950" b="1" i="0">
                          <a:solidFill>
                            <a:srgbClr val="FFFFFF"/>
                          </a:solidFill>
                          <a:latin typeface="Inter"/>
                        </a:rPr>
                        <a:t>Match</a:t>
                      </a:r>
                    </a:p>
                  </a:txBody>
                  <a:tcPr marL="73152" marR="73152" marT="36576" marB="36576" anchor="ctr">
                    <a:solidFill>
                      <a:srgbClr val="1B2A55"/>
                    </a:solidFill>
                  </a:tcPr>
                </a:tc>
              </a:tr>
              <a:tr h="420624">
                <a:tc>
                  <a:txBody>
                    <a:bodyPr wrap="square"/>
                    <a:lstStyle/>
                    <a:p>
                      <a:r>
                        <a:rPr sz="950" b="1" i="0">
                          <a:solidFill>
                            <a:srgbClr val="1B2A55"/>
                          </a:solidFill>
                          <a:latin typeface="Inter"/>
                        </a:rPr>
                        <a:t>FlexyVotes (GitHub)</a:t>
                      </a:r>
                    </a:p>
                  </a:txBody>
                  <a:tcPr marL="73152" marR="73152" marT="36576" marB="36576" anchor="ctr">
                    <a:solidFill>
                      <a:srgbClr val="FFFFFF"/>
                    </a:solidFill>
                  </a:tcPr>
                </a:tc>
                <a:tc>
                  <a:txBody>
                    <a:bodyPr wrap="square"/>
                    <a:lstStyle/>
                    <a:p>
                      <a:r>
                        <a:rPr sz="950" b="0" i="0">
                          <a:solidFill>
                            <a:srgbClr val="353B4A"/>
                          </a:solidFill>
                          <a:latin typeface="Inter"/>
                        </a:rPr>
                        <a:t>Unique indexes and append-only triggers that block even raw SQL; ballot rows carry no voter key. Voters and encrypted emails share one PostgreSQL database.</a:t>
                      </a:r>
                    </a:p>
                  </a:txBody>
                  <a:tcPr marL="73152" marR="73152" marT="36576" marB="36576" anchor="ctr">
                    <a:solidFill>
                      <a:srgbClr val="FFFFFF"/>
                    </a:solidFill>
                  </a:tcPr>
                </a:tc>
                <a:tc>
                  <a:txBody>
                    <a:bodyPr wrap="square"/>
                    <a:lstStyle/>
                    <a:p>
                      <a:r>
                        <a:rPr sz="950" b="0" i="0">
                          <a:solidFill>
                            <a:srgbClr val="353B4A"/>
                          </a:solidFill>
                          <a:latin typeface="Inter"/>
                        </a:rPr>
                        <a:t>F3 Yes · F4 Part</a:t>
                      </a:r>
                    </a:p>
                  </a:txBody>
                  <a:tcPr marL="73152" marR="73152" marT="36576" marB="36576" anchor="ctr">
                    <a:solidFill>
                      <a:srgbClr val="FFFFFF"/>
                    </a:solidFill>
                  </a:tcPr>
                </a:tc>
              </a:tr>
              <a:tr h="420624">
                <a:tc>
                  <a:txBody>
                    <a:bodyPr wrap="square"/>
                    <a:lstStyle/>
                    <a:p>
                      <a:r>
                        <a:rPr sz="950" b="1" i="0">
                          <a:solidFill>
                            <a:srgbClr val="1B2A55"/>
                          </a:solidFill>
                          <a:latin typeface="Inter"/>
                        </a:rPr>
                        <a:t>VeriVote (GitHub)</a:t>
                      </a:r>
                    </a:p>
                  </a:txBody>
                  <a:tcPr marL="73152" marR="73152" marT="36576" marB="36576" anchor="ctr">
                    <a:solidFill>
                      <a:srgbClr val="F1F0F6"/>
                    </a:solidFill>
                  </a:tcPr>
                </a:tc>
                <a:tc>
                  <a:txBody>
                    <a:bodyPr wrap="square"/>
                    <a:lstStyle/>
                    <a:p>
                      <a:r>
                        <a:rPr sz="950" b="0" i="0">
                          <a:solidFill>
                            <a:srgbClr val="353B4A"/>
                          </a:solidFill>
                          <a:latin typeface="Inter"/>
                        </a:rPr>
                        <a:t>Ballots stored without voter identity; triggers, CHECK and foreign-key rules are not documented.</a:t>
                      </a:r>
                    </a:p>
                  </a:txBody>
                  <a:tcPr marL="73152" marR="73152" marT="36576" marB="36576" anchor="ctr">
                    <a:solidFill>
                      <a:srgbClr val="F1F0F6"/>
                    </a:solidFill>
                  </a:tcPr>
                </a:tc>
                <a:tc>
                  <a:txBody>
                    <a:bodyPr wrap="square"/>
                    <a:lstStyle/>
                    <a:p>
                      <a:r>
                        <a:rPr sz="950" b="0" i="0">
                          <a:solidFill>
                            <a:srgbClr val="353B4A"/>
                          </a:solidFill>
                          <a:latin typeface="Inter"/>
                        </a:rPr>
                        <a:t>F3 Part · F4 Part</a:t>
                      </a:r>
                    </a:p>
                  </a:txBody>
                  <a:tcPr marL="73152" marR="73152" marT="36576" marB="36576" anchor="ctr">
                    <a:solidFill>
                      <a:srgbClr val="F1F0F6"/>
                    </a:solidFill>
                  </a:tcPr>
                </a:tc>
              </a:tr>
              <a:tr h="420624">
                <a:tc>
                  <a:txBody>
                    <a:bodyPr wrap="square"/>
                    <a:lstStyle/>
                    <a:p>
                      <a:r>
                        <a:rPr sz="950" b="1" i="0">
                          <a:solidFill>
                            <a:srgbClr val="1B2A55"/>
                          </a:solidFill>
                          <a:latin typeface="Inter"/>
                        </a:rPr>
                        <a:t>CIVS (Cornell)</a:t>
                      </a:r>
                    </a:p>
                  </a:txBody>
                  <a:tcPr marL="73152" marR="73152" marT="36576" marB="36576" anchor="ctr">
                    <a:solidFill>
                      <a:srgbClr val="FFFFFF"/>
                    </a:solidFill>
                  </a:tcPr>
                </a:tc>
                <a:tc>
                  <a:txBody>
                    <a:bodyPr wrap="square"/>
                    <a:lstStyle/>
                    <a:p>
                      <a:r>
                        <a:rPr sz="950" b="0" i="0">
                          <a:solidFill>
                            <a:srgbClr val="353B4A"/>
                          </a:solidFill>
                          <a:latin typeface="Inter"/>
                        </a:rPr>
                        <a:t>Voter emails are erased once the election begins; ballots are stored under a hash of the receipt.</a:t>
                      </a:r>
                    </a:p>
                  </a:txBody>
                  <a:tcPr marL="73152" marR="73152" marT="36576" marB="36576" anchor="ctr">
                    <a:solidFill>
                      <a:srgbClr val="FFFFFF"/>
                    </a:solidFill>
                  </a:tcPr>
                </a:tc>
                <a:tc>
                  <a:txBody>
                    <a:bodyPr wrap="square"/>
                    <a:lstStyle/>
                    <a:p>
                      <a:r>
                        <a:rPr sz="950" b="0" i="0">
                          <a:solidFill>
                            <a:srgbClr val="353B4A"/>
                          </a:solidFill>
                          <a:latin typeface="Inter"/>
                        </a:rPr>
                        <a:t>F3 – · F4 Part</a:t>
                      </a:r>
                    </a:p>
                  </a:txBody>
                  <a:tcPr marL="73152" marR="73152" marT="36576" marB="36576" anchor="ctr">
                    <a:solidFill>
                      <a:srgbClr val="FFFFFF"/>
                    </a:solidFill>
                  </a:tcPr>
                </a:tc>
              </a:tr>
              <a:tr h="420624">
                <a:tc>
                  <a:txBody>
                    <a:bodyPr wrap="square"/>
                    <a:lstStyle/>
                    <a:p>
                      <a:r>
                        <a:rPr sz="950" b="1" i="0">
                          <a:solidFill>
                            <a:srgbClr val="1B2A55"/>
                          </a:solidFill>
                          <a:latin typeface="Inter"/>
                        </a:rPr>
                        <a:t>Helios, Belenios</a:t>
                      </a:r>
                    </a:p>
                  </a:txBody>
                  <a:tcPr marL="73152" marR="73152" marT="36576" marB="36576" anchor="ctr">
                    <a:solidFill>
                      <a:srgbClr val="F1F0F6"/>
                    </a:solidFill>
                  </a:tcPr>
                </a:tc>
                <a:tc>
                  <a:txBody>
                    <a:bodyPr wrap="square"/>
                    <a:lstStyle/>
                    <a:p>
                      <a:r>
                        <a:rPr sz="950" b="0" i="0">
                          <a:solidFill>
                            <a:srgbClr val="353B4A"/>
                          </a:solidFill>
                          <a:latin typeface="Inter"/>
                        </a:rPr>
                        <a:t>Secrecy comes from encryption, not from a schema with no linking column; ballots sit on a public ballot box.</a:t>
                      </a:r>
                    </a:p>
                  </a:txBody>
                  <a:tcPr marL="73152" marR="73152" marT="36576" marB="36576" anchor="ctr">
                    <a:solidFill>
                      <a:srgbClr val="F1F0F6"/>
                    </a:solidFill>
                  </a:tcPr>
                </a:tc>
                <a:tc>
                  <a:txBody>
                    <a:bodyPr wrap="square"/>
                    <a:lstStyle/>
                    <a:p>
                      <a:r>
                        <a:rPr sz="950" b="0" i="0">
                          <a:solidFill>
                            <a:srgbClr val="353B4A"/>
                          </a:solidFill>
                          <a:latin typeface="Inter"/>
                        </a:rPr>
                        <a:t>F3 – · F4 Part</a:t>
                      </a:r>
                    </a:p>
                  </a:txBody>
                  <a:tcPr marL="73152" marR="73152" marT="36576" marB="36576" anchor="ctr">
                    <a:solidFill>
                      <a:srgbClr val="F1F0F6"/>
                    </a:solidFill>
                  </a:tcPr>
                </a:tc>
              </a:tr>
              <a:tr h="420624">
                <a:tc>
                  <a:txBody>
                    <a:bodyPr wrap="square"/>
                    <a:lstStyle/>
                    <a:p>
                      <a:r>
                        <a:rPr sz="950" b="1" i="0">
                          <a:solidFill>
                            <a:srgbClr val="1B2A55"/>
                          </a:solidFill>
                          <a:latin typeface="Inter"/>
                        </a:rPr>
                        <a:t>Democracy Live (USENIX 2021)</a:t>
                      </a:r>
                    </a:p>
                  </a:txBody>
                  <a:tcPr marL="73152" marR="73152" marT="36576" marB="36576" anchor="ctr">
                    <a:solidFill>
                      <a:srgbClr val="FFFFFF"/>
                    </a:solidFill>
                  </a:tcPr>
                </a:tc>
                <a:tc>
                  <a:txBody>
                    <a:bodyPr wrap="square"/>
                    <a:lstStyle/>
                    <a:p>
                      <a:r>
                        <a:rPr sz="950" b="0" i="0">
                          <a:solidFill>
                            <a:srgbClr val="353B4A"/>
                          </a:solidFill>
                          <a:latin typeface="Inter"/>
                        </a:rPr>
                        <a:t>The authors report voter identity, selections and a browser fingerprint sent to the vendor.</a:t>
                      </a:r>
                    </a:p>
                  </a:txBody>
                  <a:tcPr marL="73152" marR="73152" marT="36576" marB="36576" anchor="ctr">
                    <a:solidFill>
                      <a:srgbClr val="FFFFFF"/>
                    </a:solidFill>
                  </a:tcPr>
                </a:tc>
                <a:tc>
                  <a:txBody>
                    <a:bodyPr wrap="square"/>
                    <a:lstStyle/>
                    <a:p>
                      <a:r>
                        <a:rPr sz="950" b="0" i="0">
                          <a:solidFill>
                            <a:srgbClr val="353B4A"/>
                          </a:solidFill>
                          <a:latin typeface="Inter"/>
                        </a:rPr>
                        <a:t>F4 No</a:t>
                      </a:r>
                    </a:p>
                  </a:txBody>
                  <a:tcPr marL="73152" marR="73152" marT="36576" marB="36576" anchor="ctr">
                    <a:solidFill>
                      <a:srgbClr val="FFFFFF"/>
                    </a:solidFill>
                  </a:tcPr>
                </a:tc>
              </a:tr>
            </a:tbl>
          </a:graphicData>
        </a:graphic>
      </p:graphicFrame>
      <p:sp>
        <p:nvSpPr>
          <p:cNvPr id="7" name="Rounded Rectangle 6"/>
          <p:cNvSpPr/>
          <p:nvPr/>
        </p:nvSpPr>
        <p:spPr>
          <a:xfrm>
            <a:off x="457200" y="3584448"/>
            <a:ext cx="8229600" cy="1170431"/>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657600"/>
            <a:ext cx="7863840" cy="1060703"/>
          </a:xfrm>
          <a:prstGeom prst="rect">
            <a:avLst/>
          </a:prstGeom>
          <a:noFill/>
        </p:spPr>
        <p:txBody>
          <a:bodyPr wrap="square" anchor="t" lIns="0" rIns="0" tIns="0" bIns="0">
            <a:spAutoFit/>
          </a:bodyPr>
          <a:lstStyle/>
          <a:p>
            <a:pPr algn="l">
              <a:spcAft>
                <a:spcPts val="300"/>
              </a:spcAft>
            </a:pPr>
            <a:r>
              <a:rPr sz="1000" b="1" i="0">
                <a:solidFill>
                  <a:srgbClr val="1B2A55"/>
                </a:solidFill>
                <a:latin typeface="Inter"/>
              </a:rPr>
              <a:t>PolyVote: </a:t>
            </a:r>
            <a:r>
              <a:rPr sz="1000" b="0" i="0">
                <a:solidFill>
                  <a:srgbClr val="353B4A"/>
                </a:solidFill>
                <a:latin typeface="Inter"/>
              </a:rPr>
              <a:t>6 of 7 direct SQL attempts refused by the engine, 13 of 13 API abuses refused, exactly 1 of 20 simultaneous casts accepted. An automated check finds no column shared by ballots and voters; emails live in a separate file.</a:t>
            </a:r>
          </a:p>
          <a:p>
            <a:pPr algn="l">
              <a:spcAft>
                <a:spcPts val="300"/>
              </a:spcAft>
            </a:pPr>
            <a:r>
              <a:rPr sz="1000" b="1" i="0">
                <a:solidFill>
                  <a:srgbClr val="1B2A55"/>
                </a:solidFill>
                <a:latin typeface="Inter"/>
              </a:rPr>
              <a:t>Verdict: </a:t>
            </a:r>
            <a:r>
              <a:rPr sz="1000" b="0" i="0">
                <a:solidFill>
                  <a:srgbClr val="353B4A"/>
                </a:solidFill>
                <a:latin typeface="Inter"/>
              </a:rPr>
              <a:t>FlexyVotes is stronger on database rules (append-only triggers). Our known gap is the one attempt not refused: SQLite foreign keys apply per connection.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FEATURE 5 · TAMPER-EVIDENT LEDGER</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Tamper-evident ledgers: where a keyed chain differs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32</a:t>
            </a:r>
          </a:p>
        </p:txBody>
      </p:sp>
      <p:graphicFrame>
        <p:nvGraphicFramePr>
          <p:cNvPr id="6" name="Table 5"/>
          <p:cNvGraphicFramePr>
            <a:graphicFrameLocks noGrp="1"/>
          </p:cNvGraphicFramePr>
          <p:nvPr/>
        </p:nvGraphicFramePr>
        <p:xfrm>
          <a:off x="457200" y="1051560"/>
          <a:ext cx="8229600" cy="2487168"/>
        </p:xfrm>
        <a:graphic>
          <a:graphicData uri="http://schemas.openxmlformats.org/drawingml/2006/table">
            <a:tbl>
              <a:tblPr firstRow="1" bandRow="1">
                <a:tableStyleId>{5C22544A-7EE6-4342-B048-85BDC9FD1C3A}</a:tableStyleId>
              </a:tblPr>
              <a:tblGrid>
                <a:gridCol w="1828800"/>
                <a:gridCol w="5120640"/>
                <a:gridCol w="1280160"/>
              </a:tblGrid>
              <a:tr h="292608">
                <a:tc>
                  <a:txBody>
                    <a:bodyPr wrap="square"/>
                    <a:lstStyle/>
                    <a:p>
                      <a:r>
                        <a:rPr sz="950" b="1" i="0">
                          <a:solidFill>
                            <a:srgbClr val="FFFFFF"/>
                          </a:solidFill>
                          <a:latin typeface="Inter"/>
                        </a:rPr>
                        <a:t>System</a:t>
                      </a:r>
                    </a:p>
                  </a:txBody>
                  <a:tcPr marL="73152" marR="73152" marT="36576" marB="36576" anchor="ctr">
                    <a:solidFill>
                      <a:srgbClr val="1B2A55"/>
                    </a:solidFill>
                  </a:tcPr>
                </a:tc>
                <a:tc>
                  <a:txBody>
                    <a:bodyPr wrap="square"/>
                    <a:lstStyle/>
                    <a:p>
                      <a:r>
                        <a:rPr sz="950" b="1" i="0">
                          <a:solidFill>
                            <a:srgbClr val="FFFFFF"/>
                          </a:solidFill>
                          <a:latin typeface="Inter"/>
                        </a:rPr>
                        <a:t>What its own page, README or paper documents</a:t>
                      </a:r>
                    </a:p>
                  </a:txBody>
                  <a:tcPr marL="73152" marR="73152" marT="36576" marB="36576" anchor="ctr">
                    <a:solidFill>
                      <a:srgbClr val="1B2A55"/>
                    </a:solidFill>
                  </a:tcPr>
                </a:tc>
                <a:tc>
                  <a:txBody>
                    <a:bodyPr wrap="square"/>
                    <a:lstStyle/>
                    <a:p>
                      <a:r>
                        <a:rPr sz="950" b="1" i="0">
                          <a:solidFill>
                            <a:srgbClr val="FFFFFF"/>
                          </a:solidFill>
                          <a:latin typeface="Inter"/>
                        </a:rPr>
                        <a:t>Match</a:t>
                      </a:r>
                    </a:p>
                  </a:txBody>
                  <a:tcPr marL="73152" marR="73152" marT="36576" marB="36576" anchor="ctr">
                    <a:solidFill>
                      <a:srgbClr val="1B2A55"/>
                    </a:solidFill>
                  </a:tcPr>
                </a:tc>
              </a:tr>
              <a:tr h="365760">
                <a:tc>
                  <a:txBody>
                    <a:bodyPr wrap="square"/>
                    <a:lstStyle/>
                    <a:p>
                      <a:r>
                        <a:rPr sz="900" b="1" i="0">
                          <a:solidFill>
                            <a:srgbClr val="1B2A55"/>
                          </a:solidFill>
                          <a:latin typeface="Inter"/>
                        </a:rPr>
                        <a:t>FlexyVotes (GitHub)</a:t>
                      </a:r>
                    </a:p>
                  </a:txBody>
                  <a:tcPr marL="73152" marR="73152" marT="36576" marB="36576" anchor="ctr">
                    <a:solidFill>
                      <a:srgbClr val="FFFFFF"/>
                    </a:solidFill>
                  </a:tcPr>
                </a:tc>
                <a:tc>
                  <a:txBody>
                    <a:bodyPr wrap="square"/>
                    <a:lstStyle/>
                    <a:p>
                      <a:r>
                        <a:rPr sz="900" b="0" i="0">
                          <a:solidFill>
                            <a:srgbClr val="353B4A"/>
                          </a:solidFill>
                          <a:latin typeface="Inter"/>
                        </a:rPr>
                        <a:t>SHA-256 chain per organisation inside PostgreSQL, verified every 6 hours; Merkle bulletin board; 204 tests, no published attack table.</a:t>
                      </a:r>
                    </a:p>
                  </a:txBody>
                  <a:tcPr marL="73152" marR="73152" marT="36576" marB="36576" anchor="ctr">
                    <a:solidFill>
                      <a:srgbClr val="FFFFFF"/>
                    </a:solidFill>
                  </a:tcPr>
                </a:tc>
                <a:tc>
                  <a:txBody>
                    <a:bodyPr wrap="square"/>
                    <a:lstStyle/>
                    <a:p>
                      <a:r>
                        <a:rPr sz="900" b="0" i="0">
                          <a:solidFill>
                            <a:srgbClr val="353B4A"/>
                          </a:solidFill>
                          <a:latin typeface="Inter"/>
                        </a:rPr>
                        <a:t>F5 Part</a:t>
                      </a:r>
                    </a:p>
                  </a:txBody>
                  <a:tcPr marL="73152" marR="73152" marT="36576" marB="36576" anchor="ctr">
                    <a:solidFill>
                      <a:srgbClr val="FFFFFF"/>
                    </a:solidFill>
                  </a:tcPr>
                </a:tc>
              </a:tr>
              <a:tr h="365760">
                <a:tc>
                  <a:txBody>
                    <a:bodyPr wrap="square"/>
                    <a:lstStyle/>
                    <a:p>
                      <a:r>
                        <a:rPr sz="900" b="1" i="0">
                          <a:solidFill>
                            <a:srgbClr val="1B2A55"/>
                          </a:solidFill>
                          <a:latin typeface="Inter"/>
                        </a:rPr>
                        <a:t>VeriVote (GitHub)</a:t>
                      </a:r>
                    </a:p>
                  </a:txBody>
                  <a:tcPr marL="73152" marR="73152" marT="36576" marB="36576" anchor="ctr">
                    <a:solidFill>
                      <a:srgbClr val="F1F0F6"/>
                    </a:solidFill>
                  </a:tcPr>
                </a:tc>
                <a:tc>
                  <a:txBody>
                    <a:bodyPr wrap="square"/>
                    <a:lstStyle/>
                    <a:p>
                      <a:r>
                        <a:rPr sz="900" b="0" i="0">
                          <a:solidFill>
                            <a:srgbClr val="353B4A"/>
                          </a:solidFill>
                          <a:latin typeface="Inter"/>
                        </a:rPr>
                        <a:t>SHA-256 chain in MongoDB with an audit endpoint and a manual tamper demo; no HMAC key, no reconciliation.</a:t>
                      </a:r>
                    </a:p>
                  </a:txBody>
                  <a:tcPr marL="73152" marR="73152" marT="36576" marB="36576" anchor="ctr">
                    <a:solidFill>
                      <a:srgbClr val="F1F0F6"/>
                    </a:solidFill>
                  </a:tcPr>
                </a:tc>
                <a:tc>
                  <a:txBody>
                    <a:bodyPr wrap="square"/>
                    <a:lstStyle/>
                    <a:p>
                      <a:r>
                        <a:rPr sz="900" b="0" i="0">
                          <a:solidFill>
                            <a:srgbClr val="353B4A"/>
                          </a:solidFill>
                          <a:latin typeface="Inter"/>
                        </a:rPr>
                        <a:t>F5 Part</a:t>
                      </a:r>
                    </a:p>
                  </a:txBody>
                  <a:tcPr marL="73152" marR="73152" marT="36576" marB="36576" anchor="ctr">
                    <a:solidFill>
                      <a:srgbClr val="F1F0F6"/>
                    </a:solidFill>
                  </a:tcPr>
                </a:tc>
              </a:tr>
              <a:tr h="365760">
                <a:tc>
                  <a:txBody>
                    <a:bodyPr wrap="square"/>
                    <a:lstStyle/>
                    <a:p>
                      <a:r>
                        <a:rPr sz="900" b="1" i="0">
                          <a:solidFill>
                            <a:srgbClr val="1B2A55"/>
                          </a:solidFill>
                          <a:latin typeface="Inter"/>
                        </a:rPr>
                        <a:t>SecureVote (GitHub)</a:t>
                      </a:r>
                    </a:p>
                  </a:txBody>
                  <a:tcPr marL="73152" marR="73152" marT="36576" marB="36576" anchor="ctr">
                    <a:solidFill>
                      <a:srgbClr val="FFFFFF"/>
                    </a:solidFill>
                  </a:tcPr>
                </a:tc>
                <a:tc>
                  <a:txBody>
                    <a:bodyPr wrap="square"/>
                    <a:lstStyle/>
                    <a:p>
                      <a:r>
                        <a:rPr sz="900" b="0" i="0">
                          <a:solidFill>
                            <a:srgbClr val="353B4A"/>
                          </a:solidFill>
                          <a:latin typeface="Inter"/>
                        </a:rPr>
                        <a:t>Hash-linked ledger with hashed one-time codes; no ranking; a single instance by design.</a:t>
                      </a:r>
                    </a:p>
                  </a:txBody>
                  <a:tcPr marL="73152" marR="73152" marT="36576" marB="36576" anchor="ctr">
                    <a:solidFill>
                      <a:srgbClr val="FFFFFF"/>
                    </a:solidFill>
                  </a:tcPr>
                </a:tc>
                <a:tc>
                  <a:txBody>
                    <a:bodyPr wrap="square"/>
                    <a:lstStyle/>
                    <a:p>
                      <a:r>
                        <a:rPr sz="900" b="0" i="0">
                          <a:solidFill>
                            <a:srgbClr val="353B4A"/>
                          </a:solidFill>
                          <a:latin typeface="Inter"/>
                        </a:rPr>
                        <a:t>F5 Part</a:t>
                      </a:r>
                    </a:p>
                  </a:txBody>
                  <a:tcPr marL="73152" marR="73152" marT="36576" marB="36576" anchor="ctr">
                    <a:solidFill>
                      <a:srgbClr val="FFFFFF"/>
                    </a:solidFill>
                  </a:tcPr>
                </a:tc>
              </a:tr>
              <a:tr h="365760">
                <a:tc>
                  <a:txBody>
                    <a:bodyPr wrap="square"/>
                    <a:lstStyle/>
                    <a:p>
                      <a:r>
                        <a:rPr sz="900" b="1" i="0">
                          <a:solidFill>
                            <a:srgbClr val="1B2A55"/>
                          </a:solidFill>
                          <a:latin typeface="Inter"/>
                        </a:rPr>
                        <a:t>BetterVoting (GitHub)</a:t>
                      </a:r>
                    </a:p>
                  </a:txBody>
                  <a:tcPr marL="73152" marR="73152" marT="36576" marB="36576" anchor="ctr">
                    <a:solidFill>
                      <a:srgbClr val="F1F0F6"/>
                    </a:solidFill>
                  </a:tcPr>
                </a:tc>
                <a:tc>
                  <a:txBody>
                    <a:bodyPr wrap="square"/>
                    <a:lstStyle/>
                    <a:p>
                      <a:r>
                        <a:rPr sz="900" b="0" i="0">
                          <a:solidFill>
                            <a:srgbClr val="353B4A"/>
                          </a:solidFill>
                          <a:latin typeface="Inter"/>
                        </a:rPr>
                        <a:t>Audit log covers administrator actions (sharing a link, revealing a ballot link), not a chain of ballots.</a:t>
                      </a:r>
                    </a:p>
                  </a:txBody>
                  <a:tcPr marL="73152" marR="73152" marT="36576" marB="36576" anchor="ctr">
                    <a:solidFill>
                      <a:srgbClr val="F1F0F6"/>
                    </a:solidFill>
                  </a:tcPr>
                </a:tc>
                <a:tc>
                  <a:txBody>
                    <a:bodyPr wrap="square"/>
                    <a:lstStyle/>
                    <a:p>
                      <a:r>
                        <a:rPr sz="900" b="0" i="0">
                          <a:solidFill>
                            <a:srgbClr val="353B4A"/>
                          </a:solidFill>
                          <a:latin typeface="Inter"/>
                        </a:rPr>
                        <a:t>F5 Part</a:t>
                      </a:r>
                    </a:p>
                  </a:txBody>
                  <a:tcPr marL="73152" marR="73152" marT="36576" marB="36576" anchor="ctr">
                    <a:solidFill>
                      <a:srgbClr val="F1F0F6"/>
                    </a:solidFill>
                  </a:tcPr>
                </a:tc>
              </a:tr>
              <a:tr h="365760">
                <a:tc>
                  <a:txBody>
                    <a:bodyPr wrap="square"/>
                    <a:lstStyle/>
                    <a:p>
                      <a:r>
                        <a:rPr sz="900" b="1" i="0">
                          <a:solidFill>
                            <a:srgbClr val="1B2A55"/>
                          </a:solidFill>
                          <a:latin typeface="Inter"/>
                        </a:rPr>
                        <a:t>Helios, Belenios</a:t>
                      </a:r>
                    </a:p>
                  </a:txBody>
                  <a:tcPr marL="73152" marR="73152" marT="36576" marB="36576" anchor="ctr">
                    <a:solidFill>
                      <a:srgbClr val="FFFFFF"/>
                    </a:solidFill>
                  </a:tcPr>
                </a:tc>
                <a:tc>
                  <a:txBody>
                    <a:bodyPr wrap="square"/>
                    <a:lstStyle/>
                    <a:p>
                      <a:r>
                        <a:rPr sz="900" b="0" i="0">
                          <a:solidFill>
                            <a:srgbClr val="353B4A"/>
                          </a:solidFill>
                          <a:latin typeface="Inter"/>
                        </a:rPr>
                        <a:t>A public, cryptographically verifiable ballot box: a stronger guarantee by a different mechanism.</a:t>
                      </a:r>
                    </a:p>
                  </a:txBody>
                  <a:tcPr marL="73152" marR="73152" marT="36576" marB="36576" anchor="ctr">
                    <a:solidFill>
                      <a:srgbClr val="FFFFFF"/>
                    </a:solidFill>
                  </a:tcPr>
                </a:tc>
                <a:tc>
                  <a:txBody>
                    <a:bodyPr wrap="square"/>
                    <a:lstStyle/>
                    <a:p>
                      <a:r>
                        <a:rPr sz="900" b="0" i="0">
                          <a:solidFill>
                            <a:srgbClr val="353B4A"/>
                          </a:solidFill>
                          <a:latin typeface="Inter"/>
                        </a:rPr>
                        <a:t>F5 Part</a:t>
                      </a:r>
                    </a:p>
                  </a:txBody>
                  <a:tcPr marL="73152" marR="73152" marT="36576" marB="36576" anchor="ctr">
                    <a:solidFill>
                      <a:srgbClr val="FFFFFF"/>
                    </a:solidFill>
                  </a:tcPr>
                </a:tc>
              </a:tr>
              <a:tr h="365760">
                <a:tc>
                  <a:txBody>
                    <a:bodyPr wrap="square"/>
                    <a:lstStyle/>
                    <a:p>
                      <a:r>
                        <a:rPr sz="900" b="1" i="0">
                          <a:solidFill>
                            <a:srgbClr val="1B2A55"/>
                          </a:solidFill>
                          <a:latin typeface="Inter"/>
                        </a:rPr>
                        <a:t>Voatz (USENIX 2020)</a:t>
                      </a:r>
                    </a:p>
                  </a:txBody>
                  <a:tcPr marL="73152" marR="73152" marT="36576" marB="36576" anchor="ctr">
                    <a:solidFill>
                      <a:srgbClr val="F1F0F6"/>
                    </a:solidFill>
                  </a:tcPr>
                </a:tc>
                <a:tc>
                  <a:txBody>
                    <a:bodyPr wrap="square"/>
                    <a:lstStyle/>
                    <a:p>
                      <a:r>
                        <a:rPr sz="900" b="0" i="0">
                          <a:solidFill>
                            <a:srgbClr val="353B4A"/>
                          </a:solidFill>
                          <a:latin typeface="Inter"/>
                        </a:rPr>
                        <a:t>Claims a blockchain; the analysis found no public formal description and reported flaws.</a:t>
                      </a:r>
                    </a:p>
                  </a:txBody>
                  <a:tcPr marL="73152" marR="73152" marT="36576" marB="36576" anchor="ctr">
                    <a:solidFill>
                      <a:srgbClr val="F1F0F6"/>
                    </a:solidFill>
                  </a:tcPr>
                </a:tc>
                <a:tc>
                  <a:txBody>
                    <a:bodyPr wrap="square"/>
                    <a:lstStyle/>
                    <a:p>
                      <a:r>
                        <a:rPr sz="900" b="0" i="0">
                          <a:solidFill>
                            <a:srgbClr val="353B4A"/>
                          </a:solidFill>
                          <a:latin typeface="Inter"/>
                        </a:rPr>
                        <a:t>F5 Part</a:t>
                      </a:r>
                    </a:p>
                  </a:txBody>
                  <a:tcPr marL="73152" marR="73152" marT="36576" marB="36576" anchor="ctr">
                    <a:solidFill>
                      <a:srgbClr val="F1F0F6"/>
                    </a:solidFill>
                  </a:tcPr>
                </a:tc>
              </a:tr>
            </a:tbl>
          </a:graphicData>
        </a:graphic>
      </p:graphicFrame>
      <p:sp>
        <p:nvSpPr>
          <p:cNvPr id="7" name="Rounded Rectangle 6"/>
          <p:cNvSpPr/>
          <p:nvPr/>
        </p:nvSpPr>
        <p:spPr>
          <a:xfrm>
            <a:off x="457200" y="3675888"/>
            <a:ext cx="8229600" cy="1078991"/>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749040"/>
            <a:ext cx="7863840" cy="969263"/>
          </a:xfrm>
          <a:prstGeom prst="rect">
            <a:avLst/>
          </a:prstGeom>
          <a:noFill/>
        </p:spPr>
        <p:txBody>
          <a:bodyPr wrap="square" anchor="t" lIns="0" rIns="0" tIns="0" bIns="0">
            <a:spAutoFit/>
          </a:bodyPr>
          <a:lstStyle/>
          <a:p>
            <a:pPr algn="l">
              <a:spcAft>
                <a:spcPts val="300"/>
              </a:spcAft>
            </a:pPr>
            <a:r>
              <a:rPr sz="1000" b="1" i="0">
                <a:solidFill>
                  <a:srgbClr val="1B2A55"/>
                </a:solidFill>
                <a:latin typeface="Inter"/>
              </a:rPr>
              <a:t>PolyVote: </a:t>
            </a:r>
            <a:r>
              <a:rPr sz="1000" b="0" i="0">
                <a:solidFill>
                  <a:srgbClr val="353B4A"/>
                </a:solidFill>
                <a:latin typeface="Inter"/>
              </a:rPr>
              <a:t>an HMAC-keyed chain in a separate MongoDB store, a five-rule sweep and a published attack suite. 12 of 13 attacks caught against 6 of 13 for the plain-chain design, the same in 3 runs; C6 and C10 only fail with the key.</a:t>
            </a:r>
          </a:p>
          <a:p>
            <a:pPr algn="l">
              <a:spcAft>
                <a:spcPts val="300"/>
              </a:spcAft>
            </a:pPr>
            <a:r>
              <a:rPr sz="1000" b="1" i="0">
                <a:solidFill>
                  <a:srgbClr val="1B2A55"/>
                </a:solidFill>
                <a:latin typeface="Inter"/>
              </a:rPr>
              <a:t>Verdict: </a:t>
            </a:r>
            <a:r>
              <a:rPr sz="1000" b="0" i="0">
                <a:solidFill>
                  <a:srgbClr val="353B4A"/>
                </a:solidFill>
                <a:latin typeface="Inter"/>
              </a:rPr>
              <a:t>better than a plain chain against someone who can write to the database. Not a match for cryptographic verification, and whoever holds the key can still forge.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FEATURES 6-7 · SECOND FACTOR AND QR VOTING</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Emailed codes exist elsewhere; so does QR sharing</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33</a:t>
            </a:r>
          </a:p>
        </p:txBody>
      </p:sp>
      <p:graphicFrame>
        <p:nvGraphicFramePr>
          <p:cNvPr id="6" name="Table 5"/>
          <p:cNvGraphicFramePr>
            <a:graphicFrameLocks noGrp="1"/>
          </p:cNvGraphicFramePr>
          <p:nvPr/>
        </p:nvGraphicFramePr>
        <p:xfrm>
          <a:off x="457200" y="1051560"/>
          <a:ext cx="8229600" cy="2487168"/>
        </p:xfrm>
        <a:graphic>
          <a:graphicData uri="http://schemas.openxmlformats.org/drawingml/2006/table">
            <a:tbl>
              <a:tblPr firstRow="1" bandRow="1">
                <a:tableStyleId>{5C22544A-7EE6-4342-B048-85BDC9FD1C3A}</a:tableStyleId>
              </a:tblPr>
              <a:tblGrid>
                <a:gridCol w="1828800"/>
                <a:gridCol w="5120640"/>
                <a:gridCol w="1280160"/>
              </a:tblGrid>
              <a:tr h="292608">
                <a:tc>
                  <a:txBody>
                    <a:bodyPr wrap="square"/>
                    <a:lstStyle/>
                    <a:p>
                      <a:r>
                        <a:rPr sz="950" b="1" i="0">
                          <a:solidFill>
                            <a:srgbClr val="FFFFFF"/>
                          </a:solidFill>
                          <a:latin typeface="Inter"/>
                        </a:rPr>
                        <a:t>System</a:t>
                      </a:r>
                    </a:p>
                  </a:txBody>
                  <a:tcPr marL="73152" marR="73152" marT="36576" marB="36576" anchor="ctr">
                    <a:solidFill>
                      <a:srgbClr val="1B2A55"/>
                    </a:solidFill>
                  </a:tcPr>
                </a:tc>
                <a:tc>
                  <a:txBody>
                    <a:bodyPr wrap="square"/>
                    <a:lstStyle/>
                    <a:p>
                      <a:r>
                        <a:rPr sz="950" b="1" i="0">
                          <a:solidFill>
                            <a:srgbClr val="FFFFFF"/>
                          </a:solidFill>
                          <a:latin typeface="Inter"/>
                        </a:rPr>
                        <a:t>What its own page, README or paper documents</a:t>
                      </a:r>
                    </a:p>
                  </a:txBody>
                  <a:tcPr marL="73152" marR="73152" marT="36576" marB="36576" anchor="ctr">
                    <a:solidFill>
                      <a:srgbClr val="1B2A55"/>
                    </a:solidFill>
                  </a:tcPr>
                </a:tc>
                <a:tc>
                  <a:txBody>
                    <a:bodyPr wrap="square"/>
                    <a:lstStyle/>
                    <a:p>
                      <a:r>
                        <a:rPr sz="950" b="1" i="0">
                          <a:solidFill>
                            <a:srgbClr val="FFFFFF"/>
                          </a:solidFill>
                          <a:latin typeface="Inter"/>
                        </a:rPr>
                        <a:t>Match</a:t>
                      </a:r>
                    </a:p>
                  </a:txBody>
                  <a:tcPr marL="73152" marR="73152" marT="36576" marB="36576" anchor="ctr">
                    <a:solidFill>
                      <a:srgbClr val="1B2A55"/>
                    </a:solidFill>
                  </a:tcPr>
                </a:tc>
              </a:tr>
              <a:tr h="365760">
                <a:tc>
                  <a:txBody>
                    <a:bodyPr wrap="square"/>
                    <a:lstStyle/>
                    <a:p>
                      <a:r>
                        <a:rPr sz="900" b="1" i="0">
                          <a:solidFill>
                            <a:srgbClr val="1B2A55"/>
                          </a:solidFill>
                          <a:latin typeface="Inter"/>
                        </a:rPr>
                        <a:t>FlexyVotes (GitHub)</a:t>
                      </a:r>
                    </a:p>
                  </a:txBody>
                  <a:tcPr marL="73152" marR="73152" marT="36576" marB="36576" anchor="ctr">
                    <a:solidFill>
                      <a:srgbClr val="FFFFFF"/>
                    </a:solidFill>
                  </a:tcPr>
                </a:tc>
                <a:tc>
                  <a:txBody>
                    <a:bodyPr wrap="square"/>
                    <a:lstStyle/>
                    <a:p>
                      <a:r>
                        <a:rPr sz="900" b="0" i="0">
                          <a:solidFill>
                            <a:srgbClr val="353B4A"/>
                          </a:solidFill>
                          <a:latin typeface="Inter"/>
                        </a:rPr>
                        <a:t>Keyed-hash one-time code with expiry, attempt limit and hourly rate limit; QR only for event ticket check-in.</a:t>
                      </a:r>
                    </a:p>
                  </a:txBody>
                  <a:tcPr marL="73152" marR="73152" marT="36576" marB="36576" anchor="ctr">
                    <a:solidFill>
                      <a:srgbClr val="FFFFFF"/>
                    </a:solidFill>
                  </a:tcPr>
                </a:tc>
                <a:tc>
                  <a:txBody>
                    <a:bodyPr wrap="square"/>
                    <a:lstStyle/>
                    <a:p>
                      <a:r>
                        <a:rPr sz="900" b="0" i="0">
                          <a:solidFill>
                            <a:srgbClr val="353B4A"/>
                          </a:solidFill>
                          <a:latin typeface="Inter"/>
                        </a:rPr>
                        <a:t>F6 Yes · F7 No</a:t>
                      </a:r>
                    </a:p>
                  </a:txBody>
                  <a:tcPr marL="73152" marR="73152" marT="36576" marB="36576" anchor="ctr">
                    <a:solidFill>
                      <a:srgbClr val="FFFFFF"/>
                    </a:solidFill>
                  </a:tcPr>
                </a:tc>
              </a:tr>
              <a:tr h="365760">
                <a:tc>
                  <a:txBody>
                    <a:bodyPr wrap="square"/>
                    <a:lstStyle/>
                    <a:p>
                      <a:r>
                        <a:rPr sz="900" b="1" i="0">
                          <a:solidFill>
                            <a:srgbClr val="1B2A55"/>
                          </a:solidFill>
                          <a:latin typeface="Inter"/>
                        </a:rPr>
                        <a:t>SecureVote (GitHub)</a:t>
                      </a:r>
                    </a:p>
                  </a:txBody>
                  <a:tcPr marL="73152" marR="73152" marT="36576" marB="36576" anchor="ctr">
                    <a:solidFill>
                      <a:srgbClr val="F1F0F6"/>
                    </a:solidFill>
                  </a:tcPr>
                </a:tc>
                <a:tc>
                  <a:txBody>
                    <a:bodyPr wrap="square"/>
                    <a:lstStyle/>
                    <a:p>
                      <a:r>
                        <a:rPr sz="900" b="0" i="0">
                          <a:solidFill>
                            <a:srgbClr val="353B4A"/>
                          </a:solidFill>
                          <a:latin typeface="Inter"/>
                        </a:rPr>
                        <a:t>Hashed one-time code with expiry and attempt limits.</a:t>
                      </a:r>
                    </a:p>
                  </a:txBody>
                  <a:tcPr marL="73152" marR="73152" marT="36576" marB="36576" anchor="ctr">
                    <a:solidFill>
                      <a:srgbClr val="F1F0F6"/>
                    </a:solidFill>
                  </a:tcPr>
                </a:tc>
                <a:tc>
                  <a:txBody>
                    <a:bodyPr wrap="square"/>
                    <a:lstStyle/>
                    <a:p>
                      <a:r>
                        <a:rPr sz="900" b="0" i="0">
                          <a:solidFill>
                            <a:srgbClr val="353B4A"/>
                          </a:solidFill>
                          <a:latin typeface="Inter"/>
                        </a:rPr>
                        <a:t>F6 Yes</a:t>
                      </a:r>
                    </a:p>
                  </a:txBody>
                  <a:tcPr marL="73152" marR="73152" marT="36576" marB="36576" anchor="ctr">
                    <a:solidFill>
                      <a:srgbClr val="F1F0F6"/>
                    </a:solidFill>
                  </a:tcPr>
                </a:tc>
              </a:tr>
              <a:tr h="365760">
                <a:tc>
                  <a:txBody>
                    <a:bodyPr wrap="square"/>
                    <a:lstStyle/>
                    <a:p>
                      <a:r>
                        <a:rPr sz="900" b="1" i="0">
                          <a:solidFill>
                            <a:srgbClr val="1B2A55"/>
                          </a:solidFill>
                          <a:latin typeface="Inter"/>
                        </a:rPr>
                        <a:t>VeriVote (GitHub)</a:t>
                      </a:r>
                    </a:p>
                  </a:txBody>
                  <a:tcPr marL="73152" marR="73152" marT="36576" marB="36576" anchor="ctr">
                    <a:solidFill>
                      <a:srgbClr val="FFFFFF"/>
                    </a:solidFill>
                  </a:tcPr>
                </a:tc>
                <a:tc>
                  <a:txBody>
                    <a:bodyPr wrap="square"/>
                    <a:lstStyle/>
                    <a:p>
                      <a:r>
                        <a:rPr sz="900" b="0" i="0">
                          <a:solidFill>
                            <a:srgbClr val="353B4A"/>
                          </a:solidFill>
                          <a:latin typeface="Inter"/>
                        </a:rPr>
                        <a:t>Email one-time code with rate limits.</a:t>
                      </a:r>
                    </a:p>
                  </a:txBody>
                  <a:tcPr marL="73152" marR="73152" marT="36576" marB="36576" anchor="ctr">
                    <a:solidFill>
                      <a:srgbClr val="FFFFFF"/>
                    </a:solidFill>
                  </a:tcPr>
                </a:tc>
                <a:tc>
                  <a:txBody>
                    <a:bodyPr wrap="square"/>
                    <a:lstStyle/>
                    <a:p>
                      <a:r>
                        <a:rPr sz="900" b="0" i="0">
                          <a:solidFill>
                            <a:srgbClr val="353B4A"/>
                          </a:solidFill>
                          <a:latin typeface="Inter"/>
                        </a:rPr>
                        <a:t>F6 Part</a:t>
                      </a:r>
                    </a:p>
                  </a:txBody>
                  <a:tcPr marL="73152" marR="73152" marT="36576" marB="36576" anchor="ctr">
                    <a:solidFill>
                      <a:srgbClr val="FFFFFF"/>
                    </a:solidFill>
                  </a:tcPr>
                </a:tc>
              </a:tr>
              <a:tr h="365760">
                <a:tc>
                  <a:txBody>
                    <a:bodyPr wrap="square"/>
                    <a:lstStyle/>
                    <a:p>
                      <a:r>
                        <a:rPr sz="900" b="1" i="0">
                          <a:solidFill>
                            <a:srgbClr val="1B2A55"/>
                          </a:solidFill>
                          <a:latin typeface="Inter"/>
                        </a:rPr>
                        <a:t>BetterVoting</a:t>
                      </a:r>
                    </a:p>
                  </a:txBody>
                  <a:tcPr marL="73152" marR="73152" marT="36576" marB="36576" anchor="ctr">
                    <a:solidFill>
                      <a:srgbClr val="F1F0F6"/>
                    </a:solidFill>
                  </a:tcPr>
                </a:tc>
                <a:tc>
                  <a:txBody>
                    <a:bodyPr wrap="square"/>
                    <a:lstStyle/>
                    <a:p>
                      <a:r>
                        <a:rPr sz="900" b="0" i="0">
                          <a:solidFill>
                            <a:srgbClr val="353B4A"/>
                          </a:solidFill>
                          <a:latin typeface="Inter"/>
                        </a:rPr>
                        <a:t>A unique emailed link per voter; docs mention no one-time code or 2FA; a QR code shares the election link.</a:t>
                      </a:r>
                    </a:p>
                  </a:txBody>
                  <a:tcPr marL="73152" marR="73152" marT="36576" marB="36576" anchor="ctr">
                    <a:solidFill>
                      <a:srgbClr val="F1F0F6"/>
                    </a:solidFill>
                  </a:tcPr>
                </a:tc>
                <a:tc>
                  <a:txBody>
                    <a:bodyPr wrap="square"/>
                    <a:lstStyle/>
                    <a:p>
                      <a:r>
                        <a:rPr sz="900" b="0" i="0">
                          <a:solidFill>
                            <a:srgbClr val="353B4A"/>
                          </a:solidFill>
                          <a:latin typeface="Inter"/>
                        </a:rPr>
                        <a:t>F6 Part · F7 Part</a:t>
                      </a:r>
                    </a:p>
                  </a:txBody>
                  <a:tcPr marL="73152" marR="73152" marT="36576" marB="36576" anchor="ctr">
                    <a:solidFill>
                      <a:srgbClr val="F1F0F6"/>
                    </a:solidFill>
                  </a:tcPr>
                </a:tc>
              </a:tr>
              <a:tr h="365760">
                <a:tc>
                  <a:txBody>
                    <a:bodyPr wrap="square"/>
                    <a:lstStyle/>
                    <a:p>
                      <a:r>
                        <a:rPr sz="900" b="1" i="0">
                          <a:solidFill>
                            <a:srgbClr val="1B2A55"/>
                          </a:solidFill>
                          <a:latin typeface="Inter"/>
                        </a:rPr>
                        <a:t>TapVoter</a:t>
                      </a:r>
                    </a:p>
                  </a:txBody>
                  <a:tcPr marL="73152" marR="73152" marT="36576" marB="36576" anchor="ctr">
                    <a:solidFill>
                      <a:srgbClr val="FFFFFF"/>
                    </a:solidFill>
                  </a:tcPr>
                </a:tc>
                <a:tc>
                  <a:txBody>
                    <a:bodyPr wrap="square"/>
                    <a:lstStyle/>
                    <a:p>
                      <a:r>
                        <a:rPr sz="900" b="0" i="0">
                          <a:solidFill>
                            <a:srgbClr val="353B4A"/>
                          </a:solidFill>
                          <a:latin typeface="Inter"/>
                        </a:rPr>
                        <a:t>Single-use key handed out by QR poster or email; no emailed second-factor code documented.</a:t>
                      </a:r>
                    </a:p>
                  </a:txBody>
                  <a:tcPr marL="73152" marR="73152" marT="36576" marB="36576" anchor="ctr">
                    <a:solidFill>
                      <a:srgbClr val="FFFFFF"/>
                    </a:solidFill>
                  </a:tcPr>
                </a:tc>
                <a:tc>
                  <a:txBody>
                    <a:bodyPr wrap="square"/>
                    <a:lstStyle/>
                    <a:p>
                      <a:r>
                        <a:rPr sz="900" b="0" i="0">
                          <a:solidFill>
                            <a:srgbClr val="353B4A"/>
                          </a:solidFill>
                          <a:latin typeface="Inter"/>
                        </a:rPr>
                        <a:t>F6 Part · F7 Part</a:t>
                      </a:r>
                    </a:p>
                  </a:txBody>
                  <a:tcPr marL="73152" marR="73152" marT="36576" marB="36576" anchor="ctr">
                    <a:solidFill>
                      <a:srgbClr val="FFFFFF"/>
                    </a:solidFill>
                  </a:tcPr>
                </a:tc>
              </a:tr>
              <a:tr h="365760">
                <a:tc>
                  <a:txBody>
                    <a:bodyPr wrap="square"/>
                    <a:lstStyle/>
                    <a:p>
                      <a:r>
                        <a:rPr sz="900" b="1" i="0">
                          <a:solidFill>
                            <a:srgbClr val="1B2A55"/>
                          </a:solidFill>
                          <a:latin typeface="Inter"/>
                        </a:rPr>
                        <a:t>Belenios</a:t>
                      </a:r>
                    </a:p>
                  </a:txBody>
                  <a:tcPr marL="73152" marR="73152" marT="36576" marB="36576" anchor="ctr">
                    <a:solidFill>
                      <a:srgbClr val="F1F0F6"/>
                    </a:solidFill>
                  </a:tcPr>
                </a:tc>
                <a:tc>
                  <a:txBody>
                    <a:bodyPr wrap="square"/>
                    <a:lstStyle/>
                    <a:p>
                      <a:r>
                        <a:rPr sz="900" b="0" i="0">
                          <a:solidFill>
                            <a:srgbClr val="353B4A"/>
                          </a:solidFill>
                          <a:latin typeface="Inter"/>
                        </a:rPr>
                        <a:t>Default voter login is an emailed short code at voting time; hashing, expiry and limits not documented.</a:t>
                      </a:r>
                    </a:p>
                  </a:txBody>
                  <a:tcPr marL="73152" marR="73152" marT="36576" marB="36576" anchor="ctr">
                    <a:solidFill>
                      <a:srgbClr val="F1F0F6"/>
                    </a:solidFill>
                  </a:tcPr>
                </a:tc>
                <a:tc>
                  <a:txBody>
                    <a:bodyPr wrap="square"/>
                    <a:lstStyle/>
                    <a:p>
                      <a:r>
                        <a:rPr sz="900" b="0" i="0">
                          <a:solidFill>
                            <a:srgbClr val="353B4A"/>
                          </a:solidFill>
                          <a:latin typeface="Inter"/>
                        </a:rPr>
                        <a:t>F6 Part</a:t>
                      </a:r>
                    </a:p>
                  </a:txBody>
                  <a:tcPr marL="73152" marR="73152" marT="36576" marB="36576" anchor="ctr">
                    <a:solidFill>
                      <a:srgbClr val="F1F0F6"/>
                    </a:solidFill>
                  </a:tcPr>
                </a:tc>
              </a:tr>
            </a:tbl>
          </a:graphicData>
        </a:graphic>
      </p:graphicFrame>
      <p:sp>
        <p:nvSpPr>
          <p:cNvPr id="7" name="Rounded Rectangle 6"/>
          <p:cNvSpPr/>
          <p:nvPr/>
        </p:nvSpPr>
        <p:spPr>
          <a:xfrm>
            <a:off x="457200" y="3675888"/>
            <a:ext cx="8229600" cy="1078991"/>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749040"/>
            <a:ext cx="7863840" cy="969263"/>
          </a:xfrm>
          <a:prstGeom prst="rect">
            <a:avLst/>
          </a:prstGeom>
          <a:noFill/>
        </p:spPr>
        <p:txBody>
          <a:bodyPr wrap="square" anchor="t" lIns="0" rIns="0" tIns="0" bIns="0">
            <a:spAutoFit/>
          </a:bodyPr>
          <a:lstStyle/>
          <a:p>
            <a:pPr algn="l">
              <a:spcAft>
                <a:spcPts val="300"/>
              </a:spcAft>
            </a:pPr>
            <a:r>
              <a:rPr sz="1000" b="1" i="0">
                <a:solidFill>
                  <a:srgbClr val="1B2A55"/>
                </a:solidFill>
                <a:latin typeface="Inter"/>
              </a:rPr>
              <a:t>PolyVote: </a:t>
            </a:r>
            <a:r>
              <a:rPr sz="1000" b="0" i="0">
                <a:solidFill>
                  <a:srgbClr val="353B4A"/>
                </a:solidFill>
                <a:latin typeface="Inter"/>
              </a:rPr>
              <a:t>password plus an emailed six-digit code (hashed, 5 minutes, single use, 3 guesses, resend limits). 14 of 14 tests pass, and one real defect (unlimited guesses) was found and fixed. A QR code on the vote page opens the ballot on any phone; a real ballot was cast from one.</a:t>
            </a:r>
          </a:p>
          <a:p>
            <a:pPr algn="l">
              <a:spcAft>
                <a:spcPts val="300"/>
              </a:spcAft>
            </a:pPr>
            <a:r>
              <a:rPr sz="1000" b="1" i="0">
                <a:solidFill>
                  <a:srgbClr val="1B2A55"/>
                </a:solidFill>
                <a:latin typeface="Inter"/>
              </a:rPr>
              <a:t>Verdict: </a:t>
            </a:r>
            <a:r>
              <a:rPr sz="1000" b="0" i="0">
                <a:solidFill>
                  <a:srgbClr val="353B4A"/>
                </a:solidFill>
                <a:latin typeface="Inter"/>
              </a:rPr>
              <a:t>F6 alone is not unique: FlexyVotes and SecureVote have it too. What we did not find documented is a scan-to-vote QR flow together with an emailed code.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FEATURES 8-9 · RECEIPT AND EASE OF RUNNING</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Receipts, cost and ease of running</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34</a:t>
            </a:r>
          </a:p>
        </p:txBody>
      </p:sp>
      <p:graphicFrame>
        <p:nvGraphicFramePr>
          <p:cNvPr id="6" name="Table 5"/>
          <p:cNvGraphicFramePr>
            <a:graphicFrameLocks noGrp="1"/>
          </p:cNvGraphicFramePr>
          <p:nvPr/>
        </p:nvGraphicFramePr>
        <p:xfrm>
          <a:off x="457200" y="1051560"/>
          <a:ext cx="8229600" cy="2487168"/>
        </p:xfrm>
        <a:graphic>
          <a:graphicData uri="http://schemas.openxmlformats.org/drawingml/2006/table">
            <a:tbl>
              <a:tblPr firstRow="1" bandRow="1">
                <a:tableStyleId>{5C22544A-7EE6-4342-B048-85BDC9FD1C3A}</a:tableStyleId>
              </a:tblPr>
              <a:tblGrid>
                <a:gridCol w="1828800"/>
                <a:gridCol w="5120640"/>
                <a:gridCol w="1280160"/>
              </a:tblGrid>
              <a:tr h="292608">
                <a:tc>
                  <a:txBody>
                    <a:bodyPr wrap="square"/>
                    <a:lstStyle/>
                    <a:p>
                      <a:r>
                        <a:rPr sz="950" b="1" i="0">
                          <a:solidFill>
                            <a:srgbClr val="FFFFFF"/>
                          </a:solidFill>
                          <a:latin typeface="Inter"/>
                        </a:rPr>
                        <a:t>System</a:t>
                      </a:r>
                    </a:p>
                  </a:txBody>
                  <a:tcPr marL="73152" marR="73152" marT="36576" marB="36576" anchor="ctr">
                    <a:solidFill>
                      <a:srgbClr val="1B2A55"/>
                    </a:solidFill>
                  </a:tcPr>
                </a:tc>
                <a:tc>
                  <a:txBody>
                    <a:bodyPr wrap="square"/>
                    <a:lstStyle/>
                    <a:p>
                      <a:r>
                        <a:rPr sz="950" b="1" i="0">
                          <a:solidFill>
                            <a:srgbClr val="FFFFFF"/>
                          </a:solidFill>
                          <a:latin typeface="Inter"/>
                        </a:rPr>
                        <a:t>What its own page, README or paper documents</a:t>
                      </a:r>
                    </a:p>
                  </a:txBody>
                  <a:tcPr marL="73152" marR="73152" marT="36576" marB="36576" anchor="ctr">
                    <a:solidFill>
                      <a:srgbClr val="1B2A55"/>
                    </a:solidFill>
                  </a:tcPr>
                </a:tc>
                <a:tc>
                  <a:txBody>
                    <a:bodyPr wrap="square"/>
                    <a:lstStyle/>
                    <a:p>
                      <a:r>
                        <a:rPr sz="950" b="1" i="0">
                          <a:solidFill>
                            <a:srgbClr val="FFFFFF"/>
                          </a:solidFill>
                          <a:latin typeface="Inter"/>
                        </a:rPr>
                        <a:t>Match</a:t>
                      </a:r>
                    </a:p>
                  </a:txBody>
                  <a:tcPr marL="73152" marR="73152" marT="36576" marB="36576" anchor="ctr">
                    <a:solidFill>
                      <a:srgbClr val="1B2A55"/>
                    </a:solidFill>
                  </a:tcPr>
                </a:tc>
              </a:tr>
              <a:tr h="365760">
                <a:tc>
                  <a:txBody>
                    <a:bodyPr wrap="square"/>
                    <a:lstStyle/>
                    <a:p>
                      <a:r>
                        <a:rPr sz="900" b="1" i="0">
                          <a:solidFill>
                            <a:srgbClr val="1B2A55"/>
                          </a:solidFill>
                          <a:latin typeface="Inter"/>
                        </a:rPr>
                        <a:t>Helios, Belenios</a:t>
                      </a:r>
                    </a:p>
                  </a:txBody>
                  <a:tcPr marL="73152" marR="73152" marT="36576" marB="36576" anchor="ctr">
                    <a:solidFill>
                      <a:srgbClr val="FFFFFF"/>
                    </a:solidFill>
                  </a:tcPr>
                </a:tc>
                <a:tc>
                  <a:txBody>
                    <a:bodyPr wrap="square"/>
                    <a:lstStyle/>
                    <a:p>
                      <a:r>
                        <a:rPr sz="900" b="0" i="0">
                          <a:solidFill>
                            <a:srgbClr val="353B4A"/>
                          </a:solidFill>
                          <a:latin typeface="Inter"/>
                        </a:rPr>
                        <a:t>Voters can check their ballot cryptographically, a stronger guarantee than a receipt. Helios needs PostgreSQL, RabbitMQ and about nine install steps.</a:t>
                      </a:r>
                    </a:p>
                  </a:txBody>
                  <a:tcPr marL="73152" marR="73152" marT="36576" marB="36576" anchor="ctr">
                    <a:solidFill>
                      <a:srgbClr val="FFFFFF"/>
                    </a:solidFill>
                  </a:tcPr>
                </a:tc>
                <a:tc>
                  <a:txBody>
                    <a:bodyPr wrap="square"/>
                    <a:lstStyle/>
                    <a:p>
                      <a:r>
                        <a:rPr sz="900" b="0" i="0">
                          <a:solidFill>
                            <a:srgbClr val="353B4A"/>
                          </a:solidFill>
                          <a:latin typeface="Inter"/>
                        </a:rPr>
                        <a:t>F8 Yes · F9 Part</a:t>
                      </a:r>
                    </a:p>
                  </a:txBody>
                  <a:tcPr marL="73152" marR="73152" marT="36576" marB="36576" anchor="ctr">
                    <a:solidFill>
                      <a:srgbClr val="FFFFFF"/>
                    </a:solidFill>
                  </a:tcPr>
                </a:tc>
              </a:tr>
              <a:tr h="365760">
                <a:tc>
                  <a:txBody>
                    <a:bodyPr wrap="square"/>
                    <a:lstStyle/>
                    <a:p>
                      <a:r>
                        <a:rPr sz="900" b="1" i="0">
                          <a:solidFill>
                            <a:srgbClr val="1B2A55"/>
                          </a:solidFill>
                          <a:latin typeface="Inter"/>
                        </a:rPr>
                        <a:t>CIVS (Cornell)</a:t>
                      </a:r>
                    </a:p>
                  </a:txBody>
                  <a:tcPr marL="73152" marR="73152" marT="36576" marB="36576" anchor="ctr">
                    <a:solidFill>
                      <a:srgbClr val="F1F0F6"/>
                    </a:solidFill>
                  </a:tcPr>
                </a:tc>
                <a:tc>
                  <a:txBody>
                    <a:bodyPr wrap="square"/>
                    <a:lstStyle/>
                    <a:p>
                      <a:r>
                        <a:rPr sz="900" b="0" i="0">
                          <a:solidFill>
                            <a:srgbClr val="353B4A"/>
                          </a:solidFill>
                          <a:latin typeface="Inter"/>
                        </a:rPr>
                        <a:t>Receipt per voter; free hosted service; MIT-licensed Perl code.</a:t>
                      </a:r>
                    </a:p>
                  </a:txBody>
                  <a:tcPr marL="73152" marR="73152" marT="36576" marB="36576" anchor="ctr">
                    <a:solidFill>
                      <a:srgbClr val="F1F0F6"/>
                    </a:solidFill>
                  </a:tcPr>
                </a:tc>
                <a:tc>
                  <a:txBody>
                    <a:bodyPr wrap="square"/>
                    <a:lstStyle/>
                    <a:p>
                      <a:r>
                        <a:rPr sz="900" b="0" i="0">
                          <a:solidFill>
                            <a:srgbClr val="353B4A"/>
                          </a:solidFill>
                          <a:latin typeface="Inter"/>
                        </a:rPr>
                        <a:t>F8 Yes · F9 Yes</a:t>
                      </a:r>
                    </a:p>
                  </a:txBody>
                  <a:tcPr marL="73152" marR="73152" marT="36576" marB="36576" anchor="ctr">
                    <a:solidFill>
                      <a:srgbClr val="F1F0F6"/>
                    </a:solidFill>
                  </a:tcPr>
                </a:tc>
              </a:tr>
              <a:tr h="365760">
                <a:tc>
                  <a:txBody>
                    <a:bodyPr wrap="square"/>
                    <a:lstStyle/>
                    <a:p>
                      <a:r>
                        <a:rPr sz="900" b="1" i="0">
                          <a:solidFill>
                            <a:srgbClr val="1B2A55"/>
                          </a:solidFill>
                          <a:latin typeface="Inter"/>
                        </a:rPr>
                        <a:t>TapVoter</a:t>
                      </a:r>
                    </a:p>
                  </a:txBody>
                  <a:tcPr marL="73152" marR="73152" marT="36576" marB="36576" anchor="ctr">
                    <a:solidFill>
                      <a:srgbClr val="FFFFFF"/>
                    </a:solidFill>
                  </a:tcPr>
                </a:tc>
                <a:tc>
                  <a:txBody>
                    <a:bodyPr wrap="square"/>
                    <a:lstStyle/>
                    <a:p>
                      <a:r>
                        <a:rPr sz="900" b="0" i="0">
                          <a:solidFill>
                            <a:srgbClr val="353B4A"/>
                          </a:solidFill>
                          <a:latin typeface="Inter"/>
                        </a:rPr>
                        <a:t>Receipt codes and a public transparency log; free tier up to 10,000 voters; closed source.</a:t>
                      </a:r>
                    </a:p>
                  </a:txBody>
                  <a:tcPr marL="73152" marR="73152" marT="36576" marB="36576" anchor="ctr">
                    <a:solidFill>
                      <a:srgbClr val="FFFFFF"/>
                    </a:solidFill>
                  </a:tcPr>
                </a:tc>
                <a:tc>
                  <a:txBody>
                    <a:bodyPr wrap="square"/>
                    <a:lstStyle/>
                    <a:p>
                      <a:r>
                        <a:rPr sz="900" b="0" i="0">
                          <a:solidFill>
                            <a:srgbClr val="353B4A"/>
                          </a:solidFill>
                          <a:latin typeface="Inter"/>
                        </a:rPr>
                        <a:t>F8 Yes · F9 Part</a:t>
                      </a:r>
                    </a:p>
                  </a:txBody>
                  <a:tcPr marL="73152" marR="73152" marT="36576" marB="36576" anchor="ctr">
                    <a:solidFill>
                      <a:srgbClr val="FFFFFF"/>
                    </a:solidFill>
                  </a:tcPr>
                </a:tc>
              </a:tr>
              <a:tr h="365760">
                <a:tc>
                  <a:txBody>
                    <a:bodyPr wrap="square"/>
                    <a:lstStyle/>
                    <a:p>
                      <a:r>
                        <a:rPr sz="900" b="1" i="0">
                          <a:solidFill>
                            <a:srgbClr val="1B2A55"/>
                          </a:solidFill>
                          <a:latin typeface="Inter"/>
                        </a:rPr>
                        <a:t>BetterVoting</a:t>
                      </a:r>
                    </a:p>
                  </a:txBody>
                  <a:tcPr marL="73152" marR="73152" marT="36576" marB="36576" anchor="ctr">
                    <a:solidFill>
                      <a:srgbClr val="F1F0F6"/>
                    </a:solidFill>
                  </a:tcPr>
                </a:tc>
                <a:tc>
                  <a:txBody>
                    <a:bodyPr wrap="square"/>
                    <a:lstStyle/>
                    <a:p>
                      <a:r>
                        <a:rPr sz="900" b="0" i="0">
                          <a:solidFill>
                            <a:srgbClr val="353B4A"/>
                          </a:solidFill>
                          <a:latin typeface="Inter"/>
                        </a:rPr>
                        <a:t>Receipt by email; AGPL licence; docker-compose in the repository; free hosted service.</a:t>
                      </a:r>
                    </a:p>
                  </a:txBody>
                  <a:tcPr marL="73152" marR="73152" marT="36576" marB="36576" anchor="ctr">
                    <a:solidFill>
                      <a:srgbClr val="F1F0F6"/>
                    </a:solidFill>
                  </a:tcPr>
                </a:tc>
                <a:tc>
                  <a:txBody>
                    <a:bodyPr wrap="square"/>
                    <a:lstStyle/>
                    <a:p>
                      <a:r>
                        <a:rPr sz="900" b="0" i="0">
                          <a:solidFill>
                            <a:srgbClr val="353B4A"/>
                          </a:solidFill>
                          <a:latin typeface="Inter"/>
                        </a:rPr>
                        <a:t>F8 Yes · F9 Yes</a:t>
                      </a:r>
                    </a:p>
                  </a:txBody>
                  <a:tcPr marL="73152" marR="73152" marT="36576" marB="36576" anchor="ctr">
                    <a:solidFill>
                      <a:srgbClr val="F1F0F6"/>
                    </a:solidFill>
                  </a:tcPr>
                </a:tc>
              </a:tr>
              <a:tr h="365760">
                <a:tc>
                  <a:txBody>
                    <a:bodyPr wrap="square"/>
                    <a:lstStyle/>
                    <a:p>
                      <a:r>
                        <a:rPr sz="900" b="1" i="0">
                          <a:solidFill>
                            <a:srgbClr val="1B2A55"/>
                          </a:solidFill>
                          <a:latin typeface="Inter"/>
                        </a:rPr>
                        <a:t>FlexyVotes (GitHub)</a:t>
                      </a:r>
                    </a:p>
                  </a:txBody>
                  <a:tcPr marL="73152" marR="73152" marT="36576" marB="36576" anchor="ctr">
                    <a:solidFill>
                      <a:srgbClr val="FFFFFF"/>
                    </a:solidFill>
                  </a:tcPr>
                </a:tc>
                <a:tc>
                  <a:txBody>
                    <a:bodyPr wrap="square"/>
                    <a:lstStyle/>
                    <a:p>
                      <a:r>
                        <a:rPr sz="900" b="0" i="0">
                          <a:solidFill>
                            <a:srgbClr val="353B4A"/>
                          </a:solidFill>
                          <a:latin typeface="Inter"/>
                        </a:rPr>
                        <a:t>Per-voter ballot tracker, Merkle proofs and an offline verifier; docker compose; no licence file found.</a:t>
                      </a:r>
                    </a:p>
                  </a:txBody>
                  <a:tcPr marL="73152" marR="73152" marT="36576" marB="36576" anchor="ctr">
                    <a:solidFill>
                      <a:srgbClr val="FFFFFF"/>
                    </a:solidFill>
                  </a:tcPr>
                </a:tc>
                <a:tc>
                  <a:txBody>
                    <a:bodyPr wrap="square"/>
                    <a:lstStyle/>
                    <a:p>
                      <a:r>
                        <a:rPr sz="900" b="0" i="0">
                          <a:solidFill>
                            <a:srgbClr val="353B4A"/>
                          </a:solidFill>
                          <a:latin typeface="Inter"/>
                        </a:rPr>
                        <a:t>F8 Yes · F9 Part</a:t>
                      </a:r>
                    </a:p>
                  </a:txBody>
                  <a:tcPr marL="73152" marR="73152" marT="36576" marB="36576" anchor="ctr">
                    <a:solidFill>
                      <a:srgbClr val="FFFFFF"/>
                    </a:solidFill>
                  </a:tcPr>
                </a:tc>
              </a:tr>
              <a:tr h="365760">
                <a:tc>
                  <a:txBody>
                    <a:bodyPr wrap="square"/>
                    <a:lstStyle/>
                    <a:p>
                      <a:r>
                        <a:rPr sz="900" b="1" i="0">
                          <a:solidFill>
                            <a:srgbClr val="1B2A55"/>
                          </a:solidFill>
                          <a:latin typeface="Inter"/>
                        </a:rPr>
                        <a:t>OpaVote, ElectionBuddy</a:t>
                      </a:r>
                    </a:p>
                  </a:txBody>
                  <a:tcPr marL="73152" marR="73152" marT="36576" marB="36576" anchor="ctr">
                    <a:solidFill>
                      <a:srgbClr val="F1F0F6"/>
                    </a:solidFill>
                  </a:tcPr>
                </a:tc>
                <a:tc>
                  <a:txBody>
                    <a:bodyPr wrap="square"/>
                    <a:lstStyle/>
                    <a:p>
                      <a:r>
                        <a:rPr sz="900" b="0" i="0">
                          <a:solidFill>
                            <a:srgbClr val="353B4A"/>
                          </a:solidFill>
                          <a:latin typeface="Inter"/>
                        </a:rPr>
                        <a:t>Free for 25 and 20 voters; closed source; no receipt documented.</a:t>
                      </a:r>
                    </a:p>
                  </a:txBody>
                  <a:tcPr marL="73152" marR="73152" marT="36576" marB="36576" anchor="ctr">
                    <a:solidFill>
                      <a:srgbClr val="F1F0F6"/>
                    </a:solidFill>
                  </a:tcPr>
                </a:tc>
                <a:tc>
                  <a:txBody>
                    <a:bodyPr wrap="square"/>
                    <a:lstStyle/>
                    <a:p>
                      <a:r>
                        <a:rPr sz="900" b="0" i="0">
                          <a:solidFill>
                            <a:srgbClr val="353B4A"/>
                          </a:solidFill>
                          <a:latin typeface="Inter"/>
                        </a:rPr>
                        <a:t>F9 Part</a:t>
                      </a:r>
                    </a:p>
                  </a:txBody>
                  <a:tcPr marL="73152" marR="73152" marT="36576" marB="36576" anchor="ctr">
                    <a:solidFill>
                      <a:srgbClr val="F1F0F6"/>
                    </a:solidFill>
                  </a:tcPr>
                </a:tc>
              </a:tr>
            </a:tbl>
          </a:graphicData>
        </a:graphic>
      </p:graphicFrame>
      <p:sp>
        <p:nvSpPr>
          <p:cNvPr id="7" name="Rounded Rectangle 6"/>
          <p:cNvSpPr/>
          <p:nvPr/>
        </p:nvSpPr>
        <p:spPr>
          <a:xfrm>
            <a:off x="457200" y="3675888"/>
            <a:ext cx="8229600" cy="1078991"/>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749040"/>
            <a:ext cx="7863840" cy="969263"/>
          </a:xfrm>
          <a:prstGeom prst="rect">
            <a:avLst/>
          </a:prstGeom>
          <a:noFill/>
        </p:spPr>
        <p:txBody>
          <a:bodyPr wrap="square" anchor="t" lIns="0" rIns="0" tIns="0" bIns="0">
            <a:spAutoFit/>
          </a:bodyPr>
          <a:lstStyle/>
          <a:p>
            <a:pPr algn="l">
              <a:spcAft>
                <a:spcPts val="300"/>
              </a:spcAft>
            </a:pPr>
            <a:r>
              <a:rPr sz="1000" b="1" i="0">
                <a:solidFill>
                  <a:srgbClr val="1B2A55"/>
                </a:solidFill>
                <a:latin typeface="Inter"/>
              </a:rPr>
              <a:t>PolyVote: </a:t>
            </a:r>
            <a:r>
              <a:rPr sz="1000" b="0" i="0">
                <a:solidFill>
                  <a:srgbClr val="353B4A"/>
                </a:solidFill>
                <a:latin typeface="Inter"/>
              </a:rPr>
              <a:t>a receipt proves a ballot is recorded and counted, not what it says, so it is weaker than Helios or Belenios. One command starts it (python -m uvicorn server:app); a free hosted demo is configured for Render; the source is public on GitHub, though without a licence file yet.</a:t>
            </a:r>
          </a:p>
          <a:p>
            <a:pPr algn="l">
              <a:spcAft>
                <a:spcPts val="300"/>
              </a:spcAft>
            </a:pPr>
            <a:r>
              <a:rPr sz="1000" b="1" i="0">
                <a:solidFill>
                  <a:srgbClr val="1B2A55"/>
                </a:solidFill>
                <a:latin typeface="Inter"/>
              </a:rPr>
              <a:t>Verdict: </a:t>
            </a:r>
            <a:r>
              <a:rPr sz="1000" b="0" i="0">
                <a:solidFill>
                  <a:srgbClr val="353B4A"/>
                </a:solidFill>
                <a:latin typeface="Inter"/>
              </a:rPr>
              <a:t>easy to run, but BetterVoting and CIVS are also free and open. We do not claim an advantage here.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COMPARATIVE STUDY · CLOSEST PROJECTS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The three closest projects, and what each lacks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35</a:t>
            </a:r>
          </a:p>
        </p:txBody>
      </p:sp>
      <p:graphicFrame>
        <p:nvGraphicFramePr>
          <p:cNvPr id="6" name="Table 5"/>
          <p:cNvGraphicFramePr>
            <a:graphicFrameLocks noGrp="1"/>
          </p:cNvGraphicFramePr>
          <p:nvPr/>
        </p:nvGraphicFramePr>
        <p:xfrm>
          <a:off x="457200" y="1024128"/>
          <a:ext cx="8229600" cy="2624328"/>
        </p:xfrm>
        <a:graphic>
          <a:graphicData uri="http://schemas.openxmlformats.org/drawingml/2006/table">
            <a:tbl>
              <a:tblPr firstRow="1" bandRow="1">
                <a:tableStyleId>{5C22544A-7EE6-4342-B048-85BDC9FD1C3A}</a:tableStyleId>
              </a:tblPr>
              <a:tblGrid>
                <a:gridCol w="2468880"/>
                <a:gridCol w="3017520"/>
                <a:gridCol w="2743200"/>
              </a:tblGrid>
              <a:tr h="292608">
                <a:tc>
                  <a:txBody>
                    <a:bodyPr wrap="square"/>
                    <a:lstStyle/>
                    <a:p>
                      <a:r>
                        <a:rPr sz="950" b="1" i="0">
                          <a:solidFill>
                            <a:srgbClr val="FFFFFF"/>
                          </a:solidFill>
                          <a:latin typeface="Inter"/>
                        </a:rPr>
                        <a:t>Closest project (source)</a:t>
                      </a:r>
                    </a:p>
                  </a:txBody>
                  <a:tcPr marL="73152" marR="73152" marT="36576" marB="36576" anchor="ctr">
                    <a:solidFill>
                      <a:srgbClr val="1B2A55"/>
                    </a:solidFill>
                  </a:tcPr>
                </a:tc>
                <a:tc>
                  <a:txBody>
                    <a:bodyPr wrap="square"/>
                    <a:lstStyle/>
                    <a:p>
                      <a:r>
                        <a:rPr sz="950" b="1" i="0">
                          <a:solidFill>
                            <a:srgbClr val="FFFFFF"/>
                          </a:solidFill>
                          <a:latin typeface="Inter"/>
                        </a:rPr>
                        <a:t>What it has</a:t>
                      </a:r>
                    </a:p>
                  </a:txBody>
                  <a:tcPr marL="73152" marR="73152" marT="36576" marB="36576" anchor="ctr">
                    <a:solidFill>
                      <a:srgbClr val="1B2A55"/>
                    </a:solidFill>
                  </a:tcPr>
                </a:tc>
                <a:tc>
                  <a:txBody>
                    <a:bodyPr wrap="square"/>
                    <a:lstStyle/>
                    <a:p>
                      <a:r>
                        <a:rPr sz="950" b="1" i="0">
                          <a:solidFill>
                            <a:srgbClr val="FFFFFF"/>
                          </a:solidFill>
                          <a:latin typeface="Inter"/>
                        </a:rPr>
                        <a:t>What we found it does not document</a:t>
                      </a:r>
                    </a:p>
                  </a:txBody>
                  <a:tcPr marL="73152" marR="73152" marT="36576" marB="36576" anchor="ctr">
                    <a:solidFill>
                      <a:srgbClr val="1B2A55"/>
                    </a:solidFill>
                  </a:tcPr>
                </a:tc>
              </a:tr>
              <a:tr h="777240">
                <a:tc>
                  <a:txBody>
                    <a:bodyPr wrap="square"/>
                    <a:lstStyle/>
                    <a:p>
                      <a:r>
                        <a:rPr sz="900" b="1" i="0">
                          <a:solidFill>
                            <a:srgbClr val="1B2A55"/>
                          </a:solidFill>
                          <a:latin typeface="Inter"/>
                        </a:rPr>
                        <a:t>FlexyVotes, Django and PostgreSQL (github.com/deOpty/flexyvotes)</a:t>
                      </a:r>
                    </a:p>
                  </a:txBody>
                  <a:tcPr marL="73152" marR="73152" marT="36576" marB="36576" anchor="ctr">
                    <a:solidFill>
                      <a:srgbClr val="FFFFFF"/>
                    </a:solidFill>
                  </a:tcPr>
                </a:tc>
                <a:tc>
                  <a:txBody>
                    <a:bodyPr wrap="square"/>
                    <a:lstStyle/>
                    <a:p>
                      <a:r>
                        <a:rPr sz="900" b="0" i="0">
                          <a:solidFill>
                            <a:srgbClr val="353B4A"/>
                          </a:solidFill>
                          <a:latin typeface="Inter"/>
                        </a:rPr>
                        <a:t>Many organisations; instant-runoff and STV; triggers that block raw SQL; ballots with no voter key; hash-chained audit log; hashed single-use email OTP</a:t>
                      </a:r>
                    </a:p>
                  </a:txBody>
                  <a:tcPr marL="73152" marR="73152" marT="36576" marB="36576" anchor="ctr">
                    <a:solidFill>
                      <a:srgbClr val="FFFFFF"/>
                    </a:solidFill>
                  </a:tcPr>
                </a:tc>
                <a:tc>
                  <a:txBody>
                    <a:bodyPr wrap="square"/>
                    <a:lstStyle/>
                    <a:p>
                      <a:r>
                        <a:rPr sz="900" b="0" i="0">
                          <a:solidFill>
                            <a:srgbClr val="353B4A"/>
                          </a:solidFill>
                          <a:latin typeface="Inter"/>
                        </a:rPr>
                        <a:t>QR scan-to-vote; an HMAC-keyed chain; a separate document store and email database; a reconciling sweep; published attack results</a:t>
                      </a:r>
                    </a:p>
                  </a:txBody>
                  <a:tcPr marL="73152" marR="73152" marT="36576" marB="36576" anchor="ctr">
                    <a:solidFill>
                      <a:srgbClr val="FFFFFF"/>
                    </a:solidFill>
                  </a:tcPr>
                </a:tc>
              </a:tr>
              <a:tr h="777240">
                <a:tc>
                  <a:txBody>
                    <a:bodyPr wrap="square"/>
                    <a:lstStyle/>
                    <a:p>
                      <a:r>
                        <a:rPr sz="900" b="1" i="0">
                          <a:solidFill>
                            <a:srgbClr val="1B2A55"/>
                          </a:solidFill>
                          <a:latin typeface="Inter"/>
                        </a:rPr>
                        <a:t>VeriVote, Node, React and MongoDB (github.com/9022574361/Online_Voting_System)</a:t>
                      </a:r>
                    </a:p>
                  </a:txBody>
                  <a:tcPr marL="73152" marR="73152" marT="36576" marB="36576" anchor="ctr">
                    <a:solidFill>
                      <a:srgbClr val="F1F0F6"/>
                    </a:solidFill>
                  </a:tcPr>
                </a:tc>
                <a:tc>
                  <a:txBody>
                    <a:bodyPr wrap="square"/>
                    <a:lstStyle/>
                    <a:p>
                      <a:r>
                        <a:rPr sz="900" b="0" i="0">
                          <a:solidFill>
                            <a:srgbClr val="353B4A"/>
                          </a:solidFill>
                          <a:latin typeface="Inter"/>
                        </a:rPr>
                        <a:t>SHA-256 chain in MongoDB with an audit endpoint; ballots without voter identity; email OTP with rate limits; receipt hash</a:t>
                      </a:r>
                    </a:p>
                  </a:txBody>
                  <a:tcPr marL="73152" marR="73152" marT="36576" marB="36576" anchor="ctr">
                    <a:solidFill>
                      <a:srgbClr val="F1F0F6"/>
                    </a:solidFill>
                  </a:tcPr>
                </a:tc>
                <a:tc>
                  <a:txBody>
                    <a:bodyPr wrap="square"/>
                    <a:lstStyle/>
                    <a:p>
                      <a:r>
                        <a:rPr sz="900" b="0" i="0">
                          <a:solidFill>
                            <a:srgbClr val="353B4A"/>
                          </a:solidFill>
                          <a:latin typeface="Inter"/>
                        </a:rPr>
                        <a:t>Ranked counting; many organisations; database rules; HMAC key; reconciliation; automated attack suite</a:t>
                      </a:r>
                    </a:p>
                  </a:txBody>
                  <a:tcPr marL="73152" marR="73152" marT="36576" marB="36576" anchor="ctr">
                    <a:solidFill>
                      <a:srgbClr val="F1F0F6"/>
                    </a:solidFill>
                  </a:tcPr>
                </a:tc>
              </a:tr>
              <a:tr h="777240">
                <a:tc>
                  <a:txBody>
                    <a:bodyPr wrap="square"/>
                    <a:lstStyle/>
                    <a:p>
                      <a:r>
                        <a:rPr sz="900" b="1" i="0">
                          <a:solidFill>
                            <a:srgbClr val="1B2A55"/>
                          </a:solidFill>
                          <a:latin typeface="Inter"/>
                        </a:rPr>
                        <a:t>BetterVoting (github.com/Equal-Vote/bettervoting)</a:t>
                      </a:r>
                    </a:p>
                  </a:txBody>
                  <a:tcPr marL="73152" marR="73152" marT="36576" marB="36576" anchor="ctr">
                    <a:solidFill>
                      <a:srgbClr val="FFFFFF"/>
                    </a:solidFill>
                  </a:tcPr>
                </a:tc>
                <a:tc>
                  <a:txBody>
                    <a:bodyPr wrap="square"/>
                    <a:lstStyle/>
                    <a:p>
                      <a:r>
                        <a:rPr sz="900" b="0" i="0">
                          <a:solidFill>
                            <a:srgbClr val="353B4A"/>
                          </a:solidFill>
                          <a:latin typeface="Inter"/>
                        </a:rPr>
                        <a:t>Ranked-choice voting; teams; QR sharing; receipts; free and open source (AGPL)</a:t>
                      </a:r>
                    </a:p>
                  </a:txBody>
                  <a:tcPr marL="73152" marR="73152" marT="36576" marB="36576" anchor="ctr">
                    <a:solidFill>
                      <a:srgbClr val="FFFFFF"/>
                    </a:solidFill>
                  </a:tcPr>
                </a:tc>
                <a:tc>
                  <a:txBody>
                    <a:bodyPr wrap="square"/>
                    <a:lstStyle/>
                    <a:p>
                      <a:r>
                        <a:rPr sz="900" b="0" i="0">
                          <a:solidFill>
                            <a:srgbClr val="353B4A"/>
                          </a:solidFill>
                          <a:latin typeface="Inter"/>
                        </a:rPr>
                        <a:t>Database-enforced rules; a ledger of ballots (its audit log covers admin actions); one-time-code factor; reconciliation and attack tests</a:t>
                      </a:r>
                    </a:p>
                  </a:txBody>
                  <a:tcPr marL="73152" marR="73152" marT="36576" marB="36576" anchor="ctr">
                    <a:solidFill>
                      <a:srgbClr val="FFFFFF"/>
                    </a:solidFill>
                  </a:tcPr>
                </a:tc>
              </a:tr>
            </a:tbl>
          </a:graphicData>
        </a:graphic>
      </p:graphicFrame>
      <p:sp>
        <p:nvSpPr>
          <p:cNvPr id="7" name="Rounded Rectangle 6"/>
          <p:cNvSpPr/>
          <p:nvPr/>
        </p:nvSpPr>
        <p:spPr>
          <a:xfrm>
            <a:off x="457200" y="3840480"/>
            <a:ext cx="8229600" cy="91440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904487"/>
            <a:ext cx="7863840" cy="822960"/>
          </a:xfrm>
          <a:prstGeom prst="rect">
            <a:avLst/>
          </a:prstGeom>
          <a:noFill/>
        </p:spPr>
        <p:txBody>
          <a:bodyPr wrap="square" anchor="t" lIns="0" rIns="0" tIns="0" bIns="0">
            <a:spAutoFit/>
          </a:bodyPr>
          <a:lstStyle/>
          <a:p>
            <a:pPr algn="l">
              <a:spcAft>
                <a:spcPts val="0"/>
              </a:spcAft>
            </a:pPr>
            <a:r>
              <a:rPr sz="1000" b="1" i="0">
                <a:solidFill>
                  <a:srgbClr val="1B2A55"/>
                </a:solidFill>
                <a:latin typeface="Inter"/>
              </a:rPr>
              <a:t>What we claim: </a:t>
            </a:r>
            <a:r>
              <a:rPr sz="1000" b="0" i="0">
                <a:solidFill>
                  <a:srgbClr val="353B4A"/>
                </a:solidFill>
                <a:latin typeface="Inter"/>
              </a:rPr>
              <a:t>every single feature exists somewhere, so PolyVote is not the first or the only one. We found no free small-election tool documenting all of them together. </a:t>
            </a:r>
            <a:r>
              <a:rPr sz="1000" b="1" i="0">
                <a:solidFill>
                  <a:srgbClr val="1B2A55"/>
                </a:solidFill>
                <a:latin typeface="Inter"/>
              </a:rPr>
              <a:t>What we do not claim: </a:t>
            </a:r>
            <a:r>
              <a:rPr sz="1000" b="0" i="0">
                <a:solidFill>
                  <a:srgbClr val="353B4A"/>
                </a:solidFill>
                <a:latin typeface="Inter"/>
              </a:rPr>
              <a:t>to be more secure than Helios, Belenios or ElectionGuard. Limits: GitHub code search and non-English repositories were not covered.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COMPARATIVE STUDY · VERDICT</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Best for small elections, not a Helios replacement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36</a:t>
            </a:r>
          </a:p>
        </p:txBody>
      </p:sp>
      <p:sp>
        <p:nvSpPr>
          <p:cNvPr id="6" name="Rounded Rectangle 5"/>
          <p:cNvSpPr/>
          <p:nvPr/>
        </p:nvSpPr>
        <p:spPr>
          <a:xfrm>
            <a:off x="457200" y="1097280"/>
            <a:ext cx="4023360" cy="292608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2903220"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PolyVote IS A GOOD FIT WHEN</a:t>
            </a:r>
          </a:p>
        </p:txBody>
      </p:sp>
      <p:sp>
        <p:nvSpPr>
          <p:cNvPr id="8" name="TextBox 7"/>
          <p:cNvSpPr txBox="1"/>
          <p:nvPr/>
        </p:nvSpPr>
        <p:spPr>
          <a:xfrm>
            <a:off x="640080" y="1600200"/>
            <a:ext cx="3657600" cy="237744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0" i="0">
                <a:solidFill>
                  <a:srgbClr val="353B4A"/>
                </a:solidFill>
                <a:latin typeface="Inter"/>
              </a:rPr>
              <a:t>A club, council or class needs ranked-choice results.</a:t>
            </a:r>
          </a:p>
          <a:p>
            <a:pPr algn="l">
              <a:spcAft>
                <a:spcPts val="500"/>
              </a:spcAft>
            </a:pPr>
            <a:r>
              <a:rPr sz="1100" b="1" i="0">
                <a:solidFill>
                  <a:srgbClr val="1B2A55"/>
                </a:solidFill>
                <a:latin typeface="Inter"/>
              </a:rPr>
              <a:t>•  </a:t>
            </a:r>
            <a:r>
              <a:rPr sz="1100" b="0" i="0">
                <a:solidFill>
                  <a:srgbClr val="353B4A"/>
                </a:solidFill>
                <a:latin typeface="Inter"/>
              </a:rPr>
              <a:t>Someone must be able to run it in an afternoon, free.</a:t>
            </a:r>
          </a:p>
          <a:p>
            <a:pPr algn="l">
              <a:spcAft>
                <a:spcPts val="500"/>
              </a:spcAft>
            </a:pPr>
            <a:r>
              <a:rPr sz="1100" b="1" i="0">
                <a:solidFill>
                  <a:srgbClr val="1B2A55"/>
                </a:solidFill>
                <a:latin typeface="Inter"/>
              </a:rPr>
              <a:t>•  </a:t>
            </a:r>
            <a:r>
              <a:rPr sz="1100" b="0" i="0">
                <a:solidFill>
                  <a:srgbClr val="353B4A"/>
                </a:solidFill>
                <a:latin typeface="Inter"/>
              </a:rPr>
              <a:t>You need proof that edits and deletions are caught.</a:t>
            </a:r>
          </a:p>
          <a:p>
            <a:pPr algn="l">
              <a:spcAft>
                <a:spcPts val="500"/>
              </a:spcAft>
            </a:pPr>
            <a:r>
              <a:rPr sz="1100" b="1" i="0">
                <a:solidFill>
                  <a:srgbClr val="1B2A55"/>
                </a:solidFill>
                <a:latin typeface="Inter"/>
              </a:rPr>
              <a:t>•  </a:t>
            </a:r>
            <a:r>
              <a:rPr sz="1100" b="0" i="0">
                <a:solidFill>
                  <a:srgbClr val="353B4A"/>
                </a:solidFill>
                <a:latin typeface="Inter"/>
              </a:rPr>
              <a:t>Voters should confirm themselves by email and vote from a phone.</a:t>
            </a:r>
          </a:p>
        </p:txBody>
      </p:sp>
      <p:sp>
        <p:nvSpPr>
          <p:cNvPr id="9" name="Rounded Rectangle 8"/>
          <p:cNvSpPr/>
          <p:nvPr/>
        </p:nvSpPr>
        <p:spPr>
          <a:xfrm>
            <a:off x="4663440" y="1097280"/>
            <a:ext cx="4023360" cy="292608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46320" y="1225296"/>
            <a:ext cx="309524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CHOOSE HELIOS / BELENIOS WHEN</a:t>
            </a:r>
          </a:p>
        </p:txBody>
      </p:sp>
      <p:sp>
        <p:nvSpPr>
          <p:cNvPr id="11" name="TextBox 10"/>
          <p:cNvSpPr txBox="1"/>
          <p:nvPr/>
        </p:nvSpPr>
        <p:spPr>
          <a:xfrm>
            <a:off x="4846320" y="1600200"/>
            <a:ext cx="3657600" cy="237744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0" i="0">
                <a:solidFill>
                  <a:srgbClr val="353B4A"/>
                </a:solidFill>
                <a:latin typeface="Inter"/>
              </a:rPr>
              <a:t>The administrator itself cannot be trusted.</a:t>
            </a:r>
          </a:p>
          <a:p>
            <a:pPr algn="l">
              <a:spcAft>
                <a:spcPts val="500"/>
              </a:spcAft>
            </a:pPr>
            <a:r>
              <a:rPr sz="1100" b="1" i="0">
                <a:solidFill>
                  <a:srgbClr val="1B2A55"/>
                </a:solidFill>
                <a:latin typeface="Inter"/>
              </a:rPr>
              <a:t>•  </a:t>
            </a:r>
            <a:r>
              <a:rPr sz="1100" b="0" i="0">
                <a:solidFill>
                  <a:srgbClr val="353B4A"/>
                </a:solidFill>
                <a:latin typeface="Inter"/>
              </a:rPr>
              <a:t>Voters must verify their own ballot content.</a:t>
            </a:r>
          </a:p>
          <a:p>
            <a:pPr algn="l">
              <a:spcAft>
                <a:spcPts val="500"/>
              </a:spcAft>
            </a:pPr>
            <a:r>
              <a:rPr sz="1100" b="1" i="0">
                <a:solidFill>
                  <a:srgbClr val="1B2A55"/>
                </a:solidFill>
                <a:latin typeface="Inter"/>
              </a:rPr>
              <a:t>•  </a:t>
            </a:r>
            <a:r>
              <a:rPr sz="1100" b="0" i="0">
                <a:solidFill>
                  <a:srgbClr val="353B4A"/>
                </a:solidFill>
                <a:latin typeface="Inter"/>
              </a:rPr>
              <a:t>Coercion or vote selling is a real threat.</a:t>
            </a:r>
          </a:p>
          <a:p>
            <a:pPr algn="l">
              <a:spcAft>
                <a:spcPts val="500"/>
              </a:spcAft>
            </a:pPr>
            <a:r>
              <a:rPr sz="1100" b="1" i="0">
                <a:solidFill>
                  <a:srgbClr val="1B2A55"/>
                </a:solidFill>
                <a:latin typeface="Inter"/>
              </a:rPr>
              <a:t>•  </a:t>
            </a:r>
            <a:r>
              <a:rPr sz="1100" b="0" i="0">
                <a:solidFill>
                  <a:srgbClr val="353B4A"/>
                </a:solidFill>
                <a:latin typeface="Inter"/>
              </a:rPr>
              <a:t>A public cryptographic audit is required.</a:t>
            </a:r>
          </a:p>
        </p:txBody>
      </p:sp>
      <p:sp>
        <p:nvSpPr>
          <p:cNvPr id="12" name="Rounded Rectangle 11"/>
          <p:cNvSpPr/>
          <p:nvPr/>
        </p:nvSpPr>
        <p:spPr>
          <a:xfrm>
            <a:off x="457200" y="4160520"/>
            <a:ext cx="8229600" cy="50292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206240"/>
            <a:ext cx="7863840" cy="411480"/>
          </a:xfrm>
          <a:prstGeom prst="rect">
            <a:avLst/>
          </a:prstGeom>
          <a:noFill/>
        </p:spPr>
        <p:txBody>
          <a:bodyPr wrap="square" anchor="ctr" lIns="0" rIns="0" tIns="0" bIns="0">
            <a:spAutoFit/>
          </a:bodyPr>
          <a:lstStyle/>
          <a:p>
            <a:pPr algn="l">
              <a:spcAft>
                <a:spcPts val="0"/>
              </a:spcAft>
            </a:pPr>
            <a:r>
              <a:rPr sz="1050" b="1" i="0">
                <a:solidFill>
                  <a:srgbClr val="1B2A55"/>
                </a:solidFill>
                <a:latin typeface="Inter"/>
              </a:rPr>
              <a:t>Our claim: for small elections, PolyVote adds database-level rules and tested tamper detection to an easy setup. It is not the strongest on verifiability.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REVIEW 2 DESIGN VERSUS FINAL DESIGN</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What improved, measured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37</a:t>
            </a:r>
          </a:p>
        </p:txBody>
      </p:sp>
      <p:graphicFrame>
        <p:nvGraphicFramePr>
          <p:cNvPr id="6" name="Table 5"/>
          <p:cNvGraphicFramePr>
            <a:graphicFrameLocks noGrp="1"/>
          </p:cNvGraphicFramePr>
          <p:nvPr/>
        </p:nvGraphicFramePr>
        <p:xfrm>
          <a:off x="457200" y="1097280"/>
          <a:ext cx="8229600" cy="3438144"/>
        </p:xfrm>
        <a:graphic>
          <a:graphicData uri="http://schemas.openxmlformats.org/drawingml/2006/table">
            <a:tbl>
              <a:tblPr firstRow="1" bandRow="1">
                <a:tableStyleId>{5C22544A-7EE6-4342-B048-85BDC9FD1C3A}</a:tableStyleId>
              </a:tblPr>
              <a:tblGrid>
                <a:gridCol w="3657600"/>
                <a:gridCol w="2468880"/>
                <a:gridCol w="2103120"/>
              </a:tblGrid>
              <a:tr h="365760">
                <a:tc>
                  <a:txBody>
                    <a:bodyPr wrap="square"/>
                    <a:lstStyle/>
                    <a:p>
                      <a:r>
                        <a:rPr sz="1000" b="1" i="0">
                          <a:solidFill>
                            <a:srgbClr val="FFFFFF"/>
                          </a:solidFill>
                          <a:latin typeface="Inter"/>
                        </a:rPr>
                        <a:t>Measure</a:t>
                      </a:r>
                    </a:p>
                  </a:txBody>
                  <a:tcPr marL="73152" marR="73152" marT="36576" marB="36576" anchor="ctr">
                    <a:solidFill>
                      <a:srgbClr val="1B2A55"/>
                    </a:solidFill>
                  </a:tcPr>
                </a:tc>
                <a:tc>
                  <a:txBody>
                    <a:bodyPr wrap="square"/>
                    <a:lstStyle/>
                    <a:p>
                      <a:r>
                        <a:rPr sz="1000" b="1" i="0">
                          <a:solidFill>
                            <a:srgbClr val="FFFFFF"/>
                          </a:solidFill>
                          <a:latin typeface="Inter"/>
                        </a:rPr>
                        <a:t>Review 2</a:t>
                      </a:r>
                    </a:p>
                  </a:txBody>
                  <a:tcPr marL="73152" marR="73152" marT="36576" marB="36576" anchor="ctr">
                    <a:solidFill>
                      <a:srgbClr val="1B2A55"/>
                    </a:solidFill>
                  </a:tcPr>
                </a:tc>
                <a:tc>
                  <a:txBody>
                    <a:bodyPr wrap="square"/>
                    <a:lstStyle/>
                    <a:p>
                      <a:r>
                        <a:rPr sz="1000" b="1" i="0">
                          <a:solidFill>
                            <a:srgbClr val="FFFFFF"/>
                          </a:solidFill>
                          <a:latin typeface="Inter"/>
                        </a:rPr>
                        <a:t>Final</a:t>
                      </a:r>
                    </a:p>
                  </a:txBody>
                  <a:tcPr marL="73152" marR="73152" marT="36576" marB="36576" anchor="ctr">
                    <a:solidFill>
                      <a:srgbClr val="1B2A55"/>
                    </a:solidFill>
                  </a:tcPr>
                </a:tc>
              </a:tr>
              <a:tr h="384048">
                <a:tc>
                  <a:txBody>
                    <a:bodyPr wrap="square"/>
                    <a:lstStyle/>
                    <a:p>
                      <a:r>
                        <a:rPr sz="1050" b="1" i="0">
                          <a:solidFill>
                            <a:srgbClr val="1B2A55"/>
                          </a:solidFill>
                          <a:latin typeface="Inter"/>
                        </a:rPr>
                        <a:t>Tampering detected automatically</a:t>
                      </a:r>
                    </a:p>
                  </a:txBody>
                  <a:tcPr marL="73152" marR="73152" marT="36576" marB="36576" anchor="ctr">
                    <a:solidFill>
                      <a:srgbClr val="FFFFFF"/>
                    </a:solidFill>
                  </a:tcPr>
                </a:tc>
                <a:tc>
                  <a:txBody>
                    <a:bodyPr wrap="square"/>
                    <a:lstStyle/>
                    <a:p>
                      <a:r>
                        <a:rPr sz="1050" b="0" i="0">
                          <a:solidFill>
                            <a:srgbClr val="353B4A"/>
                          </a:solidFill>
                          <a:latin typeface="Inter"/>
                        </a:rPr>
                        <a:t>6 of 13</a:t>
                      </a:r>
                    </a:p>
                  </a:txBody>
                  <a:tcPr marL="73152" marR="73152" marT="36576" marB="36576" anchor="ctr">
                    <a:solidFill>
                      <a:srgbClr val="FFFFFF"/>
                    </a:solidFill>
                  </a:tcPr>
                </a:tc>
                <a:tc>
                  <a:txBody>
                    <a:bodyPr wrap="square"/>
                    <a:lstStyle/>
                    <a:p>
                      <a:r>
                        <a:rPr sz="1050" b="0" i="0">
                          <a:solidFill>
                            <a:srgbClr val="353B4A"/>
                          </a:solidFill>
                          <a:latin typeface="Inter"/>
                        </a:rPr>
                        <a:t>12 of 13</a:t>
                      </a:r>
                    </a:p>
                  </a:txBody>
                  <a:tcPr marL="73152" marR="73152" marT="36576" marB="36576" anchor="ctr">
                    <a:solidFill>
                      <a:srgbClr val="FFFFFF"/>
                    </a:solidFill>
                  </a:tcPr>
                </a:tc>
              </a:tr>
              <a:tr h="384048">
                <a:tc>
                  <a:txBody>
                    <a:bodyPr wrap="square"/>
                    <a:lstStyle/>
                    <a:p>
                      <a:r>
                        <a:rPr sz="1050" b="1" i="0">
                          <a:solidFill>
                            <a:srgbClr val="1B2A55"/>
                          </a:solidFill>
                          <a:latin typeface="Inter"/>
                        </a:rPr>
                        <a:t>Forged receipt or chain rewrite</a:t>
                      </a:r>
                    </a:p>
                  </a:txBody>
                  <a:tcPr marL="73152" marR="73152" marT="36576" marB="36576" anchor="ctr">
                    <a:solidFill>
                      <a:srgbClr val="F1F0F6"/>
                    </a:solidFill>
                  </a:tcPr>
                </a:tc>
                <a:tc>
                  <a:txBody>
                    <a:bodyPr wrap="square"/>
                    <a:lstStyle/>
                    <a:p>
                      <a:r>
                        <a:rPr sz="1050" b="0" i="0">
                          <a:solidFill>
                            <a:srgbClr val="353B4A"/>
                          </a:solidFill>
                          <a:latin typeface="Inter"/>
                        </a:rPr>
                        <a:t>Undetected</a:t>
                      </a:r>
                    </a:p>
                  </a:txBody>
                  <a:tcPr marL="73152" marR="73152" marT="36576" marB="36576" anchor="ctr">
                    <a:solidFill>
                      <a:srgbClr val="F1F0F6"/>
                    </a:solidFill>
                  </a:tcPr>
                </a:tc>
                <a:tc>
                  <a:txBody>
                    <a:bodyPr wrap="square"/>
                    <a:lstStyle/>
                    <a:p>
                      <a:r>
                        <a:rPr sz="1050" b="0" i="0">
                          <a:solidFill>
                            <a:srgbClr val="353B4A"/>
                          </a:solidFill>
                          <a:latin typeface="Inter"/>
                        </a:rPr>
                        <a:t>Detected (key)</a:t>
                      </a:r>
                    </a:p>
                  </a:txBody>
                  <a:tcPr marL="73152" marR="73152" marT="36576" marB="36576" anchor="ctr">
                    <a:solidFill>
                      <a:srgbClr val="F1F0F6"/>
                    </a:solidFill>
                  </a:tcPr>
                </a:tc>
              </a:tr>
              <a:tr h="384048">
                <a:tc>
                  <a:txBody>
                    <a:bodyPr wrap="square"/>
                    <a:lstStyle/>
                    <a:p>
                      <a:r>
                        <a:rPr sz="1050" b="1" i="0">
                          <a:solidFill>
                            <a:srgbClr val="1B2A55"/>
                          </a:solidFill>
                          <a:latin typeface="Inter"/>
                        </a:rPr>
                        <a:t>Candidate renaming</a:t>
                      </a:r>
                    </a:p>
                  </a:txBody>
                  <a:tcPr marL="73152" marR="73152" marT="36576" marB="36576" anchor="ctr">
                    <a:solidFill>
                      <a:srgbClr val="FFFFFF"/>
                    </a:solidFill>
                  </a:tcPr>
                </a:tc>
                <a:tc>
                  <a:txBody>
                    <a:bodyPr wrap="square"/>
                    <a:lstStyle/>
                    <a:p>
                      <a:r>
                        <a:rPr sz="1050" b="0" i="0">
                          <a:solidFill>
                            <a:srgbClr val="353B4A"/>
                          </a:solidFill>
                          <a:latin typeface="Inter"/>
                        </a:rPr>
                        <a:t>Undetected</a:t>
                      </a:r>
                    </a:p>
                  </a:txBody>
                  <a:tcPr marL="73152" marR="73152" marT="36576" marB="36576" anchor="ctr">
                    <a:solidFill>
                      <a:srgbClr val="FFFFFF"/>
                    </a:solidFill>
                  </a:tcPr>
                </a:tc>
                <a:tc>
                  <a:txBody>
                    <a:bodyPr wrap="square"/>
                    <a:lstStyle/>
                    <a:p>
                      <a:r>
                        <a:rPr sz="1050" b="0" i="0">
                          <a:solidFill>
                            <a:srgbClr val="353B4A"/>
                          </a:solidFill>
                          <a:latin typeface="Inter"/>
                        </a:rPr>
                        <a:t>Detected (sealed roster)</a:t>
                      </a:r>
                    </a:p>
                  </a:txBody>
                  <a:tcPr marL="73152" marR="73152" marT="36576" marB="36576" anchor="ctr">
                    <a:solidFill>
                      <a:srgbClr val="FFFFFF"/>
                    </a:solidFill>
                  </a:tcPr>
                </a:tc>
              </a:tr>
              <a:tr h="384048">
                <a:tc>
                  <a:txBody>
                    <a:bodyPr wrap="square"/>
                    <a:lstStyle/>
                    <a:p>
                      <a:r>
                        <a:rPr sz="1050" b="1" i="0">
                          <a:solidFill>
                            <a:srgbClr val="1B2A55"/>
                          </a:solidFill>
                          <a:latin typeface="Inter"/>
                        </a:rPr>
                        <a:t>Voter authentication</a:t>
                      </a:r>
                    </a:p>
                  </a:txBody>
                  <a:tcPr marL="73152" marR="73152" marT="36576" marB="36576" anchor="ctr">
                    <a:solidFill>
                      <a:srgbClr val="F1F0F6"/>
                    </a:solidFill>
                  </a:tcPr>
                </a:tc>
                <a:tc>
                  <a:txBody>
                    <a:bodyPr wrap="square"/>
                    <a:lstStyle/>
                    <a:p>
                      <a:r>
                        <a:rPr sz="1050" b="0" i="0">
                          <a:solidFill>
                            <a:srgbClr val="353B4A"/>
                          </a:solidFill>
                          <a:latin typeface="Inter"/>
                        </a:rPr>
                        <a:t>Password</a:t>
                      </a:r>
                    </a:p>
                  </a:txBody>
                  <a:tcPr marL="73152" marR="73152" marT="36576" marB="36576" anchor="ctr">
                    <a:solidFill>
                      <a:srgbClr val="F1F0F6"/>
                    </a:solidFill>
                  </a:tcPr>
                </a:tc>
                <a:tc>
                  <a:txBody>
                    <a:bodyPr wrap="square"/>
                    <a:lstStyle/>
                    <a:p>
                      <a:r>
                        <a:rPr sz="1050" b="0" i="0">
                          <a:solidFill>
                            <a:srgbClr val="353B4A"/>
                          </a:solidFill>
                          <a:latin typeface="Inter"/>
                        </a:rPr>
                        <a:t>Password + emailed code</a:t>
                      </a:r>
                    </a:p>
                  </a:txBody>
                  <a:tcPr marL="73152" marR="73152" marT="36576" marB="36576" anchor="ctr">
                    <a:solidFill>
                      <a:srgbClr val="F1F0F6"/>
                    </a:solidFill>
                  </a:tcPr>
                </a:tc>
              </a:tr>
              <a:tr h="384048">
                <a:tc>
                  <a:txBody>
                    <a:bodyPr wrap="square"/>
                    <a:lstStyle/>
                    <a:p>
                      <a:r>
                        <a:rPr sz="1050" b="1" i="0">
                          <a:solidFill>
                            <a:srgbClr val="1B2A55"/>
                          </a:solidFill>
                          <a:latin typeface="Inter"/>
                        </a:rPr>
                        <a:t>Ledger storage</a:t>
                      </a:r>
                    </a:p>
                  </a:txBody>
                  <a:tcPr marL="73152" marR="73152" marT="36576" marB="36576" anchor="ctr">
                    <a:solidFill>
                      <a:srgbClr val="FFFFFF"/>
                    </a:solidFill>
                  </a:tcPr>
                </a:tc>
                <a:tc>
                  <a:txBody>
                    <a:bodyPr wrap="square"/>
                    <a:lstStyle/>
                    <a:p>
                      <a:r>
                        <a:rPr sz="1050" b="0" i="0">
                          <a:solidFill>
                            <a:srgbClr val="353B4A"/>
                          </a:solidFill>
                          <a:latin typeface="Inter"/>
                        </a:rPr>
                        <a:t>Local file</a:t>
                      </a:r>
                    </a:p>
                  </a:txBody>
                  <a:tcPr marL="73152" marR="73152" marT="36576" marB="36576" anchor="ctr">
                    <a:solidFill>
                      <a:srgbClr val="FFFFFF"/>
                    </a:solidFill>
                  </a:tcPr>
                </a:tc>
                <a:tc>
                  <a:txBody>
                    <a:bodyPr wrap="square"/>
                    <a:lstStyle/>
                    <a:p>
                      <a:r>
                        <a:rPr sz="1050" b="0" i="0">
                          <a:solidFill>
                            <a:srgbClr val="353B4A"/>
                          </a:solidFill>
                          <a:latin typeface="Inter"/>
                        </a:rPr>
                        <a:t>MongoDB Atlas</a:t>
                      </a:r>
                    </a:p>
                  </a:txBody>
                  <a:tcPr marL="73152" marR="73152" marT="36576" marB="36576" anchor="ctr">
                    <a:solidFill>
                      <a:srgbClr val="FFFFFF"/>
                    </a:solidFill>
                  </a:tcPr>
                </a:tc>
              </a:tr>
              <a:tr h="384048">
                <a:tc>
                  <a:txBody>
                    <a:bodyPr wrap="square"/>
                    <a:lstStyle/>
                    <a:p>
                      <a:r>
                        <a:rPr sz="1050" b="1" i="0">
                          <a:solidFill>
                            <a:srgbClr val="1B2A55"/>
                          </a:solidFill>
                          <a:latin typeface="Inter"/>
                        </a:rPr>
                        <a:t>Ledger append at 10,000 ballots</a:t>
                      </a:r>
                    </a:p>
                  </a:txBody>
                  <a:tcPr marL="73152" marR="73152" marT="36576" marB="36576" anchor="ctr">
                    <a:solidFill>
                      <a:srgbClr val="F1F0F6"/>
                    </a:solidFill>
                  </a:tcPr>
                </a:tc>
                <a:tc>
                  <a:txBody>
                    <a:bodyPr wrap="square"/>
                    <a:lstStyle/>
                    <a:p>
                      <a:r>
                        <a:rPr sz="1050" b="0" i="0">
                          <a:solidFill>
                            <a:srgbClr val="353B4A"/>
                          </a:solidFill>
                          <a:latin typeface="Inter"/>
                        </a:rPr>
                        <a:t>205 ms (file, whole cast)</a:t>
                      </a:r>
                    </a:p>
                  </a:txBody>
                  <a:tcPr marL="73152" marR="73152" marT="36576" marB="36576" anchor="ctr">
                    <a:solidFill>
                      <a:srgbClr val="F1F0F6"/>
                    </a:solidFill>
                  </a:tcPr>
                </a:tc>
                <a:tc>
                  <a:txBody>
                    <a:bodyPr wrap="square"/>
                    <a:lstStyle/>
                    <a:p>
                      <a:r>
                        <a:rPr sz="1050" b="0" i="0">
                          <a:solidFill>
                            <a:srgbClr val="353B4A"/>
                          </a:solidFill>
                          <a:latin typeface="Inter"/>
                        </a:rPr>
                        <a:t>~147 ms (Atlas, flat)</a:t>
                      </a:r>
                    </a:p>
                  </a:txBody>
                  <a:tcPr marL="73152" marR="73152" marT="36576" marB="36576" anchor="ctr">
                    <a:solidFill>
                      <a:srgbClr val="F1F0F6"/>
                    </a:solidFill>
                  </a:tcPr>
                </a:tc>
              </a:tr>
              <a:tr h="384048">
                <a:tc>
                  <a:txBody>
                    <a:bodyPr wrap="square"/>
                    <a:lstStyle/>
                    <a:p>
                      <a:r>
                        <a:rPr sz="1050" b="1" i="0">
                          <a:solidFill>
                            <a:srgbClr val="1B2A55"/>
                          </a:solidFill>
                          <a:latin typeface="Inter"/>
                        </a:rPr>
                        <a:t>Sweep at 10,000 ballots</a:t>
                      </a:r>
                    </a:p>
                  </a:txBody>
                  <a:tcPr marL="73152" marR="73152" marT="36576" marB="36576" anchor="ctr">
                    <a:solidFill>
                      <a:srgbClr val="FFFFFF"/>
                    </a:solidFill>
                  </a:tcPr>
                </a:tc>
                <a:tc>
                  <a:txBody>
                    <a:bodyPr wrap="square"/>
                    <a:lstStyle/>
                    <a:p>
                      <a:r>
                        <a:rPr sz="1050" b="0" i="0">
                          <a:solidFill>
                            <a:srgbClr val="353B4A"/>
                          </a:solidFill>
                          <a:latin typeface="Inter"/>
                        </a:rPr>
                        <a:t>129 ms</a:t>
                      </a:r>
                    </a:p>
                  </a:txBody>
                  <a:tcPr marL="73152" marR="73152" marT="36576" marB="36576" anchor="ctr">
                    <a:solidFill>
                      <a:srgbClr val="FFFFFF"/>
                    </a:solidFill>
                  </a:tcPr>
                </a:tc>
                <a:tc>
                  <a:txBody>
                    <a:bodyPr wrap="square"/>
                    <a:lstStyle/>
                    <a:p>
                      <a:r>
                        <a:rPr sz="1050" b="0" i="0">
                          <a:solidFill>
                            <a:srgbClr val="353B4A"/>
                          </a:solidFill>
                          <a:latin typeface="Inter"/>
                        </a:rPr>
                        <a:t>147 ms</a:t>
                      </a:r>
                    </a:p>
                  </a:txBody>
                  <a:tcPr marL="73152" marR="73152" marT="36576" marB="36576" anchor="ctr">
                    <a:solidFill>
                      <a:srgbClr val="FFFFFF"/>
                    </a:solidFill>
                  </a:tcPr>
                </a:tc>
              </a:tr>
              <a:tr h="384048">
                <a:tc>
                  <a:txBody>
                    <a:bodyPr wrap="square"/>
                    <a:lstStyle/>
                    <a:p>
                      <a:r>
                        <a:rPr sz="1050" b="1" i="0">
                          <a:solidFill>
                            <a:srgbClr val="1B2A55"/>
                          </a:solidFill>
                          <a:latin typeface="Inter"/>
                        </a:rPr>
                        <a:t>Access</a:t>
                      </a:r>
                    </a:p>
                  </a:txBody>
                  <a:tcPr marL="73152" marR="73152" marT="36576" marB="36576" anchor="ctr">
                    <a:solidFill>
                      <a:srgbClr val="F1F0F6"/>
                    </a:solidFill>
                  </a:tcPr>
                </a:tc>
                <a:tc>
                  <a:txBody>
                    <a:bodyPr wrap="square"/>
                    <a:lstStyle/>
                    <a:p>
                      <a:r>
                        <a:rPr sz="1050" b="0" i="0">
                          <a:solidFill>
                            <a:srgbClr val="353B4A"/>
                          </a:solidFill>
                          <a:latin typeface="Inter"/>
                        </a:rPr>
                        <a:t>Local only</a:t>
                      </a:r>
                    </a:p>
                  </a:txBody>
                  <a:tcPr marL="73152" marR="73152" marT="36576" marB="36576" anchor="ctr">
                    <a:solidFill>
                      <a:srgbClr val="F1F0F6"/>
                    </a:solidFill>
                  </a:tcPr>
                </a:tc>
                <a:tc>
                  <a:txBody>
                    <a:bodyPr wrap="square"/>
                    <a:lstStyle/>
                    <a:p>
                      <a:r>
                        <a:rPr sz="1050" b="0" i="0">
                          <a:solidFill>
                            <a:srgbClr val="353B4A"/>
                          </a:solidFill>
                          <a:latin typeface="Inter"/>
                        </a:rPr>
                        <a:t>Public link + QR</a:t>
                      </a:r>
                    </a:p>
                  </a:txBody>
                  <a:tcPr marL="73152" marR="73152" marT="36576" marB="36576" anchor="ctr">
                    <a:solidFill>
                      <a:srgbClr val="F1F0F6"/>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THE WEB PAGE · LAUNCH CHECKLIST</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Website launch checklist: 17 pass, 4 N/A, 0 fail</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38</a:t>
            </a:r>
          </a:p>
        </p:txBody>
      </p:sp>
      <p:sp>
        <p:nvSpPr>
          <p:cNvPr id="6" name="TextBox 5"/>
          <p:cNvSpPr txBox="1"/>
          <p:nvPr/>
        </p:nvSpPr>
        <p:spPr>
          <a:xfrm>
            <a:off x="457200" y="1051560"/>
            <a:ext cx="2606040" cy="3383280"/>
          </a:xfrm>
          <a:prstGeom prst="rect">
            <a:avLst/>
          </a:prstGeom>
          <a:noFill/>
        </p:spPr>
        <p:txBody>
          <a:bodyPr wrap="square" anchor="t" lIns="0" rIns="0" tIns="0" bIns="0">
            <a:spAutoFit/>
          </a:bodyPr>
          <a:lstStyle/>
          <a:p>
            <a:pPr algn="l">
              <a:spcAft>
                <a:spcPts val="700"/>
              </a:spcAft>
            </a:pPr>
            <a:r>
              <a:rPr sz="850" b="1" i="0">
                <a:solidFill>
                  <a:srgbClr val="1A7F37"/>
                </a:solidFill>
                <a:latin typeface="Consolas"/>
              </a:rPr>
              <a:t>PASS </a:t>
            </a:r>
            <a:r>
              <a:rPr sz="1050" b="0" i="0">
                <a:solidFill>
                  <a:srgbClr val="353B4A"/>
                </a:solidFill>
                <a:latin typeface="Inter"/>
              </a:rPr>
              <a:t>Server-side rendering (pre-rendered shell)</a:t>
            </a:r>
          </a:p>
          <a:p>
            <a:pPr algn="l">
              <a:spcAft>
                <a:spcPts val="700"/>
              </a:spcAft>
            </a:pPr>
            <a:r>
              <a:rPr sz="850" b="1" i="0">
                <a:solidFill>
                  <a:srgbClr val="9A6700"/>
                </a:solidFill>
                <a:latin typeface="Consolas"/>
              </a:rPr>
              <a:t>N/A  </a:t>
            </a:r>
            <a:r>
              <a:rPr sz="1050" b="0" i="0">
                <a:solidFill>
                  <a:srgbClr val="353B4A"/>
                </a:solidFill>
                <a:latin typeface="Inter"/>
              </a:rPr>
              <a:t>HTTPS and mobile viewport</a:t>
            </a:r>
          </a:p>
          <a:p>
            <a:pPr algn="l">
              <a:spcAft>
                <a:spcPts val="700"/>
              </a:spcAft>
            </a:pPr>
            <a:r>
              <a:rPr sz="850" b="1" i="0">
                <a:solidFill>
                  <a:srgbClr val="1A7F37"/>
                </a:solidFill>
                <a:latin typeface="Consolas"/>
              </a:rPr>
              <a:t>PASS </a:t>
            </a:r>
            <a:r>
              <a:rPr sz="1050" b="0" i="0">
                <a:solidFill>
                  <a:srgbClr val="353B4A"/>
                </a:solidFill>
                <a:latin typeface="Inter"/>
              </a:rPr>
              <a:t>robots.txt</a:t>
            </a:r>
          </a:p>
          <a:p>
            <a:pPr algn="l">
              <a:spcAft>
                <a:spcPts val="700"/>
              </a:spcAft>
            </a:pPr>
            <a:r>
              <a:rPr sz="850" b="1" i="0">
                <a:solidFill>
                  <a:srgbClr val="1A7F37"/>
                </a:solidFill>
                <a:latin typeface="Consolas"/>
              </a:rPr>
              <a:t>PASS </a:t>
            </a:r>
            <a:r>
              <a:rPr sz="1050" b="0" i="0">
                <a:solidFill>
                  <a:srgbClr val="353B4A"/>
                </a:solidFill>
                <a:latin typeface="Inter"/>
              </a:rPr>
              <a:t>sitemap.xml</a:t>
            </a:r>
          </a:p>
          <a:p>
            <a:pPr algn="l">
              <a:spcAft>
                <a:spcPts val="700"/>
              </a:spcAft>
            </a:pPr>
            <a:r>
              <a:rPr sz="850" b="1" i="0">
                <a:solidFill>
                  <a:srgbClr val="1A7F37"/>
                </a:solidFill>
                <a:latin typeface="Consolas"/>
              </a:rPr>
              <a:t>PASS </a:t>
            </a:r>
            <a:r>
              <a:rPr sz="1050" b="0" i="0">
                <a:solidFill>
                  <a:srgbClr val="353B4A"/>
                </a:solidFill>
                <a:latin typeface="Inter"/>
              </a:rPr>
              <a:t>Unique title tags</a:t>
            </a:r>
          </a:p>
          <a:p>
            <a:pPr algn="l">
              <a:spcAft>
                <a:spcPts val="700"/>
              </a:spcAft>
            </a:pPr>
            <a:r>
              <a:rPr sz="850" b="1" i="0">
                <a:solidFill>
                  <a:srgbClr val="1A7F37"/>
                </a:solidFill>
                <a:latin typeface="Consolas"/>
              </a:rPr>
              <a:t>PASS </a:t>
            </a:r>
            <a:r>
              <a:rPr sz="1050" b="0" i="0">
                <a:solidFill>
                  <a:srgbClr val="353B4A"/>
                </a:solidFill>
                <a:latin typeface="Inter"/>
              </a:rPr>
              <a:t>Meta descriptions</a:t>
            </a:r>
          </a:p>
          <a:p>
            <a:pPr algn="l">
              <a:spcAft>
                <a:spcPts val="700"/>
              </a:spcAft>
            </a:pPr>
            <a:r>
              <a:rPr sz="850" b="1" i="0">
                <a:solidFill>
                  <a:srgbClr val="1A7F37"/>
                </a:solidFill>
                <a:latin typeface="Consolas"/>
              </a:rPr>
              <a:t>PASS </a:t>
            </a:r>
            <a:r>
              <a:rPr sz="1050" b="0" i="0">
                <a:solidFill>
                  <a:srgbClr val="353B4A"/>
                </a:solidFill>
                <a:latin typeface="Inter"/>
              </a:rPr>
              <a:t>One H1 per page</a:t>
            </a:r>
          </a:p>
          <a:p>
            <a:pPr algn="l">
              <a:spcAft>
                <a:spcPts val="700"/>
              </a:spcAft>
            </a:pPr>
            <a:r>
              <a:rPr sz="850" b="1" i="0">
                <a:solidFill>
                  <a:srgbClr val="1A7F37"/>
                </a:solidFill>
                <a:latin typeface="Consolas"/>
              </a:rPr>
              <a:t>PASS </a:t>
            </a:r>
            <a:r>
              <a:rPr sz="1050" b="0" i="0">
                <a:solidFill>
                  <a:srgbClr val="353B4A"/>
                </a:solidFill>
                <a:latin typeface="Inter"/>
              </a:rPr>
              <a:t>Canonical tags</a:t>
            </a:r>
          </a:p>
          <a:p>
            <a:pPr algn="l">
              <a:spcAft>
                <a:spcPts val="700"/>
              </a:spcAft>
            </a:pPr>
            <a:r>
              <a:rPr sz="850" b="1" i="0">
                <a:solidFill>
                  <a:srgbClr val="1A7F37"/>
                </a:solidFill>
                <a:latin typeface="Consolas"/>
              </a:rPr>
              <a:t>PASS </a:t>
            </a:r>
            <a:r>
              <a:rPr sz="1050" b="0" i="0">
                <a:solidFill>
                  <a:srgbClr val="353B4A"/>
                </a:solidFill>
                <a:latin typeface="Inter"/>
              </a:rPr>
              <a:t>Open Graph images</a:t>
            </a:r>
          </a:p>
          <a:p>
            <a:pPr algn="l">
              <a:spcAft>
                <a:spcPts val="700"/>
              </a:spcAft>
            </a:pPr>
            <a:r>
              <a:rPr sz="850" b="1" i="0">
                <a:solidFill>
                  <a:srgbClr val="1A7F37"/>
                </a:solidFill>
                <a:latin typeface="Consolas"/>
              </a:rPr>
              <a:t>PASS </a:t>
            </a:r>
            <a:r>
              <a:rPr sz="1050" b="0" i="0">
                <a:solidFill>
                  <a:srgbClr val="353B4A"/>
                </a:solidFill>
                <a:latin typeface="Inter"/>
              </a:rPr>
              <a:t>Custom 404 page</a:t>
            </a:r>
          </a:p>
          <a:p>
            <a:pPr algn="l">
              <a:spcAft>
                <a:spcPts val="700"/>
              </a:spcAft>
            </a:pPr>
            <a:r>
              <a:rPr sz="850" b="1" i="0">
                <a:solidFill>
                  <a:srgbClr val="1A7F37"/>
                </a:solidFill>
                <a:latin typeface="Consolas"/>
              </a:rPr>
              <a:t>PASS </a:t>
            </a:r>
            <a:r>
              <a:rPr sz="1050" b="0" i="0">
                <a:solidFill>
                  <a:srgbClr val="353B4A"/>
                </a:solidFill>
                <a:latin typeface="Inter"/>
              </a:rPr>
              <a:t>301 redirects</a:t>
            </a:r>
          </a:p>
        </p:txBody>
      </p:sp>
      <p:sp>
        <p:nvSpPr>
          <p:cNvPr id="7" name="TextBox 6"/>
          <p:cNvSpPr txBox="1"/>
          <p:nvPr/>
        </p:nvSpPr>
        <p:spPr>
          <a:xfrm>
            <a:off x="3154680" y="1051560"/>
            <a:ext cx="2606040" cy="3383280"/>
          </a:xfrm>
          <a:prstGeom prst="rect">
            <a:avLst/>
          </a:prstGeom>
          <a:noFill/>
        </p:spPr>
        <p:txBody>
          <a:bodyPr wrap="square" anchor="t" lIns="0" rIns="0" tIns="0" bIns="0">
            <a:spAutoFit/>
          </a:bodyPr>
          <a:lstStyle/>
          <a:p>
            <a:pPr algn="l">
              <a:spcAft>
                <a:spcPts val="700"/>
              </a:spcAft>
            </a:pPr>
            <a:r>
              <a:rPr sz="850" b="1" i="0">
                <a:solidFill>
                  <a:srgbClr val="1A7F37"/>
                </a:solidFill>
                <a:latin typeface="Consolas"/>
              </a:rPr>
              <a:t>PASS </a:t>
            </a:r>
            <a:r>
              <a:rPr sz="1050" b="0" i="0">
                <a:solidFill>
                  <a:srgbClr val="353B4A"/>
                </a:solidFill>
                <a:latin typeface="Inter"/>
              </a:rPr>
              <a:t>Alt text on images</a:t>
            </a:r>
          </a:p>
          <a:p>
            <a:pPr algn="l">
              <a:spcAft>
                <a:spcPts val="700"/>
              </a:spcAft>
            </a:pPr>
            <a:r>
              <a:rPr sz="850" b="1" i="0">
                <a:solidFill>
                  <a:srgbClr val="9A6700"/>
                </a:solidFill>
                <a:latin typeface="Consolas"/>
              </a:rPr>
              <a:t>N/A  </a:t>
            </a:r>
            <a:r>
              <a:rPr sz="1050" b="0" i="0">
                <a:solidFill>
                  <a:srgbClr val="353B4A"/>
                </a:solidFill>
                <a:latin typeface="Inter"/>
              </a:rPr>
              <a:t>WebP images</a:t>
            </a:r>
          </a:p>
          <a:p>
            <a:pPr algn="l">
              <a:spcAft>
                <a:spcPts val="700"/>
              </a:spcAft>
            </a:pPr>
            <a:r>
              <a:rPr sz="850" b="1" i="0">
                <a:solidFill>
                  <a:srgbClr val="1A7F37"/>
                </a:solidFill>
                <a:latin typeface="Consolas"/>
              </a:rPr>
              <a:t>PASS </a:t>
            </a:r>
            <a:r>
              <a:rPr sz="1050" b="0" i="0">
                <a:solidFill>
                  <a:srgbClr val="353B4A"/>
                </a:solidFill>
                <a:latin typeface="Inter"/>
              </a:rPr>
              <a:t>Lazy loading</a:t>
            </a:r>
          </a:p>
          <a:p>
            <a:pPr algn="l">
              <a:spcAft>
                <a:spcPts val="700"/>
              </a:spcAft>
            </a:pPr>
            <a:r>
              <a:rPr sz="850" b="1" i="0">
                <a:solidFill>
                  <a:srgbClr val="1A7F37"/>
                </a:solidFill>
                <a:latin typeface="Consolas"/>
              </a:rPr>
              <a:t>PASS </a:t>
            </a:r>
            <a:r>
              <a:rPr sz="1050" b="0" i="0">
                <a:solidFill>
                  <a:srgbClr val="353B4A"/>
                </a:solidFill>
                <a:latin typeface="Inter"/>
              </a:rPr>
              <a:t>Organization schema</a:t>
            </a:r>
          </a:p>
          <a:p>
            <a:pPr algn="l">
              <a:spcAft>
                <a:spcPts val="700"/>
              </a:spcAft>
            </a:pPr>
            <a:r>
              <a:rPr sz="850" b="1" i="0">
                <a:solidFill>
                  <a:srgbClr val="1A7F37"/>
                </a:solidFill>
                <a:latin typeface="Consolas"/>
              </a:rPr>
              <a:t>PASS </a:t>
            </a:r>
            <a:r>
              <a:rPr sz="1050" b="0" i="0">
                <a:solidFill>
                  <a:srgbClr val="353B4A"/>
                </a:solidFill>
                <a:latin typeface="Inter"/>
              </a:rPr>
              <a:t>Breadcrumbs</a:t>
            </a:r>
          </a:p>
          <a:p>
            <a:pPr algn="l">
              <a:spcAft>
                <a:spcPts val="700"/>
              </a:spcAft>
            </a:pPr>
            <a:r>
              <a:rPr sz="850" b="1" i="0">
                <a:solidFill>
                  <a:srgbClr val="1A7F37"/>
                </a:solidFill>
                <a:latin typeface="Consolas"/>
              </a:rPr>
              <a:t>PASS </a:t>
            </a:r>
            <a:r>
              <a:rPr sz="1050" b="0" i="0">
                <a:solidFill>
                  <a:srgbClr val="353B4A"/>
                </a:solidFill>
                <a:latin typeface="Inter"/>
              </a:rPr>
              <a:t>Internal links</a:t>
            </a:r>
          </a:p>
          <a:p>
            <a:pPr algn="l">
              <a:spcAft>
                <a:spcPts val="700"/>
              </a:spcAft>
            </a:pPr>
            <a:r>
              <a:rPr sz="850" b="1" i="0">
                <a:solidFill>
                  <a:srgbClr val="9A6700"/>
                </a:solidFill>
                <a:latin typeface="Consolas"/>
              </a:rPr>
              <a:t>N/A  </a:t>
            </a:r>
            <a:r>
              <a:rPr sz="1050" b="0" i="0">
                <a:solidFill>
                  <a:srgbClr val="353B4A"/>
                </a:solidFill>
                <a:latin typeface="Inter"/>
              </a:rPr>
              <a:t>Google Analytics</a:t>
            </a:r>
          </a:p>
          <a:p>
            <a:pPr algn="l">
              <a:spcAft>
                <a:spcPts val="700"/>
              </a:spcAft>
            </a:pPr>
            <a:r>
              <a:rPr sz="850" b="1" i="0">
                <a:solidFill>
                  <a:srgbClr val="9A6700"/>
                </a:solidFill>
                <a:latin typeface="Consolas"/>
              </a:rPr>
              <a:t>N/A  </a:t>
            </a:r>
            <a:r>
              <a:rPr sz="1050" b="0" i="0">
                <a:solidFill>
                  <a:srgbClr val="353B4A"/>
                </a:solidFill>
                <a:latin typeface="Inter"/>
              </a:rPr>
              <a:t>Search Console</a:t>
            </a:r>
          </a:p>
          <a:p>
            <a:pPr algn="l">
              <a:spcAft>
                <a:spcPts val="700"/>
              </a:spcAft>
            </a:pPr>
            <a:r>
              <a:rPr sz="850" b="1" i="0">
                <a:solidFill>
                  <a:srgbClr val="1A7F37"/>
                </a:solidFill>
                <a:latin typeface="Consolas"/>
              </a:rPr>
              <a:t>PASS </a:t>
            </a:r>
            <a:r>
              <a:rPr sz="1050" b="0" i="0">
                <a:solidFill>
                  <a:srgbClr val="353B4A"/>
                </a:solidFill>
                <a:latin typeface="Inter"/>
              </a:rPr>
              <a:t>Privacy policy</a:t>
            </a:r>
          </a:p>
          <a:p>
            <a:pPr algn="l">
              <a:spcAft>
                <a:spcPts val="700"/>
              </a:spcAft>
            </a:pPr>
            <a:r>
              <a:rPr sz="850" b="1" i="0">
                <a:solidFill>
                  <a:srgbClr val="1A7F37"/>
                </a:solidFill>
                <a:latin typeface="Consolas"/>
              </a:rPr>
              <a:t>PASS </a:t>
            </a:r>
            <a:r>
              <a:rPr sz="1050" b="0" i="0">
                <a:solidFill>
                  <a:srgbClr val="353B4A"/>
                </a:solidFill>
                <a:latin typeface="Inter"/>
              </a:rPr>
              <a:t>Working contact form</a:t>
            </a:r>
          </a:p>
        </p:txBody>
      </p:sp>
      <p:pic>
        <p:nvPicPr>
          <p:cNvPr id="8" name="Picture 7" descr="web_home.png"/>
          <p:cNvPicPr>
            <a:picLocks noChangeAspect="1"/>
          </p:cNvPicPr>
          <p:nvPr/>
        </p:nvPicPr>
        <p:blipFill>
          <a:blip r:embed="rId2"/>
          <a:stretch>
            <a:fillRect/>
          </a:stretch>
        </p:blipFill>
        <p:spPr>
          <a:xfrm>
            <a:off x="5902452" y="1051560"/>
            <a:ext cx="2779776" cy="1737360"/>
          </a:xfrm>
          <a:prstGeom prst="rect">
            <a:avLst/>
          </a:prstGeom>
          <a:ln w="12700">
            <a:solidFill>
              <a:srgbClr val="D9D9E4"/>
            </a:solidFill>
          </a:ln>
        </p:spPr>
      </p:pic>
      <p:pic>
        <p:nvPicPr>
          <p:cNvPr id="9" name="Picture 8" descr="web_404.png"/>
          <p:cNvPicPr>
            <a:picLocks noChangeAspect="1"/>
          </p:cNvPicPr>
          <p:nvPr/>
        </p:nvPicPr>
        <p:blipFill>
          <a:blip r:embed="rId3"/>
          <a:stretch>
            <a:fillRect/>
          </a:stretch>
        </p:blipFill>
        <p:spPr>
          <a:xfrm>
            <a:off x="5902452" y="2880360"/>
            <a:ext cx="2779776" cy="1737360"/>
          </a:xfrm>
          <a:prstGeom prst="rect">
            <a:avLst/>
          </a:prstGeom>
          <a:ln w="12700">
            <a:solidFill>
              <a:srgbClr val="D9D9E4"/>
            </a:solidFill>
          </a:ln>
        </p:spPr>
      </p:pic>
      <p:sp>
        <p:nvSpPr>
          <p:cNvPr id="10" name="TextBox 9"/>
          <p:cNvSpPr txBox="1"/>
          <p:nvPr/>
        </p:nvSpPr>
        <p:spPr>
          <a:xfrm>
            <a:off x="457200" y="4434840"/>
            <a:ext cx="5303520" cy="411480"/>
          </a:xfrm>
          <a:prstGeom prst="rect">
            <a:avLst/>
          </a:prstGeom>
          <a:noFill/>
        </p:spPr>
        <p:txBody>
          <a:bodyPr wrap="square" anchor="t" lIns="0" rIns="0" tIns="0" bIns="0">
            <a:spAutoFit/>
          </a:bodyPr>
          <a:lstStyle/>
          <a:p>
            <a:pPr algn="l">
              <a:spcAft>
                <a:spcPts val="0"/>
              </a:spcAft>
            </a:pPr>
            <a:r>
              <a:rPr sz="850" b="0" i="1">
                <a:solidFill>
                  <a:srgbClr val="666A78"/>
                </a:solidFill>
                <a:latin typeface="Inter"/>
              </a:rPr>
              <a:t>N/A: HTTPS (a local run; the host provides it), WebP (no raster images in the pages), Google Analytics and Search Console (need the owner's own IDs).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PRIVACY AND ETHICS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Privacy and ethics: what is stored, and where</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39</a:t>
            </a:r>
          </a:p>
        </p:txBody>
      </p:sp>
      <p:graphicFrame>
        <p:nvGraphicFramePr>
          <p:cNvPr id="6" name="Table 5"/>
          <p:cNvGraphicFramePr>
            <a:graphicFrameLocks noGrp="1"/>
          </p:cNvGraphicFramePr>
          <p:nvPr/>
        </p:nvGraphicFramePr>
        <p:xfrm>
          <a:off x="457200" y="1024128"/>
          <a:ext cx="5029200" cy="3026664"/>
        </p:xfrm>
        <a:graphic>
          <a:graphicData uri="http://schemas.openxmlformats.org/drawingml/2006/table">
            <a:tbl>
              <a:tblPr firstRow="1" bandRow="1">
                <a:tableStyleId>{5C22544A-7EE6-4342-B048-85BDC9FD1C3A}</a:tableStyleId>
              </a:tblPr>
              <a:tblGrid>
                <a:gridCol w="1371600"/>
                <a:gridCol w="2011680"/>
                <a:gridCol w="1645920"/>
              </a:tblGrid>
              <a:tr h="274320">
                <a:tc>
                  <a:txBody>
                    <a:bodyPr wrap="square"/>
                    <a:lstStyle/>
                    <a:p>
                      <a:r>
                        <a:rPr sz="950" b="1" i="0">
                          <a:solidFill>
                            <a:srgbClr val="FFFFFF"/>
                          </a:solidFill>
                          <a:latin typeface="Inter"/>
                        </a:rPr>
                        <a:t>Data</a:t>
                      </a:r>
                    </a:p>
                  </a:txBody>
                  <a:tcPr marL="73152" marR="73152" marT="36576" marB="36576" anchor="ctr">
                    <a:solidFill>
                      <a:srgbClr val="1B2A55"/>
                    </a:solidFill>
                  </a:tcPr>
                </a:tc>
                <a:tc>
                  <a:txBody>
                    <a:bodyPr wrap="square"/>
                    <a:lstStyle/>
                    <a:p>
                      <a:r>
                        <a:rPr sz="950" b="1" i="0">
                          <a:solidFill>
                            <a:srgbClr val="FFFFFF"/>
                          </a:solidFill>
                          <a:latin typeface="Inter"/>
                        </a:rPr>
                        <a:t>Where it lives</a:t>
                      </a:r>
                    </a:p>
                  </a:txBody>
                  <a:tcPr marL="73152" marR="73152" marT="36576" marB="36576" anchor="ctr">
                    <a:solidFill>
                      <a:srgbClr val="1B2A55"/>
                    </a:solidFill>
                  </a:tcPr>
                </a:tc>
                <a:tc>
                  <a:txBody>
                    <a:bodyPr wrap="square"/>
                    <a:lstStyle/>
                    <a:p>
                      <a:r>
                        <a:rPr sz="950" b="1" i="0">
                          <a:solidFill>
                            <a:srgbClr val="FFFFFF"/>
                          </a:solidFill>
                          <a:latin typeface="Inter"/>
                        </a:rPr>
                        <a:t>Stored as</a:t>
                      </a:r>
                    </a:p>
                  </a:txBody>
                  <a:tcPr marL="73152" marR="73152" marT="36576" marB="36576" anchor="ctr">
                    <a:solidFill>
                      <a:srgbClr val="1B2A55"/>
                    </a:solidFill>
                  </a:tcPr>
                </a:tc>
              </a:tr>
              <a:tr h="393192">
                <a:tc>
                  <a:txBody>
                    <a:bodyPr wrap="square"/>
                    <a:lstStyle/>
                    <a:p>
                      <a:r>
                        <a:rPr sz="900" b="1" i="0">
                          <a:solidFill>
                            <a:srgbClr val="1B2A55"/>
                          </a:solidFill>
                          <a:latin typeface="Inter"/>
                        </a:rPr>
                        <a:t>Registration number</a:t>
                      </a:r>
                    </a:p>
                  </a:txBody>
                  <a:tcPr marL="73152" marR="73152" marT="36576" marB="36576" anchor="ctr">
                    <a:solidFill>
                      <a:srgbClr val="FFFFFF"/>
                    </a:solidFill>
                  </a:tcPr>
                </a:tc>
                <a:tc>
                  <a:txBody>
                    <a:bodyPr wrap="square"/>
                    <a:lstStyle/>
                    <a:p>
                      <a:r>
                        <a:rPr sz="900" b="0" i="0">
                          <a:solidFill>
                            <a:srgbClr val="353B4A"/>
                          </a:solidFill>
                          <a:latin typeface="Inter"/>
                        </a:rPr>
                        <a:t>Election database</a:t>
                      </a:r>
                    </a:p>
                  </a:txBody>
                  <a:tcPr marL="73152" marR="73152" marT="36576" marB="36576" anchor="ctr">
                    <a:solidFill>
                      <a:srgbClr val="FFFFFF"/>
                    </a:solidFill>
                  </a:tcPr>
                </a:tc>
                <a:tc>
                  <a:txBody>
                    <a:bodyPr wrap="square"/>
                    <a:lstStyle/>
                    <a:p>
                      <a:r>
                        <a:rPr sz="900" b="0" i="0">
                          <a:solidFill>
                            <a:srgbClr val="353B4A"/>
                          </a:solidFill>
                          <a:latin typeface="Inter"/>
                        </a:rPr>
                        <a:t>Roster entry</a:t>
                      </a:r>
                    </a:p>
                  </a:txBody>
                  <a:tcPr marL="73152" marR="73152" marT="36576" marB="36576" anchor="ctr">
                    <a:solidFill>
                      <a:srgbClr val="FFFFFF"/>
                    </a:solidFill>
                  </a:tcPr>
                </a:tc>
              </a:tr>
              <a:tr h="393192">
                <a:tc>
                  <a:txBody>
                    <a:bodyPr wrap="square"/>
                    <a:lstStyle/>
                    <a:p>
                      <a:r>
                        <a:rPr sz="900" b="1" i="0">
                          <a:solidFill>
                            <a:srgbClr val="1B2A55"/>
                          </a:solidFill>
                          <a:latin typeface="Inter"/>
                        </a:rPr>
                        <a:t>Password</a:t>
                      </a:r>
                    </a:p>
                  </a:txBody>
                  <a:tcPr marL="73152" marR="73152" marT="36576" marB="36576" anchor="ctr">
                    <a:solidFill>
                      <a:srgbClr val="F1F0F6"/>
                    </a:solidFill>
                  </a:tcPr>
                </a:tc>
                <a:tc>
                  <a:txBody>
                    <a:bodyPr wrap="square"/>
                    <a:lstStyle/>
                    <a:p>
                      <a:r>
                        <a:rPr sz="900" b="0" i="0">
                          <a:solidFill>
                            <a:srgbClr val="353B4A"/>
                          </a:solidFill>
                          <a:latin typeface="Inter"/>
                        </a:rPr>
                        <a:t>Election database</a:t>
                      </a:r>
                    </a:p>
                  </a:txBody>
                  <a:tcPr marL="73152" marR="73152" marT="36576" marB="36576" anchor="ctr">
                    <a:solidFill>
                      <a:srgbClr val="F1F0F6"/>
                    </a:solidFill>
                  </a:tcPr>
                </a:tc>
                <a:tc>
                  <a:txBody>
                    <a:bodyPr wrap="square"/>
                    <a:lstStyle/>
                    <a:p>
                      <a:r>
                        <a:rPr sz="900" b="0" i="0">
                          <a:solidFill>
                            <a:srgbClr val="353B4A"/>
                          </a:solidFill>
                          <a:latin typeface="Inter"/>
                        </a:rPr>
                        <a:t>SHA-256 hash only</a:t>
                      </a:r>
                    </a:p>
                  </a:txBody>
                  <a:tcPr marL="73152" marR="73152" marT="36576" marB="36576" anchor="ctr">
                    <a:solidFill>
                      <a:srgbClr val="F1F0F6"/>
                    </a:solidFill>
                  </a:tcPr>
                </a:tc>
              </a:tr>
              <a:tr h="393192">
                <a:tc>
                  <a:txBody>
                    <a:bodyPr wrap="square"/>
                    <a:lstStyle/>
                    <a:p>
                      <a:r>
                        <a:rPr sz="900" b="1" i="0">
                          <a:solidFill>
                            <a:srgbClr val="1B2A55"/>
                          </a:solidFill>
                          <a:latin typeface="Inter"/>
                        </a:rPr>
                        <a:t>Email address</a:t>
                      </a:r>
                    </a:p>
                  </a:txBody>
                  <a:tcPr marL="73152" marR="73152" marT="36576" marB="36576" anchor="ctr">
                    <a:solidFill>
                      <a:srgbClr val="FFFFFF"/>
                    </a:solidFill>
                  </a:tcPr>
                </a:tc>
                <a:tc>
                  <a:txBody>
                    <a:bodyPr wrap="square"/>
                    <a:lstStyle/>
                    <a:p>
                      <a:r>
                        <a:rPr sz="900" b="0" i="0">
                          <a:solidFill>
                            <a:srgbClr val="353B4A"/>
                          </a:solidFill>
                          <a:latin typeface="Inter"/>
                        </a:rPr>
                        <a:t>Verification database (separate file)</a:t>
                      </a:r>
                    </a:p>
                  </a:txBody>
                  <a:tcPr marL="73152" marR="73152" marT="36576" marB="36576" anchor="ctr">
                    <a:solidFill>
                      <a:srgbClr val="FFFFFF"/>
                    </a:solidFill>
                  </a:tcPr>
                </a:tc>
                <a:tc>
                  <a:txBody>
                    <a:bodyPr wrap="square"/>
                    <a:lstStyle/>
                    <a:p>
                      <a:r>
                        <a:rPr sz="900" b="0" i="0">
                          <a:solidFill>
                            <a:srgbClr val="353B4A"/>
                          </a:solidFill>
                          <a:latin typeface="Inter"/>
                        </a:rPr>
                        <a:t>Never stored with ballots</a:t>
                      </a:r>
                    </a:p>
                  </a:txBody>
                  <a:tcPr marL="73152" marR="73152" marT="36576" marB="36576" anchor="ctr">
                    <a:solidFill>
                      <a:srgbClr val="FFFFFF"/>
                    </a:solidFill>
                  </a:tcPr>
                </a:tc>
              </a:tr>
              <a:tr h="393192">
                <a:tc>
                  <a:txBody>
                    <a:bodyPr wrap="square"/>
                    <a:lstStyle/>
                    <a:p>
                      <a:r>
                        <a:rPr sz="900" b="1" i="0">
                          <a:solidFill>
                            <a:srgbClr val="1B2A55"/>
                          </a:solidFill>
                          <a:latin typeface="Inter"/>
                        </a:rPr>
                        <a:t>One-time code</a:t>
                      </a:r>
                    </a:p>
                  </a:txBody>
                  <a:tcPr marL="73152" marR="73152" marT="36576" marB="36576" anchor="ctr">
                    <a:solidFill>
                      <a:srgbClr val="F1F0F6"/>
                    </a:solidFill>
                  </a:tcPr>
                </a:tc>
                <a:tc>
                  <a:txBody>
                    <a:bodyPr wrap="square"/>
                    <a:lstStyle/>
                    <a:p>
                      <a:r>
                        <a:rPr sz="900" b="0" i="0">
                          <a:solidFill>
                            <a:srgbClr val="353B4A"/>
                          </a:solidFill>
                          <a:latin typeface="Inter"/>
                        </a:rPr>
                        <a:t>Verification database</a:t>
                      </a:r>
                    </a:p>
                  </a:txBody>
                  <a:tcPr marL="73152" marR="73152" marT="36576" marB="36576" anchor="ctr">
                    <a:solidFill>
                      <a:srgbClr val="F1F0F6"/>
                    </a:solidFill>
                  </a:tcPr>
                </a:tc>
                <a:tc>
                  <a:txBody>
                    <a:bodyPr wrap="square"/>
                    <a:lstStyle/>
                    <a:p>
                      <a:r>
                        <a:rPr sz="900" b="0" i="0">
                          <a:solidFill>
                            <a:srgbClr val="353B4A"/>
                          </a:solidFill>
                          <a:latin typeface="Inter"/>
                        </a:rPr>
                        <a:t>Keyed hash only; 5 min, one use</a:t>
                      </a:r>
                    </a:p>
                  </a:txBody>
                  <a:tcPr marL="73152" marR="73152" marT="36576" marB="36576" anchor="ctr">
                    <a:solidFill>
                      <a:srgbClr val="F1F0F6"/>
                    </a:solidFill>
                  </a:tcPr>
                </a:tc>
              </a:tr>
              <a:tr h="393192">
                <a:tc>
                  <a:txBody>
                    <a:bodyPr wrap="square"/>
                    <a:lstStyle/>
                    <a:p>
                      <a:r>
                        <a:rPr sz="900" b="1" i="0">
                          <a:solidFill>
                            <a:srgbClr val="1B2A55"/>
                          </a:solidFill>
                          <a:latin typeface="Inter"/>
                        </a:rPr>
                        <a:t>Your ballot</a:t>
                      </a:r>
                    </a:p>
                  </a:txBody>
                  <a:tcPr marL="73152" marR="73152" marT="36576" marB="36576" anchor="ctr">
                    <a:solidFill>
                      <a:srgbClr val="FFFFFF"/>
                    </a:solidFill>
                  </a:tcPr>
                </a:tc>
                <a:tc>
                  <a:txBody>
                    <a:bodyPr wrap="square"/>
                    <a:lstStyle/>
                    <a:p>
                      <a:r>
                        <a:rPr sz="900" b="0" i="0">
                          <a:solidFill>
                            <a:srgbClr val="353B4A"/>
                          </a:solidFill>
                          <a:latin typeface="Inter"/>
                        </a:rPr>
                        <a:t>Election database</a:t>
                      </a:r>
                    </a:p>
                  </a:txBody>
                  <a:tcPr marL="73152" marR="73152" marT="36576" marB="36576" anchor="ctr">
                    <a:solidFill>
                      <a:srgbClr val="FFFFFF"/>
                    </a:solidFill>
                  </a:tcPr>
                </a:tc>
                <a:tc>
                  <a:txBody>
                    <a:bodyPr wrap="square"/>
                    <a:lstStyle/>
                    <a:p>
                      <a:r>
                        <a:rPr sz="900" b="0" i="0">
                          <a:solidFill>
                            <a:srgbClr val="353B4A"/>
                          </a:solidFill>
                          <a:latin typeface="Inter"/>
                        </a:rPr>
                        <a:t>Random token; no voter column</a:t>
                      </a:r>
                    </a:p>
                  </a:txBody>
                  <a:tcPr marL="73152" marR="73152" marT="36576" marB="36576" anchor="ctr">
                    <a:solidFill>
                      <a:srgbClr val="FFFFFF"/>
                    </a:solidFill>
                  </a:tcPr>
                </a:tc>
              </a:tr>
              <a:tr h="393192">
                <a:tc>
                  <a:txBody>
                    <a:bodyPr wrap="square"/>
                    <a:lstStyle/>
                    <a:p>
                      <a:r>
                        <a:rPr sz="900" b="1" i="0">
                          <a:solidFill>
                            <a:srgbClr val="1B2A55"/>
                          </a:solidFill>
                          <a:latin typeface="Inter"/>
                        </a:rPr>
                        <a:t>Receipt block</a:t>
                      </a:r>
                    </a:p>
                  </a:txBody>
                  <a:tcPr marL="73152" marR="73152" marT="36576" marB="36576" anchor="ctr">
                    <a:solidFill>
                      <a:srgbClr val="F1F0F6"/>
                    </a:solidFill>
                  </a:tcPr>
                </a:tc>
                <a:tc>
                  <a:txBody>
                    <a:bodyPr wrap="square"/>
                    <a:lstStyle/>
                    <a:p>
                      <a:r>
                        <a:rPr sz="900" b="0" i="0">
                          <a:solidFill>
                            <a:srgbClr val="353B4A"/>
                          </a:solidFill>
                          <a:latin typeface="Inter"/>
                        </a:rPr>
                        <a:t>Audit ledger</a:t>
                      </a:r>
                    </a:p>
                  </a:txBody>
                  <a:tcPr marL="73152" marR="73152" marT="36576" marB="36576" anchor="ctr">
                    <a:solidFill>
                      <a:srgbClr val="F1F0F6"/>
                    </a:solidFill>
                  </a:tcPr>
                </a:tc>
                <a:tc>
                  <a:txBody>
                    <a:bodyPr wrap="square"/>
                    <a:lstStyle/>
                    <a:p>
                      <a:r>
                        <a:rPr sz="900" b="0" i="0">
                          <a:solidFill>
                            <a:srgbClr val="353B4A"/>
                          </a:solidFill>
                          <a:latin typeface="Inter"/>
                        </a:rPr>
                        <a:t>Token and hash of the ranks</a:t>
                      </a:r>
                    </a:p>
                  </a:txBody>
                  <a:tcPr marL="73152" marR="73152" marT="36576" marB="36576" anchor="ctr">
                    <a:solidFill>
                      <a:srgbClr val="F1F0F6"/>
                    </a:solidFill>
                  </a:tcPr>
                </a:tc>
              </a:tr>
              <a:tr h="393192">
                <a:tc>
                  <a:txBody>
                    <a:bodyPr wrap="square"/>
                    <a:lstStyle/>
                    <a:p>
                      <a:r>
                        <a:rPr sz="900" b="1" i="0">
                          <a:solidFill>
                            <a:srgbClr val="1B2A55"/>
                          </a:solidFill>
                          <a:latin typeface="Inter"/>
                        </a:rPr>
                        <a:t>Contact message</a:t>
                      </a:r>
                    </a:p>
                  </a:txBody>
                  <a:tcPr marL="73152" marR="73152" marT="36576" marB="36576" anchor="ctr">
                    <a:solidFill>
                      <a:srgbClr val="FFFFFF"/>
                    </a:solidFill>
                  </a:tcPr>
                </a:tc>
                <a:tc>
                  <a:txBody>
                    <a:bodyPr wrap="square"/>
                    <a:lstStyle/>
                    <a:p>
                      <a:r>
                        <a:rPr sz="900" b="0" i="0">
                          <a:solidFill>
                            <a:srgbClr val="353B4A"/>
                          </a:solidFill>
                          <a:latin typeface="Inter"/>
                        </a:rPr>
                        <a:t>Verification database</a:t>
                      </a:r>
                    </a:p>
                  </a:txBody>
                  <a:tcPr marL="73152" marR="73152" marT="36576" marB="36576" anchor="ctr">
                    <a:solidFill>
                      <a:srgbClr val="FFFFFF"/>
                    </a:solidFill>
                  </a:tcPr>
                </a:tc>
                <a:tc>
                  <a:txBody>
                    <a:bodyPr wrap="square"/>
                    <a:lstStyle/>
                    <a:p>
                      <a:r>
                        <a:rPr sz="900" b="0" i="0">
                          <a:solidFill>
                            <a:srgbClr val="353B4A"/>
                          </a:solidFill>
                          <a:latin typeface="Inter"/>
                        </a:rPr>
                        <a:t>Admins only</a:t>
                      </a:r>
                    </a:p>
                  </a:txBody>
                  <a:tcPr marL="73152" marR="73152" marT="36576" marB="36576" anchor="ctr">
                    <a:solidFill>
                      <a:srgbClr val="FFFFFF"/>
                    </a:solidFill>
                  </a:tcPr>
                </a:tc>
              </a:tr>
            </a:tbl>
          </a:graphicData>
        </a:graphic>
      </p:graphicFrame>
      <p:sp>
        <p:nvSpPr>
          <p:cNvPr id="7" name="Rounded Rectangle 6"/>
          <p:cNvSpPr/>
          <p:nvPr/>
        </p:nvSpPr>
        <p:spPr>
          <a:xfrm>
            <a:off x="5669280" y="1024128"/>
            <a:ext cx="3017520" cy="36118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833872" y="1133856"/>
            <a:ext cx="1943100"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ETHICS AND LIMITS</a:t>
            </a:r>
          </a:p>
        </p:txBody>
      </p:sp>
      <p:sp>
        <p:nvSpPr>
          <p:cNvPr id="9" name="TextBox 8"/>
          <p:cNvSpPr txBox="1"/>
          <p:nvPr/>
        </p:nvSpPr>
        <p:spPr>
          <a:xfrm>
            <a:off x="5833872" y="1481328"/>
            <a:ext cx="2743200" cy="3108960"/>
          </a:xfrm>
          <a:prstGeom prst="rect">
            <a:avLst/>
          </a:prstGeom>
          <a:noFill/>
        </p:spPr>
        <p:txBody>
          <a:bodyPr wrap="square" anchor="t" lIns="0" rIns="0" tIns="0" bIns="0">
            <a:spAutoFit/>
          </a:bodyPr>
          <a:lstStyle/>
          <a:p>
            <a:pPr algn="l">
              <a:spcAft>
                <a:spcPts val="300"/>
              </a:spcAft>
            </a:pPr>
            <a:r>
              <a:rPr sz="950" b="1" i="0">
                <a:solidFill>
                  <a:srgbClr val="1B2A55"/>
                </a:solidFill>
                <a:latin typeface="Inter"/>
              </a:rPr>
              <a:t>•  </a:t>
            </a:r>
            <a:r>
              <a:rPr sz="950" b="1" i="0">
                <a:solidFill>
                  <a:srgbClr val="1B2A55"/>
                </a:solidFill>
                <a:latin typeface="Inter"/>
              </a:rPr>
              <a:t>Sample data:</a:t>
            </a:r>
            <a:r>
              <a:rPr sz="950" b="0" i="0">
                <a:solidFill>
                  <a:srgbClr val="353B4A"/>
                </a:solidFill>
                <a:latin typeface="Inter"/>
              </a:rPr>
              <a:t> the demo uses sample voters and resets on restart.</a:t>
            </a:r>
          </a:p>
          <a:p>
            <a:pPr algn="l">
              <a:spcAft>
                <a:spcPts val="300"/>
              </a:spcAft>
            </a:pPr>
            <a:r>
              <a:rPr sz="950" b="1" i="0">
                <a:solidFill>
                  <a:srgbClr val="1B2A55"/>
                </a:solidFill>
                <a:latin typeface="Inter"/>
              </a:rPr>
              <a:t>•  </a:t>
            </a:r>
            <a:r>
              <a:rPr sz="950" b="1" i="0">
                <a:solidFill>
                  <a:srgbClr val="1B2A55"/>
                </a:solidFill>
                <a:latin typeface="Inter"/>
              </a:rPr>
              <a:t>Officers see more:</a:t>
            </a:r>
            <a:r>
              <a:rPr sz="950" b="0" i="0">
                <a:solidFill>
                  <a:srgbClr val="353B4A"/>
                </a:solidFill>
                <a:latin typeface="Inter"/>
              </a:rPr>
              <a:t> the roster, emails and an outbox that lists codes for ten minutes. We kept it so a demo never stalls; a real election should switch it off.</a:t>
            </a:r>
          </a:p>
          <a:p>
            <a:pPr algn="l">
              <a:spcAft>
                <a:spcPts val="300"/>
              </a:spcAft>
            </a:pPr>
            <a:r>
              <a:rPr sz="950" b="1" i="0">
                <a:solidFill>
                  <a:srgbClr val="1B2A55"/>
                </a:solidFill>
                <a:latin typeface="Inter"/>
              </a:rPr>
              <a:t>•  </a:t>
            </a:r>
            <a:r>
              <a:rPr sz="950" b="1" i="0">
                <a:solidFill>
                  <a:srgbClr val="1B2A55"/>
                </a:solidFill>
                <a:latin typeface="Inter"/>
              </a:rPr>
              <a:t>Receipts:</a:t>
            </a:r>
            <a:r>
              <a:rPr sz="950" b="0" i="0">
                <a:solidFill>
                  <a:srgbClr val="353B4A"/>
                </a:solidFill>
                <a:latin typeface="Inter"/>
              </a:rPr>
              <a:t> prove a ballot is counted, not its content.</a:t>
            </a:r>
          </a:p>
          <a:p>
            <a:pPr algn="l">
              <a:spcAft>
                <a:spcPts val="300"/>
              </a:spcAft>
            </a:pPr>
            <a:r>
              <a:rPr sz="950" b="1" i="0">
                <a:solidFill>
                  <a:srgbClr val="1B2A55"/>
                </a:solidFill>
                <a:latin typeface="Inter"/>
              </a:rPr>
              <a:t>•  </a:t>
            </a:r>
            <a:r>
              <a:rPr sz="950" b="1" i="0">
                <a:solidFill>
                  <a:srgbClr val="1B2A55"/>
                </a:solidFill>
                <a:latin typeface="Inter"/>
              </a:rPr>
              <a:t>No tracking:</a:t>
            </a:r>
            <a:r>
              <a:rPr sz="950" b="0" i="0">
                <a:solidFill>
                  <a:srgbClr val="353B4A"/>
                </a:solidFill>
                <a:latin typeface="Inter"/>
              </a:rPr>
              <a:t> no tracking cookies; analytics is off unless the operator enables it.</a:t>
            </a:r>
          </a:p>
          <a:p>
            <a:pPr algn="l">
              <a:spcAft>
                <a:spcPts val="300"/>
              </a:spcAft>
            </a:pPr>
            <a:r>
              <a:rPr sz="950" b="1" i="0">
                <a:solidFill>
                  <a:srgbClr val="1B2A55"/>
                </a:solidFill>
                <a:latin typeface="Inter"/>
              </a:rPr>
              <a:t>•  </a:t>
            </a:r>
            <a:r>
              <a:rPr sz="950" b="1" i="0">
                <a:solidFill>
                  <a:srgbClr val="1B2A55"/>
                </a:solidFill>
                <a:latin typeface="Inter"/>
              </a:rPr>
              <a:t>Not for binding votes:</a:t>
            </a:r>
            <a:r>
              <a:rPr sz="950" b="0" i="0">
                <a:solidFill>
                  <a:srgbClr val="353B4A"/>
                </a:solidFill>
                <a:latin typeface="Inter"/>
              </a:rPr>
              <a:t> no independent review yet; passwords use plain SHA-256.</a:t>
            </a:r>
          </a:p>
        </p:txBody>
      </p:sp>
      <p:sp>
        <p:nvSpPr>
          <p:cNvPr id="10" name="TextBox 9"/>
          <p:cNvSpPr txBox="1"/>
          <p:nvPr/>
        </p:nvSpPr>
        <p:spPr>
          <a:xfrm>
            <a:off x="457200" y="4224528"/>
            <a:ext cx="5029200" cy="548640"/>
          </a:xfrm>
          <a:prstGeom prst="rect">
            <a:avLst/>
          </a:prstGeom>
          <a:noFill/>
        </p:spPr>
        <p:txBody>
          <a:bodyPr wrap="square" anchor="t" lIns="0" rIns="0" tIns="0" bIns="0">
            <a:spAutoFit/>
          </a:bodyPr>
          <a:lstStyle/>
          <a:p>
            <a:pPr algn="l">
              <a:spcAft>
                <a:spcPts val="0"/>
              </a:spcAft>
            </a:pPr>
            <a:r>
              <a:rPr sz="1000" b="1" i="0">
                <a:solidFill>
                  <a:srgbClr val="1B2A55"/>
                </a:solidFill>
                <a:latin typeface="Inter"/>
              </a:rPr>
              <a:t>The ballot table and the voter table share no column, so the database cannot say who cast which ballot. A person with direct file access could read ballots, but not link them to people.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LIMITATIONS AND FUTURE WORK</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What we do not claim, and what comes next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40</a:t>
            </a:r>
          </a:p>
        </p:txBody>
      </p:sp>
      <p:graphicFrame>
        <p:nvGraphicFramePr>
          <p:cNvPr id="6" name="Table 5"/>
          <p:cNvGraphicFramePr>
            <a:graphicFrameLocks noGrp="1"/>
          </p:cNvGraphicFramePr>
          <p:nvPr/>
        </p:nvGraphicFramePr>
        <p:xfrm>
          <a:off x="457200" y="1097280"/>
          <a:ext cx="8229600" cy="3310128"/>
        </p:xfrm>
        <a:graphic>
          <a:graphicData uri="http://schemas.openxmlformats.org/drawingml/2006/table">
            <a:tbl>
              <a:tblPr firstRow="1" bandRow="1">
                <a:tableStyleId>{5C22544A-7EE6-4342-B048-85BDC9FD1C3A}</a:tableStyleId>
              </a:tblPr>
              <a:tblGrid>
                <a:gridCol w="4206240"/>
                <a:gridCol w="4023360"/>
              </a:tblGrid>
              <a:tr h="365760">
                <a:tc>
                  <a:txBody>
                    <a:bodyPr wrap="square"/>
                    <a:lstStyle/>
                    <a:p>
                      <a:r>
                        <a:rPr sz="1000" b="1" i="0">
                          <a:solidFill>
                            <a:srgbClr val="FFFFFF"/>
                          </a:solidFill>
                          <a:latin typeface="Inter"/>
                        </a:rPr>
                        <a:t>Limitation</a:t>
                      </a:r>
                    </a:p>
                  </a:txBody>
                  <a:tcPr marL="73152" marR="73152" marT="36576" marB="36576" anchor="ctr">
                    <a:solidFill>
                      <a:srgbClr val="1B2A55"/>
                    </a:solidFill>
                  </a:tcPr>
                </a:tc>
                <a:tc>
                  <a:txBody>
                    <a:bodyPr wrap="square"/>
                    <a:lstStyle/>
                    <a:p>
                      <a:r>
                        <a:rPr sz="1000" b="1" i="0">
                          <a:solidFill>
                            <a:srgbClr val="FFFFFF"/>
                          </a:solidFill>
                          <a:latin typeface="Inter"/>
                        </a:rPr>
                        <a:t>Direction</a:t>
                      </a:r>
                    </a:p>
                  </a:txBody>
                  <a:tcPr marL="73152" marR="73152" marT="36576" marB="36576" anchor="ctr">
                    <a:solidFill>
                      <a:srgbClr val="1B2A55"/>
                    </a:solidFill>
                  </a:tcPr>
                </a:tc>
              </a:tr>
              <a:tr h="420624">
                <a:tc>
                  <a:txBody>
                    <a:bodyPr wrap="square"/>
                    <a:lstStyle/>
                    <a:p>
                      <a:r>
                        <a:rPr sz="1000" b="1" i="0">
                          <a:solidFill>
                            <a:srgbClr val="1B2A55"/>
                          </a:solidFill>
                          <a:latin typeface="Inter"/>
                        </a:rPr>
                        <a:t>Insider with key and both stores can forge (A6)</a:t>
                      </a:r>
                    </a:p>
                  </a:txBody>
                  <a:tcPr marL="73152" marR="73152" marT="36576" marB="36576" anchor="ctr">
                    <a:solidFill>
                      <a:srgbClr val="FFFFFF"/>
                    </a:solidFill>
                  </a:tcPr>
                </a:tc>
                <a:tc>
                  <a:txBody>
                    <a:bodyPr wrap="square"/>
                    <a:lstStyle/>
                    <a:p>
                      <a:r>
                        <a:rPr sz="1000" b="0" i="0">
                          <a:solidFill>
                            <a:srgbClr val="353B4A"/>
                          </a:solidFill>
                          <a:latin typeface="Inter"/>
                        </a:rPr>
                        <a:t>Publish the chain head to an external witness; managed secret store</a:t>
                      </a:r>
                    </a:p>
                  </a:txBody>
                  <a:tcPr marL="73152" marR="73152" marT="36576" marB="36576" anchor="ctr">
                    <a:solidFill>
                      <a:srgbClr val="FFFFFF"/>
                    </a:solidFill>
                  </a:tcPr>
                </a:tc>
              </a:tr>
              <a:tr h="420624">
                <a:tc>
                  <a:txBody>
                    <a:bodyPr wrap="square"/>
                    <a:lstStyle/>
                    <a:p>
                      <a:r>
                        <a:rPr sz="1000" b="1" i="0">
                          <a:solidFill>
                            <a:srgbClr val="1B2A55"/>
                          </a:solidFill>
                          <a:latin typeface="Inter"/>
                        </a:rPr>
                        <a:t>Roster injection is not detected (A7)</a:t>
                      </a:r>
                    </a:p>
                  </a:txBody>
                  <a:tcPr marL="73152" marR="73152" marT="36576" marB="36576" anchor="ctr">
                    <a:solidFill>
                      <a:srgbClr val="F1F0F6"/>
                    </a:solidFill>
                  </a:tcPr>
                </a:tc>
                <a:tc>
                  <a:txBody>
                    <a:bodyPr wrap="square"/>
                    <a:lstStyle/>
                    <a:p>
                      <a:r>
                        <a:rPr sz="1000" b="0" i="0">
                          <a:solidFill>
                            <a:srgbClr val="353B4A"/>
                          </a:solidFill>
                          <a:latin typeface="Inter"/>
                        </a:rPr>
                        <a:t>Committed or signed roster, checked at sweep time</a:t>
                      </a:r>
                    </a:p>
                  </a:txBody>
                  <a:tcPr marL="73152" marR="73152" marT="36576" marB="36576" anchor="ctr">
                    <a:solidFill>
                      <a:srgbClr val="F1F0F6"/>
                    </a:solidFill>
                  </a:tcPr>
                </a:tc>
              </a:tr>
              <a:tr h="420624">
                <a:tc>
                  <a:txBody>
                    <a:bodyPr wrap="square"/>
                    <a:lstStyle/>
                    <a:p>
                      <a:r>
                        <a:rPr sz="1000" b="1" i="0">
                          <a:solidFill>
                            <a:srgbClr val="1B2A55"/>
                          </a:solidFill>
                          <a:latin typeface="Inter"/>
                        </a:rPr>
                        <a:t>Not end-to-end verifiable; receipt shows recorded, not content</a:t>
                      </a:r>
                    </a:p>
                  </a:txBody>
                  <a:tcPr marL="73152" marR="73152" marT="36576" marB="36576" anchor="ctr">
                    <a:solidFill>
                      <a:srgbClr val="FFFFFF"/>
                    </a:solidFill>
                  </a:tcPr>
                </a:tc>
                <a:tc>
                  <a:txBody>
                    <a:bodyPr wrap="square"/>
                    <a:lstStyle/>
                    <a:p>
                      <a:r>
                        <a:rPr sz="1000" b="0" i="0">
                          <a:solidFill>
                            <a:srgbClr val="353B4A"/>
                          </a:solidFill>
                          <a:latin typeface="Inter"/>
                        </a:rPr>
                        <a:t>Cast-as-intended mechanism, or a verifiable protocol if needed</a:t>
                      </a:r>
                    </a:p>
                  </a:txBody>
                  <a:tcPr marL="73152" marR="73152" marT="36576" marB="36576" anchor="ctr">
                    <a:solidFill>
                      <a:srgbClr val="FFFFFF"/>
                    </a:solidFill>
                  </a:tcPr>
                </a:tc>
              </a:tr>
              <a:tr h="420624">
                <a:tc>
                  <a:txBody>
                    <a:bodyPr wrap="square"/>
                    <a:lstStyle/>
                    <a:p>
                      <a:r>
                        <a:rPr sz="1000" b="1" i="0">
                          <a:solidFill>
                            <a:srgbClr val="1B2A55"/>
                          </a:solidFill>
                          <a:latin typeface="Inter"/>
                        </a:rPr>
                        <a:t>Passwords stored as plain SHA-256; default admin login</a:t>
                      </a:r>
                    </a:p>
                  </a:txBody>
                  <a:tcPr marL="73152" marR="73152" marT="36576" marB="36576" anchor="ctr">
                    <a:solidFill>
                      <a:srgbClr val="F1F0F6"/>
                    </a:solidFill>
                  </a:tcPr>
                </a:tc>
                <a:tc>
                  <a:txBody>
                    <a:bodyPr wrap="square"/>
                    <a:lstStyle/>
                    <a:p>
                      <a:r>
                        <a:rPr sz="1000" b="0" i="0">
                          <a:solidFill>
                            <a:srgbClr val="353B4A"/>
                          </a:solidFill>
                          <a:latin typeface="Inter"/>
                        </a:rPr>
                        <a:t>Salted, slow hashing; forced first-login change</a:t>
                      </a:r>
                    </a:p>
                  </a:txBody>
                  <a:tcPr marL="73152" marR="73152" marT="36576" marB="36576" anchor="ctr">
                    <a:solidFill>
                      <a:srgbClr val="F1F0F6"/>
                    </a:solidFill>
                  </a:tcPr>
                </a:tc>
              </a:tr>
              <a:tr h="420624">
                <a:tc>
                  <a:txBody>
                    <a:bodyPr wrap="square"/>
                    <a:lstStyle/>
                    <a:p>
                      <a:r>
                        <a:rPr sz="1000" b="1" i="0">
                          <a:solidFill>
                            <a:srgbClr val="1B2A55"/>
                          </a:solidFill>
                          <a:latin typeface="Inter"/>
                        </a:rPr>
                        <a:t>Email is a weak second factor</a:t>
                      </a:r>
                    </a:p>
                  </a:txBody>
                  <a:tcPr marL="73152" marR="73152" marT="36576" marB="36576" anchor="ctr">
                    <a:solidFill>
                      <a:srgbClr val="FFFFFF"/>
                    </a:solidFill>
                  </a:tcPr>
                </a:tc>
                <a:tc>
                  <a:txBody>
                    <a:bodyPr wrap="square"/>
                    <a:lstStyle/>
                    <a:p>
                      <a:r>
                        <a:rPr sz="1000" b="0" i="0">
                          <a:solidFill>
                            <a:srgbClr val="353B4A"/>
                          </a:solidFill>
                          <a:latin typeface="Inter"/>
                        </a:rPr>
                        <a:t>Authenticator app (TOTP) or printed one-time slip</a:t>
                      </a:r>
                    </a:p>
                  </a:txBody>
                  <a:tcPr marL="73152" marR="73152" marT="36576" marB="36576" anchor="ctr">
                    <a:solidFill>
                      <a:srgbClr val="FFFFFF"/>
                    </a:solidFill>
                  </a:tcPr>
                </a:tc>
              </a:tr>
              <a:tr h="420624">
                <a:tc>
                  <a:txBody>
                    <a:bodyPr wrap="square"/>
                    <a:lstStyle/>
                    <a:p>
                      <a:r>
                        <a:rPr sz="1000" b="1" i="0">
                          <a:solidFill>
                            <a:srgbClr val="1B2A55"/>
                          </a:solidFill>
                          <a:latin typeface="Inter"/>
                        </a:rPr>
                        <a:t>IRV ties broken arbitrarily; no statistical audit</a:t>
                      </a:r>
                    </a:p>
                  </a:txBody>
                  <a:tcPr marL="73152" marR="73152" marT="36576" marB="36576" anchor="ctr">
                    <a:solidFill>
                      <a:srgbClr val="F1F0F6"/>
                    </a:solidFill>
                  </a:tcPr>
                </a:tc>
                <a:tc>
                  <a:txBody>
                    <a:bodyPr wrap="square"/>
                    <a:lstStyle/>
                    <a:p>
                      <a:r>
                        <a:rPr sz="1000" b="0" i="0">
                          <a:solidFill>
                            <a:srgbClr val="353B4A"/>
                          </a:solidFill>
                          <a:latin typeface="Inter"/>
                        </a:rPr>
                        <a:t>Published tie rule; risk-limiting audit</a:t>
                      </a:r>
                    </a:p>
                  </a:txBody>
                  <a:tcPr marL="73152" marR="73152" marT="36576" marB="36576" anchor="ctr">
                    <a:solidFill>
                      <a:srgbClr val="F1F0F6"/>
                    </a:solidFill>
                  </a:tcPr>
                </a:tc>
              </a:tr>
              <a:tr h="420624">
                <a:tc>
                  <a:txBody>
                    <a:bodyPr wrap="square"/>
                    <a:lstStyle/>
                    <a:p>
                      <a:r>
                        <a:rPr sz="1000" b="1" i="0">
                          <a:solidFill>
                            <a:srgbClr val="1B2A55"/>
                          </a:solidFill>
                          <a:latin typeface="Inter"/>
                        </a:rPr>
                        <a:t>SQLite foreign keys are per connection; single node</a:t>
                      </a:r>
                    </a:p>
                  </a:txBody>
                  <a:tcPr marL="73152" marR="73152" marT="36576" marB="36576" anchor="ctr">
                    <a:solidFill>
                      <a:srgbClr val="FFFFFF"/>
                    </a:solidFill>
                  </a:tcPr>
                </a:tc>
                <a:tc>
                  <a:txBody>
                    <a:bodyPr wrap="square"/>
                    <a:lstStyle/>
                    <a:p>
                      <a:r>
                        <a:rPr sz="1000" b="0" i="0">
                          <a:solidFill>
                            <a:srgbClr val="353B4A"/>
                          </a:solidFill>
                          <a:latin typeface="Inter"/>
                        </a:rPr>
                        <a:t>Oracle or PostgreSQL with PL/SQL, roles; cloud platform</a:t>
                      </a:r>
                    </a:p>
                  </a:txBody>
                  <a:tcPr marL="73152" marR="73152" marT="36576" marB="36576"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GLOSSARY</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Glossary in plain words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41</a:t>
            </a:r>
          </a:p>
        </p:txBody>
      </p:sp>
      <p:graphicFrame>
        <p:nvGraphicFramePr>
          <p:cNvPr id="6" name="Table 5"/>
          <p:cNvGraphicFramePr>
            <a:graphicFrameLocks noGrp="1"/>
          </p:cNvGraphicFramePr>
          <p:nvPr/>
        </p:nvGraphicFramePr>
        <p:xfrm>
          <a:off x="457200" y="1024128"/>
          <a:ext cx="3977640" cy="3675888"/>
        </p:xfrm>
        <a:graphic>
          <a:graphicData uri="http://schemas.openxmlformats.org/drawingml/2006/table">
            <a:tbl>
              <a:tblPr firstRow="1" bandRow="1">
                <a:tableStyleId>{5C22544A-7EE6-4342-B048-85BDC9FD1C3A}</a:tableStyleId>
              </a:tblPr>
              <a:tblGrid>
                <a:gridCol w="1097280"/>
                <a:gridCol w="2880360"/>
              </a:tblGrid>
              <a:tr h="274320">
                <a:tc>
                  <a:txBody>
                    <a:bodyPr wrap="square"/>
                    <a:lstStyle/>
                    <a:p>
                      <a:r>
                        <a:rPr sz="950" b="1" i="0">
                          <a:solidFill>
                            <a:srgbClr val="FFFFFF"/>
                          </a:solidFill>
                          <a:latin typeface="Inter"/>
                        </a:rPr>
                        <a:t>Term</a:t>
                      </a:r>
                    </a:p>
                  </a:txBody>
                  <a:tcPr marL="73152" marR="73152" marT="36576" marB="36576" anchor="ctr">
                    <a:solidFill>
                      <a:srgbClr val="1B2A55"/>
                    </a:solidFill>
                  </a:tcPr>
                </a:tc>
                <a:tc>
                  <a:txBody>
                    <a:bodyPr wrap="square"/>
                    <a:lstStyle/>
                    <a:p>
                      <a:r>
                        <a:rPr sz="950" b="1" i="0">
                          <a:solidFill>
                            <a:srgbClr val="FFFFFF"/>
                          </a:solidFill>
                          <a:latin typeface="Inter"/>
                        </a:rPr>
                        <a:t>In plain words</a:t>
                      </a:r>
                    </a:p>
                  </a:txBody>
                  <a:tcPr marL="73152" marR="73152" marT="36576" marB="36576" anchor="ctr">
                    <a:solidFill>
                      <a:srgbClr val="1B2A55"/>
                    </a:solidFill>
                  </a:tcPr>
                </a:tc>
              </a:tr>
              <a:tr h="566928">
                <a:tc>
                  <a:txBody>
                    <a:bodyPr wrap="square"/>
                    <a:lstStyle/>
                    <a:p>
                      <a:r>
                        <a:rPr sz="900" b="1" i="0">
                          <a:solidFill>
                            <a:srgbClr val="1B2A55"/>
                          </a:solidFill>
                          <a:latin typeface="Inter"/>
                        </a:rPr>
                        <a:t>Hash</a:t>
                      </a:r>
                    </a:p>
                  </a:txBody>
                  <a:tcPr marL="73152" marR="73152" marT="36576" marB="36576" anchor="ctr">
                    <a:solidFill>
                      <a:srgbClr val="FFFFFF"/>
                    </a:solidFill>
                  </a:tcPr>
                </a:tc>
                <a:tc>
                  <a:txBody>
                    <a:bodyPr wrap="square"/>
                    <a:lstStyle/>
                    <a:p>
                      <a:r>
                        <a:rPr sz="900" b="0" i="0">
                          <a:solidFill>
                            <a:srgbClr val="353B4A"/>
                          </a:solidFill>
                          <a:latin typeface="Inter"/>
                        </a:rPr>
                        <a:t>A fixed-length fingerprint of data. Change one character and the fingerprint changes completely.</a:t>
                      </a:r>
                    </a:p>
                  </a:txBody>
                  <a:tcPr marL="73152" marR="73152" marT="36576" marB="36576" anchor="ctr">
                    <a:solidFill>
                      <a:srgbClr val="FFFFFF"/>
                    </a:solidFill>
                  </a:tcPr>
                </a:tc>
              </a:tr>
              <a:tr h="566928">
                <a:tc>
                  <a:txBody>
                    <a:bodyPr wrap="square"/>
                    <a:lstStyle/>
                    <a:p>
                      <a:r>
                        <a:rPr sz="900" b="1" i="0">
                          <a:solidFill>
                            <a:srgbClr val="1B2A55"/>
                          </a:solidFill>
                          <a:latin typeface="Inter"/>
                        </a:rPr>
                        <a:t>HMAC</a:t>
                      </a:r>
                    </a:p>
                  </a:txBody>
                  <a:tcPr marL="73152" marR="73152" marT="36576" marB="36576" anchor="ctr">
                    <a:solidFill>
                      <a:srgbClr val="F1F0F6"/>
                    </a:solidFill>
                  </a:tcPr>
                </a:tc>
                <a:tc>
                  <a:txBody>
                    <a:bodyPr wrap="square"/>
                    <a:lstStyle/>
                    <a:p>
                      <a:r>
                        <a:rPr sz="900" b="0" i="0">
                          <a:solidFill>
                            <a:srgbClr val="353B4A"/>
                          </a:solidFill>
                          <a:latin typeface="Inter"/>
                        </a:rPr>
                        <a:t>A hash made with a secret key, so only someone holding the key can produce a valid one.</a:t>
                      </a:r>
                    </a:p>
                  </a:txBody>
                  <a:tcPr marL="73152" marR="73152" marT="36576" marB="36576" anchor="ctr">
                    <a:solidFill>
                      <a:srgbClr val="F1F0F6"/>
                    </a:solidFill>
                  </a:tcPr>
                </a:tc>
              </a:tr>
              <a:tr h="566928">
                <a:tc>
                  <a:txBody>
                    <a:bodyPr wrap="square"/>
                    <a:lstStyle/>
                    <a:p>
                      <a:r>
                        <a:rPr sz="900" b="1" i="0">
                          <a:solidFill>
                            <a:srgbClr val="1B2A55"/>
                          </a:solidFill>
                          <a:latin typeface="Inter"/>
                        </a:rPr>
                        <a:t>Hash chain</a:t>
                      </a:r>
                    </a:p>
                  </a:txBody>
                  <a:tcPr marL="73152" marR="73152" marT="36576" marB="36576" anchor="ctr">
                    <a:solidFill>
                      <a:srgbClr val="FFFFFF"/>
                    </a:solidFill>
                  </a:tcPr>
                </a:tc>
                <a:tc>
                  <a:txBody>
                    <a:bodyPr wrap="square"/>
                    <a:lstStyle/>
                    <a:p>
                      <a:r>
                        <a:rPr sz="900" b="0" i="0">
                          <a:solidFill>
                            <a:srgbClr val="353B4A"/>
                          </a:solidFill>
                          <a:latin typeface="Inter"/>
                        </a:rPr>
                        <a:t>Each record stores the previous record's hash, so editing one breaks every later link.</a:t>
                      </a:r>
                    </a:p>
                  </a:txBody>
                  <a:tcPr marL="73152" marR="73152" marT="36576" marB="36576" anchor="ctr">
                    <a:solidFill>
                      <a:srgbClr val="FFFFFF"/>
                    </a:solidFill>
                  </a:tcPr>
                </a:tc>
              </a:tr>
              <a:tr h="566928">
                <a:tc>
                  <a:txBody>
                    <a:bodyPr wrap="square"/>
                    <a:lstStyle/>
                    <a:p>
                      <a:r>
                        <a:rPr sz="900" b="1" i="0">
                          <a:solidFill>
                            <a:srgbClr val="1B2A55"/>
                          </a:solidFill>
                          <a:latin typeface="Inter"/>
                        </a:rPr>
                        <a:t>Ledger, block</a:t>
                      </a:r>
                    </a:p>
                  </a:txBody>
                  <a:tcPr marL="73152" marR="73152" marT="36576" marB="36576" anchor="ctr">
                    <a:solidFill>
                      <a:srgbClr val="F1F0F6"/>
                    </a:solidFill>
                  </a:tcPr>
                </a:tc>
                <a:tc>
                  <a:txBody>
                    <a:bodyPr wrap="square"/>
                    <a:lstStyle/>
                    <a:p>
                      <a:r>
                        <a:rPr sz="900" b="0" i="0">
                          <a:solidFill>
                            <a:srgbClr val="353B4A"/>
                          </a:solidFill>
                          <a:latin typeface="Inter"/>
                        </a:rPr>
                        <a:t>The append-only list of receipts; one block for each ballot.</a:t>
                      </a:r>
                    </a:p>
                  </a:txBody>
                  <a:tcPr marL="73152" marR="73152" marT="36576" marB="36576" anchor="ctr">
                    <a:solidFill>
                      <a:srgbClr val="F1F0F6"/>
                    </a:solidFill>
                  </a:tcPr>
                </a:tc>
              </a:tr>
              <a:tr h="566928">
                <a:tc>
                  <a:txBody>
                    <a:bodyPr wrap="square"/>
                    <a:lstStyle/>
                    <a:p>
                      <a:r>
                        <a:rPr sz="900" b="1" i="0">
                          <a:solidFill>
                            <a:srgbClr val="1B2A55"/>
                          </a:solidFill>
                          <a:latin typeface="Inter"/>
                        </a:rPr>
                        <a:t>Instant-runoff</a:t>
                      </a:r>
                    </a:p>
                  </a:txBody>
                  <a:tcPr marL="73152" marR="73152" marT="36576" marB="36576" anchor="ctr">
                    <a:solidFill>
                      <a:srgbClr val="FFFFFF"/>
                    </a:solidFill>
                  </a:tcPr>
                </a:tc>
                <a:tc>
                  <a:txBody>
                    <a:bodyPr wrap="square"/>
                    <a:lstStyle/>
                    <a:p>
                      <a:r>
                        <a:rPr sz="900" b="0" i="0">
                          <a:solidFill>
                            <a:srgbClr val="353B4A"/>
                          </a:solidFill>
                          <a:latin typeface="Inter"/>
                        </a:rPr>
                        <a:t>Rank candidates; last place drops out each round and its ballots move on, until someone has a majority.</a:t>
                      </a:r>
                    </a:p>
                  </a:txBody>
                  <a:tcPr marL="73152" marR="73152" marT="36576" marB="36576" anchor="ctr">
                    <a:solidFill>
                      <a:srgbClr val="FFFFFF"/>
                    </a:solidFill>
                  </a:tcPr>
                </a:tc>
              </a:tr>
              <a:tr h="566928">
                <a:tc>
                  <a:txBody>
                    <a:bodyPr wrap="square"/>
                    <a:lstStyle/>
                    <a:p>
                      <a:r>
                        <a:rPr sz="900" b="1" i="0">
                          <a:solidFill>
                            <a:srgbClr val="1B2A55"/>
                          </a:solidFill>
                          <a:latin typeface="Inter"/>
                        </a:rPr>
                        <a:t>OTP</a:t>
                      </a:r>
                    </a:p>
                  </a:txBody>
                  <a:tcPr marL="73152" marR="73152" marT="36576" marB="36576" anchor="ctr">
                    <a:solidFill>
                      <a:srgbClr val="F1F0F6"/>
                    </a:solidFill>
                  </a:tcPr>
                </a:tc>
                <a:tc>
                  <a:txBody>
                    <a:bodyPr wrap="square"/>
                    <a:lstStyle/>
                    <a:p>
                      <a:r>
                        <a:rPr sz="900" b="0" i="0">
                          <a:solidFill>
                            <a:srgbClr val="353B4A"/>
                          </a:solidFill>
                          <a:latin typeface="Inter"/>
                        </a:rPr>
                        <a:t>One-time password: a short code that works once and expires.</a:t>
                      </a:r>
                    </a:p>
                  </a:txBody>
                  <a:tcPr marL="73152" marR="73152" marT="36576" marB="36576" anchor="ctr">
                    <a:solidFill>
                      <a:srgbClr val="F1F0F6"/>
                    </a:solidFill>
                  </a:tcPr>
                </a:tc>
              </a:tr>
            </a:tbl>
          </a:graphicData>
        </a:graphic>
      </p:graphicFrame>
      <p:graphicFrame>
        <p:nvGraphicFramePr>
          <p:cNvPr id="7" name="Table 6"/>
          <p:cNvGraphicFramePr>
            <a:graphicFrameLocks noGrp="1"/>
          </p:cNvGraphicFramePr>
          <p:nvPr/>
        </p:nvGraphicFramePr>
        <p:xfrm>
          <a:off x="4709160" y="1024128"/>
          <a:ext cx="3977640" cy="3675888"/>
        </p:xfrm>
        <a:graphic>
          <a:graphicData uri="http://schemas.openxmlformats.org/drawingml/2006/table">
            <a:tbl>
              <a:tblPr firstRow="1" bandRow="1">
                <a:tableStyleId>{5C22544A-7EE6-4342-B048-85BDC9FD1C3A}</a:tableStyleId>
              </a:tblPr>
              <a:tblGrid>
                <a:gridCol w="1097280"/>
                <a:gridCol w="2880360"/>
              </a:tblGrid>
              <a:tr h="274320">
                <a:tc>
                  <a:txBody>
                    <a:bodyPr wrap="square"/>
                    <a:lstStyle/>
                    <a:p>
                      <a:r>
                        <a:rPr sz="950" b="1" i="0">
                          <a:solidFill>
                            <a:srgbClr val="FFFFFF"/>
                          </a:solidFill>
                          <a:latin typeface="Inter"/>
                        </a:rPr>
                        <a:t>Term</a:t>
                      </a:r>
                    </a:p>
                  </a:txBody>
                  <a:tcPr marL="73152" marR="73152" marT="36576" marB="36576" anchor="ctr">
                    <a:solidFill>
                      <a:srgbClr val="1B2A55"/>
                    </a:solidFill>
                  </a:tcPr>
                </a:tc>
                <a:tc>
                  <a:txBody>
                    <a:bodyPr wrap="square"/>
                    <a:lstStyle/>
                    <a:p>
                      <a:r>
                        <a:rPr sz="950" b="1" i="0">
                          <a:solidFill>
                            <a:srgbClr val="FFFFFF"/>
                          </a:solidFill>
                          <a:latin typeface="Inter"/>
                        </a:rPr>
                        <a:t>In plain words</a:t>
                      </a:r>
                    </a:p>
                  </a:txBody>
                  <a:tcPr marL="73152" marR="73152" marT="36576" marB="36576" anchor="ctr">
                    <a:solidFill>
                      <a:srgbClr val="1B2A55"/>
                    </a:solidFill>
                  </a:tcPr>
                </a:tc>
              </a:tr>
              <a:tr h="566928">
                <a:tc>
                  <a:txBody>
                    <a:bodyPr wrap="square"/>
                    <a:lstStyle/>
                    <a:p>
                      <a:r>
                        <a:rPr sz="900" b="1" i="0">
                          <a:solidFill>
                            <a:srgbClr val="1B2A55"/>
                          </a:solidFill>
                          <a:latin typeface="Inter"/>
                        </a:rPr>
                        <a:t>Roster hash</a:t>
                      </a:r>
                    </a:p>
                  </a:txBody>
                  <a:tcPr marL="73152" marR="73152" marT="36576" marB="36576" anchor="ctr">
                    <a:solidFill>
                      <a:srgbClr val="FFFFFF"/>
                    </a:solidFill>
                  </a:tcPr>
                </a:tc>
                <a:tc>
                  <a:txBody>
                    <a:bodyPr wrap="square"/>
                    <a:lstStyle/>
                    <a:p>
                      <a:r>
                        <a:rPr sz="900" b="0" i="0">
                          <a:solidFill>
                            <a:srgbClr val="353B4A"/>
                          </a:solidFill>
                          <a:latin typeface="Inter"/>
                        </a:rPr>
                        <a:t>A fingerprint of the candidate list, sealed into every block.</a:t>
                      </a:r>
                    </a:p>
                  </a:txBody>
                  <a:tcPr marL="73152" marR="73152" marT="36576" marB="36576" anchor="ctr">
                    <a:solidFill>
                      <a:srgbClr val="FFFFFF"/>
                    </a:solidFill>
                  </a:tcPr>
                </a:tc>
              </a:tr>
              <a:tr h="566928">
                <a:tc>
                  <a:txBody>
                    <a:bodyPr wrap="square"/>
                    <a:lstStyle/>
                    <a:p>
                      <a:r>
                        <a:rPr sz="900" b="1" i="0">
                          <a:solidFill>
                            <a:srgbClr val="1B2A55"/>
                          </a:solidFill>
                          <a:latin typeface="Inter"/>
                        </a:rPr>
                        <a:t>Receipt token</a:t>
                      </a:r>
                    </a:p>
                  </a:txBody>
                  <a:tcPr marL="73152" marR="73152" marT="36576" marB="36576" anchor="ctr">
                    <a:solidFill>
                      <a:srgbClr val="F1F0F6"/>
                    </a:solidFill>
                  </a:tcPr>
                </a:tc>
                <a:tc>
                  <a:txBody>
                    <a:bodyPr wrap="square"/>
                    <a:lstStyle/>
                    <a:p>
                      <a:r>
                        <a:rPr sz="900" b="0" i="0">
                          <a:solidFill>
                            <a:srgbClr val="353B4A"/>
                          </a:solidFill>
                          <a:latin typeface="Inter"/>
                        </a:rPr>
                        <a:t>A random code that shows a ballot is recorded. It does not show the vote.</a:t>
                      </a:r>
                    </a:p>
                  </a:txBody>
                  <a:tcPr marL="73152" marR="73152" marT="36576" marB="36576" anchor="ctr">
                    <a:solidFill>
                      <a:srgbClr val="F1F0F6"/>
                    </a:solidFill>
                  </a:tcPr>
                </a:tc>
              </a:tr>
              <a:tr h="566928">
                <a:tc>
                  <a:txBody>
                    <a:bodyPr wrap="square"/>
                    <a:lstStyle/>
                    <a:p>
                      <a:r>
                        <a:rPr sz="900" b="1" i="0">
                          <a:solidFill>
                            <a:srgbClr val="1B2A55"/>
                          </a:solidFill>
                          <a:latin typeface="Inter"/>
                        </a:rPr>
                        <a:t>Trigger, CHECK, UNIQUE</a:t>
                      </a:r>
                    </a:p>
                  </a:txBody>
                  <a:tcPr marL="73152" marR="73152" marT="36576" marB="36576" anchor="ctr">
                    <a:solidFill>
                      <a:srgbClr val="FFFFFF"/>
                    </a:solidFill>
                  </a:tcPr>
                </a:tc>
                <a:tc>
                  <a:txBody>
                    <a:bodyPr wrap="square"/>
                    <a:lstStyle/>
                    <a:p>
                      <a:r>
                        <a:rPr sz="900" b="0" i="0">
                          <a:solidFill>
                            <a:srgbClr val="353B4A"/>
                          </a:solidFill>
                          <a:latin typeface="Inter"/>
                        </a:rPr>
                        <a:t>Rules the database enforces itself, even against direct SQL.</a:t>
                      </a:r>
                    </a:p>
                  </a:txBody>
                  <a:tcPr marL="73152" marR="73152" marT="36576" marB="36576" anchor="ctr">
                    <a:solidFill>
                      <a:srgbClr val="FFFFFF"/>
                    </a:solidFill>
                  </a:tcPr>
                </a:tc>
              </a:tr>
              <a:tr h="566928">
                <a:tc>
                  <a:txBody>
                    <a:bodyPr wrap="square"/>
                    <a:lstStyle/>
                    <a:p>
                      <a:r>
                        <a:rPr sz="900" b="1" i="0">
                          <a:solidFill>
                            <a:srgbClr val="1B2A55"/>
                          </a:solidFill>
                          <a:latin typeface="Inter"/>
                        </a:rPr>
                        <a:t>Integrity sweep</a:t>
                      </a:r>
                    </a:p>
                  </a:txBody>
                  <a:tcPr marL="73152" marR="73152" marT="36576" marB="36576" anchor="ctr">
                    <a:solidFill>
                      <a:srgbClr val="F1F0F6"/>
                    </a:solidFill>
                  </a:tcPr>
                </a:tc>
                <a:tc>
                  <a:txBody>
                    <a:bodyPr wrap="square"/>
                    <a:lstStyle/>
                    <a:p>
                      <a:r>
                        <a:rPr sz="900" b="0" i="0">
                          <a:solidFill>
                            <a:srgbClr val="353B4A"/>
                          </a:solidFill>
                          <a:latin typeface="Inter"/>
                        </a:rPr>
                        <a:t>Recomputes the election from the database and compares it with the ledger.</a:t>
                      </a:r>
                    </a:p>
                  </a:txBody>
                  <a:tcPr marL="73152" marR="73152" marT="36576" marB="36576" anchor="ctr">
                    <a:solidFill>
                      <a:srgbClr val="F1F0F6"/>
                    </a:solidFill>
                  </a:tcPr>
                </a:tc>
              </a:tr>
              <a:tr h="566928">
                <a:tc>
                  <a:txBody>
                    <a:bodyPr wrap="square"/>
                    <a:lstStyle/>
                    <a:p>
                      <a:r>
                        <a:rPr sz="900" b="1" i="0">
                          <a:solidFill>
                            <a:srgbClr val="1B2A55"/>
                          </a:solidFill>
                          <a:latin typeface="Inter"/>
                        </a:rPr>
                        <a:t>Polyglot persistence</a:t>
                      </a:r>
                    </a:p>
                  </a:txBody>
                  <a:tcPr marL="73152" marR="73152" marT="36576" marB="36576" anchor="ctr">
                    <a:solidFill>
                      <a:srgbClr val="FFFFFF"/>
                    </a:solidFill>
                  </a:tcPr>
                </a:tc>
                <a:tc>
                  <a:txBody>
                    <a:bodyPr wrap="square"/>
                    <a:lstStyle/>
                    <a:p>
                      <a:r>
                        <a:rPr sz="900" b="0" i="0">
                          <a:solidFill>
                            <a:srgbClr val="353B4A"/>
                          </a:solidFill>
                          <a:latin typeface="Inter"/>
                        </a:rPr>
                        <a:t>Different kinds of database for different jobs: SQLite and MongoDB here.</a:t>
                      </a:r>
                    </a:p>
                  </a:txBody>
                  <a:tcPr marL="73152" marR="73152" marT="36576" marB="36576" anchor="ctr">
                    <a:solidFill>
                      <a:srgbClr val="FFFFFF"/>
                    </a:solidFill>
                  </a:tcPr>
                </a:tc>
              </a:tr>
              <a:tr h="566928">
                <a:tc>
                  <a:txBody>
                    <a:bodyPr wrap="square"/>
                    <a:lstStyle/>
                    <a:p>
                      <a:r>
                        <a:rPr sz="900" b="1" i="0">
                          <a:solidFill>
                            <a:srgbClr val="1B2A55"/>
                          </a:solidFill>
                          <a:latin typeface="Inter"/>
                        </a:rPr>
                        <a:t>Multi-tenant</a:t>
                      </a:r>
                    </a:p>
                  </a:txBody>
                  <a:tcPr marL="73152" marR="73152" marT="36576" marB="36576" anchor="ctr">
                    <a:solidFill>
                      <a:srgbClr val="F1F0F6"/>
                    </a:solidFill>
                  </a:tcPr>
                </a:tc>
                <a:tc>
                  <a:txBody>
                    <a:bodyPr wrap="square"/>
                    <a:lstStyle/>
                    <a:p>
                      <a:r>
                        <a:rPr sz="900" b="0" i="0">
                          <a:solidFill>
                            <a:srgbClr val="353B4A"/>
                          </a:solidFill>
                          <a:latin typeface="Inter"/>
                        </a:rPr>
                        <a:t>Many organisations share one install, each with its own elections.</a:t>
                      </a:r>
                    </a:p>
                  </a:txBody>
                  <a:tcPr marL="73152" marR="73152" marT="36576" marB="36576" anchor="ctr">
                    <a:solidFill>
                      <a:srgbClr val="F1F0F6"/>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EVIDENCE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Evidence: where every claim can be checked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42</a:t>
            </a:r>
          </a:p>
        </p:txBody>
      </p:sp>
      <p:graphicFrame>
        <p:nvGraphicFramePr>
          <p:cNvPr id="6" name="Table 5"/>
          <p:cNvGraphicFramePr>
            <a:graphicFrameLocks noGrp="1"/>
          </p:cNvGraphicFramePr>
          <p:nvPr/>
        </p:nvGraphicFramePr>
        <p:xfrm>
          <a:off x="457200" y="1024128"/>
          <a:ext cx="8229600" cy="2898648"/>
        </p:xfrm>
        <a:graphic>
          <a:graphicData uri="http://schemas.openxmlformats.org/drawingml/2006/table">
            <a:tbl>
              <a:tblPr firstRow="1" bandRow="1">
                <a:tableStyleId>{5C22544A-7EE6-4342-B048-85BDC9FD1C3A}</a:tableStyleId>
              </a:tblPr>
              <a:tblGrid>
                <a:gridCol w="3108960"/>
                <a:gridCol w="2651760"/>
                <a:gridCol w="2468880"/>
              </a:tblGrid>
              <a:tr h="274320">
                <a:tc>
                  <a:txBody>
                    <a:bodyPr wrap="square"/>
                    <a:lstStyle/>
                    <a:p>
                      <a:r>
                        <a:rPr sz="950" b="1" i="0">
                          <a:solidFill>
                            <a:srgbClr val="FFFFFF"/>
                          </a:solidFill>
                          <a:latin typeface="Inter"/>
                        </a:rPr>
                        <a:t>Claim in this deck</a:t>
                      </a:r>
                    </a:p>
                  </a:txBody>
                  <a:tcPr marL="73152" marR="73152" marT="36576" marB="36576" anchor="ctr">
                    <a:solidFill>
                      <a:srgbClr val="1B2A55"/>
                    </a:solidFill>
                  </a:tcPr>
                </a:tc>
                <a:tc>
                  <a:txBody>
                    <a:bodyPr wrap="square"/>
                    <a:lstStyle/>
                    <a:p>
                      <a:r>
                        <a:rPr sz="950" b="1" i="0">
                          <a:solidFill>
                            <a:srgbClr val="FFFFFF"/>
                          </a:solidFill>
                          <a:latin typeface="Inter"/>
                        </a:rPr>
                        <a:t>How it was produced</a:t>
                      </a:r>
                    </a:p>
                  </a:txBody>
                  <a:tcPr marL="73152" marR="73152" marT="36576" marB="36576" anchor="ctr">
                    <a:solidFill>
                      <a:srgbClr val="1B2A55"/>
                    </a:solidFill>
                  </a:tcPr>
                </a:tc>
                <a:tc>
                  <a:txBody>
                    <a:bodyPr wrap="square"/>
                    <a:lstStyle/>
                    <a:p>
                      <a:r>
                        <a:rPr sz="950" b="1" i="0">
                          <a:solidFill>
                            <a:srgbClr val="FFFFFF"/>
                          </a:solidFill>
                          <a:latin typeface="Inter"/>
                        </a:rPr>
                        <a:t>Where to look</a:t>
                      </a:r>
                    </a:p>
                  </a:txBody>
                  <a:tcPr marL="73152" marR="73152" marT="36576" marB="36576" anchor="ctr">
                    <a:solidFill>
                      <a:srgbClr val="1B2A55"/>
                    </a:solidFill>
                  </a:tcPr>
                </a:tc>
              </a:tr>
              <a:tr h="374904">
                <a:tc>
                  <a:txBody>
                    <a:bodyPr wrap="square"/>
                    <a:lstStyle/>
                    <a:p>
                      <a:r>
                        <a:rPr sz="900" b="1" i="0">
                          <a:solidFill>
                            <a:srgbClr val="1B2A55"/>
                          </a:solidFill>
                          <a:latin typeface="Inter"/>
                        </a:rPr>
                        <a:t>Tampering caught: 6 of 13 (old), 12 of 13 (final)</a:t>
                      </a:r>
                    </a:p>
                  </a:txBody>
                  <a:tcPr marL="73152" marR="73152" marT="36576" marB="36576" anchor="ctr">
                    <a:solidFill>
                      <a:srgbClr val="FFFFFF"/>
                    </a:solidFill>
                  </a:tcPr>
                </a:tc>
                <a:tc>
                  <a:txBody>
                    <a:bodyPr wrap="square"/>
                    <a:lstStyle/>
                    <a:p>
                      <a:r>
                        <a:rPr sz="900" b="0" i="0">
                          <a:solidFill>
                            <a:srgbClr val="353B4A"/>
                          </a:solidFill>
                          <a:latin typeface="Inter"/>
                        </a:rPr>
                        <a:t>Executable suite, 3 identical runs</a:t>
                      </a:r>
                    </a:p>
                  </a:txBody>
                  <a:tcPr marL="73152" marR="73152" marT="36576" marB="36576" anchor="ctr">
                    <a:solidFill>
                      <a:srgbClr val="FFFFFF"/>
                    </a:solidFill>
                  </a:tcPr>
                </a:tc>
                <a:tc>
                  <a:txBody>
                    <a:bodyPr wrap="square"/>
                    <a:lstStyle/>
                    <a:p>
                      <a:r>
                        <a:rPr sz="900" b="0" i="0">
                          <a:solidFill>
                            <a:srgbClr val="353B4A"/>
                          </a:solidFill>
                          <a:latin typeface="Inter"/>
                        </a:rPr>
                        <a:t>experiments/results/summary.json, detection.png</a:t>
                      </a:r>
                    </a:p>
                  </a:txBody>
                  <a:tcPr marL="73152" marR="73152" marT="36576" marB="36576" anchor="ctr">
                    <a:solidFill>
                      <a:srgbClr val="FFFFFF"/>
                    </a:solidFill>
                  </a:tcPr>
                </a:tc>
              </a:tr>
              <a:tr h="374904">
                <a:tc>
                  <a:txBody>
                    <a:bodyPr wrap="square"/>
                    <a:lstStyle/>
                    <a:p>
                      <a:r>
                        <a:rPr sz="900" b="1" i="0">
                          <a:solidFill>
                            <a:srgbClr val="1B2A55"/>
                          </a:solidFill>
                          <a:latin typeface="Inter"/>
                        </a:rPr>
                        <a:t>Database refuses bad votes (6 of 7; 13 of 13; 1 of 20)</a:t>
                      </a:r>
                    </a:p>
                  </a:txBody>
                  <a:tcPr marL="73152" marR="73152" marT="36576" marB="36576" anchor="ctr">
                    <a:solidFill>
                      <a:srgbClr val="F1F0F6"/>
                    </a:solidFill>
                  </a:tcPr>
                </a:tc>
                <a:tc>
                  <a:txBody>
                    <a:bodyPr wrap="square"/>
                    <a:lstStyle/>
                    <a:p>
                      <a:r>
                        <a:rPr sz="900" b="0" i="0">
                          <a:solidFill>
                            <a:srgbClr val="353B4A"/>
                          </a:solidFill>
                          <a:latin typeface="Inter"/>
                        </a:rPr>
                        <a:t>Direct SQL and API tests</a:t>
                      </a:r>
                    </a:p>
                  </a:txBody>
                  <a:tcPr marL="73152" marR="73152" marT="36576" marB="36576" anchor="ctr">
                    <a:solidFill>
                      <a:srgbClr val="F1F0F6"/>
                    </a:solidFill>
                  </a:tcPr>
                </a:tc>
                <a:tc>
                  <a:txBody>
                    <a:bodyPr wrap="square"/>
                    <a:lstStyle/>
                    <a:p>
                      <a:r>
                        <a:rPr sz="900" b="0" i="0">
                          <a:solidFill>
                            <a:srgbClr val="353B4A"/>
                          </a:solidFill>
                          <a:latin typeface="Inter"/>
                        </a:rPr>
                        <a:t>experiments/run_experiments.py</a:t>
                      </a:r>
                    </a:p>
                  </a:txBody>
                  <a:tcPr marL="73152" marR="73152" marT="36576" marB="36576" anchor="ctr">
                    <a:solidFill>
                      <a:srgbClr val="F1F0F6"/>
                    </a:solidFill>
                  </a:tcPr>
                </a:tc>
              </a:tr>
              <a:tr h="374904">
                <a:tc>
                  <a:txBody>
                    <a:bodyPr wrap="square"/>
                    <a:lstStyle/>
                    <a:p>
                      <a:r>
                        <a:rPr sz="900" b="1" i="0">
                          <a:solidFill>
                            <a:srgbClr val="1B2A55"/>
                          </a:solidFill>
                          <a:latin typeface="Inter"/>
                        </a:rPr>
                        <a:t>14 of 14 one-time-code tests</a:t>
                      </a:r>
                    </a:p>
                  </a:txBody>
                  <a:tcPr marL="73152" marR="73152" marT="36576" marB="36576" anchor="ctr">
                    <a:solidFill>
                      <a:srgbClr val="FFFFFF"/>
                    </a:solidFill>
                  </a:tcPr>
                </a:tc>
                <a:tc>
                  <a:txBody>
                    <a:bodyPr wrap="square"/>
                    <a:lstStyle/>
                    <a:p>
                      <a:r>
                        <a:rPr sz="900" b="0" i="0">
                          <a:solidFill>
                            <a:srgbClr val="353B4A"/>
                          </a:solidFill>
                          <a:latin typeface="Inter"/>
                        </a:rPr>
                        <a:t>Tests F1 to F14 on a throwaway copy</a:t>
                      </a:r>
                    </a:p>
                  </a:txBody>
                  <a:tcPr marL="73152" marR="73152" marT="36576" marB="36576" anchor="ctr">
                    <a:solidFill>
                      <a:srgbClr val="FFFFFF"/>
                    </a:solidFill>
                  </a:tcPr>
                </a:tc>
                <a:tc>
                  <a:txBody>
                    <a:bodyPr wrap="square"/>
                    <a:lstStyle/>
                    <a:p>
                      <a:r>
                        <a:rPr sz="900" b="0" i="0">
                          <a:solidFill>
                            <a:srgbClr val="353B4A"/>
                          </a:solidFill>
                          <a:latin typeface="Inter"/>
                        </a:rPr>
                        <a:t>experiments/run_experiments.py</a:t>
                      </a:r>
                    </a:p>
                  </a:txBody>
                  <a:tcPr marL="73152" marR="73152" marT="36576" marB="36576" anchor="ctr">
                    <a:solidFill>
                      <a:srgbClr val="FFFFFF"/>
                    </a:solidFill>
                  </a:tcPr>
                </a:tc>
              </a:tr>
              <a:tr h="374904">
                <a:tc>
                  <a:txBody>
                    <a:bodyPr wrap="square"/>
                    <a:lstStyle/>
                    <a:p>
                      <a:r>
                        <a:rPr sz="900" b="1" i="0">
                          <a:solidFill>
                            <a:srgbClr val="1B2A55"/>
                          </a:solidFill>
                          <a:latin typeface="Inter"/>
                        </a:rPr>
                        <a:t>Sweep +15% at 10,000 ballots; Atlas append flat</a:t>
                      </a:r>
                    </a:p>
                  </a:txBody>
                  <a:tcPr marL="73152" marR="73152" marT="36576" marB="36576" anchor="ctr">
                    <a:solidFill>
                      <a:srgbClr val="F1F0F6"/>
                    </a:solidFill>
                  </a:tcPr>
                </a:tc>
                <a:tc>
                  <a:txBody>
                    <a:bodyPr wrap="square"/>
                    <a:lstStyle/>
                    <a:p>
                      <a:r>
                        <a:rPr sz="900" b="0" i="0">
                          <a:solidFill>
                            <a:srgbClr val="353B4A"/>
                          </a:solidFill>
                          <a:latin typeface="Inter"/>
                        </a:rPr>
                        <a:t>Benchmarks, median of 3 runs</a:t>
                      </a:r>
                    </a:p>
                  </a:txBody>
                  <a:tcPr marL="73152" marR="73152" marT="36576" marB="36576" anchor="ctr">
                    <a:solidFill>
                      <a:srgbClr val="F1F0F6"/>
                    </a:solidFill>
                  </a:tcPr>
                </a:tc>
                <a:tc>
                  <a:txBody>
                    <a:bodyPr wrap="square"/>
                    <a:lstStyle/>
                    <a:p>
                      <a:r>
                        <a:rPr sz="900" b="0" i="0">
                          <a:solidFill>
                            <a:srgbClr val="353B4A"/>
                          </a:solidFill>
                          <a:latin typeface="Inter"/>
                        </a:rPr>
                        <a:t>bench.png, mongo_bench.json</a:t>
                      </a:r>
                    </a:p>
                  </a:txBody>
                  <a:tcPr marL="73152" marR="73152" marT="36576" marB="36576" anchor="ctr">
                    <a:solidFill>
                      <a:srgbClr val="F1F0F6"/>
                    </a:solidFill>
                  </a:tcPr>
                </a:tc>
              </a:tr>
              <a:tr h="374904">
                <a:tc>
                  <a:txBody>
                    <a:bodyPr wrap="square"/>
                    <a:lstStyle/>
                    <a:p>
                      <a:r>
                        <a:rPr sz="900" b="1" i="0">
                          <a:solidFill>
                            <a:srgbClr val="1B2A55"/>
                          </a:solidFill>
                          <a:latin typeface="Inter"/>
                        </a:rPr>
                        <a:t>Website checklist 17 / 4 / 0</a:t>
                      </a:r>
                    </a:p>
                  </a:txBody>
                  <a:tcPr marL="73152" marR="73152" marT="36576" marB="36576" anchor="ctr">
                    <a:solidFill>
                      <a:srgbClr val="FFFFFF"/>
                    </a:solidFill>
                  </a:tcPr>
                </a:tc>
                <a:tc>
                  <a:txBody>
                    <a:bodyPr wrap="square"/>
                    <a:lstStyle/>
                    <a:p>
                      <a:r>
                        <a:rPr sz="900" b="0" i="0">
                          <a:solidFill>
                            <a:srgbClr val="353B4A"/>
                          </a:solidFill>
                          <a:latin typeface="Inter"/>
                        </a:rPr>
                        <a:t>Automated check of 21 items</a:t>
                      </a:r>
                    </a:p>
                  </a:txBody>
                  <a:tcPr marL="73152" marR="73152" marT="36576" marB="36576" anchor="ctr">
                    <a:solidFill>
                      <a:srgbClr val="FFFFFF"/>
                    </a:solidFill>
                  </a:tcPr>
                </a:tc>
                <a:tc>
                  <a:txBody>
                    <a:bodyPr wrap="square"/>
                    <a:lstStyle/>
                    <a:p>
                      <a:r>
                        <a:rPr sz="900" b="0" i="0">
                          <a:solidFill>
                            <a:srgbClr val="353B4A"/>
                          </a:solidFill>
                          <a:latin typeface="Inter"/>
                        </a:rPr>
                        <a:t>experiments/web_checklist.py, web_checklist.json</a:t>
                      </a:r>
                    </a:p>
                  </a:txBody>
                  <a:tcPr marL="73152" marR="73152" marT="36576" marB="36576" anchor="ctr">
                    <a:solidFill>
                      <a:srgbClr val="FFFFFF"/>
                    </a:solidFill>
                  </a:tcPr>
                </a:tc>
              </a:tr>
              <a:tr h="374904">
                <a:tc>
                  <a:txBody>
                    <a:bodyPr wrap="square"/>
                    <a:lstStyle/>
                    <a:p>
                      <a:r>
                        <a:rPr sz="900" b="1" i="0">
                          <a:solidFill>
                            <a:srgbClr val="1B2A55"/>
                          </a:solidFill>
                          <a:latin typeface="Inter"/>
                        </a:rPr>
                        <a:t>What 33 other systems offer</a:t>
                      </a:r>
                    </a:p>
                  </a:txBody>
                  <a:tcPr marL="73152" marR="73152" marT="36576" marB="36576" anchor="ctr">
                    <a:solidFill>
                      <a:srgbClr val="F1F0F6"/>
                    </a:solidFill>
                  </a:tcPr>
                </a:tc>
                <a:tc>
                  <a:txBody>
                    <a:bodyPr wrap="square"/>
                    <a:lstStyle/>
                    <a:p>
                      <a:r>
                        <a:rPr sz="900" b="0" i="0">
                          <a:solidFill>
                            <a:srgbClr val="353B4A"/>
                          </a:solidFill>
                          <a:latin typeface="Inter"/>
                        </a:rPr>
                        <a:t>Their own pages, READMEs, papers; a URL for every cell</a:t>
                      </a:r>
                    </a:p>
                  </a:txBody>
                  <a:tcPr marL="73152" marR="73152" marT="36576" marB="36576" anchor="ctr">
                    <a:solidFill>
                      <a:srgbClr val="F1F0F6"/>
                    </a:solidFill>
                  </a:tcPr>
                </a:tc>
                <a:tc>
                  <a:txBody>
                    <a:bodyPr wrap="square"/>
                    <a:lstStyle/>
                    <a:p>
                      <a:r>
                        <a:rPr sz="900" b="0" i="0">
                          <a:solidFill>
                            <a:srgbClr val="353B4A"/>
                          </a:solidFill>
                          <a:latin typeface="Inter"/>
                        </a:rPr>
                        <a:t>docs/review3/uniqueness_evidence.md</a:t>
                      </a:r>
                    </a:p>
                  </a:txBody>
                  <a:tcPr marL="73152" marR="73152" marT="36576" marB="36576" anchor="ctr">
                    <a:solidFill>
                      <a:srgbClr val="F1F0F6"/>
                    </a:solidFill>
                  </a:tcPr>
                </a:tc>
              </a:tr>
              <a:tr h="374904">
                <a:tc>
                  <a:txBody>
                    <a:bodyPr wrap="square"/>
                    <a:lstStyle/>
                    <a:p>
                      <a:r>
                        <a:rPr sz="900" b="1" i="0">
                          <a:solidFill>
                            <a:srgbClr val="1B2A55"/>
                          </a:solidFill>
                          <a:latin typeface="Inter"/>
                        </a:rPr>
                        <a:t>Closest projects and their gaps</a:t>
                      </a:r>
                    </a:p>
                  </a:txBody>
                  <a:tcPr marL="73152" marR="73152" marT="36576" marB="36576" anchor="ctr">
                    <a:solidFill>
                      <a:srgbClr val="FFFFFF"/>
                    </a:solidFill>
                  </a:tcPr>
                </a:tc>
                <a:tc>
                  <a:txBody>
                    <a:bodyPr wrap="square"/>
                    <a:lstStyle/>
                    <a:p>
                      <a:r>
                        <a:rPr sz="900" b="0" i="0">
                          <a:solidFill>
                            <a:srgbClr val="353B4A"/>
                          </a:solidFill>
                          <a:latin typeface="Inter"/>
                        </a:rPr>
                        <a:t>FlexyVotes code and docs read directly</a:t>
                      </a:r>
                    </a:p>
                  </a:txBody>
                  <a:tcPr marL="73152" marR="73152" marT="36576" marB="36576" anchor="ctr">
                    <a:solidFill>
                      <a:srgbClr val="FFFFFF"/>
                    </a:solidFill>
                  </a:tcPr>
                </a:tc>
                <a:tc>
                  <a:txBody>
                    <a:bodyPr wrap="square"/>
                    <a:lstStyle/>
                    <a:p>
                      <a:r>
                        <a:rPr sz="900" b="0" i="0">
                          <a:solidFill>
                            <a:srgbClr val="353B4A"/>
                          </a:solidFill>
                          <a:latin typeface="Inter"/>
                        </a:rPr>
                        <a:t>docs/review3/uniqueness_evidence.md</a:t>
                      </a:r>
                    </a:p>
                  </a:txBody>
                  <a:tcPr marL="73152" marR="73152" marT="36576" marB="36576" anchor="ctr">
                    <a:solidFill>
                      <a:srgbClr val="FFFFFF"/>
                    </a:solidFill>
                  </a:tcPr>
                </a:tc>
              </a:tr>
            </a:tbl>
          </a:graphicData>
        </a:graphic>
      </p:graphicFrame>
      <p:sp>
        <p:nvSpPr>
          <p:cNvPr id="7" name="Rounded Rectangle 6"/>
          <p:cNvSpPr/>
          <p:nvPr/>
        </p:nvSpPr>
        <p:spPr>
          <a:xfrm>
            <a:off x="457200" y="4206240"/>
            <a:ext cx="8229600" cy="54864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251960"/>
            <a:ext cx="7863840" cy="457200"/>
          </a:xfrm>
          <a:prstGeom prst="rect">
            <a:avLst/>
          </a:prstGeom>
          <a:noFill/>
        </p:spPr>
        <p:txBody>
          <a:bodyPr wrap="square" anchor="t" lIns="0" rIns="0" tIns="0" bIns="0">
            <a:spAutoFit/>
          </a:bodyPr>
          <a:lstStyle/>
          <a:p>
            <a:pPr algn="l">
              <a:spcAft>
                <a:spcPts val="0"/>
              </a:spcAft>
            </a:pPr>
            <a:r>
              <a:rPr sz="1000" b="1" i="0">
                <a:solidFill>
                  <a:srgbClr val="1B2A55"/>
                </a:solidFill>
                <a:latin typeface="Inter"/>
              </a:rPr>
              <a:t>Search method: </a:t>
            </a:r>
            <a:r>
              <a:rPr sz="1000" b="0" i="0">
                <a:solidFill>
                  <a:srgbClr val="353B4A"/>
                </a:solidFill>
                <a:latin typeface="Inter"/>
              </a:rPr>
              <a:t>23 web queries, 20 GitHub repository searches, 33 systems, on 23 October 2026. </a:t>
            </a:r>
            <a:r>
              <a:rPr sz="1000" b="1" i="0">
                <a:solidFill>
                  <a:srgbClr val="1B2A55"/>
                </a:solidFill>
                <a:latin typeface="Inter"/>
              </a:rPr>
              <a:t>Not covered: </a:t>
            </a:r>
            <a:r>
              <a:rPr sz="1000" b="0" i="0">
                <a:solidFill>
                  <a:srgbClr val="353B4A"/>
                </a:solidFill>
                <a:latin typeface="Inter"/>
              </a:rPr>
              <a:t>GitHub code search, non-English and private repositories, commercial internals.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OPEN FOR SUBMISSION TODAY · BY FEE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Venues still accepting papers, cheapest first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43</a:t>
            </a:r>
          </a:p>
        </p:txBody>
      </p:sp>
      <p:graphicFrame>
        <p:nvGraphicFramePr>
          <p:cNvPr id="6" name="Table 5"/>
          <p:cNvGraphicFramePr>
            <a:graphicFrameLocks noGrp="1"/>
          </p:cNvGraphicFramePr>
          <p:nvPr/>
        </p:nvGraphicFramePr>
        <p:xfrm>
          <a:off x="365760" y="1005840"/>
          <a:ext cx="8412477" cy="3328416"/>
        </p:xfrm>
        <a:graphic>
          <a:graphicData uri="http://schemas.openxmlformats.org/drawingml/2006/table">
            <a:tbl>
              <a:tblPr firstRow="1" bandRow="1">
                <a:tableStyleId>{5C22544A-7EE6-4342-B048-85BDC9FD1C3A}</a:tableStyleId>
              </a:tblPr>
              <a:tblGrid>
                <a:gridCol w="271370"/>
                <a:gridCol w="1537765"/>
                <a:gridCol w="1085481"/>
                <a:gridCol w="1537765"/>
                <a:gridCol w="1628221"/>
                <a:gridCol w="1809135"/>
                <a:gridCol w="542740"/>
              </a:tblGrid>
              <a:tr h="310896">
                <a:tc>
                  <a:txBody>
                    <a:bodyPr wrap="square"/>
                    <a:lstStyle/>
                    <a:p>
                      <a:r>
                        <a:rPr sz="900" b="1" i="0">
                          <a:solidFill>
                            <a:srgbClr val="FFFFFF"/>
                          </a:solidFill>
                          <a:latin typeface="Inter"/>
                        </a:rPr>
                        <a:t>#</a:t>
                      </a:r>
                    </a:p>
                  </a:txBody>
                  <a:tcPr marL="73152" marR="73152" marT="36576" marB="36576" anchor="ctr">
                    <a:solidFill>
                      <a:srgbClr val="1B2A55"/>
                    </a:solidFill>
                  </a:tcPr>
                </a:tc>
                <a:tc>
                  <a:txBody>
                    <a:bodyPr wrap="square"/>
                    <a:lstStyle/>
                    <a:p>
                      <a:r>
                        <a:rPr sz="900" b="1" i="0">
                          <a:solidFill>
                            <a:srgbClr val="FFFFFF"/>
                          </a:solidFill>
                          <a:latin typeface="Inter"/>
                        </a:rPr>
                        <a:t>Venue</a:t>
                      </a:r>
                    </a:p>
                  </a:txBody>
                  <a:tcPr marL="73152" marR="73152" marT="36576" marB="36576" anchor="ctr">
                    <a:solidFill>
                      <a:srgbClr val="1B2A55"/>
                    </a:solidFill>
                  </a:tcPr>
                </a:tc>
                <a:tc>
                  <a:txBody>
                    <a:bodyPr wrap="square"/>
                    <a:lstStyle/>
                    <a:p>
                      <a:r>
                        <a:rPr sz="900" b="1" i="0">
                          <a:solidFill>
                            <a:srgbClr val="FFFFFF"/>
                          </a:solidFill>
                          <a:latin typeface="Inter"/>
                        </a:rPr>
                        <a:t>Submit by</a:t>
                      </a:r>
                    </a:p>
                  </a:txBody>
                  <a:tcPr marL="73152" marR="73152" marT="36576" marB="36576" anchor="ctr">
                    <a:solidFill>
                      <a:srgbClr val="1B2A55"/>
                    </a:solidFill>
                  </a:tcPr>
                </a:tc>
                <a:tc>
                  <a:txBody>
                    <a:bodyPr wrap="square"/>
                    <a:lstStyle/>
                    <a:p>
                      <a:r>
                        <a:rPr sz="900" b="1" i="0">
                          <a:solidFill>
                            <a:srgbClr val="FFFFFF"/>
                          </a:solidFill>
                          <a:latin typeface="Inter"/>
                        </a:rPr>
                        <a:t>Student fee</a:t>
                      </a:r>
                    </a:p>
                  </a:txBody>
                  <a:tcPr marL="73152" marR="73152" marT="36576" marB="36576" anchor="ctr">
                    <a:solidFill>
                      <a:srgbClr val="1B2A55"/>
                    </a:solidFill>
                  </a:tcPr>
                </a:tc>
                <a:tc>
                  <a:txBody>
                    <a:bodyPr wrap="square"/>
                    <a:lstStyle/>
                    <a:p>
                      <a:r>
                        <a:rPr sz="900" b="1" i="0">
                          <a:solidFill>
                            <a:srgbClr val="FFFFFF"/>
                          </a:solidFill>
                          <a:latin typeface="Inter"/>
                        </a:rPr>
                        <a:t>Where</a:t>
                      </a:r>
                    </a:p>
                  </a:txBody>
                  <a:tcPr marL="73152" marR="73152" marT="36576" marB="36576" anchor="ctr">
                    <a:solidFill>
                      <a:srgbClr val="1B2A55"/>
                    </a:solidFill>
                  </a:tcPr>
                </a:tc>
                <a:tc>
                  <a:txBody>
                    <a:bodyPr wrap="square"/>
                    <a:lstStyle/>
                    <a:p>
                      <a:r>
                        <a:rPr sz="900" b="1" i="0">
                          <a:solidFill>
                            <a:srgbClr val="FFFFFF"/>
                          </a:solidFill>
                          <a:latin typeface="Inter"/>
                        </a:rPr>
                        <a:t>IEEE/Springer indexing</a:t>
                      </a:r>
                    </a:p>
                  </a:txBody>
                  <a:tcPr marL="73152" marR="73152" marT="36576" marB="36576" anchor="ctr">
                    <a:solidFill>
                      <a:srgbClr val="1B2A55"/>
                    </a:solidFill>
                  </a:tcPr>
                </a:tc>
                <a:tc>
                  <a:txBody>
                    <a:bodyPr wrap="square"/>
                    <a:lstStyle/>
                    <a:p>
                      <a:r>
                        <a:rPr sz="900" b="1" i="0">
                          <a:solidFill>
                            <a:srgbClr val="FFFFFF"/>
                          </a:solidFill>
                          <a:latin typeface="Inter"/>
                        </a:rPr>
                        <a:t>Fit</a:t>
                      </a:r>
                    </a:p>
                  </a:txBody>
                  <a:tcPr marL="73152" marR="73152" marT="36576" marB="36576" anchor="ctr">
                    <a:solidFill>
                      <a:srgbClr val="1B2A55"/>
                    </a:solidFill>
                  </a:tcPr>
                </a:tc>
              </a:tr>
              <a:tr h="301752">
                <a:tc>
                  <a:txBody>
                    <a:bodyPr wrap="square"/>
                    <a:lstStyle/>
                    <a:p>
                      <a:r>
                        <a:rPr sz="850" b="1" i="0">
                          <a:solidFill>
                            <a:srgbClr val="1B2A55"/>
                          </a:solidFill>
                          <a:latin typeface="Inter"/>
                        </a:rPr>
                        <a:t>1</a:t>
                      </a:r>
                    </a:p>
                  </a:txBody>
                  <a:tcPr marL="73152" marR="73152" marT="36576" marB="36576" anchor="ctr">
                    <a:solidFill>
                      <a:srgbClr val="FFFFFF"/>
                    </a:solidFill>
                  </a:tcPr>
                </a:tc>
                <a:tc>
                  <a:txBody>
                    <a:bodyPr wrap="square"/>
                    <a:lstStyle/>
                    <a:p>
                      <a:r>
                        <a:rPr sz="850" b="0" i="0">
                          <a:solidFill>
                            <a:srgbClr val="353B4A"/>
                          </a:solidFill>
                          <a:latin typeface="Inter"/>
                        </a:rPr>
                        <a:t>Confluence 2027</a:t>
                      </a:r>
                    </a:p>
                  </a:txBody>
                  <a:tcPr marL="73152" marR="73152" marT="36576" marB="36576" anchor="ctr">
                    <a:solidFill>
                      <a:srgbClr val="FFFFFF"/>
                    </a:solidFill>
                  </a:tcPr>
                </a:tc>
                <a:tc>
                  <a:txBody>
                    <a:bodyPr wrap="square"/>
                    <a:lstStyle/>
                    <a:p>
                      <a:r>
                        <a:rPr sz="850" b="0" i="0">
                          <a:solidFill>
                            <a:srgbClr val="353B4A"/>
                          </a:solidFill>
                          <a:latin typeface="Inter"/>
                        </a:rPr>
                        <a:t>4 Dec 2026</a:t>
                      </a:r>
                    </a:p>
                  </a:txBody>
                  <a:tcPr marL="73152" marR="73152" marT="36576" marB="36576" anchor="ctr">
                    <a:solidFill>
                      <a:srgbClr val="FFFFFF"/>
                    </a:solidFill>
                  </a:tcPr>
                </a:tc>
                <a:tc>
                  <a:txBody>
                    <a:bodyPr wrap="square"/>
                    <a:lstStyle/>
                    <a:p>
                      <a:r>
                        <a:rPr sz="850" b="0" i="0">
                          <a:solidFill>
                            <a:srgbClr val="353B4A"/>
                          </a:solidFill>
                          <a:latin typeface="Inter"/>
                        </a:rPr>
                        <a:t>INR 8,000 + GST</a:t>
                      </a:r>
                    </a:p>
                  </a:txBody>
                  <a:tcPr marL="73152" marR="73152" marT="36576" marB="36576" anchor="ctr">
                    <a:solidFill>
                      <a:srgbClr val="FFFFFF"/>
                    </a:solidFill>
                  </a:tcPr>
                </a:tc>
                <a:tc>
                  <a:txBody>
                    <a:bodyPr wrap="square"/>
                    <a:lstStyle/>
                    <a:p>
                      <a:r>
                        <a:rPr sz="850" b="0" i="0">
                          <a:solidFill>
                            <a:srgbClr val="353B4A"/>
                          </a:solidFill>
                          <a:latin typeface="Inter"/>
                        </a:rPr>
                        <a:t>Noida, India</a:t>
                      </a:r>
                    </a:p>
                  </a:txBody>
                  <a:tcPr marL="73152" marR="73152" marT="36576" marB="36576" anchor="ctr">
                    <a:solidFill>
                      <a:srgbClr val="FFFFFF"/>
                    </a:solidFill>
                  </a:tcPr>
                </a:tc>
                <a:tc>
                  <a:txBody>
                    <a:bodyPr wrap="square"/>
                    <a:lstStyle/>
                    <a:p>
                      <a:r>
                        <a:rPr sz="850" b="0" i="0">
                          <a:solidFill>
                            <a:srgbClr val="353B4A"/>
                          </a:solidFill>
                          <a:latin typeface="Inter"/>
                        </a:rPr>
                        <a:t>Submitted for IEEE Xplore</a:t>
                      </a:r>
                    </a:p>
                  </a:txBody>
                  <a:tcPr marL="73152" marR="73152" marT="36576" marB="36576" anchor="ctr">
                    <a:solidFill>
                      <a:srgbClr val="FFFFFF"/>
                    </a:solidFill>
                  </a:tcPr>
                </a:tc>
                <a:tc>
                  <a:txBody>
                    <a:bodyPr wrap="square"/>
                    <a:lstStyle/>
                    <a:p>
                      <a:r>
                        <a:rPr sz="850" b="0" i="0">
                          <a:solidFill>
                            <a:srgbClr val="353B4A"/>
                          </a:solidFill>
                          <a:latin typeface="Inter"/>
                        </a:rPr>
                        <a:t>Good</a:t>
                      </a:r>
                    </a:p>
                  </a:txBody>
                  <a:tcPr marL="73152" marR="73152" marT="36576" marB="36576" anchor="ctr">
                    <a:solidFill>
                      <a:srgbClr val="FFFFFF"/>
                    </a:solidFill>
                  </a:tcPr>
                </a:tc>
              </a:tr>
              <a:tr h="301752">
                <a:tc>
                  <a:txBody>
                    <a:bodyPr wrap="square"/>
                    <a:lstStyle/>
                    <a:p>
                      <a:r>
                        <a:rPr sz="850" b="1" i="0">
                          <a:solidFill>
                            <a:srgbClr val="1B2A55"/>
                          </a:solidFill>
                          <a:latin typeface="Inter"/>
                        </a:rPr>
                        <a:t>2</a:t>
                      </a:r>
                    </a:p>
                  </a:txBody>
                  <a:tcPr marL="73152" marR="73152" marT="36576" marB="36576" anchor="ctr">
                    <a:solidFill>
                      <a:srgbClr val="F1F0F6"/>
                    </a:solidFill>
                  </a:tcPr>
                </a:tc>
                <a:tc>
                  <a:txBody>
                    <a:bodyPr wrap="square"/>
                    <a:lstStyle/>
                    <a:p>
                      <a:r>
                        <a:rPr sz="850" b="0" i="0">
                          <a:solidFill>
                            <a:srgbClr val="353B4A"/>
                          </a:solidFill>
                          <a:latin typeface="Inter"/>
                        </a:rPr>
                        <a:t>INDIACom-2027</a:t>
                      </a:r>
                    </a:p>
                  </a:txBody>
                  <a:tcPr marL="73152" marR="73152" marT="36576" marB="36576" anchor="ctr">
                    <a:solidFill>
                      <a:srgbClr val="F1F0F6"/>
                    </a:solidFill>
                  </a:tcPr>
                </a:tc>
                <a:tc>
                  <a:txBody>
                    <a:bodyPr wrap="square"/>
                    <a:lstStyle/>
                    <a:p>
                      <a:r>
                        <a:rPr sz="850" b="0" i="0">
                          <a:solidFill>
                            <a:srgbClr val="353B4A"/>
                          </a:solidFill>
                          <a:latin typeface="Inter"/>
                        </a:rPr>
                        <a:t>7 Dec 2026</a:t>
                      </a:r>
                    </a:p>
                  </a:txBody>
                  <a:tcPr marL="73152" marR="73152" marT="36576" marB="36576" anchor="ctr">
                    <a:solidFill>
                      <a:srgbClr val="F1F0F6"/>
                    </a:solidFill>
                  </a:tcPr>
                </a:tc>
                <a:tc>
                  <a:txBody>
                    <a:bodyPr wrap="square"/>
                    <a:lstStyle/>
                    <a:p>
                      <a:r>
                        <a:rPr sz="850" b="0" i="0">
                          <a:solidFill>
                            <a:srgbClr val="353B4A"/>
                          </a:solidFill>
                          <a:latin typeface="Inter"/>
                        </a:rPr>
                        <a:t>INR 8,000 + GST</a:t>
                      </a:r>
                    </a:p>
                  </a:txBody>
                  <a:tcPr marL="73152" marR="73152" marT="36576" marB="36576" anchor="ctr">
                    <a:solidFill>
                      <a:srgbClr val="F1F0F6"/>
                    </a:solidFill>
                  </a:tcPr>
                </a:tc>
                <a:tc>
                  <a:txBody>
                    <a:bodyPr wrap="square"/>
                    <a:lstStyle/>
                    <a:p>
                      <a:r>
                        <a:rPr sz="850" b="0" i="0">
                          <a:solidFill>
                            <a:srgbClr val="353B4A"/>
                          </a:solidFill>
                          <a:latin typeface="Inter"/>
                        </a:rPr>
                        <a:t>New Delhi, India</a:t>
                      </a:r>
                    </a:p>
                  </a:txBody>
                  <a:tcPr marL="73152" marR="73152" marT="36576" marB="36576" anchor="ctr">
                    <a:solidFill>
                      <a:srgbClr val="F1F0F6"/>
                    </a:solidFill>
                  </a:tcPr>
                </a:tc>
                <a:tc>
                  <a:txBody>
                    <a:bodyPr wrap="square"/>
                    <a:lstStyle/>
                    <a:p>
                      <a:r>
                        <a:rPr sz="850" b="0" i="0">
                          <a:solidFill>
                            <a:srgbClr val="353B4A"/>
                          </a:solidFill>
                          <a:latin typeface="Inter"/>
                        </a:rPr>
                        <a:t>IEEE approval pending</a:t>
                      </a:r>
                    </a:p>
                  </a:txBody>
                  <a:tcPr marL="73152" marR="73152" marT="36576" marB="36576" anchor="ctr">
                    <a:solidFill>
                      <a:srgbClr val="F1F0F6"/>
                    </a:solidFill>
                  </a:tcPr>
                </a:tc>
                <a:tc>
                  <a:txBody>
                    <a:bodyPr wrap="square"/>
                    <a:lstStyle/>
                    <a:p>
                      <a:r>
                        <a:rPr sz="850" b="0" i="0">
                          <a:solidFill>
                            <a:srgbClr val="353B4A"/>
                          </a:solidFill>
                          <a:latin typeface="Inter"/>
                        </a:rPr>
                        <a:t>Good</a:t>
                      </a:r>
                    </a:p>
                  </a:txBody>
                  <a:tcPr marL="73152" marR="73152" marT="36576" marB="36576" anchor="ctr">
                    <a:solidFill>
                      <a:srgbClr val="F1F0F6"/>
                    </a:solidFill>
                  </a:tcPr>
                </a:tc>
              </a:tr>
              <a:tr h="301752">
                <a:tc>
                  <a:txBody>
                    <a:bodyPr wrap="square"/>
                    <a:lstStyle/>
                    <a:p>
                      <a:r>
                        <a:rPr sz="850" b="1" i="0">
                          <a:solidFill>
                            <a:srgbClr val="1B2A55"/>
                          </a:solidFill>
                          <a:latin typeface="Inter"/>
                        </a:rPr>
                        <a:t>3</a:t>
                      </a:r>
                    </a:p>
                  </a:txBody>
                  <a:tcPr marL="73152" marR="73152" marT="36576" marB="36576" anchor="ctr">
                    <a:solidFill>
                      <a:srgbClr val="FFFFFF"/>
                    </a:solidFill>
                  </a:tcPr>
                </a:tc>
                <a:tc>
                  <a:txBody>
                    <a:bodyPr wrap="square"/>
                    <a:lstStyle/>
                    <a:p>
                      <a:r>
                        <a:rPr sz="850" b="0" i="0">
                          <a:solidFill>
                            <a:srgbClr val="353B4A"/>
                          </a:solidFill>
                          <a:latin typeface="Inter"/>
                        </a:rPr>
                        <a:t>IEM-ICDC 2027</a:t>
                      </a:r>
                    </a:p>
                  </a:txBody>
                  <a:tcPr marL="73152" marR="73152" marT="36576" marB="36576" anchor="ctr">
                    <a:solidFill>
                      <a:srgbClr val="FFFFFF"/>
                    </a:solidFill>
                  </a:tcPr>
                </a:tc>
                <a:tc>
                  <a:txBody>
                    <a:bodyPr wrap="square"/>
                    <a:lstStyle/>
                    <a:p>
                      <a:r>
                        <a:rPr sz="850" b="0" i="0">
                          <a:solidFill>
                            <a:srgbClr val="353B4A"/>
                          </a:solidFill>
                          <a:latin typeface="Inter"/>
                        </a:rPr>
                        <a:t>10 Dec 2026</a:t>
                      </a:r>
                    </a:p>
                  </a:txBody>
                  <a:tcPr marL="73152" marR="73152" marT="36576" marB="36576" anchor="ctr">
                    <a:solidFill>
                      <a:srgbClr val="FFFFFF"/>
                    </a:solidFill>
                  </a:tcPr>
                </a:tc>
                <a:tc>
                  <a:txBody>
                    <a:bodyPr wrap="square"/>
                    <a:lstStyle/>
                    <a:p>
                      <a:r>
                        <a:rPr sz="850" b="0" i="0">
                          <a:solidFill>
                            <a:srgbClr val="353B4A"/>
                          </a:solidFill>
                          <a:latin typeface="Inter"/>
                        </a:rPr>
                        <a:t>INR 8,000</a:t>
                      </a:r>
                    </a:p>
                  </a:txBody>
                  <a:tcPr marL="73152" marR="73152" marT="36576" marB="36576" anchor="ctr">
                    <a:solidFill>
                      <a:srgbClr val="FFFFFF"/>
                    </a:solidFill>
                  </a:tcPr>
                </a:tc>
                <a:tc>
                  <a:txBody>
                    <a:bodyPr wrap="square"/>
                    <a:lstStyle/>
                    <a:p>
                      <a:r>
                        <a:rPr sz="850" b="0" i="0">
                          <a:solidFill>
                            <a:srgbClr val="353B4A"/>
                          </a:solidFill>
                          <a:latin typeface="Inter"/>
                        </a:rPr>
                        <a:t>Kolkata, India</a:t>
                      </a:r>
                    </a:p>
                  </a:txBody>
                  <a:tcPr marL="73152" marR="73152" marT="36576" marB="36576" anchor="ctr">
                    <a:solidFill>
                      <a:srgbClr val="FFFFFF"/>
                    </a:solidFill>
                  </a:tcPr>
                </a:tc>
                <a:tc>
                  <a:txBody>
                    <a:bodyPr wrap="square"/>
                    <a:lstStyle/>
                    <a:p>
                      <a:r>
                        <a:rPr sz="850" b="0" i="0">
                          <a:solidFill>
                            <a:srgbClr val="353B4A"/>
                          </a:solidFill>
                          <a:latin typeface="Inter"/>
                        </a:rPr>
                        <a:t>Springer awaited; 10+ pages</a:t>
                      </a:r>
                    </a:p>
                  </a:txBody>
                  <a:tcPr marL="73152" marR="73152" marT="36576" marB="36576" anchor="ctr">
                    <a:solidFill>
                      <a:srgbClr val="FFFFFF"/>
                    </a:solidFill>
                  </a:tcPr>
                </a:tc>
                <a:tc>
                  <a:txBody>
                    <a:bodyPr wrap="square"/>
                    <a:lstStyle/>
                    <a:p>
                      <a:r>
                        <a:rPr sz="850" b="0" i="0">
                          <a:solidFill>
                            <a:srgbClr val="353B4A"/>
                          </a:solidFill>
                          <a:latin typeface="Inter"/>
                        </a:rPr>
                        <a:t>Stretch</a:t>
                      </a:r>
                    </a:p>
                  </a:txBody>
                  <a:tcPr marL="73152" marR="73152" marT="36576" marB="36576" anchor="ctr">
                    <a:solidFill>
                      <a:srgbClr val="FFFFFF"/>
                    </a:solidFill>
                  </a:tcPr>
                </a:tc>
              </a:tr>
              <a:tr h="301752">
                <a:tc>
                  <a:txBody>
                    <a:bodyPr wrap="square"/>
                    <a:lstStyle/>
                    <a:p>
                      <a:r>
                        <a:rPr sz="850" b="1" i="0">
                          <a:solidFill>
                            <a:srgbClr val="1B2A55"/>
                          </a:solidFill>
                          <a:latin typeface="Inter"/>
                        </a:rPr>
                        <a:t>4</a:t>
                      </a:r>
                    </a:p>
                  </a:txBody>
                  <a:tcPr marL="73152" marR="73152" marT="36576" marB="36576" anchor="ctr">
                    <a:solidFill>
                      <a:srgbClr val="F1F0F6"/>
                    </a:solidFill>
                  </a:tcPr>
                </a:tc>
                <a:tc>
                  <a:txBody>
                    <a:bodyPr wrap="square"/>
                    <a:lstStyle/>
                    <a:p>
                      <a:r>
                        <a:rPr sz="850" b="0" i="0">
                          <a:solidFill>
                            <a:srgbClr val="353B4A"/>
                          </a:solidFill>
                          <a:latin typeface="Inter"/>
                        </a:rPr>
                        <a:t>ICRCICN 2027</a:t>
                      </a:r>
                    </a:p>
                  </a:txBody>
                  <a:tcPr marL="73152" marR="73152" marT="36576" marB="36576" anchor="ctr">
                    <a:solidFill>
                      <a:srgbClr val="F1F0F6"/>
                    </a:solidFill>
                  </a:tcPr>
                </a:tc>
                <a:tc>
                  <a:txBody>
                    <a:bodyPr wrap="square"/>
                    <a:lstStyle/>
                    <a:p>
                      <a:r>
                        <a:rPr sz="850" b="0" i="0">
                          <a:solidFill>
                            <a:srgbClr val="353B4A"/>
                          </a:solidFill>
                          <a:latin typeface="Inter"/>
                        </a:rPr>
                        <a:t>30 Nov 2026</a:t>
                      </a:r>
                    </a:p>
                  </a:txBody>
                  <a:tcPr marL="73152" marR="73152" marT="36576" marB="36576" anchor="ctr">
                    <a:solidFill>
                      <a:srgbClr val="F1F0F6"/>
                    </a:solidFill>
                  </a:tcPr>
                </a:tc>
                <a:tc>
                  <a:txBody>
                    <a:bodyPr wrap="square"/>
                    <a:lstStyle/>
                    <a:p>
                      <a:r>
                        <a:rPr sz="850" b="0" i="0">
                          <a:solidFill>
                            <a:srgbClr val="353B4A"/>
                          </a:solidFill>
                          <a:latin typeface="Inter"/>
                        </a:rPr>
                        <a:t>INR 8,500</a:t>
                      </a:r>
                    </a:p>
                  </a:txBody>
                  <a:tcPr marL="73152" marR="73152" marT="36576" marB="36576" anchor="ctr">
                    <a:solidFill>
                      <a:srgbClr val="F1F0F6"/>
                    </a:solidFill>
                  </a:tcPr>
                </a:tc>
                <a:tc>
                  <a:txBody>
                    <a:bodyPr wrap="square"/>
                    <a:lstStyle/>
                    <a:p>
                      <a:r>
                        <a:rPr sz="850" b="0" i="0">
                          <a:solidFill>
                            <a:srgbClr val="353B4A"/>
                          </a:solidFill>
                          <a:latin typeface="Inter"/>
                        </a:rPr>
                        <a:t>Kalyani, India (hybrid)</a:t>
                      </a:r>
                    </a:p>
                  </a:txBody>
                  <a:tcPr marL="73152" marR="73152" marT="36576" marB="36576" anchor="ctr">
                    <a:solidFill>
                      <a:srgbClr val="F1F0F6"/>
                    </a:solidFill>
                  </a:tcPr>
                </a:tc>
                <a:tc>
                  <a:txBody>
                    <a:bodyPr wrap="square"/>
                    <a:lstStyle/>
                    <a:p>
                      <a:r>
                        <a:rPr sz="850" b="0" i="0">
                          <a:solidFill>
                            <a:srgbClr val="353B4A"/>
                          </a:solidFill>
                          <a:latin typeface="Inter"/>
                        </a:rPr>
                        <a:t>IEEE record 73691; conditional</a:t>
                      </a:r>
                    </a:p>
                  </a:txBody>
                  <a:tcPr marL="73152" marR="73152" marT="36576" marB="36576" anchor="ctr">
                    <a:solidFill>
                      <a:srgbClr val="F1F0F6"/>
                    </a:solidFill>
                  </a:tcPr>
                </a:tc>
                <a:tc>
                  <a:txBody>
                    <a:bodyPr wrap="square"/>
                    <a:lstStyle/>
                    <a:p>
                      <a:r>
                        <a:rPr sz="850" b="0" i="0">
                          <a:solidFill>
                            <a:srgbClr val="353B4A"/>
                          </a:solidFill>
                          <a:latin typeface="Inter"/>
                        </a:rPr>
                        <a:t>Stretch</a:t>
                      </a:r>
                    </a:p>
                  </a:txBody>
                  <a:tcPr marL="73152" marR="73152" marT="36576" marB="36576" anchor="ctr">
                    <a:solidFill>
                      <a:srgbClr val="F1F0F6"/>
                    </a:solidFill>
                  </a:tcPr>
                </a:tc>
              </a:tr>
              <a:tr h="301752">
                <a:tc>
                  <a:txBody>
                    <a:bodyPr wrap="square"/>
                    <a:lstStyle/>
                    <a:p>
                      <a:r>
                        <a:rPr sz="850" b="1" i="0">
                          <a:solidFill>
                            <a:srgbClr val="1B2A55"/>
                          </a:solidFill>
                          <a:latin typeface="Inter"/>
                        </a:rPr>
                        <a:t>5</a:t>
                      </a:r>
                    </a:p>
                  </a:txBody>
                  <a:tcPr marL="73152" marR="73152" marT="36576" marB="36576" anchor="ctr">
                    <a:solidFill>
                      <a:srgbClr val="FFFFFF"/>
                    </a:solidFill>
                  </a:tcPr>
                </a:tc>
                <a:tc>
                  <a:txBody>
                    <a:bodyPr wrap="square"/>
                    <a:lstStyle/>
                    <a:p>
                      <a:r>
                        <a:rPr sz="850" b="0" i="0">
                          <a:solidFill>
                            <a:srgbClr val="353B4A"/>
                          </a:solidFill>
                          <a:latin typeface="Inter"/>
                        </a:rPr>
                        <a:t>ICESICSC-2027</a:t>
                      </a:r>
                    </a:p>
                  </a:txBody>
                  <a:tcPr marL="73152" marR="73152" marT="36576" marB="36576" anchor="ctr">
                    <a:solidFill>
                      <a:srgbClr val="FFFFFF"/>
                    </a:solidFill>
                  </a:tcPr>
                </a:tc>
                <a:tc>
                  <a:txBody>
                    <a:bodyPr wrap="square"/>
                    <a:lstStyle/>
                    <a:p>
                      <a:r>
                        <a:rPr sz="850" b="0" i="0">
                          <a:solidFill>
                            <a:srgbClr val="353B4A"/>
                          </a:solidFill>
                          <a:latin typeface="Inter"/>
                        </a:rPr>
                        <a:t>30 Oct 2026</a:t>
                      </a:r>
                    </a:p>
                  </a:txBody>
                  <a:tcPr marL="73152" marR="73152" marT="36576" marB="36576" anchor="ctr">
                    <a:solidFill>
                      <a:srgbClr val="FFFFFF"/>
                    </a:solidFill>
                  </a:tcPr>
                </a:tc>
                <a:tc>
                  <a:txBody>
                    <a:bodyPr wrap="square"/>
                    <a:lstStyle/>
                    <a:p>
                      <a:r>
                        <a:rPr sz="850" b="0" i="0">
                          <a:solidFill>
                            <a:srgbClr val="353B4A"/>
                          </a:solidFill>
                          <a:latin typeface="Inter"/>
                        </a:rPr>
                        <a:t>INR 9,000</a:t>
                      </a:r>
                    </a:p>
                  </a:txBody>
                  <a:tcPr marL="73152" marR="73152" marT="36576" marB="36576" anchor="ctr">
                    <a:solidFill>
                      <a:srgbClr val="FFFFFF"/>
                    </a:solidFill>
                  </a:tcPr>
                </a:tc>
                <a:tc>
                  <a:txBody>
                    <a:bodyPr wrap="square"/>
                    <a:lstStyle/>
                    <a:p>
                      <a:r>
                        <a:rPr sz="850" b="0" i="0">
                          <a:solidFill>
                            <a:srgbClr val="353B4A"/>
                          </a:solidFill>
                          <a:latin typeface="Inter"/>
                        </a:rPr>
                        <a:t>Bhubaneswar, India</a:t>
                      </a:r>
                    </a:p>
                  </a:txBody>
                  <a:tcPr marL="73152" marR="73152" marT="36576" marB="36576" anchor="ctr">
                    <a:solidFill>
                      <a:srgbClr val="FFFFFF"/>
                    </a:solidFill>
                  </a:tcPr>
                </a:tc>
                <a:tc>
                  <a:txBody>
                    <a:bodyPr wrap="square"/>
                    <a:lstStyle/>
                    <a:p>
                      <a:r>
                        <a:rPr sz="850" b="0" i="0">
                          <a:solidFill>
                            <a:srgbClr val="353B4A"/>
                          </a:solidFill>
                          <a:latin typeface="Inter"/>
                        </a:rPr>
                        <a:t>Says published by IEEE</a:t>
                      </a:r>
                    </a:p>
                  </a:txBody>
                  <a:tcPr marL="73152" marR="73152" marT="36576" marB="36576" anchor="ctr">
                    <a:solidFill>
                      <a:srgbClr val="FFFFFF"/>
                    </a:solidFill>
                  </a:tcPr>
                </a:tc>
                <a:tc>
                  <a:txBody>
                    <a:bodyPr wrap="square"/>
                    <a:lstStyle/>
                    <a:p>
                      <a:r>
                        <a:rPr sz="850" b="0" i="0">
                          <a:solidFill>
                            <a:srgbClr val="353B4A"/>
                          </a:solidFill>
                          <a:latin typeface="Inter"/>
                        </a:rPr>
                        <a:t>Good</a:t>
                      </a:r>
                    </a:p>
                  </a:txBody>
                  <a:tcPr marL="73152" marR="73152" marT="36576" marB="36576" anchor="ctr">
                    <a:solidFill>
                      <a:srgbClr val="FFFFFF"/>
                    </a:solidFill>
                  </a:tcPr>
                </a:tc>
              </a:tr>
              <a:tr h="301752">
                <a:tc>
                  <a:txBody>
                    <a:bodyPr wrap="square"/>
                    <a:lstStyle/>
                    <a:p>
                      <a:r>
                        <a:rPr sz="850" b="1" i="0">
                          <a:solidFill>
                            <a:srgbClr val="1B2A55"/>
                          </a:solidFill>
                          <a:latin typeface="Inter"/>
                        </a:rPr>
                        <a:t>6</a:t>
                      </a:r>
                    </a:p>
                  </a:txBody>
                  <a:tcPr marL="73152" marR="73152" marT="36576" marB="36576" anchor="ctr">
                    <a:solidFill>
                      <a:srgbClr val="F1F0F6"/>
                    </a:solidFill>
                  </a:tcPr>
                </a:tc>
                <a:tc>
                  <a:txBody>
                    <a:bodyPr wrap="square"/>
                    <a:lstStyle/>
                    <a:p>
                      <a:r>
                        <a:rPr sz="850" b="0" i="0">
                          <a:solidFill>
                            <a:srgbClr val="353B4A"/>
                          </a:solidFill>
                          <a:latin typeface="Inter"/>
                        </a:rPr>
                        <a:t>i-PACT 2027 (VIT)</a:t>
                      </a:r>
                    </a:p>
                  </a:txBody>
                  <a:tcPr marL="73152" marR="73152" marT="36576" marB="36576" anchor="ctr">
                    <a:solidFill>
                      <a:srgbClr val="F1F0F6"/>
                    </a:solidFill>
                  </a:tcPr>
                </a:tc>
                <a:tc>
                  <a:txBody>
                    <a:bodyPr wrap="square"/>
                    <a:lstStyle/>
                    <a:p>
                      <a:r>
                        <a:rPr sz="850" b="0" i="0">
                          <a:solidFill>
                            <a:srgbClr val="353B4A"/>
                          </a:solidFill>
                          <a:latin typeface="Inter"/>
                        </a:rPr>
                        <a:t>31 May 2027</a:t>
                      </a:r>
                    </a:p>
                  </a:txBody>
                  <a:tcPr marL="73152" marR="73152" marT="36576" marB="36576" anchor="ctr">
                    <a:solidFill>
                      <a:srgbClr val="F1F0F6"/>
                    </a:solidFill>
                  </a:tcPr>
                </a:tc>
                <a:tc>
                  <a:txBody>
                    <a:bodyPr wrap="square"/>
                    <a:lstStyle/>
                    <a:p>
                      <a:r>
                        <a:rPr sz="850" b="0" i="0">
                          <a:solidFill>
                            <a:srgbClr val="353B4A"/>
                          </a:solidFill>
                          <a:latin typeface="Inter"/>
                        </a:rPr>
                        <a:t>INR 12,000</a:t>
                      </a:r>
                    </a:p>
                  </a:txBody>
                  <a:tcPr marL="73152" marR="73152" marT="36576" marB="36576" anchor="ctr">
                    <a:solidFill>
                      <a:srgbClr val="F1F0F6"/>
                    </a:solidFill>
                  </a:tcPr>
                </a:tc>
                <a:tc>
                  <a:txBody>
                    <a:bodyPr wrap="square"/>
                    <a:lstStyle/>
                    <a:p>
                      <a:r>
                        <a:rPr sz="850" b="0" i="0">
                          <a:solidFill>
                            <a:srgbClr val="353B4A"/>
                          </a:solidFill>
                          <a:latin typeface="Inter"/>
                        </a:rPr>
                        <a:t>Vellore, India</a:t>
                      </a:r>
                    </a:p>
                  </a:txBody>
                  <a:tcPr marL="73152" marR="73152" marT="36576" marB="36576" anchor="ctr">
                    <a:solidFill>
                      <a:srgbClr val="F1F0F6"/>
                    </a:solidFill>
                  </a:tcPr>
                </a:tc>
                <a:tc>
                  <a:txBody>
                    <a:bodyPr wrap="square"/>
                    <a:lstStyle/>
                    <a:p>
                      <a:r>
                        <a:rPr sz="850" b="0" i="0">
                          <a:solidFill>
                            <a:srgbClr val="353B4A"/>
                          </a:solidFill>
                          <a:latin typeface="Inter"/>
                        </a:rPr>
                        <a:t>Recommended to IEEE</a:t>
                      </a:r>
                    </a:p>
                  </a:txBody>
                  <a:tcPr marL="73152" marR="73152" marT="36576" marB="36576" anchor="ctr">
                    <a:solidFill>
                      <a:srgbClr val="F1F0F6"/>
                    </a:solidFill>
                  </a:tcPr>
                </a:tc>
                <a:tc>
                  <a:txBody>
                    <a:bodyPr wrap="square"/>
                    <a:lstStyle/>
                    <a:p>
                      <a:r>
                        <a:rPr sz="850" b="0" i="0">
                          <a:solidFill>
                            <a:srgbClr val="353B4A"/>
                          </a:solidFill>
                          <a:latin typeface="Inter"/>
                        </a:rPr>
                        <a:t>Stretch</a:t>
                      </a:r>
                    </a:p>
                  </a:txBody>
                  <a:tcPr marL="73152" marR="73152" marT="36576" marB="36576" anchor="ctr">
                    <a:solidFill>
                      <a:srgbClr val="F1F0F6"/>
                    </a:solidFill>
                  </a:tcPr>
                </a:tc>
              </a:tr>
              <a:tr h="301752">
                <a:tc>
                  <a:txBody>
                    <a:bodyPr wrap="square"/>
                    <a:lstStyle/>
                    <a:p>
                      <a:r>
                        <a:rPr sz="850" b="1" i="0">
                          <a:solidFill>
                            <a:srgbClr val="1B2A55"/>
                          </a:solidFill>
                          <a:latin typeface="Inter"/>
                        </a:rPr>
                        <a:t>7</a:t>
                      </a:r>
                    </a:p>
                  </a:txBody>
                  <a:tcPr marL="73152" marR="73152" marT="36576" marB="36576" anchor="ctr">
                    <a:solidFill>
                      <a:srgbClr val="FFFFFF"/>
                    </a:solidFill>
                  </a:tcPr>
                </a:tc>
                <a:tc>
                  <a:txBody>
                    <a:bodyPr wrap="square"/>
                    <a:lstStyle/>
                    <a:p>
                      <a:r>
                        <a:rPr sz="850" b="0" i="0">
                          <a:solidFill>
                            <a:srgbClr val="353B4A"/>
                          </a:solidFill>
                          <a:latin typeface="Inter"/>
                        </a:rPr>
                        <a:t>ISDFS 2027</a:t>
                      </a:r>
                    </a:p>
                  </a:txBody>
                  <a:tcPr marL="73152" marR="73152" marT="36576" marB="36576" anchor="ctr">
                    <a:solidFill>
                      <a:srgbClr val="FFFFFF"/>
                    </a:solidFill>
                  </a:tcPr>
                </a:tc>
                <a:tc>
                  <a:txBody>
                    <a:bodyPr wrap="square"/>
                    <a:lstStyle/>
                    <a:p>
                      <a:r>
                        <a:rPr sz="850" b="0" i="0">
                          <a:solidFill>
                            <a:srgbClr val="353B4A"/>
                          </a:solidFill>
                          <a:latin typeface="Inter"/>
                        </a:rPr>
                        <a:t>31 Jan 2027</a:t>
                      </a:r>
                    </a:p>
                  </a:txBody>
                  <a:tcPr marL="73152" marR="73152" marT="36576" marB="36576" anchor="ctr">
                    <a:solidFill>
                      <a:srgbClr val="FFFFFF"/>
                    </a:solidFill>
                  </a:tcPr>
                </a:tc>
                <a:tc>
                  <a:txBody>
                    <a:bodyPr wrap="square"/>
                    <a:lstStyle/>
                    <a:p>
                      <a:r>
                        <a:rPr sz="850" b="0" i="0">
                          <a:solidFill>
                            <a:srgbClr val="353B4A"/>
                          </a:solidFill>
                          <a:latin typeface="Inter"/>
                        </a:rPr>
                        <a:t>USD 500 (~INR 47,000)</a:t>
                      </a:r>
                    </a:p>
                  </a:txBody>
                  <a:tcPr marL="73152" marR="73152" marT="36576" marB="36576" anchor="ctr">
                    <a:solidFill>
                      <a:srgbClr val="FFFFFF"/>
                    </a:solidFill>
                  </a:tcPr>
                </a:tc>
                <a:tc>
                  <a:txBody>
                    <a:bodyPr wrap="square"/>
                    <a:lstStyle/>
                    <a:p>
                      <a:r>
                        <a:rPr sz="850" b="0" i="0">
                          <a:solidFill>
                            <a:srgbClr val="353B4A"/>
                          </a:solidFill>
                          <a:latin typeface="Inter"/>
                        </a:rPr>
                        <a:t>San Jose, USA (online ok)</a:t>
                      </a:r>
                    </a:p>
                  </a:txBody>
                  <a:tcPr marL="73152" marR="73152" marT="36576" marB="36576" anchor="ctr">
                    <a:solidFill>
                      <a:srgbClr val="FFFFFF"/>
                    </a:solidFill>
                  </a:tcPr>
                </a:tc>
                <a:tc>
                  <a:txBody>
                    <a:bodyPr wrap="square"/>
                    <a:lstStyle/>
                    <a:p>
                      <a:r>
                        <a:rPr sz="850" b="0" i="0">
                          <a:solidFill>
                            <a:srgbClr val="353B4A"/>
                          </a:solidFill>
                          <a:latin typeface="Inter"/>
                        </a:rPr>
                        <a:t>Submitted for IEEE Xplore</a:t>
                      </a:r>
                    </a:p>
                  </a:txBody>
                  <a:tcPr marL="73152" marR="73152" marT="36576" marB="36576" anchor="ctr">
                    <a:solidFill>
                      <a:srgbClr val="FFFFFF"/>
                    </a:solidFill>
                  </a:tcPr>
                </a:tc>
                <a:tc>
                  <a:txBody>
                    <a:bodyPr wrap="square"/>
                    <a:lstStyle/>
                    <a:p>
                      <a:r>
                        <a:rPr sz="850" b="0" i="0">
                          <a:solidFill>
                            <a:srgbClr val="353B4A"/>
                          </a:solidFill>
                          <a:latin typeface="Inter"/>
                        </a:rPr>
                        <a:t>Stretch</a:t>
                      </a:r>
                    </a:p>
                  </a:txBody>
                  <a:tcPr marL="73152" marR="73152" marT="36576" marB="36576" anchor="ctr">
                    <a:solidFill>
                      <a:srgbClr val="FFFFFF"/>
                    </a:solidFill>
                  </a:tcPr>
                </a:tc>
              </a:tr>
              <a:tr h="301752">
                <a:tc>
                  <a:txBody>
                    <a:bodyPr wrap="square"/>
                    <a:lstStyle/>
                    <a:p>
                      <a:r>
                        <a:rPr sz="850" b="1" i="0">
                          <a:solidFill>
                            <a:srgbClr val="1B2A55"/>
                          </a:solidFill>
                          <a:latin typeface="Inter"/>
                        </a:rPr>
                        <a:t>8</a:t>
                      </a:r>
                    </a:p>
                  </a:txBody>
                  <a:tcPr marL="73152" marR="73152" marT="36576" marB="36576" anchor="ctr">
                    <a:solidFill>
                      <a:srgbClr val="F1F0F6"/>
                    </a:solidFill>
                  </a:tcPr>
                </a:tc>
                <a:tc>
                  <a:txBody>
                    <a:bodyPr wrap="square"/>
                    <a:lstStyle/>
                    <a:p>
                      <a:r>
                        <a:rPr sz="850" b="0" i="0">
                          <a:solidFill>
                            <a:srgbClr val="353B4A"/>
                          </a:solidFill>
                          <a:latin typeface="Inter"/>
                        </a:rPr>
                        <a:t>ICISSP 2027</a:t>
                      </a:r>
                    </a:p>
                  </a:txBody>
                  <a:tcPr marL="73152" marR="73152" marT="36576" marB="36576" anchor="ctr">
                    <a:solidFill>
                      <a:srgbClr val="F1F0F6"/>
                    </a:solidFill>
                  </a:tcPr>
                </a:tc>
                <a:tc>
                  <a:txBody>
                    <a:bodyPr wrap="square"/>
                    <a:lstStyle/>
                    <a:p>
                      <a:r>
                        <a:rPr sz="850" b="0" i="0">
                          <a:solidFill>
                            <a:srgbClr val="353B4A"/>
                          </a:solidFill>
                          <a:latin typeface="Inter"/>
                        </a:rPr>
                        <a:t>29 Oct 2026</a:t>
                      </a:r>
                    </a:p>
                  </a:txBody>
                  <a:tcPr marL="73152" marR="73152" marT="36576" marB="36576" anchor="ctr">
                    <a:solidFill>
                      <a:srgbClr val="F1F0F6"/>
                    </a:solidFill>
                  </a:tcPr>
                </a:tc>
                <a:tc>
                  <a:txBody>
                    <a:bodyPr wrap="square"/>
                    <a:lstStyle/>
                    <a:p>
                      <a:r>
                        <a:rPr sz="850" b="0" i="0">
                          <a:solidFill>
                            <a:srgbClr val="353B4A"/>
                          </a:solidFill>
                          <a:latin typeface="Inter"/>
                        </a:rPr>
                        <a:t>EUR 640 (~INR 68,000)</a:t>
                      </a:r>
                    </a:p>
                  </a:txBody>
                  <a:tcPr marL="73152" marR="73152" marT="36576" marB="36576" anchor="ctr">
                    <a:solidFill>
                      <a:srgbClr val="F1F0F6"/>
                    </a:solidFill>
                  </a:tcPr>
                </a:tc>
                <a:tc>
                  <a:txBody>
                    <a:bodyPr wrap="square"/>
                    <a:lstStyle/>
                    <a:p>
                      <a:r>
                        <a:rPr sz="850" b="0" i="0">
                          <a:solidFill>
                            <a:srgbClr val="353B4A"/>
                          </a:solidFill>
                          <a:latin typeface="Inter"/>
                        </a:rPr>
                        <a:t>Valletta, Malta</a:t>
                      </a:r>
                    </a:p>
                  </a:txBody>
                  <a:tcPr marL="73152" marR="73152" marT="36576" marB="36576" anchor="ctr">
                    <a:solidFill>
                      <a:srgbClr val="F1F0F6"/>
                    </a:solidFill>
                  </a:tcPr>
                </a:tc>
                <a:tc>
                  <a:txBody>
                    <a:bodyPr wrap="square"/>
                    <a:lstStyle/>
                    <a:p>
                      <a:r>
                        <a:rPr sz="850" b="0" i="0">
                          <a:solidFill>
                            <a:srgbClr val="353B4A"/>
                          </a:solidFill>
                          <a:latin typeface="Inter"/>
                        </a:rPr>
                        <a:t>Submitted for evaluation</a:t>
                      </a:r>
                    </a:p>
                  </a:txBody>
                  <a:tcPr marL="73152" marR="73152" marT="36576" marB="36576" anchor="ctr">
                    <a:solidFill>
                      <a:srgbClr val="F1F0F6"/>
                    </a:solidFill>
                  </a:tcPr>
                </a:tc>
                <a:tc>
                  <a:txBody>
                    <a:bodyPr wrap="square"/>
                    <a:lstStyle/>
                    <a:p>
                      <a:r>
                        <a:rPr sz="850" b="0" i="0">
                          <a:solidFill>
                            <a:srgbClr val="353B4A"/>
                          </a:solidFill>
                          <a:latin typeface="Inter"/>
                        </a:rPr>
                        <a:t>Good</a:t>
                      </a:r>
                    </a:p>
                  </a:txBody>
                  <a:tcPr marL="73152" marR="73152" marT="36576" marB="36576" anchor="ctr">
                    <a:solidFill>
                      <a:srgbClr val="F1F0F6"/>
                    </a:solidFill>
                  </a:tcPr>
                </a:tc>
              </a:tr>
              <a:tr h="301752">
                <a:tc>
                  <a:txBody>
                    <a:bodyPr wrap="square"/>
                    <a:lstStyle/>
                    <a:p>
                      <a:r>
                        <a:rPr sz="850" b="1" i="0">
                          <a:solidFill>
                            <a:srgbClr val="1B2A55"/>
                          </a:solidFill>
                          <a:latin typeface="Inter"/>
                        </a:rPr>
                        <a:t>9</a:t>
                      </a:r>
                    </a:p>
                  </a:txBody>
                  <a:tcPr marL="73152" marR="73152" marT="36576" marB="36576" anchor="ctr">
                    <a:solidFill>
                      <a:srgbClr val="FFFFFF"/>
                    </a:solidFill>
                  </a:tcPr>
                </a:tc>
                <a:tc>
                  <a:txBody>
                    <a:bodyPr wrap="square"/>
                    <a:lstStyle/>
                    <a:p>
                      <a:r>
                        <a:rPr sz="850" b="0" i="0">
                          <a:solidFill>
                            <a:srgbClr val="353B4A"/>
                          </a:solidFill>
                          <a:latin typeface="Inter"/>
                        </a:rPr>
                        <a:t>DATA 2027</a:t>
                      </a:r>
                    </a:p>
                  </a:txBody>
                  <a:tcPr marL="73152" marR="73152" marT="36576" marB="36576" anchor="ctr">
                    <a:solidFill>
                      <a:srgbClr val="FFFFFF"/>
                    </a:solidFill>
                  </a:tcPr>
                </a:tc>
                <a:tc>
                  <a:txBody>
                    <a:bodyPr wrap="square"/>
                    <a:lstStyle/>
                    <a:p>
                      <a:r>
                        <a:rPr sz="850" b="0" i="0">
                          <a:solidFill>
                            <a:srgbClr val="353B4A"/>
                          </a:solidFill>
                          <a:latin typeface="Inter"/>
                        </a:rPr>
                        <a:t>16 Feb / 25 Mar</a:t>
                      </a:r>
                    </a:p>
                  </a:txBody>
                  <a:tcPr marL="73152" marR="73152" marT="36576" marB="36576" anchor="ctr">
                    <a:solidFill>
                      <a:srgbClr val="FFFFFF"/>
                    </a:solidFill>
                  </a:tcPr>
                </a:tc>
                <a:tc>
                  <a:txBody>
                    <a:bodyPr wrap="square"/>
                    <a:lstStyle/>
                    <a:p>
                      <a:r>
                        <a:rPr sz="850" b="0" i="0">
                          <a:solidFill>
                            <a:srgbClr val="353B4A"/>
                          </a:solidFill>
                          <a:latin typeface="Inter"/>
                        </a:rPr>
                        <a:t>EUR 640 (~INR 68,000)</a:t>
                      </a:r>
                    </a:p>
                  </a:txBody>
                  <a:tcPr marL="73152" marR="73152" marT="36576" marB="36576" anchor="ctr">
                    <a:solidFill>
                      <a:srgbClr val="FFFFFF"/>
                    </a:solidFill>
                  </a:tcPr>
                </a:tc>
                <a:tc>
                  <a:txBody>
                    <a:bodyPr wrap="square"/>
                    <a:lstStyle/>
                    <a:p>
                      <a:r>
                        <a:rPr sz="850" b="0" i="0">
                          <a:solidFill>
                            <a:srgbClr val="353B4A"/>
                          </a:solidFill>
                          <a:latin typeface="Inter"/>
                        </a:rPr>
                        <a:t>Rome, Italy</a:t>
                      </a:r>
                    </a:p>
                  </a:txBody>
                  <a:tcPr marL="73152" marR="73152" marT="36576" marB="36576" anchor="ctr">
                    <a:solidFill>
                      <a:srgbClr val="FFFFFF"/>
                    </a:solidFill>
                  </a:tcPr>
                </a:tc>
                <a:tc>
                  <a:txBody>
                    <a:bodyPr wrap="square"/>
                    <a:lstStyle/>
                    <a:p>
                      <a:r>
                        <a:rPr sz="850" b="0" i="0">
                          <a:solidFill>
                            <a:srgbClr val="353B4A"/>
                          </a:solidFill>
                          <a:latin typeface="Inter"/>
                        </a:rPr>
                        <a:t>Not confirmed</a:t>
                      </a:r>
                    </a:p>
                  </a:txBody>
                  <a:tcPr marL="73152" marR="73152" marT="36576" marB="36576" anchor="ctr">
                    <a:solidFill>
                      <a:srgbClr val="FFFFFF"/>
                    </a:solidFill>
                  </a:tcPr>
                </a:tc>
                <a:tc>
                  <a:txBody>
                    <a:bodyPr wrap="square"/>
                    <a:lstStyle/>
                    <a:p>
                      <a:r>
                        <a:rPr sz="850" b="0" i="0">
                          <a:solidFill>
                            <a:srgbClr val="353B4A"/>
                          </a:solidFill>
                          <a:latin typeface="Inter"/>
                        </a:rPr>
                        <a:t>Good</a:t>
                      </a:r>
                    </a:p>
                  </a:txBody>
                  <a:tcPr marL="73152" marR="73152" marT="36576" marB="36576" anchor="ctr">
                    <a:solidFill>
                      <a:srgbClr val="FFFFFF"/>
                    </a:solidFill>
                  </a:tcPr>
                </a:tc>
              </a:tr>
              <a:tr h="301752">
                <a:tc>
                  <a:txBody>
                    <a:bodyPr wrap="square"/>
                    <a:lstStyle/>
                    <a:p>
                      <a:r>
                        <a:rPr sz="850" b="1" i="0">
                          <a:solidFill>
                            <a:srgbClr val="1B2A55"/>
                          </a:solidFill>
                          <a:latin typeface="Inter"/>
                        </a:rPr>
                        <a:t>10</a:t>
                      </a:r>
                    </a:p>
                  </a:txBody>
                  <a:tcPr marL="73152" marR="73152" marT="36576" marB="36576" anchor="ctr">
                    <a:solidFill>
                      <a:srgbClr val="F1F0F6"/>
                    </a:solidFill>
                  </a:tcPr>
                </a:tc>
                <a:tc>
                  <a:txBody>
                    <a:bodyPr wrap="square"/>
                    <a:lstStyle/>
                    <a:p>
                      <a:r>
                        <a:rPr sz="850" b="0" i="0">
                          <a:solidFill>
                            <a:srgbClr val="353B4A"/>
                          </a:solidFill>
                          <a:latin typeface="Inter"/>
                        </a:rPr>
                        <a:t>ICEIS 2027</a:t>
                      </a:r>
                    </a:p>
                  </a:txBody>
                  <a:tcPr marL="73152" marR="73152" marT="36576" marB="36576" anchor="ctr">
                    <a:solidFill>
                      <a:srgbClr val="F1F0F6"/>
                    </a:solidFill>
                  </a:tcPr>
                </a:tc>
                <a:tc>
                  <a:txBody>
                    <a:bodyPr wrap="square"/>
                    <a:lstStyle/>
                    <a:p>
                      <a:r>
                        <a:rPr sz="850" b="0" i="0">
                          <a:solidFill>
                            <a:srgbClr val="353B4A"/>
                          </a:solidFill>
                          <a:latin typeface="Inter"/>
                        </a:rPr>
                        <a:t>17 Nov / 21 Dec</a:t>
                      </a:r>
                    </a:p>
                  </a:txBody>
                  <a:tcPr marL="73152" marR="73152" marT="36576" marB="36576" anchor="ctr">
                    <a:solidFill>
                      <a:srgbClr val="F1F0F6"/>
                    </a:solidFill>
                  </a:tcPr>
                </a:tc>
                <a:tc>
                  <a:txBody>
                    <a:bodyPr wrap="square"/>
                    <a:lstStyle/>
                    <a:p>
                      <a:r>
                        <a:rPr sz="850" b="0" i="0">
                          <a:solidFill>
                            <a:srgbClr val="353B4A"/>
                          </a:solidFill>
                          <a:latin typeface="Inter"/>
                        </a:rPr>
                        <a:t>EUR 680 (~INR 72,000)</a:t>
                      </a:r>
                    </a:p>
                  </a:txBody>
                  <a:tcPr marL="73152" marR="73152" marT="36576" marB="36576" anchor="ctr">
                    <a:solidFill>
                      <a:srgbClr val="F1F0F6"/>
                    </a:solidFill>
                  </a:tcPr>
                </a:tc>
                <a:tc>
                  <a:txBody>
                    <a:bodyPr wrap="square"/>
                    <a:lstStyle/>
                    <a:p>
                      <a:r>
                        <a:rPr sz="850" b="0" i="0">
                          <a:solidFill>
                            <a:srgbClr val="353B4A"/>
                          </a:solidFill>
                          <a:latin typeface="Inter"/>
                        </a:rPr>
                        <a:t>Rome, Italy</a:t>
                      </a:r>
                    </a:p>
                  </a:txBody>
                  <a:tcPr marL="73152" marR="73152" marT="36576" marB="36576" anchor="ctr">
                    <a:solidFill>
                      <a:srgbClr val="F1F0F6"/>
                    </a:solidFill>
                  </a:tcPr>
                </a:tc>
                <a:tc>
                  <a:txBody>
                    <a:bodyPr wrap="square"/>
                    <a:lstStyle/>
                    <a:p>
                      <a:r>
                        <a:rPr sz="850" b="0" i="0">
                          <a:solidFill>
                            <a:srgbClr val="353B4A"/>
                          </a:solidFill>
                          <a:latin typeface="Inter"/>
                        </a:rPr>
                        <a:t>Submitted for evaluation</a:t>
                      </a:r>
                    </a:p>
                  </a:txBody>
                  <a:tcPr marL="73152" marR="73152" marT="36576" marB="36576" anchor="ctr">
                    <a:solidFill>
                      <a:srgbClr val="F1F0F6"/>
                    </a:solidFill>
                  </a:tcPr>
                </a:tc>
                <a:tc>
                  <a:txBody>
                    <a:bodyPr wrap="square"/>
                    <a:lstStyle/>
                    <a:p>
                      <a:r>
                        <a:rPr sz="850" b="0" i="0">
                          <a:solidFill>
                            <a:srgbClr val="353B4A"/>
                          </a:solidFill>
                          <a:latin typeface="Inter"/>
                        </a:rPr>
                        <a:t>Good</a:t>
                      </a:r>
                    </a:p>
                  </a:txBody>
                  <a:tcPr marL="73152" marR="73152" marT="36576" marB="36576" anchor="ctr">
                    <a:solidFill>
                      <a:srgbClr val="F1F0F6"/>
                    </a:solidFill>
                  </a:tcPr>
                </a:tc>
              </a:tr>
            </a:tbl>
          </a:graphicData>
        </a:graphic>
      </p:graphicFrame>
      <p:sp>
        <p:nvSpPr>
          <p:cNvPr id="7" name="TextBox 6"/>
          <p:cNvSpPr txBox="1"/>
          <p:nvPr/>
        </p:nvSpPr>
        <p:spPr>
          <a:xfrm>
            <a:off x="365760" y="4434840"/>
            <a:ext cx="8412480" cy="411480"/>
          </a:xfrm>
          <a:prstGeom prst="rect">
            <a:avLst/>
          </a:prstGeom>
          <a:noFill/>
        </p:spPr>
        <p:txBody>
          <a:bodyPr wrap="square" anchor="t" lIns="0" rIns="0" tIns="0" bIns="0">
            <a:spAutoFit/>
          </a:bodyPr>
          <a:lstStyle/>
          <a:p>
            <a:pPr algn="l">
              <a:spcAft>
                <a:spcPts val="0"/>
              </a:spcAft>
            </a:pPr>
            <a:r>
              <a:rPr sz="900" b="0" i="1">
                <a:solidFill>
                  <a:srgbClr val="666A78"/>
                </a:solidFill>
                <a:latin typeface="Inter"/>
              </a:rPr>
              <a:t>Fees are per accepted paper and excluding travel, GST and bank charges; INR is approximate at 22 Oct 2026 rates. No venue has yet confirmed indexing; "submitted for" is a plan, not a result.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RECOMMENDED SUBMISSION ORDER</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One venue at a time: dual submission is not allowed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44</a:t>
            </a:r>
          </a:p>
        </p:txBody>
      </p:sp>
      <p:graphicFrame>
        <p:nvGraphicFramePr>
          <p:cNvPr id="6" name="Table 5"/>
          <p:cNvGraphicFramePr>
            <a:graphicFrameLocks noGrp="1"/>
          </p:cNvGraphicFramePr>
          <p:nvPr/>
        </p:nvGraphicFramePr>
        <p:xfrm>
          <a:off x="457200" y="1097280"/>
          <a:ext cx="8229600" cy="2889504"/>
        </p:xfrm>
        <a:graphic>
          <a:graphicData uri="http://schemas.openxmlformats.org/drawingml/2006/table">
            <a:tbl>
              <a:tblPr firstRow="1" bandRow="1">
                <a:tableStyleId>{5C22544A-7EE6-4342-B048-85BDC9FD1C3A}</a:tableStyleId>
              </a:tblPr>
              <a:tblGrid>
                <a:gridCol w="548640"/>
                <a:gridCol w="2103120"/>
                <a:gridCol w="1280160"/>
                <a:gridCol w="1188720"/>
                <a:gridCol w="3108960"/>
              </a:tblGrid>
              <a:tr h="365760">
                <a:tc>
                  <a:txBody>
                    <a:bodyPr wrap="square"/>
                    <a:lstStyle/>
                    <a:p>
                      <a:r>
                        <a:rPr sz="1000" b="1" i="0">
                          <a:solidFill>
                            <a:srgbClr val="FFFFFF"/>
                          </a:solidFill>
                          <a:latin typeface="Inter"/>
                        </a:rPr>
                        <a:t>Step</a:t>
                      </a:r>
                    </a:p>
                  </a:txBody>
                  <a:tcPr marL="73152" marR="73152" marT="36576" marB="36576" anchor="ctr">
                    <a:solidFill>
                      <a:srgbClr val="1B2A55"/>
                    </a:solidFill>
                  </a:tcPr>
                </a:tc>
                <a:tc>
                  <a:txBody>
                    <a:bodyPr wrap="square"/>
                    <a:lstStyle/>
                    <a:p>
                      <a:r>
                        <a:rPr sz="1000" b="1" i="0">
                          <a:solidFill>
                            <a:srgbClr val="FFFFFF"/>
                          </a:solidFill>
                          <a:latin typeface="Inter"/>
                        </a:rPr>
                        <a:t>Venue</a:t>
                      </a:r>
                    </a:p>
                  </a:txBody>
                  <a:tcPr marL="73152" marR="73152" marT="36576" marB="36576" anchor="ctr">
                    <a:solidFill>
                      <a:srgbClr val="1B2A55"/>
                    </a:solidFill>
                  </a:tcPr>
                </a:tc>
                <a:tc>
                  <a:txBody>
                    <a:bodyPr wrap="square"/>
                    <a:lstStyle/>
                    <a:p>
                      <a:r>
                        <a:rPr sz="1000" b="1" i="0">
                          <a:solidFill>
                            <a:srgbClr val="FFFFFF"/>
                          </a:solidFill>
                          <a:latin typeface="Inter"/>
                        </a:rPr>
                        <a:t>Submit by</a:t>
                      </a:r>
                    </a:p>
                  </a:txBody>
                  <a:tcPr marL="73152" marR="73152" marT="36576" marB="36576" anchor="ctr">
                    <a:solidFill>
                      <a:srgbClr val="1B2A55"/>
                    </a:solidFill>
                  </a:tcPr>
                </a:tc>
                <a:tc>
                  <a:txBody>
                    <a:bodyPr wrap="square"/>
                    <a:lstStyle/>
                    <a:p>
                      <a:r>
                        <a:rPr sz="1000" b="1" i="0">
                          <a:solidFill>
                            <a:srgbClr val="FFFFFF"/>
                          </a:solidFill>
                          <a:latin typeface="Inter"/>
                        </a:rPr>
                        <a:t>Decision</a:t>
                      </a:r>
                    </a:p>
                  </a:txBody>
                  <a:tcPr marL="73152" marR="73152" marT="36576" marB="36576" anchor="ctr">
                    <a:solidFill>
                      <a:srgbClr val="1B2A55"/>
                    </a:solidFill>
                  </a:tcPr>
                </a:tc>
                <a:tc>
                  <a:txBody>
                    <a:bodyPr wrap="square"/>
                    <a:lstStyle/>
                    <a:p>
                      <a:r>
                        <a:rPr sz="1000" b="1" i="0">
                          <a:solidFill>
                            <a:srgbClr val="FFFFFF"/>
                          </a:solidFill>
                          <a:latin typeface="Inter"/>
                        </a:rPr>
                        <a:t>Why this order</a:t>
                      </a:r>
                    </a:p>
                  </a:txBody>
                  <a:tcPr marL="73152" marR="73152" marT="36576" marB="36576" anchor="ctr">
                    <a:solidFill>
                      <a:srgbClr val="1B2A55"/>
                    </a:solidFill>
                  </a:tcPr>
                </a:tc>
              </a:tr>
              <a:tr h="420624">
                <a:tc>
                  <a:txBody>
                    <a:bodyPr wrap="square"/>
                    <a:lstStyle/>
                    <a:p>
                      <a:r>
                        <a:rPr sz="950" b="1" i="0">
                          <a:solidFill>
                            <a:srgbClr val="1B2A55"/>
                          </a:solidFill>
                          <a:latin typeface="Inter"/>
                        </a:rPr>
                        <a:t>1</a:t>
                      </a:r>
                    </a:p>
                  </a:txBody>
                  <a:tcPr marL="73152" marR="73152" marT="36576" marB="36576" anchor="ctr">
                    <a:solidFill>
                      <a:srgbClr val="FFFFFF"/>
                    </a:solidFill>
                  </a:tcPr>
                </a:tc>
                <a:tc>
                  <a:txBody>
                    <a:bodyPr wrap="square"/>
                    <a:lstStyle/>
                    <a:p>
                      <a:r>
                        <a:rPr sz="950" b="0" i="0">
                          <a:solidFill>
                            <a:srgbClr val="353B4A"/>
                          </a:solidFill>
                          <a:latin typeface="Inter"/>
                        </a:rPr>
                        <a:t>ICISSP 2027 (Malta)</a:t>
                      </a:r>
                    </a:p>
                  </a:txBody>
                  <a:tcPr marL="73152" marR="73152" marT="36576" marB="36576" anchor="ctr">
                    <a:solidFill>
                      <a:srgbClr val="FFFFFF"/>
                    </a:solidFill>
                  </a:tcPr>
                </a:tc>
                <a:tc>
                  <a:txBody>
                    <a:bodyPr wrap="square"/>
                    <a:lstStyle/>
                    <a:p>
                      <a:r>
                        <a:rPr sz="950" b="0" i="0">
                          <a:solidFill>
                            <a:srgbClr val="353B4A"/>
                          </a:solidFill>
                          <a:latin typeface="Inter"/>
                        </a:rPr>
                        <a:t>29 Oct 2026</a:t>
                      </a:r>
                    </a:p>
                  </a:txBody>
                  <a:tcPr marL="73152" marR="73152" marT="36576" marB="36576" anchor="ctr">
                    <a:solidFill>
                      <a:srgbClr val="FFFFFF"/>
                    </a:solidFill>
                  </a:tcPr>
                </a:tc>
                <a:tc>
                  <a:txBody>
                    <a:bodyPr wrap="square"/>
                    <a:lstStyle/>
                    <a:p>
                      <a:r>
                        <a:rPr sz="950" b="0" i="0">
                          <a:solidFill>
                            <a:srgbClr val="353B4A"/>
                          </a:solidFill>
                          <a:latin typeface="Inter"/>
                        </a:rPr>
                        <a:t>4 Dec 2026</a:t>
                      </a:r>
                    </a:p>
                  </a:txBody>
                  <a:tcPr marL="73152" marR="73152" marT="36576" marB="36576" anchor="ctr">
                    <a:solidFill>
                      <a:srgbClr val="FFFFFF"/>
                    </a:solidFill>
                  </a:tcPr>
                </a:tc>
                <a:tc>
                  <a:txBody>
                    <a:bodyPr wrap="square"/>
                    <a:lstStyle/>
                    <a:p>
                      <a:r>
                        <a:rPr sz="950" b="0" i="0">
                          <a:solidFill>
                            <a:srgbClr val="353B4A"/>
                          </a:solidFill>
                          <a:latin typeface="Inter"/>
                        </a:rPr>
                        <a:t>Best topical fit open now; EUR 640 plus travel</a:t>
                      </a:r>
                    </a:p>
                  </a:txBody>
                  <a:tcPr marL="73152" marR="73152" marT="36576" marB="36576" anchor="ctr">
                    <a:solidFill>
                      <a:srgbClr val="FFFFFF"/>
                    </a:solidFill>
                  </a:tcPr>
                </a:tc>
              </a:tr>
              <a:tr h="420624">
                <a:tc>
                  <a:txBody>
                    <a:bodyPr wrap="square"/>
                    <a:lstStyle/>
                    <a:p>
                      <a:r>
                        <a:rPr sz="950" b="1" i="0">
                          <a:solidFill>
                            <a:srgbClr val="1B2A55"/>
                          </a:solidFill>
                          <a:latin typeface="Inter"/>
                        </a:rPr>
                        <a:t>2a</a:t>
                      </a:r>
                    </a:p>
                  </a:txBody>
                  <a:tcPr marL="73152" marR="73152" marT="36576" marB="36576" anchor="ctr">
                    <a:solidFill>
                      <a:srgbClr val="F1F0F6"/>
                    </a:solidFill>
                  </a:tcPr>
                </a:tc>
                <a:tc>
                  <a:txBody>
                    <a:bodyPr wrap="square"/>
                    <a:lstStyle/>
                    <a:p>
                      <a:r>
                        <a:rPr sz="950" b="0" i="0">
                          <a:solidFill>
                            <a:srgbClr val="353B4A"/>
                          </a:solidFill>
                          <a:latin typeface="Inter"/>
                        </a:rPr>
                        <a:t>INDIACom-2027 (Delhi)</a:t>
                      </a:r>
                    </a:p>
                  </a:txBody>
                  <a:tcPr marL="73152" marR="73152" marT="36576" marB="36576" anchor="ctr">
                    <a:solidFill>
                      <a:srgbClr val="F1F0F6"/>
                    </a:solidFill>
                  </a:tcPr>
                </a:tc>
                <a:tc>
                  <a:txBody>
                    <a:bodyPr wrap="square"/>
                    <a:lstStyle/>
                    <a:p>
                      <a:r>
                        <a:rPr sz="950" b="0" i="0">
                          <a:solidFill>
                            <a:srgbClr val="353B4A"/>
                          </a:solidFill>
                          <a:latin typeface="Inter"/>
                        </a:rPr>
                        <a:t>7 Dec 2026</a:t>
                      </a:r>
                    </a:p>
                  </a:txBody>
                  <a:tcPr marL="73152" marR="73152" marT="36576" marB="36576" anchor="ctr">
                    <a:solidFill>
                      <a:srgbClr val="F1F0F6"/>
                    </a:solidFill>
                  </a:tcPr>
                </a:tc>
                <a:tc>
                  <a:txBody>
                    <a:bodyPr wrap="square"/>
                    <a:lstStyle/>
                    <a:p>
                      <a:r>
                        <a:rPr sz="950" b="0" i="0">
                          <a:solidFill>
                            <a:srgbClr val="353B4A"/>
                          </a:solidFill>
                          <a:latin typeface="Inter"/>
                        </a:rPr>
                        <a:t>8 Feb 2027</a:t>
                      </a:r>
                    </a:p>
                  </a:txBody>
                  <a:tcPr marL="73152" marR="73152" marT="36576" marB="36576" anchor="ctr">
                    <a:solidFill>
                      <a:srgbClr val="F1F0F6"/>
                    </a:solidFill>
                  </a:tcPr>
                </a:tc>
                <a:tc>
                  <a:txBody>
                    <a:bodyPr wrap="square"/>
                    <a:lstStyle/>
                    <a:p>
                      <a:r>
                        <a:rPr sz="950" b="0" i="0">
                          <a:solidFill>
                            <a:srgbClr val="353B4A"/>
                          </a:solidFill>
                          <a:latin typeface="Inter"/>
                        </a:rPr>
                        <a:t>Cheap India fallback if step 1 fails; IEEE not confirmed</a:t>
                      </a:r>
                    </a:p>
                  </a:txBody>
                  <a:tcPr marL="73152" marR="73152" marT="36576" marB="36576" anchor="ctr">
                    <a:solidFill>
                      <a:srgbClr val="F1F0F6"/>
                    </a:solidFill>
                  </a:tcPr>
                </a:tc>
              </a:tr>
              <a:tr h="420624">
                <a:tc>
                  <a:txBody>
                    <a:bodyPr wrap="square"/>
                    <a:lstStyle/>
                    <a:p>
                      <a:r>
                        <a:rPr sz="950" b="1" i="0">
                          <a:solidFill>
                            <a:srgbClr val="1B2A55"/>
                          </a:solidFill>
                          <a:latin typeface="Inter"/>
                        </a:rPr>
                        <a:t>2b</a:t>
                      </a:r>
                    </a:p>
                  </a:txBody>
                  <a:tcPr marL="73152" marR="73152" marT="36576" marB="36576" anchor="ctr">
                    <a:solidFill>
                      <a:srgbClr val="FFFFFF"/>
                    </a:solidFill>
                  </a:tcPr>
                </a:tc>
                <a:tc>
                  <a:txBody>
                    <a:bodyPr wrap="square"/>
                    <a:lstStyle/>
                    <a:p>
                      <a:r>
                        <a:rPr sz="950" b="0" i="0">
                          <a:solidFill>
                            <a:srgbClr val="353B4A"/>
                          </a:solidFill>
                          <a:latin typeface="Inter"/>
                        </a:rPr>
                        <a:t>Confluence 2027 (Noida)</a:t>
                      </a:r>
                    </a:p>
                  </a:txBody>
                  <a:tcPr marL="73152" marR="73152" marT="36576" marB="36576" anchor="ctr">
                    <a:solidFill>
                      <a:srgbClr val="FFFFFF"/>
                    </a:solidFill>
                  </a:tcPr>
                </a:tc>
                <a:tc>
                  <a:txBody>
                    <a:bodyPr wrap="square"/>
                    <a:lstStyle/>
                    <a:p>
                      <a:r>
                        <a:rPr sz="950" b="0" i="0">
                          <a:solidFill>
                            <a:srgbClr val="353B4A"/>
                          </a:solidFill>
                          <a:latin typeface="Inter"/>
                        </a:rPr>
                        <a:t>4 Dec 2026</a:t>
                      </a:r>
                    </a:p>
                  </a:txBody>
                  <a:tcPr marL="73152" marR="73152" marT="36576" marB="36576" anchor="ctr">
                    <a:solidFill>
                      <a:srgbClr val="FFFFFF"/>
                    </a:solidFill>
                  </a:tcPr>
                </a:tc>
                <a:tc>
                  <a:txBody>
                    <a:bodyPr wrap="square"/>
                    <a:lstStyle/>
                    <a:p>
                      <a:r>
                        <a:rPr sz="950" b="0" i="0">
                          <a:solidFill>
                            <a:srgbClr val="353B4A"/>
                          </a:solidFill>
                          <a:latin typeface="Inter"/>
                        </a:rPr>
                        <a:t>25 Dec 2026</a:t>
                      </a:r>
                    </a:p>
                  </a:txBody>
                  <a:tcPr marL="73152" marR="73152" marT="36576" marB="36576" anchor="ctr">
                    <a:solidFill>
                      <a:srgbClr val="FFFFFF"/>
                    </a:solidFill>
                  </a:tcPr>
                </a:tc>
                <a:tc>
                  <a:txBody>
                    <a:bodyPr wrap="square"/>
                    <a:lstStyle/>
                    <a:p>
                      <a:r>
                        <a:rPr sz="950" b="0" i="0">
                          <a:solidFill>
                            <a:srgbClr val="353B4A"/>
                          </a:solidFill>
                          <a:latin typeface="Inter"/>
                        </a:rPr>
                        <a:t>Alternative to 2a if you want a fast answer</a:t>
                      </a:r>
                    </a:p>
                  </a:txBody>
                  <a:tcPr marL="73152" marR="73152" marT="36576" marB="36576" anchor="ctr">
                    <a:solidFill>
                      <a:srgbClr val="FFFFFF"/>
                    </a:solidFill>
                  </a:tcPr>
                </a:tc>
              </a:tr>
              <a:tr h="420624">
                <a:tc>
                  <a:txBody>
                    <a:bodyPr wrap="square"/>
                    <a:lstStyle/>
                    <a:p>
                      <a:r>
                        <a:rPr sz="950" b="1" i="0">
                          <a:solidFill>
                            <a:srgbClr val="1B2A55"/>
                          </a:solidFill>
                          <a:latin typeface="Inter"/>
                        </a:rPr>
                        <a:t>3</a:t>
                      </a:r>
                    </a:p>
                  </a:txBody>
                  <a:tcPr marL="73152" marR="73152" marT="36576" marB="36576" anchor="ctr">
                    <a:solidFill>
                      <a:srgbClr val="F1F0F6"/>
                    </a:solidFill>
                  </a:tcPr>
                </a:tc>
                <a:tc>
                  <a:txBody>
                    <a:bodyPr wrap="square"/>
                    <a:lstStyle/>
                    <a:p>
                      <a:r>
                        <a:rPr sz="950" b="0" i="0">
                          <a:solidFill>
                            <a:srgbClr val="353B4A"/>
                          </a:solidFill>
                          <a:latin typeface="Inter"/>
                        </a:rPr>
                        <a:t>ICEIS, IFIP SEC or ICDF2C</a:t>
                      </a:r>
                    </a:p>
                  </a:txBody>
                  <a:tcPr marL="73152" marR="73152" marT="36576" marB="36576" anchor="ctr">
                    <a:solidFill>
                      <a:srgbClr val="F1F0F6"/>
                    </a:solidFill>
                  </a:tcPr>
                </a:tc>
                <a:tc>
                  <a:txBody>
                    <a:bodyPr wrap="square"/>
                    <a:lstStyle/>
                    <a:p>
                      <a:r>
                        <a:rPr sz="950" b="0" i="0">
                          <a:solidFill>
                            <a:srgbClr val="353B4A"/>
                          </a:solidFill>
                          <a:latin typeface="Inter"/>
                        </a:rPr>
                        <a:t>15-21 Dec 2026</a:t>
                      </a:r>
                    </a:p>
                  </a:txBody>
                  <a:tcPr marL="73152" marR="73152" marT="36576" marB="36576" anchor="ctr">
                    <a:solidFill>
                      <a:srgbClr val="F1F0F6"/>
                    </a:solidFill>
                  </a:tcPr>
                </a:tc>
                <a:tc>
                  <a:txBody>
                    <a:bodyPr wrap="square"/>
                    <a:lstStyle/>
                    <a:p>
                      <a:r>
                        <a:rPr sz="950" b="0" i="0">
                          <a:solidFill>
                            <a:srgbClr val="353B4A"/>
                          </a:solidFill>
                          <a:latin typeface="Inter"/>
                        </a:rPr>
                        <a:t>mid-Feb 2027</a:t>
                      </a:r>
                    </a:p>
                  </a:txBody>
                  <a:tcPr marL="73152" marR="73152" marT="36576" marB="36576" anchor="ctr">
                    <a:solidFill>
                      <a:srgbClr val="F1F0F6"/>
                    </a:solidFill>
                  </a:tcPr>
                </a:tc>
                <a:tc>
                  <a:txBody>
                    <a:bodyPr wrap="square"/>
                    <a:lstStyle/>
                    <a:p>
                      <a:r>
                        <a:rPr sz="950" b="0" i="0">
                          <a:solidFill>
                            <a:srgbClr val="353B4A"/>
                          </a:solidFill>
                          <a:latin typeface="Inter"/>
                        </a:rPr>
                        <a:t>Better-quality fallbacks; higher fees and travel</a:t>
                      </a:r>
                    </a:p>
                  </a:txBody>
                  <a:tcPr marL="73152" marR="73152" marT="36576" marB="36576" anchor="ctr">
                    <a:solidFill>
                      <a:srgbClr val="F1F0F6"/>
                    </a:solidFill>
                  </a:tcPr>
                </a:tc>
              </a:tr>
              <a:tr h="420624">
                <a:tc>
                  <a:txBody>
                    <a:bodyPr wrap="square"/>
                    <a:lstStyle/>
                    <a:p>
                      <a:r>
                        <a:rPr sz="950" b="1" i="0">
                          <a:solidFill>
                            <a:srgbClr val="1B2A55"/>
                          </a:solidFill>
                          <a:latin typeface="Inter"/>
                        </a:rPr>
                        <a:t>4</a:t>
                      </a:r>
                    </a:p>
                  </a:txBody>
                  <a:tcPr marL="73152" marR="73152" marT="36576" marB="36576" anchor="ctr">
                    <a:solidFill>
                      <a:srgbClr val="FFFFFF"/>
                    </a:solidFill>
                  </a:tcPr>
                </a:tc>
                <a:tc>
                  <a:txBody>
                    <a:bodyPr wrap="square"/>
                    <a:lstStyle/>
                    <a:p>
                      <a:r>
                        <a:rPr sz="950" b="0" i="0">
                          <a:solidFill>
                            <a:srgbClr val="353B4A"/>
                          </a:solidFill>
                          <a:latin typeface="Inter"/>
                        </a:rPr>
                        <a:t>ISDFS 2027 (online ok)</a:t>
                      </a:r>
                    </a:p>
                  </a:txBody>
                  <a:tcPr marL="73152" marR="73152" marT="36576" marB="36576" anchor="ctr">
                    <a:solidFill>
                      <a:srgbClr val="FFFFFF"/>
                    </a:solidFill>
                  </a:tcPr>
                </a:tc>
                <a:tc>
                  <a:txBody>
                    <a:bodyPr wrap="square"/>
                    <a:lstStyle/>
                    <a:p>
                      <a:r>
                        <a:rPr sz="950" b="0" i="0">
                          <a:solidFill>
                            <a:srgbClr val="353B4A"/>
                          </a:solidFill>
                          <a:latin typeface="Inter"/>
                        </a:rPr>
                        <a:t>31 Jan 2027</a:t>
                      </a:r>
                    </a:p>
                  </a:txBody>
                  <a:tcPr marL="73152" marR="73152" marT="36576" marB="36576" anchor="ctr">
                    <a:solidFill>
                      <a:srgbClr val="FFFFFF"/>
                    </a:solidFill>
                  </a:tcPr>
                </a:tc>
                <a:tc>
                  <a:txBody>
                    <a:bodyPr wrap="square"/>
                    <a:lstStyle/>
                    <a:p>
                      <a:r>
                        <a:rPr sz="950" b="0" i="0">
                          <a:solidFill>
                            <a:srgbClr val="353B4A"/>
                          </a:solidFill>
                          <a:latin typeface="Inter"/>
                        </a:rPr>
                        <a:t>15 Feb 2027</a:t>
                      </a:r>
                    </a:p>
                  </a:txBody>
                  <a:tcPr marL="73152" marR="73152" marT="36576" marB="36576" anchor="ctr">
                    <a:solidFill>
                      <a:srgbClr val="FFFFFF"/>
                    </a:solidFill>
                  </a:tcPr>
                </a:tc>
                <a:tc>
                  <a:txBody>
                    <a:bodyPr wrap="square"/>
                    <a:lstStyle/>
                    <a:p>
                      <a:r>
                        <a:rPr sz="950" b="0" i="0">
                          <a:solidFill>
                            <a:srgbClr val="353B4A"/>
                          </a:solidFill>
                          <a:latin typeface="Inter"/>
                        </a:rPr>
                        <a:t>IEEE-submitted, USD 500, can present online</a:t>
                      </a:r>
                    </a:p>
                  </a:txBody>
                  <a:tcPr marL="73152" marR="73152" marT="36576" marB="36576" anchor="ctr">
                    <a:solidFill>
                      <a:srgbClr val="FFFFFF"/>
                    </a:solidFill>
                  </a:tcPr>
                </a:tc>
              </a:tr>
              <a:tr h="420624">
                <a:tc>
                  <a:txBody>
                    <a:bodyPr wrap="square"/>
                    <a:lstStyle/>
                    <a:p>
                      <a:r>
                        <a:rPr sz="950" b="1" i="0">
                          <a:solidFill>
                            <a:srgbClr val="1B2A55"/>
                          </a:solidFill>
                          <a:latin typeface="Inter"/>
                        </a:rPr>
                        <a:t>5</a:t>
                      </a:r>
                    </a:p>
                  </a:txBody>
                  <a:tcPr marL="73152" marR="73152" marT="36576" marB="36576" anchor="ctr">
                    <a:solidFill>
                      <a:srgbClr val="F1F0F6"/>
                    </a:solidFill>
                  </a:tcPr>
                </a:tc>
                <a:tc>
                  <a:txBody>
                    <a:bodyPr wrap="square"/>
                    <a:lstStyle/>
                    <a:p>
                      <a:r>
                        <a:rPr sz="950" b="0" i="0">
                          <a:solidFill>
                            <a:srgbClr val="353B4A"/>
                          </a:solidFill>
                          <a:latin typeface="Inter"/>
                        </a:rPr>
                        <a:t>ICEDEG or DATA/SECRYPT</a:t>
                      </a:r>
                    </a:p>
                  </a:txBody>
                  <a:tcPr marL="73152" marR="73152" marT="36576" marB="36576" anchor="ctr">
                    <a:solidFill>
                      <a:srgbClr val="F1F0F6"/>
                    </a:solidFill>
                  </a:tcPr>
                </a:tc>
                <a:tc>
                  <a:txBody>
                    <a:bodyPr wrap="square"/>
                    <a:lstStyle/>
                    <a:p>
                      <a:r>
                        <a:rPr sz="950" b="0" i="0">
                          <a:solidFill>
                            <a:srgbClr val="353B4A"/>
                          </a:solidFill>
                          <a:latin typeface="Inter"/>
                        </a:rPr>
                        <a:t>Feb-Mar 2027</a:t>
                      </a:r>
                    </a:p>
                  </a:txBody>
                  <a:tcPr marL="73152" marR="73152" marT="36576" marB="36576" anchor="ctr">
                    <a:solidFill>
                      <a:srgbClr val="F1F0F6"/>
                    </a:solidFill>
                  </a:tcPr>
                </a:tc>
                <a:tc>
                  <a:txBody>
                    <a:bodyPr wrap="square"/>
                    <a:lstStyle/>
                    <a:p>
                      <a:r>
                        <a:rPr sz="950" b="0" i="0">
                          <a:solidFill>
                            <a:srgbClr val="353B4A"/>
                          </a:solidFill>
                          <a:latin typeface="Inter"/>
                        </a:rPr>
                        <a:t>Apr-May 2027</a:t>
                      </a:r>
                    </a:p>
                  </a:txBody>
                  <a:tcPr marL="73152" marR="73152" marT="36576" marB="36576" anchor="ctr">
                    <a:solidFill>
                      <a:srgbClr val="F1F0F6"/>
                    </a:solidFill>
                  </a:tcPr>
                </a:tc>
                <a:tc>
                  <a:txBody>
                    <a:bodyPr wrap="square"/>
                    <a:lstStyle/>
                    <a:p>
                      <a:r>
                        <a:rPr sz="950" b="0" i="0">
                          <a:solidFill>
                            <a:srgbClr val="353B4A"/>
                          </a:solidFill>
                          <a:latin typeface="Inter"/>
                        </a:rPr>
                        <a:t>Best audience; the highest cost</a:t>
                      </a:r>
                    </a:p>
                  </a:txBody>
                  <a:tcPr marL="73152" marR="73152" marT="36576" marB="36576" anchor="ctr">
                    <a:solidFill>
                      <a:srgbClr val="F1F0F6"/>
                    </a:solidFill>
                  </a:tcPr>
                </a:tc>
              </a:tr>
            </a:tbl>
          </a:graphicData>
        </a:graphic>
      </p:graphicFrame>
      <p:sp>
        <p:nvSpPr>
          <p:cNvPr id="7" name="TextBox 6"/>
          <p:cNvSpPr txBox="1"/>
          <p:nvPr/>
        </p:nvSpPr>
        <p:spPr>
          <a:xfrm>
            <a:off x="457200" y="4114800"/>
            <a:ext cx="8229600" cy="685800"/>
          </a:xfrm>
          <a:prstGeom prst="rect">
            <a:avLst/>
          </a:prstGeom>
          <a:noFill/>
        </p:spPr>
        <p:txBody>
          <a:bodyPr wrap="square" anchor="t" lIns="0" rIns="0" tIns="0" bIns="0">
            <a:spAutoFit/>
          </a:bodyPr>
          <a:lstStyle/>
          <a:p>
            <a:pPr algn="l">
              <a:spcAft>
                <a:spcPts val="0"/>
              </a:spcAft>
            </a:pPr>
            <a:r>
              <a:rPr sz="1050" b="1" i="0">
                <a:solidFill>
                  <a:srgbClr val="1B2A55"/>
                </a:solidFill>
                <a:latin typeface="Inter"/>
              </a:rPr>
              <a:t>Before submitting: </a:t>
            </a:r>
            <a:r>
              <a:rPr sz="1050" b="0" i="0">
                <a:solidFill>
                  <a:srgbClr val="353B4A"/>
                </a:solidFill>
                <a:latin typeface="Inter"/>
              </a:rPr>
              <a:t>check the publisher's page, remove author names where double-blind, follow each venue's AI-disclosure rule, and recheck the deadline. Journals cost USD 2,000 to 3,000 in fees: only as a later extended version.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ROOMMATE LIST: REALITY CHECK</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The venues are real; "easy" is not supported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45</a:t>
            </a:r>
          </a:p>
        </p:txBody>
      </p:sp>
      <p:sp>
        <p:nvSpPr>
          <p:cNvPr id="6" name="Rounded Rectangle 5"/>
          <p:cNvSpPr/>
          <p:nvPr/>
        </p:nvSpPr>
        <p:spPr>
          <a:xfrm>
            <a:off x="457200" y="1097280"/>
            <a:ext cx="4023360" cy="34747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1078992"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HOLDS UP</a:t>
            </a:r>
          </a:p>
        </p:txBody>
      </p:sp>
      <p:sp>
        <p:nvSpPr>
          <p:cNvPr id="8" name="TextBox 7"/>
          <p:cNvSpPr txBox="1"/>
          <p:nvPr/>
        </p:nvSpPr>
        <p:spPr>
          <a:xfrm>
            <a:off x="640080" y="1600200"/>
            <a:ext cx="3657600" cy="2926080"/>
          </a:xfrm>
          <a:prstGeom prst="rect">
            <a:avLst/>
          </a:prstGeom>
          <a:noFill/>
        </p:spPr>
        <p:txBody>
          <a:bodyPr wrap="square" anchor="t" lIns="0" rIns="0" tIns="0" bIns="0">
            <a:spAutoFit/>
          </a:bodyPr>
          <a:lstStyle/>
          <a:p>
            <a:pPr algn="l">
              <a:spcAft>
                <a:spcPts val="500"/>
              </a:spcAft>
            </a:pPr>
            <a:r>
              <a:rPr sz="1050" b="1" i="0">
                <a:solidFill>
                  <a:srgbClr val="1B2A55"/>
                </a:solidFill>
                <a:latin typeface="Inter"/>
              </a:rPr>
              <a:t>•  </a:t>
            </a:r>
            <a:r>
              <a:rPr sz="1050" b="1" i="0">
                <a:solidFill>
                  <a:srgbClr val="1B2A55"/>
                </a:solidFill>
                <a:latin typeface="Inter"/>
              </a:rPr>
              <a:t>ICRTAC:</a:t>
            </a:r>
            <a:r>
              <a:rPr sz="1050" b="0" i="0">
                <a:solidFill>
                  <a:srgbClr val="353B4A"/>
                </a:solidFill>
                <a:latin typeface="Inter"/>
              </a:rPr>
              <a:t> real, VIT Chennai SCOPE, 9th edition 10-11 Dec 2026, but closed: the page shows no late route.</a:t>
            </a:r>
          </a:p>
          <a:p>
            <a:pPr algn="l">
              <a:spcAft>
                <a:spcPts val="500"/>
              </a:spcAft>
            </a:pPr>
            <a:r>
              <a:rPr sz="1050" b="1" i="0">
                <a:solidFill>
                  <a:srgbClr val="1B2A55"/>
                </a:solidFill>
                <a:latin typeface="Inter"/>
              </a:rPr>
              <a:t>•  </a:t>
            </a:r>
            <a:r>
              <a:rPr sz="1050" b="1" i="0">
                <a:solidFill>
                  <a:srgbClr val="1B2A55"/>
                </a:solidFill>
                <a:latin typeface="Inter"/>
              </a:rPr>
              <a:t>ICSCAN:</a:t>
            </a:r>
            <a:r>
              <a:rPr sz="1050" b="0" i="0">
                <a:solidFill>
                  <a:srgbClr val="353B4A"/>
                </a:solidFill>
                <a:latin typeface="Inter"/>
              </a:rPr>
              <a:t> real; the 7th edition ran in June 2026.</a:t>
            </a:r>
          </a:p>
          <a:p>
            <a:pPr algn="l">
              <a:spcAft>
                <a:spcPts val="500"/>
              </a:spcAft>
            </a:pPr>
            <a:r>
              <a:rPr sz="1050" b="1" i="0">
                <a:solidFill>
                  <a:srgbClr val="1B2A55"/>
                </a:solidFill>
                <a:latin typeface="Inter"/>
              </a:rPr>
              <a:t>•  </a:t>
            </a:r>
            <a:r>
              <a:rPr sz="1050" b="1" i="0">
                <a:solidFill>
                  <a:srgbClr val="1B2A55"/>
                </a:solidFill>
                <a:latin typeface="Inter"/>
              </a:rPr>
              <a:t>i-PACT:</a:t>
            </a:r>
            <a:r>
              <a:rPr sz="1050" b="0" i="0">
                <a:solidFill>
                  <a:srgbClr val="353B4A"/>
                </a:solidFill>
                <a:latin typeface="Inter"/>
              </a:rPr>
              <a:t> real, at VIT Vellore in Sep 2027, but it is a power-engineering conference.</a:t>
            </a:r>
          </a:p>
          <a:p>
            <a:pPr algn="l">
              <a:spcAft>
                <a:spcPts val="500"/>
              </a:spcAft>
            </a:pPr>
            <a:r>
              <a:rPr sz="1050" b="1" i="0">
                <a:solidFill>
                  <a:srgbClr val="1B2A55"/>
                </a:solidFill>
                <a:latin typeface="Inter"/>
              </a:rPr>
              <a:t>•  </a:t>
            </a:r>
            <a:r>
              <a:rPr sz="1050" b="1" i="0">
                <a:solidFill>
                  <a:srgbClr val="1B2A55"/>
                </a:solidFill>
                <a:latin typeface="Inter"/>
              </a:rPr>
              <a:t>E-Vote-ID:</a:t>
            </a:r>
            <a:r>
              <a:rPr sz="1050" b="0" i="0">
                <a:solidFill>
                  <a:srgbClr val="353B4A"/>
                </a:solidFill>
                <a:latin typeface="Inter"/>
              </a:rPr>
              <a:t> real and the best topical fit.</a:t>
            </a:r>
          </a:p>
          <a:p>
            <a:pPr algn="l">
              <a:spcAft>
                <a:spcPts val="500"/>
              </a:spcAft>
            </a:pPr>
            <a:r>
              <a:rPr sz="1050" b="1" i="0">
                <a:solidFill>
                  <a:srgbClr val="1B2A55"/>
                </a:solidFill>
                <a:latin typeface="Inter"/>
              </a:rPr>
              <a:t>•  </a:t>
            </a:r>
            <a:r>
              <a:rPr sz="1050" b="1" i="0">
                <a:solidFill>
                  <a:srgbClr val="1B2A55"/>
                </a:solidFill>
                <a:latin typeface="Inter"/>
              </a:rPr>
              <a:t>DASFAA / ICDE demo tracks:</a:t>
            </a:r>
            <a:r>
              <a:rPr sz="1050" b="0" i="0">
                <a:solidFill>
                  <a:srgbClr val="353B4A"/>
                </a:solidFill>
                <a:latin typeface="Inter"/>
              </a:rPr>
              <a:t> exist, but are competitive.</a:t>
            </a:r>
          </a:p>
        </p:txBody>
      </p:sp>
      <p:sp>
        <p:nvSpPr>
          <p:cNvPr id="9" name="Rounded Rectangle 8"/>
          <p:cNvSpPr/>
          <p:nvPr/>
        </p:nvSpPr>
        <p:spPr>
          <a:xfrm>
            <a:off x="4663440" y="1097280"/>
            <a:ext cx="4023360" cy="34747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46320" y="1225296"/>
            <a:ext cx="2423160"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COULD NOT BE SUPPORTED</a:t>
            </a:r>
          </a:p>
        </p:txBody>
      </p:sp>
      <p:sp>
        <p:nvSpPr>
          <p:cNvPr id="11" name="TextBox 10"/>
          <p:cNvSpPr txBox="1"/>
          <p:nvPr/>
        </p:nvSpPr>
        <p:spPr>
          <a:xfrm>
            <a:off x="4846320" y="1600200"/>
            <a:ext cx="3657600" cy="2926080"/>
          </a:xfrm>
          <a:prstGeom prst="rect">
            <a:avLst/>
          </a:prstGeom>
          <a:noFill/>
        </p:spPr>
        <p:txBody>
          <a:bodyPr wrap="square" anchor="t" lIns="0" rIns="0" tIns="0" bIns="0">
            <a:spAutoFit/>
          </a:bodyPr>
          <a:lstStyle/>
          <a:p>
            <a:pPr algn="l">
              <a:spcAft>
                <a:spcPts val="500"/>
              </a:spcAft>
            </a:pPr>
            <a:r>
              <a:rPr sz="1050" b="1" i="0">
                <a:solidFill>
                  <a:srgbClr val="1B2A55"/>
                </a:solidFill>
                <a:latin typeface="Inter"/>
              </a:rPr>
              <a:t>•  </a:t>
            </a:r>
            <a:r>
              <a:rPr sz="1050" b="1" i="0">
                <a:solidFill>
                  <a:srgbClr val="1B2A55"/>
                </a:solidFill>
                <a:latin typeface="Inter"/>
              </a:rPr>
              <a:t>"75% acceptance":</a:t>
            </a:r>
            <a:r>
              <a:rPr sz="1050" b="0" i="0">
                <a:solidFill>
                  <a:srgbClr val="353B4A"/>
                </a:solidFill>
                <a:latin typeface="Inter"/>
              </a:rPr>
              <a:t> no venue publishes it; ICRTAC 2024 took 36 of 315 papers, about 11%.</a:t>
            </a:r>
          </a:p>
          <a:p>
            <a:pPr algn="l">
              <a:spcAft>
                <a:spcPts val="500"/>
              </a:spcAft>
            </a:pPr>
            <a:r>
              <a:rPr sz="1050" b="1" i="0">
                <a:solidFill>
                  <a:srgbClr val="1B2A55"/>
                </a:solidFill>
                <a:latin typeface="Inter"/>
              </a:rPr>
              <a:t>•  </a:t>
            </a:r>
            <a:r>
              <a:rPr sz="1050" b="1" i="0">
                <a:solidFill>
                  <a:srgbClr val="1B2A55"/>
                </a:solidFill>
                <a:latin typeface="Inter"/>
              </a:rPr>
              <a:t>"Springer" for ICRTAC:</a:t>
            </a:r>
            <a:r>
              <a:rPr sz="1050" b="0" i="0">
                <a:solidFill>
                  <a:srgbClr val="353B4A"/>
                </a:solidFill>
                <a:latin typeface="Inter"/>
              </a:rPr>
              <a:t> only the 2024 edition; 2026 says IEEE Xplore, subject to review.</a:t>
            </a:r>
          </a:p>
          <a:p>
            <a:pPr algn="l">
              <a:spcAft>
                <a:spcPts val="500"/>
              </a:spcAft>
            </a:pPr>
            <a:r>
              <a:rPr sz="1050" b="1" i="0">
                <a:solidFill>
                  <a:srgbClr val="1B2A55"/>
                </a:solidFill>
                <a:latin typeface="Inter"/>
              </a:rPr>
              <a:t>•  </a:t>
            </a:r>
            <a:r>
              <a:rPr sz="1050" b="1" i="0">
                <a:solidFill>
                  <a:srgbClr val="1B2A55"/>
                </a:solidFill>
                <a:latin typeface="Inter"/>
              </a:rPr>
              <a:t>ICSCAN / ICCCNT "IEEE":</a:t>
            </a:r>
            <a:r>
              <a:rPr sz="1050" b="0" i="0">
                <a:solidFill>
                  <a:srgbClr val="353B4A"/>
                </a:solidFill>
                <a:latin typeface="Inter"/>
              </a:rPr>
              <a:t> not confirmed on the official sites.</a:t>
            </a:r>
          </a:p>
          <a:p>
            <a:pPr algn="l">
              <a:spcAft>
                <a:spcPts val="500"/>
              </a:spcAft>
            </a:pPr>
            <a:r>
              <a:rPr sz="1050" b="1" i="0">
                <a:solidFill>
                  <a:srgbClr val="1B2A55"/>
                </a:solidFill>
                <a:latin typeface="Inter"/>
              </a:rPr>
              <a:t>•  </a:t>
            </a:r>
            <a:r>
              <a:rPr sz="1050" b="1" i="0">
                <a:solidFill>
                  <a:srgbClr val="1B2A55"/>
                </a:solidFill>
                <a:latin typeface="Inter"/>
              </a:rPr>
              <a:t>ViTECoN:</a:t>
            </a:r>
            <a:r>
              <a:rPr sz="1050" b="0" i="0">
                <a:solidFill>
                  <a:srgbClr val="353B4A"/>
                </a:solidFill>
                <a:latin typeface="Inter"/>
              </a:rPr>
              <a:t> no current call found.</a:t>
            </a:r>
          </a:p>
          <a:p>
            <a:pPr algn="l">
              <a:spcAft>
                <a:spcPts val="500"/>
              </a:spcAft>
            </a:pPr>
            <a:r>
              <a:rPr sz="1050" b="1" i="0">
                <a:solidFill>
                  <a:srgbClr val="1B2A55"/>
                </a:solidFill>
                <a:latin typeface="Inter"/>
              </a:rPr>
              <a:t>•  </a:t>
            </a:r>
            <a:r>
              <a:rPr sz="1050" b="1" i="0">
                <a:solidFill>
                  <a:srgbClr val="1B2A55"/>
                </a:solidFill>
                <a:latin typeface="Inter"/>
              </a:rPr>
              <a:t>"Fast to accept":</a:t>
            </a:r>
            <a:r>
              <a:rPr sz="1050" b="0" i="0">
                <a:solidFill>
                  <a:srgbClr val="353B4A"/>
                </a:solidFill>
                <a:latin typeface="Inter"/>
              </a:rPr>
              <a:t> very short reviews are a warning sign, not a feature.</a:t>
            </a: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p:nvPr/>
        </p:nvSpPr>
        <p:spPr>
          <a:xfrm>
            <a:off x="342900" y="457200"/>
            <a:ext cx="2483644" cy="252487"/>
          </a:xfrm>
          <a:prstGeom prst="roundRect">
            <a:avLst>
              <a:gd fmla="val 3395" name="adj"/>
            </a:avLst>
          </a:prstGeom>
          <a:solidFill>
            <a:srgbClr val="D8DF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a:off x="440010" y="505718"/>
            <a:ext cx="2746623"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PROJECT CONCLUSION · REVIEW 3</a:t>
            </a:r>
            <a:endParaRPr b="0" i="0" sz="1000" u="none" cap="none" strike="noStrike">
              <a:solidFill>
                <a:schemeClr val="dk1"/>
              </a:solidFill>
              <a:latin typeface="Calibri"/>
              <a:ea typeface="Calibri"/>
              <a:cs typeface="Calibri"/>
              <a:sym typeface="Calibri"/>
            </a:endParaRPr>
          </a:p>
        </p:txBody>
      </p:sp>
      <p:sp>
        <p:nvSpPr>
          <p:cNvPr id="190" name="Google Shape;190;p14"/>
          <p:cNvSpPr/>
          <p:nvPr/>
        </p:nvSpPr>
        <p:spPr>
          <a:xfrm>
            <a:off x="342900" y="891972"/>
            <a:ext cx="5105400" cy="460995"/>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3300"/>
              <a:buFont typeface="Inter"/>
              <a:buNone/>
            </a:pPr>
            <a:r>
              <a:rPr b="1" i="0" lang="en-US" sz="3300" u="none" cap="none" strike="noStrike">
                <a:solidFill>
                  <a:srgbClr val="1B2A55"/>
                </a:solidFill>
                <a:latin typeface="Inter"/>
                <a:ea typeface="Inter"/>
                <a:cs typeface="Inter"/>
                <a:sym typeface="Inter"/>
              </a:rPr>
              <a:t>Thank You</a:t>
            </a:r>
            <a:endParaRPr b="0" i="0" sz="3300" u="none" cap="none" strike="noStrike">
              <a:solidFill>
                <a:schemeClr val="dk1"/>
              </a:solidFill>
              <a:latin typeface="Calibri"/>
              <a:ea typeface="Calibri"/>
              <a:cs typeface="Calibri"/>
              <a:sym typeface="Calibri"/>
            </a:endParaRPr>
          </a:p>
        </p:txBody>
      </p:sp>
      <p:sp>
        <p:nvSpPr>
          <p:cNvPr id="191" name="Google Shape;191;p14"/>
          <p:cNvSpPr/>
          <p:nvPr/>
        </p:nvSpPr>
        <p:spPr>
          <a:xfrm>
            <a:off x="342900" y="4519166"/>
            <a:ext cx="54483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BACSE202 – Database Systems | Review 3 | Fall Semester 2026 · Slide 46</a:t>
            </a:r>
            <a:endParaRPr b="0" i="0" sz="950" u="none" cap="none" strike="noStrike">
              <a:solidFill>
                <a:schemeClr val="dk1"/>
              </a:solidFill>
              <a:latin typeface="Calibri"/>
              <a:ea typeface="Calibri"/>
              <a:cs typeface="Calibri"/>
              <a:sym typeface="Calibri"/>
            </a:endParaRPr>
          </a:p>
        </p:txBody>
      </p:sp>
      <p:sp>
        <p:nvSpPr>
          <p:cNvPr id="192" name="Google Shape;192;p14"/>
          <p:cNvSpPr/>
          <p:nvPr/>
        </p:nvSpPr>
        <p:spPr>
          <a:xfrm>
            <a:off x="5791200" y="0"/>
            <a:ext cx="3352800" cy="5143500"/>
          </a:xfrm>
          <a:prstGeom prst="rect">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TextBox 192"/>
          <p:cNvSpPr txBox="1"/>
          <p:nvPr/>
        </p:nvSpPr>
        <p:spPr>
          <a:xfrm>
            <a:off x="347472" y="1600200"/>
            <a:ext cx="5120640" cy="274320"/>
          </a:xfrm>
          <a:prstGeom prst="rect">
            <a:avLst/>
          </a:prstGeom>
          <a:noFill/>
        </p:spPr>
        <p:txBody>
          <a:bodyPr wrap="square" anchor="t" lIns="0" rIns="0" tIns="0" bIns="0">
            <a:spAutoFit/>
          </a:bodyPr>
          <a:lstStyle/>
          <a:p>
            <a:pPr algn="l">
              <a:spcAft>
                <a:spcPts val="0"/>
              </a:spcAft>
            </a:pPr>
            <a:r>
              <a:rPr sz="1600" b="1" i="0">
                <a:solidFill>
                  <a:srgbClr val="353B4A"/>
                </a:solidFill>
                <a:latin typeface="Inter"/>
              </a:rPr>
              <a:t>Questions and discussion</a:t>
            </a:r>
          </a:p>
        </p:txBody>
      </p:sp>
      <p:sp>
        <p:nvSpPr>
          <p:cNvPr id="194" name="TextBox 193"/>
          <p:cNvSpPr txBox="1"/>
          <p:nvPr/>
        </p:nvSpPr>
        <p:spPr>
          <a:xfrm>
            <a:off x="347472" y="2057400"/>
            <a:ext cx="5120640" cy="2011680"/>
          </a:xfrm>
          <a:prstGeom prst="rect">
            <a:avLst/>
          </a:prstGeom>
          <a:noFill/>
        </p:spPr>
        <p:txBody>
          <a:bodyPr wrap="square" anchor="t" lIns="0" rIns="0" tIns="0" bIns="0">
            <a:spAutoFit/>
          </a:bodyPr>
          <a:lstStyle/>
          <a:p>
            <a:pPr algn="l">
              <a:spcAft>
                <a:spcPts val="300"/>
              </a:spcAft>
            </a:pPr>
            <a:r>
              <a:rPr sz="1200" b="1" i="0">
                <a:solidFill>
                  <a:srgbClr val="1B2A55"/>
                </a:solidFill>
                <a:latin typeface="Inter"/>
              </a:rPr>
              <a:t>Source code and documents</a:t>
            </a:r>
          </a:p>
          <a:p>
            <a:pPr algn="l">
              <a:spcAft>
                <a:spcPts val="300"/>
              </a:spcAft>
            </a:pPr>
            <a:r>
              <a:rPr sz="1100" b="0" i="0">
                <a:solidFill>
                  <a:srgbClr val="353B4A"/>
                </a:solidFill>
                <a:latin typeface="Inter"/>
              </a:rPr>
              <a:t>github.com/Tharakeshtj/polyvote-election-platform</a:t>
            </a:r>
          </a:p>
          <a:p>
            <a:pPr algn="l">
              <a:spcAft>
                <a:spcPts val="300"/>
              </a:spcAft>
            </a:pPr>
            <a:r>
              <a:rPr sz="1200" b="0" i="0">
                <a:solidFill>
                  <a:srgbClr val="353B4A"/>
                </a:solidFill>
                <a:latin typeface="Inter"/>
              </a:rPr>
              <a:t/>
            </a:r>
          </a:p>
          <a:p>
            <a:pPr algn="l">
              <a:spcAft>
                <a:spcPts val="300"/>
              </a:spcAft>
            </a:pPr>
            <a:r>
              <a:rPr sz="1200" b="1" i="0">
                <a:solidFill>
                  <a:srgbClr val="1B2A55"/>
                </a:solidFill>
                <a:latin typeface="Inter"/>
              </a:rPr>
              <a:t>Run it: </a:t>
            </a:r>
            <a:r>
              <a:rPr sz="1000" b="0" i="0">
                <a:solidFill>
                  <a:srgbClr val="353B4A"/>
                </a:solidFill>
                <a:latin typeface="Consolas"/>
              </a:rPr>
              <a:t>python -m uvicorn server:app --port 8000</a:t>
            </a:r>
          </a:p>
          <a:p>
            <a:pPr algn="l">
              <a:spcAft>
                <a:spcPts val="300"/>
              </a:spcAft>
            </a:pPr>
            <a:r>
              <a:rPr sz="1200" b="1" i="0">
                <a:solidFill>
                  <a:srgbClr val="1B2A55"/>
                </a:solidFill>
                <a:latin typeface="Inter"/>
              </a:rPr>
              <a:t>Demo copy: </a:t>
            </a:r>
            <a:r>
              <a:rPr sz="1200" b="0" i="0">
                <a:solidFill>
                  <a:srgbClr val="353B4A"/>
                </a:solidFill>
                <a:latin typeface="Inter"/>
              </a:rPr>
              <a:t>Sample PolyVote, with email verification on</a:t>
            </a:r>
          </a:p>
          <a:p>
            <a:pPr algn="l">
              <a:spcAft>
                <a:spcPts val="300"/>
              </a:spcAft>
            </a:pPr>
            <a:r>
              <a:rPr sz="1200" b="1" i="0">
                <a:solidFill>
                  <a:srgbClr val="1B2A55"/>
                </a:solidFill>
                <a:latin typeface="Inter"/>
              </a:rPr>
              <a:t>Reports: </a:t>
            </a:r>
            <a:r>
              <a:rPr sz="1200" b="0" i="0">
                <a:solidFill>
                  <a:srgbClr val="353B4A"/>
                </a:solidFill>
                <a:latin typeface="Inter"/>
              </a:rPr>
              <a:t>Review 3 report (44 pages) and IEEE-style paper</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